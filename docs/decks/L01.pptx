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1 · ТЕМА 1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LLMOps і архітектура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production LLM-системи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«API відповів 200» до системи, якою можна керувати. Сьогодні розберемо об'єкт керування, піднімемо каркас капстоуна — і чесно зламаємо його.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6565392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5559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Тарас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Федоренко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5559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Senior Backend / AI Engineer у Creatio · автор курсу LLMOps у Neoversity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395728"/>
            <a:ext cx="50109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798064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651760"/>
            <a:ext cx="5239512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8+ років в IT — від QA Automation до Backend та AI Engineering у 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3498494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3352190"/>
            <a:ext cx="5239512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Стояв біля витоків Creatio.ai — флагманського AI-напряму українського єдинорога Creatio: впроваджував LLM-фічі ще до мейнстріму GenAI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4198925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4052621"/>
            <a:ext cx="5239512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Наскрізно побудував RAG/Q&amp;A систему: від .NET API до Python ML на LangChain, з OpenAI / Azure OpenAI та Elasticsearch як vector store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4899355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753051"/>
            <a:ext cx="5239512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Основна експертиза — LLMOps: надійність, масштабування, моніторинг і security AI-сервісів у production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5599786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5453482"/>
            <a:ext cx="5239512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Досвід у класичному ML (рекомендації, sequence prediction, scikit-learn / xgboost) і у full-stack розробці</a:t>
            </a:r>
            <a:endParaRPr lang="en-US" sz="11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176" y="1161288"/>
            <a:ext cx="4535424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дій, які перевірите руками вже сьогодні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Підняти стек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команда — п'ять компонентів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Намалювати шлях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 → сервіс → адаптер → mock → лог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Читати відповідь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finish_reason і usage, не лише текст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Пояснити недетермінізм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чому temperature=0 не рятує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Назвати сліпі зони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дві відмови повз моніторинг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97356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34" name="Shape 31"/>
          <p:cNvSpPr/>
          <p:nvPr/>
        </p:nvSpPr>
        <p:spPr>
          <a:xfrm>
            <a:off x="817473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5" name="Text 32"/>
          <p:cNvSpPr/>
          <p:nvPr/>
        </p:nvSpPr>
        <p:spPr>
          <a:xfrm>
            <a:off x="817473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68680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Знайти запит у лозі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817473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 сказати, яких полів бракує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≠ production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Структура виклику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Токени і три ціни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Недетермінізм і латентність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Сценарії відмови виклику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Архітектура стека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log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Mock-провайдер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Реальний ключ · опційно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Перші п'ять блоків — об'єкт керування. Наступні — каркас, який Ви будуватимете шість тижнів.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Курс складається з шести тижнів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Кожен тиждень — дві теми; кожен наступний шар лягає на той самий контур керування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047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0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103120"/>
            <a:ext cx="1481328" cy="512064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2103120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31136" y="2103120"/>
            <a:ext cx="9400032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50592" y="2103120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Основа + промпти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архітектура production LLM-системи · промпт як артефакт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798064"/>
            <a:ext cx="1481328" cy="512064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279806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31136" y="2798064"/>
            <a:ext cx="9400032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50592" y="2798064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 + cost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мультипровайдерний gateway · токеноміка і cost attribution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493008"/>
            <a:ext cx="1481328" cy="512064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49300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3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231136" y="3493008"/>
            <a:ext cx="9400032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50592" y="3493008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+ tools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точний і semantic cache · tool calls, коли модель діє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187952"/>
            <a:ext cx="1481328" cy="512064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4187952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4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31136" y="4187952"/>
            <a:ext cx="9400032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50592" y="4187952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Надійність + безпека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 і circuit breaker · guardrails і human-in-the-loop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" y="4882896"/>
            <a:ext cx="1481328" cy="512064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4882896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5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231136" y="4882896"/>
            <a:ext cx="9400032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50592" y="4882896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Observability + evals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 LLM-систем · golden dataset і eval suite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5577840"/>
            <a:ext cx="1481328" cy="512064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" y="5577840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6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231136" y="5577840"/>
            <a:ext cx="9400032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50592" y="5577840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 + фінал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gates, canary і rollback · operating model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слів, які сьогодні звучатимуть постійно — щоб вони не відволікали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токен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частинка тексту, якою модель міряє вхід і вихід; у них рахується рахунок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системний промпт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інструкція, як поводитись; їде в кожному запиті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finish_reason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чому модель зупинилася: завершила, вперлася в стелю, просить інструмент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токени входу й виходу — єдине джерело правди про гроші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контур керування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plane: шар, що ухвалює рішення, а не виконує виклик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mock-провайдер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фейкова модель: падає на замовлення, реагує на промпт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розберемо на місці — тут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Чому 200 OK не підтверджує працездатності LLM-системи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0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755648"/>
            <a:ext cx="29077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OK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3232" y="2574036"/>
            <a:ext cx="2907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усе, що каже Вам HTTP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3429000"/>
            <a:ext cx="320040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3538728"/>
            <a:ext cx="29077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/ 4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713232" y="4357116"/>
            <a:ext cx="29077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відповіді на операційні питання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60520" y="1645920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361688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6" name="Text 13"/>
          <p:cNvSpPr/>
          <p:nvPr/>
        </p:nvSpPr>
        <p:spPr>
          <a:xfrm>
            <a:off x="436168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73752" y="1801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Гроші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361688" y="2331720"/>
            <a:ext cx="3346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скільки коштує тиждень — і хто помітить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92440" y="1645920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8293608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829360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805672" y="1801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Надійність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293608" y="2331720"/>
            <a:ext cx="3346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провайдер ліг на 20 хвилин у робочий час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60520" y="3429000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5" name="Shape 22"/>
          <p:cNvSpPr/>
          <p:nvPr/>
        </p:nvSpPr>
        <p:spPr>
          <a:xfrm>
            <a:off x="4361688" y="36118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6" name="Text 23"/>
          <p:cNvSpPr/>
          <p:nvPr/>
        </p:nvSpPr>
        <p:spPr>
          <a:xfrm>
            <a:off x="436168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73752" y="35844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Якість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361688" y="4114800"/>
            <a:ext cx="3346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«маленька» правка промпта без компіляції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092440" y="3429000"/>
            <a:ext cx="37490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30" name="Shape 27"/>
          <p:cNvSpPr/>
          <p:nvPr/>
        </p:nvSpPr>
        <p:spPr>
          <a:xfrm>
            <a:off x="8293608" y="36118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1" name="Text 28"/>
          <p:cNvSpPr/>
          <p:nvPr/>
        </p:nvSpPr>
        <p:spPr>
          <a:xfrm>
            <a:off x="829360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805672" y="35844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Видимість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8293608" y="4114800"/>
            <a:ext cx="3346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«бот відповідає не по темі», а графіки зелені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160520" y="5349240"/>
            <a:ext cx="74706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79976" y="5495544"/>
            <a:ext cx="703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Класичний моніторинг на ці питання сліпий.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Чотири властивості, яких немає у звичайних сервісів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002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783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7556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Недетермінізм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2860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вхід — різний вихід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83280" y="16002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3584448" y="1783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358444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96512" y="17556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Оплата за токен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584448" y="22860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ціна залежить від поведінки, а не від кількості запитів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99632" y="16002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0" y="1783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12864" y="17556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Регресії без коміта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400800" y="22860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або снапшот моделі — без деплою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15984" y="16002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9217152" y="1783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921715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729216" y="17556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Чужа інфраструктура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217152" y="228600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Ваш uptime залежить від чужого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347472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360273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ТЕЗА КУРСУ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86384" y="3858768"/>
            <a:ext cx="106253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LLMOps — це експлуатація моделі як production-сервісу.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66928" y="4937760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" y="4937760"/>
            <a:ext cx="1353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промпти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121408" y="5239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rot="5400000">
            <a:off x="2249424" y="5170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5" name="Shape 32"/>
          <p:cNvSpPr/>
          <p:nvPr/>
        </p:nvSpPr>
        <p:spPr>
          <a:xfrm>
            <a:off x="2487168" y="4937760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2542032" y="4937760"/>
            <a:ext cx="1353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гроші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041648" y="5239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rot="5400000">
            <a:off x="4169664" y="5170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9" name="Shape 36"/>
          <p:cNvSpPr/>
          <p:nvPr/>
        </p:nvSpPr>
        <p:spPr>
          <a:xfrm>
            <a:off x="4407408" y="4937760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40" name="Text 37"/>
          <p:cNvSpPr/>
          <p:nvPr/>
        </p:nvSpPr>
        <p:spPr>
          <a:xfrm>
            <a:off x="4462272" y="4937760"/>
            <a:ext cx="1353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і дії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961888" y="5239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rot="5400000">
            <a:off x="6089904" y="5170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43" name="Shape 40"/>
          <p:cNvSpPr/>
          <p:nvPr/>
        </p:nvSpPr>
        <p:spPr>
          <a:xfrm>
            <a:off x="6327648" y="4937760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44" name="Text 41"/>
          <p:cNvSpPr/>
          <p:nvPr/>
        </p:nvSpPr>
        <p:spPr>
          <a:xfrm>
            <a:off x="6382512" y="4937760"/>
            <a:ext cx="1353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882128" y="5239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rot="5400000">
            <a:off x="8010144" y="5170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47" name="Shape 44"/>
          <p:cNvSpPr/>
          <p:nvPr/>
        </p:nvSpPr>
        <p:spPr>
          <a:xfrm>
            <a:off x="8247888" y="4937760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48" name="Text 45"/>
          <p:cNvSpPr/>
          <p:nvPr/>
        </p:nvSpPr>
        <p:spPr>
          <a:xfrm>
            <a:off x="8302752" y="4937760"/>
            <a:ext cx="1353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видимість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9802368" y="5239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rot="5400000">
            <a:off x="9930384" y="5170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51" name="Shape 48"/>
          <p:cNvSpPr/>
          <p:nvPr/>
        </p:nvSpPr>
        <p:spPr>
          <a:xfrm>
            <a:off x="10168128" y="4937760"/>
            <a:ext cx="14630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52" name="Text 49"/>
          <p:cNvSpPr/>
          <p:nvPr/>
        </p:nvSpPr>
        <p:spPr>
          <a:xfrm>
            <a:off x="10222992" y="4937760"/>
            <a:ext cx="1353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гейт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66928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Кожен тиждень закриває одне питання — механізмом, а не порадою.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Структура LLM-виклику та базовий API-контракт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00200"/>
            <a:ext cx="5577840" cy="2514600"/>
          </a:xfrm>
          <a:prstGeom prst="roundRect">
            <a:avLst>
              <a:gd name="adj" fmla="val 4364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746504"/>
            <a:ext cx="513892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"mock",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{"role":"system", "content":"…"},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{"role":"user",   "content":"…"}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саме це шле service/Program.cs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343400"/>
            <a:ext cx="5577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4489704"/>
            <a:ext cx="5138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не має пам'яті: історію привозите Ви — тому кожен наступний крок діалогу дорожчає, а сумарна вартість росте швидше за кількість кроків.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92240" y="1600200"/>
            <a:ext cx="5138928" cy="841248"/>
          </a:xfrm>
          <a:prstGeom prst="roundRect">
            <a:avLst>
              <a:gd name="adj" fmla="val 1087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711696" y="1600200"/>
            <a:ext cx="17472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temperature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458932" y="1600200"/>
            <a:ext cx="29666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свобода вибору токена — тримають низькою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92240" y="2569464"/>
            <a:ext cx="5138928" cy="841248"/>
          </a:xfrm>
          <a:prstGeom prst="roundRect">
            <a:avLst>
              <a:gd name="adj" fmla="val 1087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6711696" y="2569464"/>
            <a:ext cx="17472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max_tokens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458932" y="2569464"/>
            <a:ext cx="29666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стеля довжини = стеля вартості виклику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92240" y="3538728"/>
            <a:ext cx="5138928" cy="841248"/>
          </a:xfrm>
          <a:prstGeom prst="roundRect">
            <a:avLst>
              <a:gd name="adj" fmla="val 1087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6711696" y="3538728"/>
            <a:ext cx="17472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response_format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458932" y="3538728"/>
            <a:ext cx="29666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строгий JSON, який валідує провайдер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922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— це той промпт, який у наступній темі переїде в реєстр.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повертається: не тільки текст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651760"/>
                <a:gridCol w="2606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finish_reason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означає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робити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stop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модель завершила думку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нормальний випадок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length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досягла ліміту max_tokens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збій формату: не кешувати, не показувати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tool_calls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просить інструмент (Тема 6)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текст може бути порожнім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content_filter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зрізав фільтр провайдера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окрема категорія в метриках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35240" y="1600200"/>
            <a:ext cx="399592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818120" y="238201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1" name="Text 7"/>
          <p:cNvSpPr/>
          <p:nvPr/>
        </p:nvSpPr>
        <p:spPr>
          <a:xfrm>
            <a:off x="7818120" y="23820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311896" y="172821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311896" y="1984248"/>
            <a:ext cx="309981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Читати лише content: обрізана відповідь виглядає успішною — 200, текст є, метрики зелені.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35240" y="3703320"/>
            <a:ext cx="3995928" cy="1600200"/>
          </a:xfrm>
          <a:prstGeom prst="roundRect">
            <a:avLst>
              <a:gd name="adj" fmla="val 6857"/>
            </a:avLst>
          </a:prstGeom>
          <a:solidFill>
            <a:srgbClr val="5A05F4"/>
          </a:solidFill>
          <a:ln/>
        </p:spPr>
      </p:sp>
      <p:sp>
        <p:nvSpPr>
          <p:cNvPr id="15" name="Text 11"/>
          <p:cNvSpPr/>
          <p:nvPr/>
        </p:nvSpPr>
        <p:spPr>
          <a:xfrm>
            <a:off x="7854696" y="3831336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ТРЕТЄ ПОЛЕ — USAGE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854696" y="4087368"/>
            <a:ext cx="355701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Вхідні · вихідні · кеш провайдера. Єдине джерело правди про гроші (Тема 4).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6928" y="4663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 віддає лише stop і tool_calls — гілку length перевіряємо юніт-тестом.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ціни в одному виклику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0020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709928"/>
            <a:ext cx="299923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4 симв.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13232" y="2448763"/>
            <a:ext cx="299923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токен англійською (≈¾ слова)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320040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3310128"/>
            <a:ext cx="299923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дорожче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13232" y="4048963"/>
            <a:ext cx="299923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зміст українською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4800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Операційне рішення: якою мовою тримати системний промпт, що їде в кожному запиті.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206240" y="18745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провайдера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1965046"/>
            <a:ext cx="361188" cy="321869"/>
          </a:xfrm>
          <a:prstGeom prst="roundRect">
            <a:avLst>
              <a:gd name="adj" fmla="val 14205"/>
            </a:avLst>
          </a:prstGeom>
          <a:solidFill>
            <a:srgbClr val="106B41"/>
          </a:solidFill>
          <a:ln/>
        </p:spPr>
      </p:sp>
      <p:sp>
        <p:nvSpPr>
          <p:cNvPr id="17" name="Text 14"/>
          <p:cNvSpPr/>
          <p:nvPr/>
        </p:nvSpPr>
        <p:spPr>
          <a:xfrm>
            <a:off x="8613648" y="1874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різко нижча ставка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206240" y="2670048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Вхідні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17920" y="2760574"/>
            <a:ext cx="794614" cy="321869"/>
          </a:xfrm>
          <a:prstGeom prst="roundRect">
            <a:avLst>
              <a:gd name="adj" fmla="val 14205"/>
            </a:avLst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613648" y="26700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та історія — найдешевші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206240" y="346557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Вихідні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17920" y="3556102"/>
            <a:ext cx="2167128" cy="321869"/>
          </a:xfrm>
          <a:prstGeom prst="roundRect">
            <a:avLst>
              <a:gd name="adj" fmla="val 14205"/>
            </a:avLst>
          </a:prstGeom>
          <a:solidFill>
            <a:srgbClr val="B3261E"/>
          </a:solidFill>
          <a:ln/>
        </p:spPr>
      </p:sp>
      <p:sp>
        <p:nvSpPr>
          <p:cNvPr id="23" name="Text 20"/>
          <p:cNvSpPr/>
          <p:nvPr/>
        </p:nvSpPr>
        <p:spPr>
          <a:xfrm>
            <a:off x="8613648" y="346557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кілька разів дорожчі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206240" y="4114800"/>
            <a:ext cx="7424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схематично: порядок величин, а не точні коефіцієнти — прайс розбираємо в Темі 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06240" y="4572000"/>
            <a:ext cx="742492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89120" y="505663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0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82896" y="4700016"/>
            <a:ext cx="6528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82896" y="4956048"/>
            <a:ext cx="6528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окремих вхідних і вихідних токенів цифра вартості вигадана.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Чому temperature=0 не гарантує детермінізму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Пакети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331720"/>
            <a:ext cx="3118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склад пакета впливає на арифметику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64592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Плаваюча точка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331720"/>
            <a:ext cx="3118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обчислення не асоціативні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64592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Снапшоти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331720"/>
            <a:ext cx="3118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 та сама — модель оновлена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29184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32918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той самий запит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041648" y="36118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5400000">
            <a:off x="4169664" y="35433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7" name="Shape 24"/>
          <p:cNvSpPr/>
          <p:nvPr/>
        </p:nvSpPr>
        <p:spPr>
          <a:xfrm>
            <a:off x="4407408" y="329184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4462272" y="32918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882128" y="36118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5400000">
            <a:off x="8010144" y="35433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1" name="Shape 28"/>
          <p:cNvSpPr/>
          <p:nvPr/>
        </p:nvSpPr>
        <p:spPr>
          <a:xfrm>
            <a:off x="8247888" y="329184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8302752" y="32918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інші слова у відповіді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66928" y="44348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9808" y="489661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5" name="Text 32"/>
          <p:cNvSpPr/>
          <p:nvPr/>
        </p:nvSpPr>
        <p:spPr>
          <a:xfrm>
            <a:off x="749808" y="4896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243584" y="456285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243584" y="4818888"/>
            <a:ext cx="101681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Перевіряємо властивості, а не рядки: expect і forbid, не «дорівнює».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Від чого залежить латентність LLM-виклику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КОРОТКА ВІДПОВІДЬ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" y="1920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 до 1-го токена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24328" y="19202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2624328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генерація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6928" y="2834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ТРИ АБЗАЦИ — ТА САМА МОДЕЛЬ, ТОЙ САМИЙ ПРОВАЙДЕР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" y="31546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 до 1-го токена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624328" y="31546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2624328" y="3154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генерація: послідовно, токен за токеном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3767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схематично: співвідношення часток, не виміряні значення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41605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459943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749808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43584" y="42885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243584" y="4544568"/>
            <a:ext cx="10168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p95 росте і від довших відповідей, і від проблем провайдера.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time-to-first-token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метрика для інтерфейсів, де відповідь друкується на очах. Стрімінг — свідомо за межами курсу.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Типові сценарії відмови LLM-виклику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002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5F3FA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83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МОНІТОРИНГ БАЧИТЬ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5528" y="22402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167128" y="2240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вичерпана квота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5528" y="304495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" y="3044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5xx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167128" y="30449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інцидент провайдера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" y="3849624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" y="38496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таймаут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67128" y="38496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відповідь після того, як пішов користувач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81928" y="16002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1783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БАЧИТЬ У ПРИНЦИПІ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10528" y="2240280"/>
            <a:ext cx="4892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711696" y="2368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+ невалідний вміст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11696" y="2770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обрізана, порожня або не-JSON відповідь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10528" y="3474720"/>
            <a:ext cx="4892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711696" y="3602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+ деградація якості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711696" y="4005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новий снапшот моделі або правка промпта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6384" y="5221224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Дві праві категорії ловить лише власний лог і гейт якості.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Стек капстоуна: шлях запиту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148840"/>
            <a:ext cx="162306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148840"/>
            <a:ext cx="15133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Користувач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81428" y="25603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409444" y="24917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2647188" y="2148840"/>
            <a:ext cx="162306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702052" y="2148840"/>
            <a:ext cx="15133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UI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61688" y="25603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489704" y="24917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4727448" y="214884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782312" y="2148840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Сервіс · контур керування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62088" y="25603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7690104" y="24917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7927848" y="2148840"/>
            <a:ext cx="162306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982712" y="2148840"/>
            <a:ext cx="15133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Gateway-адаптер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42348" y="25603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9770364" y="24917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10008108" y="2148840"/>
            <a:ext cx="162306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062972" y="2148840"/>
            <a:ext cx="15133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/ mock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760720" y="3063240"/>
            <a:ext cx="0" cy="713232"/>
          </a:xfrm>
          <a:prstGeom prst="line">
            <a:avLst/>
          </a:prstGeom>
          <a:noFill/>
          <a:ln w="15875">
            <a:solidFill>
              <a:srgbClr val="106B41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 rot="10800000">
            <a:off x="5692140" y="3739896"/>
            <a:ext cx="137160" cy="146304"/>
          </a:xfrm>
          <a:prstGeom prst="triangle">
            <a:avLst/>
          </a:prstGeom>
          <a:solidFill>
            <a:srgbClr val="106B41"/>
          </a:solidFill>
          <a:ln/>
        </p:spPr>
      </p:sp>
      <p:sp>
        <p:nvSpPr>
          <p:cNvPr id="28" name="Shape 25"/>
          <p:cNvSpPr/>
          <p:nvPr/>
        </p:nvSpPr>
        <p:spPr>
          <a:xfrm>
            <a:off x="4800600" y="393192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F5F3FA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39319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 у БД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6928" y="48920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5038344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п'ять компонентів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035040" y="4892040"/>
            <a:ext cx="559612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54496" y="5038344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Ті самі ролі Ви зустрінете в будь-якому проді — незалежно від інструментів.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Архітектура стека: компоненти та межі відповідальності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645920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UI + консоль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645920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обличчя системи — користуєтесь, не змінюєте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414016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414016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Сервіс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414016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 керування: модель, кеш, fallback, вартість — тут уся Ваша робота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18211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182112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Gateway-адаптер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182112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єдиний вихід до провайдерів — конфігуруєте список моделей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95020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950208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База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48226" y="3950208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лог, реєстр промптів, вартість — читаєте і розширюєте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718304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4718304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Mock-провайдер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48226" y="4718304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керована «модель» для тестів і симуляції збоїв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562356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576986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Права колонка чесно ділить стек: що Ви будуєте — і чим просто користуєтесь.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Сервіс вирішує. Адаптер виконує.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ВИРІШУЄ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Сервіс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41248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ED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яку модель · чи кеш · чи fallback · скільки коштувало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81928" y="16459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56248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ВИКОНУЄ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56248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Gateway-адаптер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556248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виклик · згладжування API · зберігання ключів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38404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" y="453085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4530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43584" y="3968496"/>
            <a:ext cx="445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243584" y="4224528"/>
            <a:ext cx="44531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живе тільки в gateway — інакше контуру керування немає.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81928" y="38404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64808" y="453085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3" name="Text 20"/>
          <p:cNvSpPr/>
          <p:nvPr/>
        </p:nvSpPr>
        <p:spPr>
          <a:xfrm>
            <a:off x="6464808" y="4530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58584" y="3968496"/>
            <a:ext cx="445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958584" y="4224528"/>
            <a:ext cx="44531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в адаптері — Ви клікаєте прапорці, а не будуєте механізм.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6928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Інструменти змінюються — механізми лишаються.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Unified log як основа операційного контролю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79222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 · model ·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prompt_version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latency_ms · prompt_tokens · completion_tokens ·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cost_usd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2651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підсвічені поля сьогодні порожні — це Ваша робота на два тижні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prompt_version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0128" y="3291840"/>
            <a:ext cx="3931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3666744" y="32232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3950208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«що зламалось учора о 19:40»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927080" y="3145536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27080" y="3145536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3611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10128" y="3840480"/>
            <a:ext cx="3931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3666744" y="37719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3950208" y="3611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розподіл трафіку, доказ routing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0927080" y="3694176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27080" y="3694176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6928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· cost_usd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310128" y="4389120"/>
            <a:ext cx="3931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5400000">
            <a:off x="3666744" y="43205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6" name="Text 23"/>
          <p:cNvSpPr/>
          <p:nvPr/>
        </p:nvSpPr>
        <p:spPr>
          <a:xfrm>
            <a:off x="3950208" y="41605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вартість, бюджет, алерти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0927080" y="4242816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27080" y="4242816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6928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latency_ms · status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310128" y="4937760"/>
            <a:ext cx="3931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5400000">
            <a:off x="3666744" y="48691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2" name="Text 29"/>
          <p:cNvSpPr/>
          <p:nvPr/>
        </p:nvSpPr>
        <p:spPr>
          <a:xfrm>
            <a:off x="3950208" y="4709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p95, error rate, сліди інцидентів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10927080" y="4791456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927080" y="4791456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W4–5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66928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весь рядок разом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310128" y="5486400"/>
            <a:ext cx="3931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rot="5400000">
            <a:off x="3666744" y="54178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8" name="Text 35"/>
          <p:cNvSpPr/>
          <p:nvPr/>
        </p:nvSpPr>
        <p:spPr>
          <a:xfrm>
            <a:off x="3950208" y="5257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 консолі, гейти якості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10927080" y="5340096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927080" y="5340096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W5–6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Немає лога — немає операцій.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Mock-провайдер для керованого тестування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ВЛАСТИВІСТЬ 1 · КЕРОВАНІ ЗБОЇ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01168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5F3FA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__fail_503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04288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провайдер недоступний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93208" y="20116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2670048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5F3FA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__fail_429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04288" y="26700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вичерпані ліміти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93208" y="26700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Тема 7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3328416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5F3FA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3284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__delay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304288" y="33284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стрибок latency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93208" y="332841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W4–5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3986784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5F3FA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" y="39867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__garbage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304288" y="39867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беззмістовна відповідь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93208" y="398678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ДЗ W5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66928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Надійність, яку тренують лише на реальних інцидентах, — це сподівання.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922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ВЛАСТИВІСТЬ 2 · ЧУТЛИВІСТЬ ДО ПРОМПТА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92240" y="2011680"/>
            <a:ext cx="2340864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6547104" y="201168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промпт v2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24544" y="2295144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5400000">
            <a:off x="9052560" y="222656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1" name="Shape 28"/>
          <p:cNvSpPr/>
          <p:nvPr/>
        </p:nvSpPr>
        <p:spPr>
          <a:xfrm>
            <a:off x="9290304" y="2011680"/>
            <a:ext cx="2340864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9345168" y="201168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 по суті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92240" y="2880360"/>
            <a:ext cx="2340864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6547104" y="28803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промпт зламано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924544" y="3163824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rot="5400000">
            <a:off x="9052560" y="309524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7" name="Shape 34"/>
          <p:cNvSpPr/>
          <p:nvPr/>
        </p:nvSpPr>
        <p:spPr>
          <a:xfrm>
            <a:off x="9290304" y="2880360"/>
            <a:ext cx="2340864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9345168" y="28803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«не знаю»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492240" y="3749040"/>
            <a:ext cx="5138928" cy="1371600"/>
          </a:xfrm>
          <a:prstGeom prst="roundRect">
            <a:avLst>
              <a:gd name="adj" fmla="val 8000"/>
            </a:avLst>
          </a:prstGeom>
          <a:solidFill>
            <a:srgbClr val="5A05F4"/>
          </a:solidFill>
          <a:ln/>
        </p:spPr>
      </p:sp>
      <p:sp>
        <p:nvSpPr>
          <p:cNvPr id="40" name="Text 37"/>
          <p:cNvSpPr/>
          <p:nvPr/>
        </p:nvSpPr>
        <p:spPr>
          <a:xfrm>
            <a:off x="6711696" y="3895344"/>
            <a:ext cx="47000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Регресію промпта видно автоматично: зламали — почервоніло.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492240" y="5257800"/>
            <a:ext cx="51389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11696" y="5385816"/>
            <a:ext cx="4700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ЦЕ ПЕРЕНОСИТЬСЯ НА ПРОД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711696" y="5641848"/>
            <a:ext cx="4700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Механіка контуру однакова; міняється лише «мозок» на іншому кінці дроту.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Підключення реального провайдера та розширеного стека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41366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41366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413662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413662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64592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792224"/>
            <a:ext cx="1062532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gateway/.env.example gateway/.env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вписати ключ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MODEL=назва-моделі docker compose up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реальний провайдер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--profile advanced up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+ Redis (W3)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4290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" y="358444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Зміниться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4114800"/>
            <a:ext cx="31638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якість відповідей, багатоходовий діалог, цифри вартості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15968" y="34290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4517136" y="358444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зміниться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517136" y="4114800"/>
            <a:ext cx="31638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жоден механізм контуру: routing, лог, кеш, fallback, гейти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65008" y="34290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47888" y="4142232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8247888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41664" y="355701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741664" y="3813048"/>
            <a:ext cx="26700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Берете ключ — одразу ставте ліміт витрат у провайдера.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" y="5394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Радимо не вмикати в перші тижні: на mock видно механіку, а не магію моделі.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582973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5829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п'ять кроків + один опційний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5568" y="16916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піднявся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compose up --build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221992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222199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чат відповідає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«Як скинути пароль?»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2752344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75234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консоль порожня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«—» у кожній плитці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3282696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32826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у коді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мапа роботи на 6 тижнів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3813048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381304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рядок у лозі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таблиця requests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4343400"/>
            <a:ext cx="384048" cy="3840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15568" y="43434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чесний злам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— і жодного плану Б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72400" y="1691640"/>
            <a:ext cx="3858768" cy="3017520"/>
          </a:xfrm>
          <a:prstGeom prst="roundRect">
            <a:avLst>
              <a:gd name="adj" fmla="val 2424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00416" y="181051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Shape 24"/>
          <p:cNvSpPr/>
          <p:nvPr/>
        </p:nvSpPr>
        <p:spPr>
          <a:xfrm>
            <a:off x="8046720" y="181051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28" name="Shape 25"/>
          <p:cNvSpPr/>
          <p:nvPr/>
        </p:nvSpPr>
        <p:spPr>
          <a:xfrm>
            <a:off x="8193024" y="181051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9" name="Text 26"/>
          <p:cNvSpPr/>
          <p:nvPr/>
        </p:nvSpPr>
        <p:spPr>
          <a:xfrm>
            <a:off x="8375904" y="1691640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 · точка А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772400" y="2002536"/>
            <a:ext cx="3858768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82128" y="2093976"/>
            <a:ext cx="1139952" cy="1216152"/>
          </a:xfrm>
          <a:prstGeom prst="roundRect">
            <a:avLst>
              <a:gd name="adj" fmla="val 4011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55280" y="2130552"/>
            <a:ext cx="993648" cy="3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955280" y="2507468"/>
            <a:ext cx="993648" cy="705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9131808" y="2093976"/>
            <a:ext cx="1139952" cy="1216152"/>
          </a:xfrm>
          <a:prstGeom prst="roundRect">
            <a:avLst>
              <a:gd name="adj" fmla="val 4011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04960" y="2130552"/>
            <a:ext cx="993648" cy="3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9204960" y="2507468"/>
            <a:ext cx="993648" cy="705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0381488" y="2093976"/>
            <a:ext cx="1139952" cy="1216152"/>
          </a:xfrm>
          <a:prstGeom prst="roundRect">
            <a:avLst>
              <a:gd name="adj" fmla="val 4011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454640" y="2130552"/>
            <a:ext cx="993648" cy="3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0454640" y="2507468"/>
            <a:ext cx="993648" cy="705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7882128" y="3401568"/>
            <a:ext cx="1139952" cy="1216152"/>
          </a:xfrm>
          <a:prstGeom prst="roundRect">
            <a:avLst>
              <a:gd name="adj" fmla="val 4011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55280" y="3438144"/>
            <a:ext cx="993648" cy="3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955280" y="3815060"/>
            <a:ext cx="993648" cy="705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9131808" y="3401568"/>
            <a:ext cx="1139952" cy="1216152"/>
          </a:xfrm>
          <a:prstGeom prst="roundRect">
            <a:avLst>
              <a:gd name="adj" fmla="val 4011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204960" y="3438144"/>
            <a:ext cx="993648" cy="3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cache-hit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9204960" y="3815060"/>
            <a:ext cx="993648" cy="705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10381488" y="3401568"/>
            <a:ext cx="1139952" cy="1216152"/>
          </a:xfrm>
          <a:prstGeom prst="roundRect">
            <a:avLst>
              <a:gd name="adj" fmla="val 4011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454640" y="3438144"/>
            <a:ext cx="993648" cy="3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0454640" y="3815060"/>
            <a:ext cx="993648" cy="705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50" name="Shape 47"/>
          <p:cNvSpPr/>
          <p:nvPr/>
        </p:nvSpPr>
        <p:spPr>
          <a:xfrm>
            <a:off x="749808" y="53995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749808" y="5399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1243584" y="51572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1243584" y="541324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Зафіксувати точку А — стан системи до шарів керування. Порожня консоль і збій без плану Б — не дефект демо, а предмет курсу.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 робота: запуск, перевірка та відтворення збою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645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Підняти стек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compose up --build → localhost:4200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43230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4323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Оглянути половини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чат відповідає; консоль — «—» у кожній плитці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21868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2186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Прочитати код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service/Program.cs, /chat згори вниз; знайти TODO(student)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0050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Знайти запит у лозі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* FROM requests ORDER BY created_at DESC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479145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479145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Зламати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→ «сервіс недоступний», плану Б немає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5577840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8872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Розширений стек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--profile advanced → +Redis → погасити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перевірте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4708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жива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377440"/>
            <a:ext cx="31638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шлях запиту видно наскрізь: UI → сервіс → адаптер → mock → лог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1691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517136" y="184708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Керування ще немає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17136" y="2377440"/>
            <a:ext cx="31638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консоль «—», prompt_version і cost_usd порожні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65008" y="1691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8266176" y="184708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Плану Б немає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66176" y="2377440"/>
            <a:ext cx="31638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→ заглушки, деградації і сліду в метриках не існує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0233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47088" y="43434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1975104" y="42748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2212848" y="40233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226771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промпти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93008" y="43434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3621024" y="42748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3858768" y="40233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391363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гроші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38928" y="43434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5266944" y="42748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5504688" y="40233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55955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кеш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784848" y="43434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5400000">
            <a:off x="6912864" y="42748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7150608" y="40233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720547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надійність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430768" y="43434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rot="5400000">
            <a:off x="8558784" y="42748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6" name="Shape 33"/>
          <p:cNvSpPr/>
          <p:nvPr/>
        </p:nvSpPr>
        <p:spPr>
          <a:xfrm>
            <a:off x="8796528" y="40233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37" name="Text 34"/>
          <p:cNvSpPr/>
          <p:nvPr/>
        </p:nvSpPr>
        <p:spPr>
          <a:xfrm>
            <a:off x="885139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видимість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0076688" y="43434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rot="5400000">
            <a:off x="10204704" y="42748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40" name="Shape 37"/>
          <p:cNvSpPr/>
          <p:nvPr/>
        </p:nvSpPr>
        <p:spPr>
          <a:xfrm>
            <a:off x="10442448" y="402336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41" name="Text 38"/>
          <p:cNvSpPr/>
          <p:nvPr/>
        </p:nvSpPr>
        <p:spPr>
          <a:xfrm>
            <a:off x="10497312" y="402336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43" name="Text 40"/>
          <p:cNvSpPr/>
          <p:nvPr/>
        </p:nvSpPr>
        <p:spPr>
          <a:xfrm>
            <a:off x="786384" y="5221224"/>
            <a:ext cx="10625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Точку Б Ви збудуєте самі — шар за шаром, тиждень за тижнем. Сьогоднішній скріншот консолі збережіть: на тижні 6 порівняєте.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Перевірте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4627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60223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57617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2616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 піднявся, консоль показує «—»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34381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357759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355153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23697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малюю шлях запиту з пам'яті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78408" y="44135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1041227" y="455295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1069025" y="452689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1362456" y="421233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знайшов свій рядок у requests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24627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260223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257617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22616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бачив поведінку при збої провайдера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44768" y="34381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2700000">
            <a:off x="6207587" y="357759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6" name="Shape 23"/>
          <p:cNvSpPr/>
          <p:nvPr/>
        </p:nvSpPr>
        <p:spPr>
          <a:xfrm rot="-3000000">
            <a:off x="6235385" y="355153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7" name="Text 24"/>
          <p:cNvSpPr/>
          <p:nvPr/>
        </p:nvSpPr>
        <p:spPr>
          <a:xfrm>
            <a:off x="6528816" y="323697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поясню, чому temperature=0 не рятує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144768" y="44135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6207587" y="455295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0" name="Shape 27"/>
          <p:cNvSpPr/>
          <p:nvPr/>
        </p:nvSpPr>
        <p:spPr>
          <a:xfrm rot="-3000000">
            <a:off x="6235385" y="452689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1" name="Text 28"/>
          <p:cNvSpPr/>
          <p:nvPr/>
        </p:nvSpPr>
        <p:spPr>
          <a:xfrm>
            <a:off x="6528816" y="421233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назву дві невидимі категорії відмов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186537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0416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0416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6916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у коді застосунку   </a:t>
            </a:r>
            <a:pPr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«потім перенесемо» — не перенесете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25603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73405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29103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29103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5603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 на одному запиті   </a:t>
            </a:r>
            <a:pPr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готовність — це чотири питання, а не скріншот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6928" y="34290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60273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37790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37790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4290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«Логи — коли зламається»   </a:t>
            </a:r>
            <a:pPr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тоді дивитися буде нікуди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42976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47141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6476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6476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2976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провайдери одразу   </a:t>
            </a:r>
            <a:pPr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спочатку один контур наскрізь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66928" y="51663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534009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871789" y="55163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Shape 27"/>
          <p:cNvSpPr/>
          <p:nvPr/>
        </p:nvSpPr>
        <p:spPr>
          <a:xfrm rot="-2700000">
            <a:off x="871789" y="55163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1298448" y="51663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Реальний ключ з першого дня   </a:t>
            </a:r>
            <a:pPr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mock видно механіку, там — лише рахунок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470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— без здачі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377440"/>
            <a:ext cx="49469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пройти 5 обов'язкових кроків лабораторної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витримати чек-лист «перевірте себе»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переглянути гайд для студента по діагоналі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1928" y="169164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83096" y="18470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096" y="2377440"/>
            <a:ext cx="49469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підняти розширений профіль стека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якщо є свій ключ — поставити ліміт витрат у кабінеті провайдера (ключ поки не підключати)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343400"/>
            <a:ext cx="110642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ДЗ тижня 1 — здається після Теми 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4937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Логування + prompt registry. Тиждень здається одним PR у своєму репозиторії; критерії — у файлі ДЗ після наступної теми.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— не «працює»: гроші, надійність, якість і видимість потребують власного контуру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контракт виклику однаковий у всіх: messages, параметри, finish_reason, usage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перевіряємо властивості, а не рядки; latency читаємо разом із довжиною відповіді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сервіс вирішує — адаптер виконує; ключ живе тільки в gateway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log — рядок, з якого виростає весь курс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2 · Prompt lifecycle: промпт як production-артефакт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Ваш системний промпт захардкоджений у коді — і це остання доба, коли це прийнятно. Далі: версії, promote, rollback і відкат за секунди.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 · LLMOps і архітектура production LLM-системи</dc:title>
  <dc:subject>PptxGenJS Presentation</dc:subject>
  <dc:creator>LLMOps Bootcamp</dc:creator>
  <cp:lastModifiedBy>LLMOps Bootcamp</cp:lastModifiedBy>
  <cp:revision>1</cp:revision>
  <dcterms:created xsi:type="dcterms:W3CDTF">2026-09-08T17:14:03Z</dcterms:created>
  <dcterms:modified xsi:type="dcterms:W3CDTF">2026-09-08T17:14:03Z</dcterms:modified>
</cp:coreProperties>
</file>