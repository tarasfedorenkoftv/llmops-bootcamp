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ТЕМА 1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LLMOps і архітектура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production LLM-системи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«API відповів 200» до системи, якою можна керувати. Сьогодні розберемо об'єкт керування, піднімемо каркас капстоуна — і чесно зламаємо його.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6565392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640080"/>
            <a:ext cx="55595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Тарас</a:t>
            </a:r>
            <a:endParaRPr lang="en-US" sz="3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Федоренко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77240" y="1737360"/>
            <a:ext cx="5559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Senior Backend / AI Engineer у Creatio · автор курсу LLMOps у Neoversity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77240" y="2395728"/>
            <a:ext cx="5010912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798064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651760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8+ років в IT — від QA Automation до Backend та AI Engineering у production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804672" y="3498494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1078992" y="3352190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Стояв біля витоків Creatio.ai — флагманського AI-напряму українського єдинорога Creatio: впроваджував LLM-фічі ще до мейнстріму GenAI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4672" y="4198925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1078992" y="4052621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Наскрізно побудував RAG/Q&amp;A систему: від .NET API до Python ML на LangChain, з OpenAI / Azure OpenAI та Elasticsearch як vector store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4672" y="4899355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1078992" y="4753051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Основна експертиза — LLMOps: надійність, масштабування, моніторинг і security AI-сервісів у production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4672" y="5599786"/>
            <a:ext cx="100584" cy="10058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3"/>
          <p:cNvSpPr/>
          <p:nvPr/>
        </p:nvSpPr>
        <p:spPr>
          <a:xfrm>
            <a:off x="1078992" y="5453482"/>
            <a:ext cx="5239512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Досвід у класичному ML (рекомендації, sequence prediction, scikit-learn / xgboost) і у full-stack розробці</a:t>
            </a:r>
            <a:endParaRPr lang="en-US" sz="115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23176" y="1161288"/>
            <a:ext cx="4535424" cy="453542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теми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дій, які перевірите руками вже сьогодні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 стек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команда — п'ять компонентів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Намалювати шлях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UI → сервіс → адаптер → mock → лог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відповідь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finish_reason і usage, не лише текст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недетермінізм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temperature=0 не рятує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Назвати сліпі зони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відмови повз моніторинг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797356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34" name="Shape 31"/>
          <p:cNvSpPr/>
          <p:nvPr/>
        </p:nvSpPr>
        <p:spPr>
          <a:xfrm>
            <a:off x="817473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5" name="Text 32"/>
          <p:cNvSpPr/>
          <p:nvPr/>
        </p:nvSpPr>
        <p:spPr>
          <a:xfrm>
            <a:off x="817473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868680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запит у лозі</a:t>
            </a:r>
            <a:endParaRPr lang="en-US" sz="1450" dirty="0"/>
          </a:p>
        </p:txBody>
      </p:sp>
      <p:sp>
        <p:nvSpPr>
          <p:cNvPr id="37" name="Text 34"/>
          <p:cNvSpPr/>
          <p:nvPr/>
        </p:nvSpPr>
        <p:spPr>
          <a:xfrm>
            <a:off x="817473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сказати, яких полів бракує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≠ production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Структура виклику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Токени і три ціни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 і латентність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Сценарії відмови виклику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Архітектура стека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Mock-провайдер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п'ять блоків — об'єкт керування. Наступні — каркас, який Ви будуватимете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Курс складається з шести тижнів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тиждень — дві теми; кожен наступний шар лягає на той самий контур керування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103120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566928" y="2103120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231136" y="2103120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450592" y="2103120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Основа + промпти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архітектура production LLM-системи · промпт як артефакт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66928" y="2798064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2798064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2231136" y="2798064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450592" y="2798064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+ cost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мультипровайдерний gateway · токеноміка і cost attribution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493008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3493008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2231136" y="3493008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450592" y="3493008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+ tools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точний і semantic cache · tool calls, коли модель діє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187952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66928" y="4187952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2231136" y="4187952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450592" y="4187952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 + безпека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circuit breaker · guardrails і human-in-the-loop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" y="4882896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566928" y="4882896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2231136" y="4882896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450592" y="4882896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Observability + evals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LLM-систем · golden dataset і eval suite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66928" y="5577840"/>
            <a:ext cx="1481328" cy="512064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566928" y="5577840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2231136" y="5577840"/>
            <a:ext cx="9400032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2450592" y="5577840"/>
            <a:ext cx="8961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+ фінал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quality gates, canary і rollback · operating model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слів, які сьогодні звучатимуть постійно — щоб вони не відволікали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токен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частинка тексту, якою модель міряє вхід і вихід; у них рахується рахунок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системний промпт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інструкція, як поводитись; їде в кожному запиті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finish_reason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модель зупинилася: завершила, вперлася в стелю, просить інструмент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токени входу й виходу — єдине джерело правди про гроші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контур керування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control plane: шар, що ухвалює рішення, а не виконує виклик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mock-провайдер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фейкова модель: падає на замовлення, реагує на промпт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Чому 200 OK не підтверджує працездатності LLM-системи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75564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OK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713232" y="257403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каже Вам HTTP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342900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353872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/ 4</a:t>
            </a:r>
            <a:endParaRPr lang="en-US" sz="4400" dirty="0"/>
          </a:p>
        </p:txBody>
      </p:sp>
      <p:sp>
        <p:nvSpPr>
          <p:cNvPr id="13" name="Text 10"/>
          <p:cNvSpPr/>
          <p:nvPr/>
        </p:nvSpPr>
        <p:spPr>
          <a:xfrm>
            <a:off x="713232" y="435711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відповіді на операційні питання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16052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361688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36168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7375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36168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тиждень — і хто помітить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09244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293608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29360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80567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29360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ліг на 20 хвилин у робочий час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416052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5" name="Shape 22"/>
          <p:cNvSpPr/>
          <p:nvPr/>
        </p:nvSpPr>
        <p:spPr>
          <a:xfrm>
            <a:off x="4361688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436168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487375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436168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«маленька» правка промпта без компіляції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809244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Shape 27"/>
          <p:cNvSpPr/>
          <p:nvPr/>
        </p:nvSpPr>
        <p:spPr>
          <a:xfrm>
            <a:off x="8293608" y="36118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829360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880567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</a:t>
            </a:r>
            <a:endParaRPr lang="en-US" sz="1450" dirty="0"/>
          </a:p>
        </p:txBody>
      </p:sp>
      <p:sp>
        <p:nvSpPr>
          <p:cNvPr id="33" name="Text 30"/>
          <p:cNvSpPr/>
          <p:nvPr/>
        </p:nvSpPr>
        <p:spPr>
          <a:xfrm>
            <a:off x="829360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«бот відповідає не по темі», а графіки зелені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4160520" y="5349240"/>
            <a:ext cx="747064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379976" y="5495544"/>
            <a:ext cx="703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Класичний моніторинг на ці питання сліпий.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Чотири властивості, яких немає у звичайних сервісів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вхід — різний вихід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383280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3584448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358444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096512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Оплата за токен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3584448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залежить від поведінки, а не від кількості запитів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199632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6400800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912864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Регресії без коміта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6400800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або снапшот моделі — без деплою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015984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9217152" y="1783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9217152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9729216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інфраструктура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9217152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uptime залежить від чужого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347472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ТЕЗА КУРСУ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385876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LLMOps — це експлуатація моделі як production-сервісу.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669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6217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промпти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212140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224942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248716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254203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гроші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04164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rot="5400000">
            <a:off x="416966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9" name="Shape 36"/>
          <p:cNvSpPr/>
          <p:nvPr/>
        </p:nvSpPr>
        <p:spPr>
          <a:xfrm>
            <a:off x="440740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40" name="Text 37"/>
          <p:cNvSpPr/>
          <p:nvPr/>
        </p:nvSpPr>
        <p:spPr>
          <a:xfrm>
            <a:off x="446227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і дії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596188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rot="5400000">
            <a:off x="608990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3" name="Shape 40"/>
          <p:cNvSpPr/>
          <p:nvPr/>
        </p:nvSpPr>
        <p:spPr>
          <a:xfrm>
            <a:off x="632764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44" name="Text 41"/>
          <p:cNvSpPr/>
          <p:nvPr/>
        </p:nvSpPr>
        <p:spPr>
          <a:xfrm>
            <a:off x="638251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788212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rot="5400000">
            <a:off x="801014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7" name="Shape 44"/>
          <p:cNvSpPr/>
          <p:nvPr/>
        </p:nvSpPr>
        <p:spPr>
          <a:xfrm>
            <a:off x="824788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48" name="Text 45"/>
          <p:cNvSpPr/>
          <p:nvPr/>
        </p:nvSpPr>
        <p:spPr>
          <a:xfrm>
            <a:off x="830275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видимість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9802368" y="5239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rot="5400000">
            <a:off x="9930384" y="5170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51" name="Shape 48"/>
          <p:cNvSpPr/>
          <p:nvPr/>
        </p:nvSpPr>
        <p:spPr>
          <a:xfrm>
            <a:off x="101681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52" name="Text 49"/>
          <p:cNvSpPr/>
          <p:nvPr/>
        </p:nvSpPr>
        <p:spPr>
          <a:xfrm>
            <a:off x="102229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гейт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566928" y="5760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тиждень закриває одне питання — механізмом, а не порадою.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Структура LLM-виклику та базовий API-контракт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5577840" cy="2514600"/>
          </a:xfrm>
          <a:prstGeom prst="roundRect">
            <a:avLst>
              <a:gd name="adj" fmla="val 436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746504"/>
            <a:ext cx="5138928" cy="2221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"model"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"mock",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"messages"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{"role":"system", "content":"…"},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{"role":"user",   "content":"…"}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саме це шле service/Program.cs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343400"/>
            <a:ext cx="55778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4489704"/>
            <a:ext cx="51389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не має пам'яті: історію привозите Ви — тому кожен наступний крок діалогу дорожчає, а сумарна вартість росте швидше за кількість кроків.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92240" y="1600200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711696" y="1600200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temperature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8458932" y="1600200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свобода вибору токена — тримають низькою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492240" y="2569464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6711696" y="2569464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max_tokens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8458932" y="2569464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стеля довжини = стеля вартості виклику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492240" y="3538728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6711696" y="3538728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response_format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8458932" y="3538728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строгий JSON, який валідує провайдер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492240" y="44805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system — це той промпт, який у наступній темі переїде в реєстр.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повертається: не тільки текст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00200"/>
          <a:ext cx="68580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651760"/>
                <a:gridCol w="260604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finish_reason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означає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stop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модель завершила думку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нормальний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length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досягла ліміту 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збій формату: не кешувати, не показувати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tool_calls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просить інструмент (Тема 6)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текст може бути порожнім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content_filter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зрізав фільтр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окрема категорія в метриках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7635240" y="1600200"/>
            <a:ext cx="3995928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818120" y="238201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1" name="Text 7"/>
          <p:cNvSpPr/>
          <p:nvPr/>
        </p:nvSpPr>
        <p:spPr>
          <a:xfrm>
            <a:off x="7818120" y="23820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8311896" y="1728216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8311896" y="1984248"/>
            <a:ext cx="309981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Читати лише content: обрізана відповідь виглядає успішною — 200, текст є, метрики зелені.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635240" y="3703320"/>
            <a:ext cx="3995928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15" name="Text 11"/>
          <p:cNvSpPr/>
          <p:nvPr/>
        </p:nvSpPr>
        <p:spPr>
          <a:xfrm>
            <a:off x="7854696" y="383133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ТРЕТЄ ПОЛЕ — USAGE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7854696" y="4087368"/>
            <a:ext cx="3557016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 · вихідні · кеш провайдера. Єдине джерело правди про гроші (Тема 4).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566928" y="46634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 віддає лише stop і tool_calls — гілку length перевіряємо юніт-тестом.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ціни в одному виклику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7099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4 симв.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713232" y="24487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токен англійською (≈¾ слова)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32004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33101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дорожче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713232" y="40489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зміст українською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66928" y="48006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Операційне рішення: якою мовою тримати системний промпт, що їде в кожному запиті.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4206240" y="1874520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провайдера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217920" y="1965046"/>
            <a:ext cx="361188" cy="321869"/>
          </a:xfrm>
          <a:prstGeom prst="roundRect">
            <a:avLst>
              <a:gd name="adj" fmla="val 14205"/>
            </a:avLst>
          </a:prstGeom>
          <a:solidFill>
            <a:srgbClr val="106B41"/>
          </a:solidFill>
          <a:ln/>
        </p:spPr>
      </p:sp>
      <p:sp>
        <p:nvSpPr>
          <p:cNvPr id="17" name="Text 14"/>
          <p:cNvSpPr/>
          <p:nvPr/>
        </p:nvSpPr>
        <p:spPr>
          <a:xfrm>
            <a:off x="8613648" y="187452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різко нижча ставка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206240" y="2670048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217920" y="2760574"/>
            <a:ext cx="794614" cy="321869"/>
          </a:xfrm>
          <a:prstGeom prst="roundRect">
            <a:avLst>
              <a:gd name="adj" fmla="val 14205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613648" y="2670048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та історія — найдешевші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4206240" y="3465576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217920" y="3556102"/>
            <a:ext cx="2167128" cy="321869"/>
          </a:xfrm>
          <a:prstGeom prst="roundRect">
            <a:avLst>
              <a:gd name="adj" fmla="val 14205"/>
            </a:avLst>
          </a:prstGeom>
          <a:solidFill>
            <a:srgbClr val="B3261E"/>
          </a:solidFill>
          <a:ln/>
        </p:spPr>
      </p:sp>
      <p:sp>
        <p:nvSpPr>
          <p:cNvPr id="23" name="Text 20"/>
          <p:cNvSpPr/>
          <p:nvPr/>
        </p:nvSpPr>
        <p:spPr>
          <a:xfrm>
            <a:off x="8613648" y="3465576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кілька разів дорожчі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4206240" y="411480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схематично: порядок величин, а не точні коефіцієнти — прайс розбираємо в Темі 4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206240" y="4572000"/>
            <a:ext cx="7424928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389120" y="505663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27" name="Text 24"/>
          <p:cNvSpPr/>
          <p:nvPr/>
        </p:nvSpPr>
        <p:spPr>
          <a:xfrm>
            <a:off x="4389120" y="50566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4882896" y="4700016"/>
            <a:ext cx="6528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4882896" y="4956048"/>
            <a:ext cx="6528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окремих вхідних і вихідних токенів цифра вартості вигадана.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Чому temperature=0 не гарантує детермінізму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Пакети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 пакета впливає на арифметику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Плаваюча точка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обчислення не асоціативні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Снапшоти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та сама — модель оновлена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запит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041648" y="36118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4169664" y="35433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440740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446227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temperature = 0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7882128" y="36118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8010144" y="35433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824788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830275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інші слова у відповіді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9808" y="489661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5" name="Text 32"/>
          <p:cNvSpPr/>
          <p:nvPr/>
        </p:nvSpPr>
        <p:spPr>
          <a:xfrm>
            <a:off x="749808" y="48966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1243584" y="456285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1243584" y="4818888"/>
            <a:ext cx="101681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Перевіряємо властивості, а не рядки: expect і forbid, не «дорівнює».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Від чого залежить латентність LLM-виклику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16002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КОРОТКА ВІДПОВІДЬ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66928" y="192024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920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624328" y="192024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2624328" y="19202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генерація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66928" y="28346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ТРИ АБЗАЦИ — ТА САМА МОДЕЛЬ, ТОЙ САМИЙ ПРОВАЙДЕР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66928" y="315468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928" y="31546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2624328" y="3154680"/>
            <a:ext cx="6035040" cy="54864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2624328" y="31546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генерація: послідовно, токен за токеном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66928" y="3767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схематично: співвідношення часток, не виміряні значення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66928" y="416052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49808" y="459943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749808" y="4599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43584" y="42885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1243584" y="4544568"/>
            <a:ext cx="101681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росте і від довших відповідей, і від проблем провайдера.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566928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time-to-first-token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— метрика для інтерфейсів, де відповідь друкується на очах. Стрімінг — свідомо за межами курсу.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Типові сценарії відмови LLM-виклику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МОНІТОРИНГ БАЧИТЬ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95528" y="2240280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/>
          <p:nvPr/>
        </p:nvSpPr>
        <p:spPr>
          <a:xfrm>
            <a:off x="795528" y="224028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2167128" y="22402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вичерпана квота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95528" y="3044952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4" name="Text 11"/>
          <p:cNvSpPr/>
          <p:nvPr/>
        </p:nvSpPr>
        <p:spPr>
          <a:xfrm>
            <a:off x="795528" y="304495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2167128" y="3044952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провайдера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5528" y="3849624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7" name="Text 14"/>
          <p:cNvSpPr/>
          <p:nvPr/>
        </p:nvSpPr>
        <p:spPr>
          <a:xfrm>
            <a:off x="795528" y="384962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таймаут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2167128" y="3849624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відповідь після того, як пішов користувач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281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10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БАЧИТЬ У ПРИНЦИПІ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510528" y="224028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2" name="Text 19"/>
          <p:cNvSpPr/>
          <p:nvPr/>
        </p:nvSpPr>
        <p:spPr>
          <a:xfrm>
            <a:off x="6711696" y="23682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+ невалідний вміст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6711696" y="27706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обрізана, порожня або не-JSON відповідь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510528" y="347472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6711696" y="36027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+ деградація якості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711696" y="40050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снапшот моделі або правка промпта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праві категорії ловить лише власний лог і гейт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Стек капстоуна: шлях запиту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228142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40944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64718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70205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 UI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36168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48970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4727448" y="2148840"/>
            <a:ext cx="274320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782312" y="2148840"/>
            <a:ext cx="2633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· контур керування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56208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69010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92784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98271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642348" y="25603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770364" y="24917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1000810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06297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/ mock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760720" y="3063240"/>
            <a:ext cx="0" cy="713232"/>
          </a:xfrm>
          <a:prstGeom prst="line">
            <a:avLst/>
          </a:prstGeom>
          <a:noFill/>
          <a:ln w="15875">
            <a:solidFill>
              <a:srgbClr val="106B41"/>
            </a:solidFill>
            <a:prstDash val="dash"/>
          </a:ln>
        </p:spPr>
      </p:sp>
      <p:sp>
        <p:nvSpPr>
          <p:cNvPr id="27" name="Shape 24"/>
          <p:cNvSpPr/>
          <p:nvPr/>
        </p:nvSpPr>
        <p:spPr>
          <a:xfrm rot="10800000">
            <a:off x="5692140" y="3739896"/>
            <a:ext cx="137160" cy="146304"/>
          </a:xfrm>
          <a:prstGeom prst="triangle">
            <a:avLst/>
          </a:prstGeom>
          <a:solidFill>
            <a:srgbClr val="106B41"/>
          </a:solidFill>
          <a:ln/>
        </p:spPr>
      </p:sp>
      <p:sp>
        <p:nvSpPr>
          <p:cNvPr id="28" name="Shape 25"/>
          <p:cNvSpPr/>
          <p:nvPr/>
        </p:nvSpPr>
        <p:spPr>
          <a:xfrm>
            <a:off x="4800600" y="3931920"/>
            <a:ext cx="1920240" cy="566928"/>
          </a:xfrm>
          <a:prstGeom prst="roundRect">
            <a:avLst>
              <a:gd name="adj" fmla="val 16129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800600" y="393192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у БД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66928" y="4892040"/>
            <a:ext cx="5120640" cy="658368"/>
          </a:xfrm>
          <a:prstGeom prst="roundRect">
            <a:avLst>
              <a:gd name="adj" fmla="val 1666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5038344"/>
            <a:ext cx="4681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п'ять компонентів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6035040" y="4892040"/>
            <a:ext cx="5596128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254496" y="5038344"/>
            <a:ext cx="5157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ролі Ви зустрінете в будь-якому проді — незалежно від інструментів.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Архітектура стека: компоненти та межі відповідальності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64592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Chat UI + консоль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64592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обличчя системи — користуєтесь, не змінюєте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1401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1401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1401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контур керування: модель, кеш, fallback, вартість — тут уся Ваша робота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18211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18211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Gateway-адаптер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18211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 — конфігуруєте список моделей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950208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3950208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База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3950208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лог, реєстр промптів, вартість — читаєте і розширюєте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71830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471830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Mock-провайдер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4548226" y="471830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керована «модель» для тестів і симуляції збоїв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56235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7698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Права колонка чесно ділить стек: що Ви будуєте — і чим просто користуєтесь.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Сервіс вирішує. Адаптер виконує.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41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41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· чи кеш · чи fallback · скільки коштувало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281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56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556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Gateway-адаптер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6556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· згладжування API · зберігання ключів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49808" y="453085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8" name="Text 15"/>
          <p:cNvSpPr/>
          <p:nvPr/>
        </p:nvSpPr>
        <p:spPr>
          <a:xfrm>
            <a:off x="749808" y="45308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43584" y="3968496"/>
            <a:ext cx="4453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243584" y="4224528"/>
            <a:ext cx="44531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живе тільки в gateway — інакше контуру керування немає.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6281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64808" y="453085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3" name="Text 20"/>
          <p:cNvSpPr/>
          <p:nvPr/>
        </p:nvSpPr>
        <p:spPr>
          <a:xfrm>
            <a:off x="6464808" y="45308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58584" y="3968496"/>
            <a:ext cx="4453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6958584" y="4224528"/>
            <a:ext cx="44531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 адаптері — Ви клікаєте прапорці, а не будуєте механізм.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566928" y="5715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змінюються — механізми лишаються.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Unified log як основа операційного контролю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459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7922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 · model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latency_ms · prompt_tokens · completion_tokens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status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66928" y="2651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підсвічені поля сьогодні порожні — це Ваша робота на два тижні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66928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310128" y="329184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3666744" y="32232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3950208" y="30632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«що зламалось учора о 19:40»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10927080" y="314553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927080" y="314553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566928" y="3611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3310128" y="384048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3666744" y="37719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3950208" y="36118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трафіку, доказ routing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10927080" y="36941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27080" y="36941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566928" y="4160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tokens · cost_usd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310128" y="438912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3666744" y="43205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3950208" y="41605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вартість, бюджет, алерти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10927080" y="424281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927080" y="424281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566928" y="47091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latency_ms · status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3310128" y="493776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3666744" y="48691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3950208" y="47091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error rate, сліди інцидентів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10927080" y="479145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0927080" y="479145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566928" y="5257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весь рядок разом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3310128" y="5486400"/>
            <a:ext cx="3931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rot="5400000">
            <a:off x="3666744" y="5417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8" name="Text 35"/>
          <p:cNvSpPr/>
          <p:nvPr/>
        </p:nvSpPr>
        <p:spPr>
          <a:xfrm>
            <a:off x="3950208" y="52578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консолі, гейти якості</a:t>
            </a:r>
            <a:endParaRPr 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10927080" y="534009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0927080" y="534009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W5–6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Немає лога — немає операцій.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Mock-провайдер для керованого тестування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ВЛАСТИВІСТЬ 1 · КЕРОВАНІ ЗБОЇ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66928" y="2011680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0116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304288" y="2011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недоступний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093208" y="20116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66928" y="2670048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267004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__fail_429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304288" y="26700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вичерпані ліміти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093208" y="2670048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Тема 7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66928" y="3328416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18" name="Text 15"/>
          <p:cNvSpPr/>
          <p:nvPr/>
        </p:nvSpPr>
        <p:spPr>
          <a:xfrm>
            <a:off x="566928" y="3328416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__delay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304288" y="332841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стрибок latency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093208" y="3328416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66928" y="3986784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5F3FA"/>
          </a:solidFill>
          <a:ln/>
        </p:spPr>
      </p:sp>
      <p:sp>
        <p:nvSpPr>
          <p:cNvPr id="22" name="Text 19"/>
          <p:cNvSpPr/>
          <p:nvPr/>
        </p:nvSpPr>
        <p:spPr>
          <a:xfrm>
            <a:off x="566928" y="398678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__garbage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2304288" y="398678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беззмістовна відповідь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093208" y="3986784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ДЗ W5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566928" y="47548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Надійність, яку тренують лише на реальних інцидентах, — це сподівання.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492240" y="16002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ВЛАСТИВІСТЬ 2 · ЧУТЛИВІСТЬ ДО ПРОМПТА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492240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6547104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v2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8924544" y="229514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9052560" y="222656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9290304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9345168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по суті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492240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6547104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зламано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8924544" y="316382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9052560" y="3095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7" name="Shape 34"/>
          <p:cNvSpPr/>
          <p:nvPr/>
        </p:nvSpPr>
        <p:spPr>
          <a:xfrm>
            <a:off x="9290304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000000"/>
          </a:solidFill>
          <a:ln/>
        </p:spPr>
      </p:sp>
      <p:sp>
        <p:nvSpPr>
          <p:cNvPr id="38" name="Text 35"/>
          <p:cNvSpPr/>
          <p:nvPr/>
        </p:nvSpPr>
        <p:spPr>
          <a:xfrm>
            <a:off x="9345168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6492240" y="3749040"/>
            <a:ext cx="5138928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6711696" y="3895344"/>
            <a:ext cx="470001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Регресію промпта видно автоматично: зламали — почервоніло.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6492240" y="5257800"/>
            <a:ext cx="5138928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711696" y="5385816"/>
            <a:ext cx="4700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ЦЕ ПЕРЕНОСИТЬСЯ НА ПРОД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6711696" y="5641848"/>
            <a:ext cx="4700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контуру однакова; міняється лише «мозок» на іншому кінці дроту.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Підключення реального провайдера та розширеного стека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41366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41366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413662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413662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64592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792224"/>
            <a:ext cx="10625328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gateway/.env.example gateway/.env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вписати ключ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MODEL=назва-моделі docker compose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реальний провайдер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--profile advanced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+ Redis (W3)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6692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76809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Зміниться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відповідей, багатоходовий діалог, цифри вартості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31596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451713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зміниться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51713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механізм контуру: routing, лог, кеш, fallback, гейти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06500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247888" y="4142232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8247888" y="41422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741664" y="3557016"/>
            <a:ext cx="2670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741664" y="3813048"/>
            <a:ext cx="267004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Берете ключ — одразу ставте ліміт витрат у провайдера.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566928" y="53949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Радимо не вмикати в перші тижні: на mock видно механіку, а не магію моделі.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582973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5829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п'ять кроків + один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115568" y="1691640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піднявся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221992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221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115568" y="2221992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2752344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27523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115568" y="2752344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порожня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«—» у кожній плитці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3282696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3282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115568" y="3282696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TODO у коді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мапа роботи на 6 тижнів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3813048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3813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115568" y="3813048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у лозі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requests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6928" y="434340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3" name="Text 20"/>
          <p:cNvSpPr/>
          <p:nvPr/>
        </p:nvSpPr>
        <p:spPr>
          <a:xfrm>
            <a:off x="566928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115568" y="4343400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чесний злам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— і жодного плану Б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772400" y="1691640"/>
            <a:ext cx="3858768" cy="3017520"/>
          </a:xfrm>
          <a:prstGeom prst="roundRect">
            <a:avLst>
              <a:gd name="adj" fmla="val 242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900416" y="1810512"/>
            <a:ext cx="73152" cy="7315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27" name="Shape 24"/>
          <p:cNvSpPr/>
          <p:nvPr/>
        </p:nvSpPr>
        <p:spPr>
          <a:xfrm>
            <a:off x="8046720" y="1810512"/>
            <a:ext cx="73152" cy="7315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28" name="Shape 25"/>
          <p:cNvSpPr/>
          <p:nvPr/>
        </p:nvSpPr>
        <p:spPr>
          <a:xfrm>
            <a:off x="8193024" y="1810512"/>
            <a:ext cx="73152" cy="7315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29" name="Text 26"/>
          <p:cNvSpPr/>
          <p:nvPr/>
        </p:nvSpPr>
        <p:spPr>
          <a:xfrm>
            <a:off x="8375904" y="1691640"/>
            <a:ext cx="3145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 · точка А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7772400" y="2002536"/>
            <a:ext cx="3858768" cy="0"/>
          </a:xfrm>
          <a:prstGeom prst="line">
            <a:avLst/>
          </a:prstGeom>
          <a:noFill/>
          <a:ln w="9525">
            <a:solidFill>
              <a:srgbClr val="2A243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882128" y="2093976"/>
            <a:ext cx="1139952" cy="1216152"/>
          </a:xfrm>
          <a:prstGeom prst="roundRect">
            <a:avLst>
              <a:gd name="adj" fmla="val 4011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955280" y="2130552"/>
            <a:ext cx="993648" cy="31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7955280" y="2507468"/>
            <a:ext cx="993648" cy="705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9131808" y="2093976"/>
            <a:ext cx="1139952" cy="1216152"/>
          </a:xfrm>
          <a:prstGeom prst="roundRect">
            <a:avLst>
              <a:gd name="adj" fmla="val 4011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204960" y="2130552"/>
            <a:ext cx="993648" cy="31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9204960" y="2507468"/>
            <a:ext cx="993648" cy="705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10381488" y="2093976"/>
            <a:ext cx="1139952" cy="1216152"/>
          </a:xfrm>
          <a:prstGeom prst="roundRect">
            <a:avLst>
              <a:gd name="adj" fmla="val 4011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0454640" y="2130552"/>
            <a:ext cx="993648" cy="31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750" dirty="0"/>
          </a:p>
        </p:txBody>
      </p:sp>
      <p:sp>
        <p:nvSpPr>
          <p:cNvPr id="39" name="Text 36"/>
          <p:cNvSpPr/>
          <p:nvPr/>
        </p:nvSpPr>
        <p:spPr>
          <a:xfrm>
            <a:off x="10454640" y="2507468"/>
            <a:ext cx="993648" cy="705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7882128" y="3401568"/>
            <a:ext cx="1139952" cy="1216152"/>
          </a:xfrm>
          <a:prstGeom prst="roundRect">
            <a:avLst>
              <a:gd name="adj" fmla="val 4011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955280" y="3438144"/>
            <a:ext cx="993648" cy="31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</a:t>
            </a:r>
            <a:endParaRPr lang="en-US" sz="750" dirty="0"/>
          </a:p>
        </p:txBody>
      </p:sp>
      <p:sp>
        <p:nvSpPr>
          <p:cNvPr id="42" name="Text 39"/>
          <p:cNvSpPr/>
          <p:nvPr/>
        </p:nvSpPr>
        <p:spPr>
          <a:xfrm>
            <a:off x="7955280" y="3815060"/>
            <a:ext cx="993648" cy="705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9131808" y="3401568"/>
            <a:ext cx="1139952" cy="1216152"/>
          </a:xfrm>
          <a:prstGeom prst="roundRect">
            <a:avLst>
              <a:gd name="adj" fmla="val 4011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9204960" y="3438144"/>
            <a:ext cx="993648" cy="31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</a:t>
            </a:r>
            <a:endParaRPr lang="en-US" sz="750" dirty="0"/>
          </a:p>
        </p:txBody>
      </p:sp>
      <p:sp>
        <p:nvSpPr>
          <p:cNvPr id="45" name="Text 42"/>
          <p:cNvSpPr/>
          <p:nvPr/>
        </p:nvSpPr>
        <p:spPr>
          <a:xfrm>
            <a:off x="9204960" y="3815060"/>
            <a:ext cx="993648" cy="705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46" name="Shape 43"/>
          <p:cNvSpPr/>
          <p:nvPr/>
        </p:nvSpPr>
        <p:spPr>
          <a:xfrm>
            <a:off x="10381488" y="3401568"/>
            <a:ext cx="1139952" cy="1216152"/>
          </a:xfrm>
          <a:prstGeom prst="roundRect">
            <a:avLst>
              <a:gd name="adj" fmla="val 4011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10454640" y="3438144"/>
            <a:ext cx="993648" cy="31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10454640" y="3815060"/>
            <a:ext cx="993648" cy="705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500" dirty="0"/>
          </a:p>
        </p:txBody>
      </p:sp>
      <p:sp>
        <p:nvSpPr>
          <p:cNvPr id="49" name="Shape 46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50" name="Shape 47"/>
          <p:cNvSpPr/>
          <p:nvPr/>
        </p:nvSpPr>
        <p:spPr>
          <a:xfrm>
            <a:off x="749808" y="539953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1" name="Text 48"/>
          <p:cNvSpPr/>
          <p:nvPr/>
        </p:nvSpPr>
        <p:spPr>
          <a:xfrm>
            <a:off x="749808" y="53995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52" name="Text 49"/>
          <p:cNvSpPr/>
          <p:nvPr/>
        </p:nvSpPr>
        <p:spPr>
          <a:xfrm>
            <a:off x="1243584" y="51572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53" name="Text 50"/>
          <p:cNvSpPr/>
          <p:nvPr/>
        </p:nvSpPr>
        <p:spPr>
          <a:xfrm>
            <a:off x="1243584" y="541324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Зафіксувати точку А — стан системи до шарів керування. Порожня консоль і збій без плану Б — не дефект демо, а предмет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 робота: запуск, перевірка та відтворення збою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6459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Підняти стек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compose up --build → localhost:4200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43230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432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4323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Оглянути половини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відповідає; консоль — «—» у кожній плитці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21868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2186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код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service/Program.cs, /chat згори вниз; знайти TODO(student)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00507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0050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запит у лозі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* FROM requests ORDER BY created_at DESC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479145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4791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479145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«сервіс недоступний», плану Б немає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6928" y="5577840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3" name="Text 20"/>
          <p:cNvSpPr/>
          <p:nvPr/>
        </p:nvSpPr>
        <p:spPr>
          <a:xfrm>
            <a:off x="566928" y="5577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188720" y="55778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Розширений стек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--profile advanced → +Redis → погасити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жива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шлях запиту видно наскрізь: UI → сервіс → адаптер → mock → лог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Керування ще немає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«—», prompt_version і cost_usd порожні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Плану Б немає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заглушки, деградації і сліду в метриках не існує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217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А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84708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197510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22128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22677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промпти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49300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362102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385876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391363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гроші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13892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526694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550468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555955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78484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691286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715060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720547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надійність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43076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rot="5400000">
            <a:off x="855878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6" name="Shape 33"/>
          <p:cNvSpPr/>
          <p:nvPr/>
        </p:nvSpPr>
        <p:spPr>
          <a:xfrm>
            <a:off x="87965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37" name="Text 34"/>
          <p:cNvSpPr/>
          <p:nvPr/>
        </p:nvSpPr>
        <p:spPr>
          <a:xfrm>
            <a:off x="88513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видимість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10076688" y="43434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rot="5400000">
            <a:off x="10204704" y="42748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40" name="Shape 37"/>
          <p:cNvSpPr/>
          <p:nvPr/>
        </p:nvSpPr>
        <p:spPr>
          <a:xfrm>
            <a:off x="104424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/>
        </p:spPr>
      </p:sp>
      <p:sp>
        <p:nvSpPr>
          <p:cNvPr id="41" name="Text 38"/>
          <p:cNvSpPr/>
          <p:nvPr/>
        </p:nvSpPr>
        <p:spPr>
          <a:xfrm>
            <a:off x="104973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Б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43" name="Text 40"/>
          <p:cNvSpPr/>
          <p:nvPr/>
        </p:nvSpPr>
        <p:spPr>
          <a:xfrm>
            <a:off x="786384" y="522122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Точку Б Ви збудуєте самі — шар за шаром, тиждень за тижнем. Сьогоднішній скріншот консолі збережіть: на тижні 6 порівняєте.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4627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6022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5761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26161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стек піднявся, консоль показує «—»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34381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357759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355153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23697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малюю шлях запиту з пам'яті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978408" y="441350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1041227" y="455295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1069025" y="452689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1362456" y="421233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знайшов свій рядок у requests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24627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6022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5761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26161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бачив поведінку при збої провайдера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144768" y="34381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2700000">
            <a:off x="6207587" y="357759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 rot="-3000000">
            <a:off x="6235385" y="355153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6528816" y="323697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temperature=0 не рятує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6144768" y="441350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6207587" y="455295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0" name="Shape 27"/>
          <p:cNvSpPr/>
          <p:nvPr/>
        </p:nvSpPr>
        <p:spPr>
          <a:xfrm rot="-3000000">
            <a:off x="6235385" y="452689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6528816" y="421233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 дві невидимі категорії відмов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8653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0416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0416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6916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у коді застосунку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«потім перенесемо» — не перенесете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25603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7340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29103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29103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5603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Демо на одному запиті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готовність — це чотири питання, а не скріншот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66928" y="34290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027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7790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7790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4290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«Логи — коли зламається»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тоді дивитися буде нікуди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6928" y="42976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4714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6476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6476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2976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провайдери одразу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спочатку один контур наскрізь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3400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5163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5163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1663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 першого дня 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mock видно механіку, там — лише рахунок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пройти 5 обов'язкових кроків лабораторної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витримати чек-лист «перевір себе»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переглянути гайд для студента по діагоналі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підняти розширений профіль стека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якщо є свій ключ — поставити ліміт витрат у кабінеті провайдера (ключ поки не підключати)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526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1 — здається після Теми 2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9377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Логування + prompt registry. Тиждень здається одним PR у своєму репозиторії; критерії — у файлі ДЗ після наступної теми.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ТЕМИ 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— не «працює»: гроші, надійність, якість і видимість потребують власного контуру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 виклику однаковий у всіх: messages, параметри, finish_reason, usage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перевіряємо властивості, а не рядки; latency читаємо разом із довжиною відповіді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 — адаптер виконує; ключ живе тільки в gateway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unified log — рядок, з якого виростає весь курс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Тема 2 · Prompt lifecycle: промпт як production-артефакт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системний промпт захардкоджений у коді — і це остання доба, коли це прийнятно. Далі: версії, promote, rollback і відкат за секунди.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 · LLMOps і архітектура production LLM-системи</dc:title>
  <dc:subject>PptxGenJS Presentation</dc:subject>
  <dc:creator>LLMOps Bootcamp</dc:creator>
  <cp:lastModifiedBy>LLMOps Bootcamp</cp:lastModifiedBy>
  <cp:revision>1</cp:revision>
  <dcterms:created xsi:type="dcterms:W3CDTF">2026-09-07T22:06:37Z</dcterms:created>
  <dcterms:modified xsi:type="dcterms:W3CDTF">2026-09-07T22:06:37Z</dcterms:modified>
</cp:coreProperties>
</file>