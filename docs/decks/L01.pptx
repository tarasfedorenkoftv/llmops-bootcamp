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1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LLMOps і архітектура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production LLM-системи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«API відповів 200» до системи, якою можна керувати. Сьогодні розберемо об'єкт керування, піднімемо каркас капстоуна — і чесно зламаємо його.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дій, які перевірите руками вже сьогодні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команда — п'ять компонентів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Намалювати шлях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 → сервіс → адаптер → mock → лог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відповідь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finish_reason і usage, не лише текст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недетермінізм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temperature=0 не рятує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сліпі зони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відмови повз моніторинг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473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яких полів бракує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≠ production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виклику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і три ціни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і латентність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способів зламатися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Стек: вирішує vs виконує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п'ять блоків — об'єкт керування. Наступні — каркас, який ви будуватимете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слів, які сьогодні звучатимуть постійно — щоб вони не відволікали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токен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частинка тексту, якою модель міряє вхід і вихід; у них рахується рахунок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системний промпт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інструкція, як поводитись; їде в кожному запиті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finish_reason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модель зупинилася: завершила, вперлася в стелю, просить інструмент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входу й виходу — єдине джерело правди про гроші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контур керування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 plane: шар, що ухвалює рішення, а не виконує виклик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mock-провайдер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фейкова модель: падає на замовлення, реагує на промпт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демо за день — а прод ніколи?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75564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OK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713232" y="257403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каже вам HTTP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42900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353872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/ 4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713232" y="435711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відповіді на операційні питання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16052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36168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36168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87375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36168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тиждень — і хто помітить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9244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9360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29360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80567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29360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ліг на 20 хвилин у робочий час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16052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36168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36168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87375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436168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«маленька» правка промпта без компіляції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09244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29360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8293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80567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829360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«бот верзе дурниці», а графіки зелені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160520" y="5349240"/>
            <a:ext cx="7470648" cy="566928"/>
          </a:xfrm>
          <a:prstGeom prst="roundRect">
            <a:avLst>
              <a:gd name="adj" fmla="val 19355"/>
            </a:avLst>
          </a:prstGeom>
          <a:solidFill>
            <a:srgbClr val="2E1418"/>
          </a:solidFill>
          <a:ln/>
        </p:spPr>
      </p:sp>
      <p:sp>
        <p:nvSpPr>
          <p:cNvPr id="34" name="Text 31"/>
          <p:cNvSpPr/>
          <p:nvPr/>
        </p:nvSpPr>
        <p:spPr>
          <a:xfrm>
            <a:off x="4379976" y="5495544"/>
            <a:ext cx="703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Класичний моніторинг на ці питання сліпий.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Чотири властивості, яких немає у звичайних сервісів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1C114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7830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різний вихід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383280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1C1140"/>
          </a:solidFill>
          <a:ln/>
        </p:spPr>
      </p:sp>
      <p:sp>
        <p:nvSpPr>
          <p:cNvPr id="13" name="Shape 10"/>
          <p:cNvSpPr/>
          <p:nvPr/>
        </p:nvSpPr>
        <p:spPr>
          <a:xfrm>
            <a:off x="3584448" y="17830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358444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096512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Оплата за токен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3584448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залежить від поведінки, не від кількості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199632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1C1140"/>
          </a:solidFill>
          <a:ln/>
        </p:spPr>
      </p:sp>
      <p:sp>
        <p:nvSpPr>
          <p:cNvPr id="18" name="Shape 15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912864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Регресії без коміта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400800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або снапшот моделі — без деплою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015984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1C1140"/>
          </a:solidFill>
          <a:ln/>
        </p:spPr>
      </p:sp>
      <p:sp>
        <p:nvSpPr>
          <p:cNvPr id="23" name="Shape 20"/>
          <p:cNvSpPr/>
          <p:nvPr/>
        </p:nvSpPr>
        <p:spPr>
          <a:xfrm>
            <a:off x="9217152" y="17830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4" name="Text 21"/>
          <p:cNvSpPr/>
          <p:nvPr/>
        </p:nvSpPr>
        <p:spPr>
          <a:xfrm>
            <a:off x="921715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9729216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9217152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uptime залежить від чужого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34747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ТЕЗА КУРСУ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385876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— це експлуатація моделі як production-сервісу.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669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1C1140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промпти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2121408" y="523951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2249424" y="517093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4" name="Shape 31"/>
          <p:cNvSpPr/>
          <p:nvPr/>
        </p:nvSpPr>
        <p:spPr>
          <a:xfrm>
            <a:off x="248716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254203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гроші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041648" y="523951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4169664" y="517093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8" name="Shape 35"/>
          <p:cNvSpPr/>
          <p:nvPr/>
        </p:nvSpPr>
        <p:spPr>
          <a:xfrm>
            <a:off x="440740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46227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і дії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5961888" y="523951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rot="5400000">
            <a:off x="6089904" y="517093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42" name="Shape 39"/>
          <p:cNvSpPr/>
          <p:nvPr/>
        </p:nvSpPr>
        <p:spPr>
          <a:xfrm>
            <a:off x="632764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38251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882128" y="523951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rot="5400000">
            <a:off x="8010144" y="517093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46" name="Shape 43"/>
          <p:cNvSpPr/>
          <p:nvPr/>
        </p:nvSpPr>
        <p:spPr>
          <a:xfrm>
            <a:off x="824788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830275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видимість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9802368" y="5239512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rot="5400000">
            <a:off x="9930384" y="5170932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50" name="Shape 47"/>
          <p:cNvSpPr/>
          <p:nvPr/>
        </p:nvSpPr>
        <p:spPr>
          <a:xfrm>
            <a:off x="101681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02229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гейт</a:t>
            </a:r>
            <a:endParaRPr lang="en-US" sz="1100" dirty="0"/>
          </a:p>
        </p:txBody>
      </p:sp>
      <p:sp>
        <p:nvSpPr>
          <p:cNvPr id="52" name="Text 49"/>
          <p:cNvSpPr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закриває одне питання — механізмом, а не порадою.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Анатомія виклику: що летить у модель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5577840" cy="2514600"/>
          </a:xfrm>
          <a:prstGeom prst="roundRect">
            <a:avLst>
              <a:gd name="adj" fmla="val 4364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46504"/>
            <a:ext cx="5138928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"mock",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"messages"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{"role":"system", "content":"…"},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{"role":"user",   "content":"…"}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саме це шле service/Program.cs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34340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4489704"/>
            <a:ext cx="5138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не має пам'яті: історію привозите ви — тому довгий діалог дорожчає лінійно.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92240" y="1600200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17141F"/>
          </a:solidFill>
          <a:ln/>
        </p:spPr>
      </p:sp>
      <p:sp>
        <p:nvSpPr>
          <p:cNvPr id="12" name="Text 9"/>
          <p:cNvSpPr/>
          <p:nvPr/>
        </p:nvSpPr>
        <p:spPr>
          <a:xfrm>
            <a:off x="6711696" y="1600200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8458932" y="1600200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свобода вибору токена — тримають низькою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92240" y="2569464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17141F"/>
          </a:solidFill>
          <a:ln/>
        </p:spPr>
      </p:sp>
      <p:sp>
        <p:nvSpPr>
          <p:cNvPr id="15" name="Text 12"/>
          <p:cNvSpPr/>
          <p:nvPr/>
        </p:nvSpPr>
        <p:spPr>
          <a:xfrm>
            <a:off x="6711696" y="2569464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max_tokens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8458932" y="2569464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довжини = стеля вартості виклику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492240" y="3538728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17141F"/>
          </a:solidFill>
          <a:ln/>
        </p:spPr>
      </p:sp>
      <p:sp>
        <p:nvSpPr>
          <p:cNvPr id="18" name="Text 15"/>
          <p:cNvSpPr/>
          <p:nvPr/>
        </p:nvSpPr>
        <p:spPr>
          <a:xfrm>
            <a:off x="6711696" y="3538728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response_format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8458932" y="3538728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строгий JSON, який валідує провайдер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6492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 — це той промпт, який наступного уроку переїде в реєстр.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повертається: не тільки текст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6858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651760"/>
                <a:gridCol w="2606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finish_reason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означає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stop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 завершила думку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нормальний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length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вдарилась у 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збій формату: не кешувати, не показувати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tool_calls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просить інструмент (урок 6)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текст може бути порожнім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content_filter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зрізав фільтр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окрема категорія в метриках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635240" y="1600200"/>
            <a:ext cx="3995928" cy="1874520"/>
          </a:xfrm>
          <a:prstGeom prst="roundRect">
            <a:avLst>
              <a:gd name="adj" fmla="val 5854"/>
            </a:avLst>
          </a:prstGeom>
          <a:solidFill>
            <a:srgbClr val="2E1418"/>
          </a:solidFill>
          <a:ln/>
        </p:spPr>
      </p:sp>
      <p:sp>
        <p:nvSpPr>
          <p:cNvPr id="9" name="Text 5"/>
          <p:cNvSpPr/>
          <p:nvPr/>
        </p:nvSpPr>
        <p:spPr>
          <a:xfrm>
            <a:off x="7854696" y="17282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54696" y="1984248"/>
            <a:ext cx="355701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лише content: обрізана відповідь виглядає успішною — 200, текст є, метрики зелені.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635240" y="3703320"/>
            <a:ext cx="39959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2" name="Text 8"/>
          <p:cNvSpPr/>
          <p:nvPr/>
        </p:nvSpPr>
        <p:spPr>
          <a:xfrm>
            <a:off x="7854696" y="383133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ТРЕТЄ ПОЛЕ — USAGE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7854696" y="4087368"/>
            <a:ext cx="355701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 · вихідні · кеш провайдера. Єдине джерело правди про гроші (урок 4).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66928" y="4663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 віддає лише stop і tool_calls — гілку length перевіряємо юніт-тестом.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ціни в одному виклику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17099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4 симв.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713232" y="24487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токен англійською (≈¾ слова)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200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33101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дорожче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713232" y="40489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зміст українською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66928" y="4800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Операційне рішення: якою мовою тримати системний промпт, що їде в кожному запиті.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206240" y="187452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провайдера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217920" y="1965046"/>
            <a:ext cx="361188" cy="321869"/>
          </a:xfrm>
          <a:prstGeom prst="roundRect">
            <a:avLst>
              <a:gd name="adj" fmla="val 14205"/>
            </a:avLst>
          </a:prstGeom>
          <a:solidFill>
            <a:srgbClr val="5FD6A0"/>
          </a:solidFill>
          <a:ln/>
        </p:spPr>
      </p:sp>
      <p:sp>
        <p:nvSpPr>
          <p:cNvPr id="16" name="Text 13"/>
          <p:cNvSpPr/>
          <p:nvPr/>
        </p:nvSpPr>
        <p:spPr>
          <a:xfrm>
            <a:off x="8613648" y="18745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різко нижча ставка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206240" y="2670048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217920" y="2760574"/>
            <a:ext cx="794614" cy="321869"/>
          </a:xfrm>
          <a:prstGeom prst="roundRect">
            <a:avLst>
              <a:gd name="adj" fmla="val 14205"/>
            </a:avLst>
          </a:prstGeom>
          <a:solidFill>
            <a:srgbClr val="C9A6FF"/>
          </a:solidFill>
          <a:ln/>
        </p:spPr>
      </p:sp>
      <p:sp>
        <p:nvSpPr>
          <p:cNvPr id="19" name="Text 16"/>
          <p:cNvSpPr/>
          <p:nvPr/>
        </p:nvSpPr>
        <p:spPr>
          <a:xfrm>
            <a:off x="8613648" y="267004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та історія — найдешевші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206240" y="3465576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217920" y="3556102"/>
            <a:ext cx="2167128" cy="321869"/>
          </a:xfrm>
          <a:prstGeom prst="roundRect">
            <a:avLst>
              <a:gd name="adj" fmla="val 14205"/>
            </a:avLst>
          </a:prstGeom>
          <a:solidFill>
            <a:srgbClr val="FF7B7B"/>
          </a:solidFill>
          <a:ln/>
        </p:spPr>
      </p:sp>
      <p:sp>
        <p:nvSpPr>
          <p:cNvPr id="22" name="Text 19"/>
          <p:cNvSpPr/>
          <p:nvPr/>
        </p:nvSpPr>
        <p:spPr>
          <a:xfrm>
            <a:off x="8613648" y="3465576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кілька разів дорожчі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4206240" y="411480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порядок величин, а не точні коефіцієнти — прайс розбираємо в уроці 4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206240" y="4572000"/>
            <a:ext cx="7424928" cy="1280160"/>
          </a:xfrm>
          <a:prstGeom prst="roundRect">
            <a:avLst>
              <a:gd name="adj" fmla="val 8571"/>
            </a:avLst>
          </a:prstGeom>
          <a:solidFill>
            <a:srgbClr val="102A20"/>
          </a:solidFill>
          <a:ln/>
        </p:spPr>
      </p:sp>
      <p:sp>
        <p:nvSpPr>
          <p:cNvPr id="25" name="Text 22"/>
          <p:cNvSpPr/>
          <p:nvPr/>
        </p:nvSpPr>
        <p:spPr>
          <a:xfrm>
            <a:off x="4425696" y="4700016"/>
            <a:ext cx="6986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4425696" y="4956048"/>
            <a:ext cx="69860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окремих вхідних і вихідних токенів цифра вартості вигадана.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temperature = 0 — це не детермінізм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Пакети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 пакета впливає на арифметику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Плаваюча точка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обчислення не асоціативні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та сама — модель оновлена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1C1140"/>
          </a:solidFill>
          <a:ln/>
        </p:spPr>
      </p:sp>
      <p:sp>
        <p:nvSpPr>
          <p:cNvPr id="23" name="Text 20"/>
          <p:cNvSpPr/>
          <p:nvPr/>
        </p:nvSpPr>
        <p:spPr>
          <a:xfrm>
            <a:off x="62179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запит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041648" y="36118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4169664" y="35433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6" name="Shape 23"/>
          <p:cNvSpPr/>
          <p:nvPr/>
        </p:nvSpPr>
        <p:spPr>
          <a:xfrm>
            <a:off x="440740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46227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7882128" y="36118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8010144" y="35433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0" name="Shape 27"/>
          <p:cNvSpPr/>
          <p:nvPr/>
        </p:nvSpPr>
        <p:spPr>
          <a:xfrm>
            <a:off x="824788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2E1418"/>
          </a:solidFill>
          <a:ln/>
        </p:spPr>
      </p:sp>
      <p:sp>
        <p:nvSpPr>
          <p:cNvPr id="31" name="Text 28"/>
          <p:cNvSpPr/>
          <p:nvPr/>
        </p:nvSpPr>
        <p:spPr>
          <a:xfrm>
            <a:off x="830275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інші слова у відповіді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02A20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рядки: expect і forbid, не «дорівнює».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Латентність: час залежить від довжини відповіді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КОРОТКА ВІДПОВІДЬ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66928" y="19202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1C1140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624328" y="19202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2624328" y="1920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66928" y="2834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АБЗАЦИ — ТА САМА МОДЕЛЬ, ТОЙ САМИЙ ПРОВАЙДЕР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" y="31546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624328" y="3154680"/>
            <a:ext cx="603504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2624328" y="31546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генерація: послідовно, токен за токеном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66928" y="3767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співвідношення часток, не виміряні значення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16052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2E1418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54456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росте і від довших відповідей, і від проблем провайдера.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time-to-first-token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метрика для інтерфейсів, де відповідь друкується на очах. Стрімінг — свідомо за межами курсу.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П'ять способів зламатися — і сліпа зона моніторингу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МОНІТОРИНГ БАЧИТЬ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95528" y="224028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17141F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" y="2240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2167128" y="22402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вичерпана квота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95528" y="3044952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17141F"/>
          </a:solidFill>
          <a:ln/>
        </p:spPr>
      </p:sp>
      <p:sp>
        <p:nvSpPr>
          <p:cNvPr id="13" name="Text 10"/>
          <p:cNvSpPr/>
          <p:nvPr/>
        </p:nvSpPr>
        <p:spPr>
          <a:xfrm>
            <a:off x="795528" y="304495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2167128" y="304495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провайдера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95528" y="3849624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17141F"/>
          </a:solidFill>
          <a:ln/>
        </p:spPr>
      </p:sp>
      <p:sp>
        <p:nvSpPr>
          <p:cNvPr id="16" name="Text 13"/>
          <p:cNvSpPr/>
          <p:nvPr/>
        </p:nvSpPr>
        <p:spPr>
          <a:xfrm>
            <a:off x="795528" y="38496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таймаут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2167128" y="384962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відповідь після того, як пішов користувач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81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2E1418"/>
          </a:solidFill>
          <a:ln/>
        </p:spPr>
      </p:sp>
      <p:sp>
        <p:nvSpPr>
          <p:cNvPr id="19" name="Text 16"/>
          <p:cNvSpPr/>
          <p:nvPr/>
        </p:nvSpPr>
        <p:spPr>
          <a:xfrm>
            <a:off x="6510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БАЧИТЬ У ПРИНЦИПІ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510528" y="224028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17141F"/>
          </a:solidFill>
          <a:ln/>
        </p:spPr>
      </p:sp>
      <p:sp>
        <p:nvSpPr>
          <p:cNvPr id="21" name="Text 18"/>
          <p:cNvSpPr/>
          <p:nvPr/>
        </p:nvSpPr>
        <p:spPr>
          <a:xfrm>
            <a:off x="6711696" y="23682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сміття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711696" y="27706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обрізана, порожня або не-JSON відповідь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510528" y="347472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17141F"/>
          </a:solidFill>
          <a:ln/>
        </p:spPr>
      </p:sp>
      <p:sp>
        <p:nvSpPr>
          <p:cNvPr id="24" name="Text 21"/>
          <p:cNvSpPr/>
          <p:nvPr/>
        </p:nvSpPr>
        <p:spPr>
          <a:xfrm>
            <a:off x="6711696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тихо гірше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6711696" y="40050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снапшот моделі або правка промпта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праві категорії ловить лише власний лог і гейт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Стек капстоуна: шлях запиту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2281428" y="25603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409444" y="24917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64718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70205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UI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361688" y="25603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489704" y="24917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4727448" y="214884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1C1140"/>
          </a:solidFill>
          <a:ln/>
        </p:spPr>
      </p:sp>
      <p:sp>
        <p:nvSpPr>
          <p:cNvPr id="16" name="Text 13"/>
          <p:cNvSpPr/>
          <p:nvPr/>
        </p:nvSpPr>
        <p:spPr>
          <a:xfrm>
            <a:off x="4782312" y="214884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· контур керування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562088" y="25603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690104" y="24917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792784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98271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9642348" y="256032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770364" y="24917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1000810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06297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/ mock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760720" y="3063240"/>
            <a:ext cx="0" cy="713232"/>
          </a:xfrm>
          <a:prstGeom prst="line">
            <a:avLst/>
          </a:prstGeom>
          <a:noFill/>
          <a:ln w="15875">
            <a:solidFill>
              <a:srgbClr val="5FD6A0"/>
            </a:solidFill>
            <a:prstDash val="dash"/>
          </a:ln>
        </p:spPr>
      </p:sp>
      <p:sp>
        <p:nvSpPr>
          <p:cNvPr id="26" name="Shape 23"/>
          <p:cNvSpPr/>
          <p:nvPr/>
        </p:nvSpPr>
        <p:spPr>
          <a:xfrm rot="10800000">
            <a:off x="5692140" y="3739896"/>
            <a:ext cx="137160" cy="146304"/>
          </a:xfrm>
          <a:prstGeom prst="triangle">
            <a:avLst/>
          </a:prstGeom>
          <a:solidFill>
            <a:srgbClr val="5FD6A0"/>
          </a:solidFill>
          <a:ln/>
        </p:spPr>
      </p:sp>
      <p:sp>
        <p:nvSpPr>
          <p:cNvPr id="27" name="Shape 24"/>
          <p:cNvSpPr/>
          <p:nvPr/>
        </p:nvSpPr>
        <p:spPr>
          <a:xfrm>
            <a:off x="4800600" y="393192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102A20"/>
          </a:solidFill>
          <a:ln/>
        </p:spPr>
      </p:sp>
      <p:sp>
        <p:nvSpPr>
          <p:cNvPr id="28" name="Text 25"/>
          <p:cNvSpPr/>
          <p:nvPr/>
        </p:nvSpPr>
        <p:spPr>
          <a:xfrm>
            <a:off x="4800600" y="39319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у БД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892040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038344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п'ять компонентів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035040" y="4892040"/>
            <a:ext cx="5596128" cy="658368"/>
          </a:xfrm>
          <a:prstGeom prst="roundRect">
            <a:avLst>
              <a:gd name="adj" fmla="val 1666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254496" y="503834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ролі ви зустрінете в будь-якому проді — незалежно від інструментів.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П'ять компонентів — і ваші стосунки з ними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64592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 UI + консоль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64592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обличчя системи — користуєтесь, не змінюєте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1401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C114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241401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41401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керування: модель, кеш, fallback, вартість — тут уся ваша робота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18211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18211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18211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 — конфігуруєте список моделей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950208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950208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База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3950208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реєстр промптів, вартість — читаєте і розширюєте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71830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71830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4548226" y="471830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керована «модель» для тестів і симуляції збоїв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56235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7698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Права колонка чесно ділить стек: що ви будуєте — і чим просто користуєтесь.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41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841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· чи кеш · чи fallback · скільки коштувало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81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56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556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6556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· згладжування API · зберігання ключів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102A2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живе тільки в gateway — інакше контуру керування немає.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281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2E1418"/>
          </a:solidFill>
          <a:ln/>
        </p:spPr>
      </p:sp>
      <p:sp>
        <p:nvSpPr>
          <p:cNvPr id="19" name="Text 16"/>
          <p:cNvSpPr/>
          <p:nvPr/>
        </p:nvSpPr>
        <p:spPr>
          <a:xfrm>
            <a:off x="6501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501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адаптері — ви клікаєте прапорці, а не будуєте механізм.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змінюються — механізми лишаються.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Unified log: рядок, з якого виростає весь курс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922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 · model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latency_ms · prompt_tokens · completion_tokens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status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2651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підсвічені поля сьогодні порожні — це ваша робота на два тижні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66928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10128" y="3291840"/>
            <a:ext cx="3931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3666744" y="32232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Text 10"/>
          <p:cNvSpPr/>
          <p:nvPr/>
        </p:nvSpPr>
        <p:spPr>
          <a:xfrm>
            <a:off x="3950208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«що зламалось учора о 19:40»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10927080" y="314553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15" name="Text 12"/>
          <p:cNvSpPr/>
          <p:nvPr/>
        </p:nvSpPr>
        <p:spPr>
          <a:xfrm>
            <a:off x="10927080" y="314553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66928" y="3611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310128" y="3840480"/>
            <a:ext cx="3931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3666744" y="37719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Text 16"/>
          <p:cNvSpPr/>
          <p:nvPr/>
        </p:nvSpPr>
        <p:spPr>
          <a:xfrm>
            <a:off x="3950208" y="3611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трафіку, доказ routing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10927080" y="36941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21" name="Text 18"/>
          <p:cNvSpPr/>
          <p:nvPr/>
        </p:nvSpPr>
        <p:spPr>
          <a:xfrm>
            <a:off x="10927080" y="36941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66928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· cost_usd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310128" y="4389120"/>
            <a:ext cx="3931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3666744" y="432054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5" name="Text 22"/>
          <p:cNvSpPr/>
          <p:nvPr/>
        </p:nvSpPr>
        <p:spPr>
          <a:xfrm>
            <a:off x="3950208" y="41605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вартість, бюджет, алерти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10927080" y="424281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27" name="Text 24"/>
          <p:cNvSpPr/>
          <p:nvPr/>
        </p:nvSpPr>
        <p:spPr>
          <a:xfrm>
            <a:off x="10927080" y="424281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66928" y="4709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latency_ms · status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310128" y="4937760"/>
            <a:ext cx="3931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3666744" y="48691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1" name="Text 28"/>
          <p:cNvSpPr/>
          <p:nvPr/>
        </p:nvSpPr>
        <p:spPr>
          <a:xfrm>
            <a:off x="3950208" y="47091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error rate, сліди інцидентів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10927080" y="479145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33" name="Text 30"/>
          <p:cNvSpPr/>
          <p:nvPr/>
        </p:nvSpPr>
        <p:spPr>
          <a:xfrm>
            <a:off x="10927080" y="479145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566928" y="5257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весь рядок разом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3310128" y="5486400"/>
            <a:ext cx="3931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3666744" y="54178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7" name="Text 34"/>
          <p:cNvSpPr/>
          <p:nvPr/>
        </p:nvSpPr>
        <p:spPr>
          <a:xfrm>
            <a:off x="3950208" y="52578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консолі, гейти якості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10927080" y="534009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1C1140"/>
          </a:solidFill>
          <a:ln/>
        </p:spPr>
      </p:sp>
      <p:sp>
        <p:nvSpPr>
          <p:cNvPr id="39" name="Text 36"/>
          <p:cNvSpPr/>
          <p:nvPr/>
        </p:nvSpPr>
        <p:spPr>
          <a:xfrm>
            <a:off x="10927080" y="534009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W5–6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02A20"/>
          </a:solidFill>
          <a:ln/>
        </p:spPr>
      </p:sp>
      <p:sp>
        <p:nvSpPr>
          <p:cNvPr id="41" name="Text 3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Немає лога — немає операцій.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Mock: керовані збої + чутливість до промпта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1 · ПАДАЄ НА ЗАМОВЛЕННЯ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66928" y="201168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2E1418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2011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304288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лежить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93208" y="20116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66928" y="267004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__fail_429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304288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вичерпані ліміти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93208" y="26700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урок 7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66928" y="3328416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2A2010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3328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__delay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2304288" y="33284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стрибок latency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093208" y="33284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66928" y="3986784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2A2010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398678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__garbage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2304288" y="3986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беззмістовна відповідь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093208" y="398678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ДЗ W5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66928" y="4754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Надійність, яку тренують лише на реальних інцидентах, — це сподівання.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4922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2 · РЕАГУЄ НА ПРОМПТ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492240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102A20"/>
          </a:solidFill>
          <a:ln/>
        </p:spPr>
      </p:sp>
      <p:sp>
        <p:nvSpPr>
          <p:cNvPr id="27" name="Text 24"/>
          <p:cNvSpPr/>
          <p:nvPr/>
        </p:nvSpPr>
        <p:spPr>
          <a:xfrm>
            <a:off x="654710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v2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924544" y="2295144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9052560" y="222656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0" name="Shape 27"/>
          <p:cNvSpPr/>
          <p:nvPr/>
        </p:nvSpPr>
        <p:spPr>
          <a:xfrm>
            <a:off x="9290304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34516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по суті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492240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2E1418"/>
          </a:solidFill>
          <a:ln/>
        </p:spPr>
      </p:sp>
      <p:sp>
        <p:nvSpPr>
          <p:cNvPr id="33" name="Text 30"/>
          <p:cNvSpPr/>
          <p:nvPr/>
        </p:nvSpPr>
        <p:spPr>
          <a:xfrm>
            <a:off x="6547104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зламано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924544" y="3163824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9052560" y="3095244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6" name="Shape 33"/>
          <p:cNvSpPr/>
          <p:nvPr/>
        </p:nvSpPr>
        <p:spPr>
          <a:xfrm>
            <a:off x="9290304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345168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6492240" y="374904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39" name="Text 36"/>
          <p:cNvSpPr/>
          <p:nvPr/>
        </p:nvSpPr>
        <p:spPr>
          <a:xfrm>
            <a:off x="6711696" y="3895344"/>
            <a:ext cx="47000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промпта видно автоматично: зламали — почервоніло.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6492240" y="5257800"/>
            <a:ext cx="5138928" cy="960120"/>
          </a:xfrm>
          <a:prstGeom prst="roundRect">
            <a:avLst>
              <a:gd name="adj" fmla="val 1142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711696" y="5385816"/>
            <a:ext cx="4700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ЦЕ ПЕРЕНОСИТЬСЯ НА ПРОД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6711696" y="5641848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контуру однакова; міняється лише «мозок» на іншому кінці дроту.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Реальний ключ і розширений стек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64592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1792224"/>
            <a:ext cx="1062532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gateway/.env.example gateway/.env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вписати ключ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MODEL=назва-моделі docker compose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реальний провайдер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--profile advanced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+ Redis (W3)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6692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809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Зміниться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відповідей, багатоходовий діалог, цифри вартості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1596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1C1140"/>
          </a:solidFill>
          <a:ln/>
        </p:spPr>
      </p:sp>
      <p:sp>
        <p:nvSpPr>
          <p:cNvPr id="15" name="Text 12"/>
          <p:cNvSpPr/>
          <p:nvPr/>
        </p:nvSpPr>
        <p:spPr>
          <a:xfrm>
            <a:off x="451713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зміниться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51713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механізм контуру: routing, лог, кеш, fallback, гейти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06500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2A2010"/>
          </a:solidFill>
          <a:ln/>
        </p:spPr>
      </p:sp>
      <p:sp>
        <p:nvSpPr>
          <p:cNvPr id="18" name="Text 15"/>
          <p:cNvSpPr/>
          <p:nvPr/>
        </p:nvSpPr>
        <p:spPr>
          <a:xfrm>
            <a:off x="8284464" y="3557016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8284464" y="3813048"/>
            <a:ext cx="312724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Берете ключ — одразу ставте ліміт витрат у провайдера.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66928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Радимо не вмикати в перші тижні: на mock видно механіку, а не магію моделі.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порожня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«—» у кожній плитці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у коді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мапа роботи на 6 тижнів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у лозі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requests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E1418"/>
          </a:solidFill>
          <a:ln/>
        </p:spPr>
      </p:sp>
      <p:sp>
        <p:nvSpPr>
          <p:cNvPr id="32" name="Shape 29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чесний злам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— і жодного плану Б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точку А — стан системи до шарів керування. Порожня консоль і збій без плану Б — не дефект демо, а предмет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п'ять кроків + один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645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→ localhost:4200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43230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4323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Оглянути половини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відповідає; консоль — «—» у кожній плитці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21868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218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код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service/Program.cs, /chat згори вниз; знайти TODO(student)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00507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0050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* FROM requests ORDER BY created_at DESC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479145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479145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«сервіс недоступний», плану Б немає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66928" y="5577840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2" name="Text 19"/>
          <p:cNvSpPr/>
          <p:nvPr/>
        </p:nvSpPr>
        <p:spPr>
          <a:xfrm>
            <a:off x="566928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188720" y="5577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стек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--profile advanced → +Redis → погасити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жива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шлях запиту видно наскрізь: UI → сервіс → адаптер → mock → лог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Керування ще немає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«—», prompt_version і cost_usd порожні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Плану Б немає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заглушки, деградації і сліду в метриках не існує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2E1418"/>
          </a:solidFill>
          <a:ln/>
        </p:spPr>
      </p:sp>
      <p:sp>
        <p:nvSpPr>
          <p:cNvPr id="16" name="Text 13"/>
          <p:cNvSpPr/>
          <p:nvPr/>
        </p:nvSpPr>
        <p:spPr>
          <a:xfrm>
            <a:off x="6217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847088" y="43434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1975104" y="42748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22128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2677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промпти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493008" y="43434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3621024" y="42748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385876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91363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гроші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138928" y="43434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5266944" y="42748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550468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55955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784848" y="43434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6912864" y="42748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1" name="Shape 28"/>
          <p:cNvSpPr/>
          <p:nvPr/>
        </p:nvSpPr>
        <p:spPr>
          <a:xfrm>
            <a:off x="715060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0547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надійність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430768" y="43434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8558784" y="42748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5" name="Shape 32"/>
          <p:cNvSpPr/>
          <p:nvPr/>
        </p:nvSpPr>
        <p:spPr>
          <a:xfrm>
            <a:off x="87965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8513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видимість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10076688" y="43434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rot="5400000">
            <a:off x="10204704" y="42748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9" name="Shape 36"/>
          <p:cNvSpPr/>
          <p:nvPr/>
        </p:nvSpPr>
        <p:spPr>
          <a:xfrm>
            <a:off x="104424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102A20"/>
          </a:solidFill>
          <a:ln/>
        </p:spPr>
      </p:sp>
      <p:sp>
        <p:nvSpPr>
          <p:cNvPr id="40" name="Text 37"/>
          <p:cNvSpPr/>
          <p:nvPr/>
        </p:nvSpPr>
        <p:spPr>
          <a:xfrm>
            <a:off x="104973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2" name="Text 39"/>
          <p:cNvSpPr/>
          <p:nvPr/>
        </p:nvSpPr>
        <p:spPr>
          <a:xfrm>
            <a:off x="786384" y="522122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Точку Б ви збудуєте самі — шар за шаром, тиждень за тижнем. Сьогоднішній скріншот консолі збережіть: на тижні 6 порівняєте.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піднявся, консоль показує «—»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малюю шлях запиту з пам'яті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1041227" y="3431286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1069025" y="3405226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знайшов свій рядок у requests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бачив поведінку при збої провайдера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5" name="Shape 22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6" name="Text 23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temperature=0 не рятує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14476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rot="2700000">
            <a:off x="6207587" y="3431286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9" name="Shape 26"/>
          <p:cNvSpPr/>
          <p:nvPr/>
        </p:nvSpPr>
        <p:spPr>
          <a:xfrm rot="-3000000">
            <a:off x="6235385" y="3405226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30" name="Text 27"/>
          <p:cNvSpPr/>
          <p:nvPr/>
        </p:nvSpPr>
        <p:spPr>
          <a:xfrm>
            <a:off x="652881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 дві невидимі категорії відмов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566928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6537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0416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0416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6916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у коді застосунку   </a:t>
            </a:r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«потім перенесемо» — не перенесете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66928" y="25603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73405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29103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29103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5603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на одному запиті   </a:t>
            </a:r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готовність — це чотири питання, а не скріншот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34290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0273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7790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7790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4290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«Логи — коли зламається»   </a:t>
            </a:r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 дивитися буде нікуди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66928" y="42976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47141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6476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6476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2976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провайдери одразу   </a:t>
            </a:r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спочатку один контур наскрізь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34009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5163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5163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1663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 першого дня   </a:t>
            </a:r>
            <a:pPr indent="0" marL="0">
              <a:buNone/>
            </a:pPr>
            <a:r>
              <a:rPr lang="en-US" sz="12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видно механіку, там — лише рахунок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пройти 5 обов'язкових кроків лабораторної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витримати чек-лист «перевір себе»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переглянути гайд для студента по діагоналі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підняти розширений профіль стека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якщо є свій ключ — поставити ліміт витрат у кабінеті провайдера (ключ поки не підключати)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9333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 — здається після уроку 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Логування + prompt registry. Тиждень здається одним PR у своєму репозиторії;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— не «працює»: гроші, надійність, якість і видимість потребують власного контуру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 виклику однаковий у всіх: messages, параметри, finish_reason, usage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рядки; latency читаємо разом із довжиною відповіді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 — адаптер виконує; ключ живе тільки в gateway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 — рядок, з якого виростає весь курс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2 · Prompt lifecycle: промпт як production-артефакт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системний промпт захардкоджений у коді — і це остання доба, коли це прийнятно. Далі: версії, promote, rollback і відкат за секунди.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 · LLMOps і архітектура production LLM-системи</dc:title>
  <dc:subject>PptxGenJS Presentation</dc:subject>
  <dc:creator>LLMOps Bootcamp</dc:creator>
  <cp:lastModifiedBy>LLMOps Bootcamp</cp:lastModifiedBy>
  <cp:revision>1</cp:revision>
  <dcterms:created xsi:type="dcterms:W3CDTF">2026-08-16T21:08:20Z</dcterms:created>
  <dcterms:modified xsi:type="dcterms:W3CDTF">2026-08-16T21:08:20Z</dcterms:modified>
</cp:coreProperties>
</file>