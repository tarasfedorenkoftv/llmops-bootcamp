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8F72E6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8F72E6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8F72E6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1 · УРОК 1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LLMOps і архітектура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production LLM-системи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«API відповів 200» до системи, якою можна керувати. Сьогодні розберемо об'єкт керування, піднімемо каркас капстоуна — і чесно зламаємо його.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дій, які перевірите руками вже сьогодні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Підняти стек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 команда — п'ять компонентів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Намалювати шлях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UI → сервіс → адаптер → mock → лог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Читати відповідь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finish_reason і usage, не лише текст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недетермінізм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чому temperature=0 не рятує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Назвати сліпі зони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дві відмови повз моніторинг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7356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817473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4" name="Text 31"/>
          <p:cNvSpPr/>
          <p:nvPr/>
        </p:nvSpPr>
        <p:spPr>
          <a:xfrm>
            <a:off x="817473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68680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Знайти запит у лозі</a:t>
            </a:r>
            <a:endParaRPr lang="en-US" sz="1450" dirty="0"/>
          </a:p>
        </p:txBody>
      </p:sp>
      <p:sp>
        <p:nvSpPr>
          <p:cNvPr id="36" name="Text 33"/>
          <p:cNvSpPr/>
          <p:nvPr/>
        </p:nvSpPr>
        <p:spPr>
          <a:xfrm>
            <a:off x="817473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сказати, яких полів бракує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 ≠ production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Анатомія виклику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Токени і три ціни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Недетермінізм і латентність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способів зламатися</a:t>
            </a:r>
            <a:endParaRPr lang="en-US" sz="1450" dirty="0"/>
          </a:p>
        </p:txBody>
      </p:sp>
      <p:sp>
        <p:nvSpPr>
          <p:cNvPr id="26" name="Shape 23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Стек: вирішує vs виконує</a:t>
            </a:r>
            <a:endParaRPr lang="en-US" sz="1450" dirty="0"/>
          </a:p>
        </p:txBody>
      </p:sp>
      <p:sp>
        <p:nvSpPr>
          <p:cNvPr id="30" name="Shape 27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Unified log</a:t>
            </a:r>
            <a:endParaRPr lang="en-US" sz="1450" dirty="0"/>
          </a:p>
        </p:txBody>
      </p:sp>
      <p:sp>
        <p:nvSpPr>
          <p:cNvPr id="34" name="Shape 31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6" name="Text 33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Mock-провайдер</a:t>
            </a:r>
            <a:endParaRPr lang="en-US" sz="1450" dirty="0"/>
          </a:p>
        </p:txBody>
      </p:sp>
      <p:sp>
        <p:nvSpPr>
          <p:cNvPr id="38" name="Shape 35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0" name="Text 37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Реальний ключ · опційно</a:t>
            </a:r>
            <a:endParaRPr lang="en-US" sz="1450" dirty="0"/>
          </a:p>
        </p:txBody>
      </p:sp>
      <p:sp>
        <p:nvSpPr>
          <p:cNvPr id="42" name="Shape 39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4" name="Text 41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6" name="Shape 43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8" name="Text 45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0" name="Shape 47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Перші п'ять блоків — об'єкт керування. Наступні — каркас, який ви будуватимете шість тижнів.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слів, які сьогодні звучатимуть постійно — щоб вони не відволікали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токен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частинка тексту, якою модель міряє вхід і вихід; у них рахується рахунок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системний промпт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інструкція, як поводитись; їде в кожному запиті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finish_reason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чому модель зупинилася: завершила, вперлася в стелю, просить інструмент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usage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токени входу й виходу — єдине джерело правди про гроші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контур керування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control plane: шар, що ухвалює рішення, а не виконує виклик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mock-провайдер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фейкова модель: падає на замовлення, реагує на промпт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розберемо на місці — тут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Чому демо за день — а прод ніколи?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200400" cy="1600200"/>
          </a:xfrm>
          <a:prstGeom prst="roundRect">
            <a:avLst>
              <a:gd name="adj" fmla="val 6857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13232" y="1755648"/>
            <a:ext cx="290779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 OK</a:t>
            </a:r>
            <a:endParaRPr lang="en-US" sz="3800" dirty="0"/>
          </a:p>
        </p:txBody>
      </p:sp>
      <p:sp>
        <p:nvSpPr>
          <p:cNvPr id="9" name="Text 6"/>
          <p:cNvSpPr/>
          <p:nvPr/>
        </p:nvSpPr>
        <p:spPr>
          <a:xfrm>
            <a:off x="713232" y="2574036"/>
            <a:ext cx="290779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що каже вам HTTP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3429000"/>
            <a:ext cx="3200400" cy="1600200"/>
          </a:xfrm>
          <a:prstGeom prst="roundRect">
            <a:avLst>
              <a:gd name="adj" fmla="val 6857"/>
            </a:avLst>
          </a:prstGeom>
          <a:solidFill>
            <a:srgbClr val="1A0808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13232" y="3538728"/>
            <a:ext cx="290779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 / 4</a:t>
            </a:r>
            <a:endParaRPr lang="en-US" sz="4400" dirty="0"/>
          </a:p>
        </p:txBody>
      </p:sp>
      <p:sp>
        <p:nvSpPr>
          <p:cNvPr id="12" name="Text 9"/>
          <p:cNvSpPr/>
          <p:nvPr/>
        </p:nvSpPr>
        <p:spPr>
          <a:xfrm>
            <a:off x="713232" y="4357116"/>
            <a:ext cx="290779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відповіді на операційні питання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4160520" y="1645920"/>
            <a:ext cx="37490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361688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361688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873752" y="1801368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Гроші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361688" y="2331720"/>
            <a:ext cx="33467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коштує тиждень — і хто помітить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092440" y="1645920"/>
            <a:ext cx="37490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293608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293608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805672" y="1801368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Надійність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293608" y="2331720"/>
            <a:ext cx="33467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 ліг на 20 хвилин у робочий час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4160520" y="3429000"/>
            <a:ext cx="37490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361688" y="36118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361688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873752" y="3584448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Якість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4361688" y="4114800"/>
            <a:ext cx="33467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«маленька» правка промпта без компіляції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8092440" y="3429000"/>
            <a:ext cx="37490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8293608" y="36118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8293608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805672" y="3584448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Видимість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8293608" y="4114800"/>
            <a:ext cx="33467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«бот верзе дурниці», а графіки зелені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4160520" y="5349240"/>
            <a:ext cx="7470648" cy="566928"/>
          </a:xfrm>
          <a:prstGeom prst="roundRect">
            <a:avLst>
              <a:gd name="adj" fmla="val 19355"/>
            </a:avLst>
          </a:prstGeom>
          <a:solidFill>
            <a:srgbClr val="1A0808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4379976" y="5495544"/>
            <a:ext cx="703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Класичний моніторинг на ці питання сліпий.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Чотири властивості, яких немає у звичайних сервісів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00200"/>
            <a:ext cx="2651760" cy="1572768"/>
          </a:xfrm>
          <a:prstGeom prst="roundRect">
            <a:avLst>
              <a:gd name="adj" fmla="val 6977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783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755648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Недетермінізм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286000"/>
            <a:ext cx="22494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вхід — різний вихід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3383280" y="1600200"/>
            <a:ext cx="2651760" cy="1572768"/>
          </a:xfrm>
          <a:prstGeom prst="roundRect">
            <a:avLst>
              <a:gd name="adj" fmla="val 6977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584448" y="1783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3584448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096512" y="1755648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Оплата за токен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3584448" y="2286000"/>
            <a:ext cx="22494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залежить від поведінки, не від кількості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199632" y="1600200"/>
            <a:ext cx="2651760" cy="1572768"/>
          </a:xfrm>
          <a:prstGeom prst="roundRect">
            <a:avLst>
              <a:gd name="adj" fmla="val 6977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400800" y="1783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40080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6912864" y="1755648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Регресії без коміта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6400800" y="2286000"/>
            <a:ext cx="22494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або снапшот моделі — без деплою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9015984" y="1600200"/>
            <a:ext cx="2651760" cy="1572768"/>
          </a:xfrm>
          <a:prstGeom prst="roundRect">
            <a:avLst>
              <a:gd name="adj" fmla="val 6977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9217152" y="1783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9217152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9729216" y="1755648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Чужа інфраструктура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9217152" y="2286000"/>
            <a:ext cx="22494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uptime залежить від чужого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347472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6384" y="36027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ТЕЗА КУРСУ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786384" y="3858768"/>
            <a:ext cx="106253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LLMOps — це експлуатація моделі як production-сервісу.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56692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2179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промпти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2121408" y="5239512"/>
            <a:ext cx="164592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rot="5400000">
            <a:off x="2249424" y="5170932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34" name="Shape 31"/>
          <p:cNvSpPr/>
          <p:nvPr/>
        </p:nvSpPr>
        <p:spPr>
          <a:xfrm>
            <a:off x="248716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254203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гроші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4041648" y="5239512"/>
            <a:ext cx="164592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rot="5400000">
            <a:off x="4169664" y="5170932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38" name="Shape 35"/>
          <p:cNvSpPr/>
          <p:nvPr/>
        </p:nvSpPr>
        <p:spPr>
          <a:xfrm>
            <a:off x="440740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446227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і дії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5961888" y="5239512"/>
            <a:ext cx="164592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 rot="5400000">
            <a:off x="6089904" y="5170932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42" name="Shape 39"/>
          <p:cNvSpPr/>
          <p:nvPr/>
        </p:nvSpPr>
        <p:spPr>
          <a:xfrm>
            <a:off x="632764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638251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7882128" y="5239512"/>
            <a:ext cx="164592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 rot="5400000">
            <a:off x="8010144" y="5170932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46" name="Shape 43"/>
          <p:cNvSpPr/>
          <p:nvPr/>
        </p:nvSpPr>
        <p:spPr>
          <a:xfrm>
            <a:off x="824788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830275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видимість</a:t>
            </a:r>
            <a:endParaRPr lang="en-US" sz="1100" dirty="0"/>
          </a:p>
        </p:txBody>
      </p:sp>
      <p:sp>
        <p:nvSpPr>
          <p:cNvPr id="48" name="Shape 45"/>
          <p:cNvSpPr/>
          <p:nvPr/>
        </p:nvSpPr>
        <p:spPr>
          <a:xfrm>
            <a:off x="9802368" y="5239512"/>
            <a:ext cx="164592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 rot="5400000">
            <a:off x="9930384" y="5170932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50" name="Shape 47"/>
          <p:cNvSpPr/>
          <p:nvPr/>
        </p:nvSpPr>
        <p:spPr>
          <a:xfrm>
            <a:off x="1016812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1022299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гейт</a:t>
            </a:r>
            <a:endParaRPr lang="en-US" sz="1100" dirty="0"/>
          </a:p>
        </p:txBody>
      </p:sp>
      <p:sp>
        <p:nvSpPr>
          <p:cNvPr id="52" name="Text 49"/>
          <p:cNvSpPr/>
          <p:nvPr/>
        </p:nvSpPr>
        <p:spPr>
          <a:xfrm>
            <a:off x="566928" y="57607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9A94A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тиждень закриває одне питання — механізмом, а не порадою.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Анатомія виклику: що летить у модель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00200"/>
            <a:ext cx="5577840" cy="2514600"/>
          </a:xfrm>
          <a:prstGeom prst="roundRect">
            <a:avLst>
              <a:gd name="adj" fmla="val 4364"/>
            </a:avLst>
          </a:prstGeom>
          <a:solidFill>
            <a:srgbClr val="07060C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746504"/>
            <a:ext cx="5138928" cy="2221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"model"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"mock",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"messages"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[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{"role":"system", "content":"…"},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{"role":"user",   "content":"…"}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]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саме це шле service/Program.cs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66928" y="4343400"/>
            <a:ext cx="5577840" cy="914400"/>
          </a:xfrm>
          <a:prstGeom prst="roundRect">
            <a:avLst>
              <a:gd name="adj" fmla="val 12000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86384" y="4489704"/>
            <a:ext cx="51389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не має пам'яті: історію привозите ви — тому довгий діалог дорожчає лінійно.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492240" y="1600200"/>
            <a:ext cx="5138928" cy="841248"/>
          </a:xfrm>
          <a:prstGeom prst="roundRect">
            <a:avLst>
              <a:gd name="adj" fmla="val 108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711696" y="1600200"/>
            <a:ext cx="17472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temperature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8458932" y="1600200"/>
            <a:ext cx="296667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свобода вибору токена — тримають низькою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492240" y="2569464"/>
            <a:ext cx="5138928" cy="841248"/>
          </a:xfrm>
          <a:prstGeom prst="roundRect">
            <a:avLst>
              <a:gd name="adj" fmla="val 108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711696" y="2569464"/>
            <a:ext cx="17472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max_tokens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8458932" y="2569464"/>
            <a:ext cx="296667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стеля довжини = стеля вартості виклику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6492240" y="3538728"/>
            <a:ext cx="5138928" cy="841248"/>
          </a:xfrm>
          <a:prstGeom prst="roundRect">
            <a:avLst>
              <a:gd name="adj" fmla="val 108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711696" y="3538728"/>
            <a:ext cx="17472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response_format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8458932" y="3538728"/>
            <a:ext cx="296667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строгий JSON, який валідує провайдер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6492240" y="44805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system — це той промпт, який наступного уроку переїде в реєстр.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повертається: не тільки текст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00200"/>
          <a:ext cx="685800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2651760"/>
                <a:gridCol w="260604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C9C4D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finish_reason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0B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C9C4D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означає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0B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C9C4D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робити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0B3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stop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модель завершила думку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нормальний випадок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6B6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length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080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вдарилась у max_tokens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080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збій формату: не кешувати, не показувати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080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tool_calls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просить інструмент (урок 6)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текст може бути порожнім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content_filter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зрізав фільтр провайдера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окрема категорія в метриках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7635240" y="1600200"/>
            <a:ext cx="3995928" cy="1874520"/>
          </a:xfrm>
          <a:prstGeom prst="roundRect">
            <a:avLst>
              <a:gd name="adj" fmla="val 5854"/>
            </a:avLst>
          </a:prstGeom>
          <a:solidFill>
            <a:srgbClr val="1A0808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854696" y="1728216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7854696" y="1984248"/>
            <a:ext cx="3557016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Читати лише content: обрізана відповідь виглядає успішною — 200, текст є, метрики зелені.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7635240" y="3703320"/>
            <a:ext cx="3995928" cy="1600200"/>
          </a:xfrm>
          <a:prstGeom prst="roundRect">
            <a:avLst>
              <a:gd name="adj" fmla="val 6857"/>
            </a:avLst>
          </a:prstGeom>
          <a:solidFill>
            <a:srgbClr val="5A05F4"/>
          </a:solidFill>
          <a:ln/>
        </p:spPr>
      </p:sp>
      <p:sp>
        <p:nvSpPr>
          <p:cNvPr id="12" name="Text 8"/>
          <p:cNvSpPr/>
          <p:nvPr/>
        </p:nvSpPr>
        <p:spPr>
          <a:xfrm>
            <a:off x="7854696" y="3831336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ТРЕТЄ ПОЛЕ — USAGE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7854696" y="4087368"/>
            <a:ext cx="3557016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Вхідні · вихідні · кеш провайдера. Єдине джерело правди про гроші (урок 4).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566928" y="466344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 віддає лише stop і tool_calls — гілку length перевіряємо юніт-тестом.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Три ціни в одному виклику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00200"/>
            <a:ext cx="32918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13232" y="1709928"/>
            <a:ext cx="299923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≈ 4 симв.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713232" y="2448763"/>
            <a:ext cx="2999232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токен англійською (≈¾ слова)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3200400"/>
            <a:ext cx="3291840" cy="1463040"/>
          </a:xfrm>
          <a:prstGeom prst="roundRect">
            <a:avLst>
              <a:gd name="adj" fmla="val 7500"/>
            </a:avLst>
          </a:prstGeom>
          <a:solidFill>
            <a:srgbClr val="1A0808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13232" y="3310128"/>
            <a:ext cx="299923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дорожче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713232" y="4048963"/>
            <a:ext cx="2999232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зміст українською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566928" y="480060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Операційне рішення: якою мовою тримати системний промпт, що їде в кожному запиті.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4206240" y="1874520"/>
            <a:ext cx="1847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провайдера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217920" y="1965046"/>
            <a:ext cx="361188" cy="321869"/>
          </a:xfrm>
          <a:prstGeom prst="roundRect">
            <a:avLst>
              <a:gd name="adj" fmla="val 14205"/>
            </a:avLst>
          </a:prstGeom>
          <a:solidFill>
            <a:srgbClr val="3FCF8E"/>
          </a:solidFill>
          <a:ln/>
        </p:spPr>
      </p:sp>
      <p:sp>
        <p:nvSpPr>
          <p:cNvPr id="16" name="Text 13"/>
          <p:cNvSpPr/>
          <p:nvPr/>
        </p:nvSpPr>
        <p:spPr>
          <a:xfrm>
            <a:off x="8613648" y="1874520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різко нижча ставка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4206240" y="2670048"/>
            <a:ext cx="1847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Вхідні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6217920" y="2760574"/>
            <a:ext cx="794614" cy="321869"/>
          </a:xfrm>
          <a:prstGeom prst="roundRect">
            <a:avLst>
              <a:gd name="adj" fmla="val 14205"/>
            </a:avLst>
          </a:prstGeom>
          <a:solidFill>
            <a:srgbClr val="A98BFF"/>
          </a:solidFill>
          <a:ln/>
        </p:spPr>
      </p:sp>
      <p:sp>
        <p:nvSpPr>
          <p:cNvPr id="19" name="Text 16"/>
          <p:cNvSpPr/>
          <p:nvPr/>
        </p:nvSpPr>
        <p:spPr>
          <a:xfrm>
            <a:off x="8613648" y="2670048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та історія — найдешевші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4206240" y="3465576"/>
            <a:ext cx="1847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Вихідні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6217920" y="3556102"/>
            <a:ext cx="2167128" cy="321869"/>
          </a:xfrm>
          <a:prstGeom prst="roundRect">
            <a:avLst>
              <a:gd name="adj" fmla="val 14205"/>
            </a:avLst>
          </a:prstGeom>
          <a:solidFill>
            <a:srgbClr val="FF6B6B"/>
          </a:solidFill>
          <a:ln/>
        </p:spPr>
      </p:sp>
      <p:sp>
        <p:nvSpPr>
          <p:cNvPr id="22" name="Text 19"/>
          <p:cNvSpPr/>
          <p:nvPr/>
        </p:nvSpPr>
        <p:spPr>
          <a:xfrm>
            <a:off x="8613648" y="3465576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кілька разів дорожчі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4206240" y="4114800"/>
            <a:ext cx="7424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94A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схематично: порядок величин, а не точні коефіцієнти — прайс розбираємо в уроці 4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4206240" y="4572000"/>
            <a:ext cx="7424928" cy="1280160"/>
          </a:xfrm>
          <a:prstGeom prst="roundRect">
            <a:avLst>
              <a:gd name="adj" fmla="val 8571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425696" y="4700016"/>
            <a:ext cx="6986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4425696" y="4956048"/>
            <a:ext cx="69860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 окремих вхідних і вихідних токенів цифра вартості вигадана.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temperature = 0 — це не детермінізм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Пакети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33172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склад пакета впливає на арифметику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64592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Плаваюча точка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33172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обчислення не асоціативні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64592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Снапшоти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33172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назва та сама — модель оновлена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291840"/>
            <a:ext cx="3383280" cy="640080"/>
          </a:xfrm>
          <a:prstGeom prst="roundRect">
            <a:avLst>
              <a:gd name="adj" fmla="val 14286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21792" y="3291840"/>
            <a:ext cx="3273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той самий запит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4041648" y="3611880"/>
            <a:ext cx="164592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rot="5400000">
            <a:off x="4169664" y="3543300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26" name="Shape 23"/>
          <p:cNvSpPr/>
          <p:nvPr/>
        </p:nvSpPr>
        <p:spPr>
          <a:xfrm>
            <a:off x="4407408" y="3291840"/>
            <a:ext cx="338328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462272" y="3291840"/>
            <a:ext cx="3273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temperature = 0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7882128" y="3611880"/>
            <a:ext cx="164592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5400000">
            <a:off x="8010144" y="3543300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30" name="Shape 27"/>
          <p:cNvSpPr/>
          <p:nvPr/>
        </p:nvSpPr>
        <p:spPr>
          <a:xfrm>
            <a:off x="8247888" y="3291840"/>
            <a:ext cx="3383280" cy="640080"/>
          </a:xfrm>
          <a:prstGeom prst="roundRect">
            <a:avLst>
              <a:gd name="adj" fmla="val 14286"/>
            </a:avLst>
          </a:prstGeom>
          <a:solidFill>
            <a:srgbClr val="1A0808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8302752" y="3291840"/>
            <a:ext cx="3273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інші слова у відповіді</a:t>
            </a:r>
            <a:endParaRPr lang="en-US" sz="1150" dirty="0"/>
          </a:p>
        </p:txBody>
      </p:sp>
      <p:sp>
        <p:nvSpPr>
          <p:cNvPr id="32" name="Shape 29"/>
          <p:cNvSpPr/>
          <p:nvPr/>
        </p:nvSpPr>
        <p:spPr>
          <a:xfrm>
            <a:off x="566928" y="44348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786384" y="45628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786384" y="48188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Перевіряємо властивості, а не рядки: expect і forbid, не «дорівнює».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Латентність: час залежить від довжини відповіді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66928" y="16002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КОРОТКА ВІДПОВІДЬ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566928" y="1920240"/>
            <a:ext cx="2011680" cy="548640"/>
          </a:xfrm>
          <a:prstGeom prst="roundRect">
            <a:avLst>
              <a:gd name="adj" fmla="val 13333"/>
            </a:avLst>
          </a:prstGeom>
          <a:solidFill>
            <a:srgbClr val="1A0B3D"/>
          </a:solidFill>
          <a:ln/>
        </p:spPr>
      </p:sp>
      <p:sp>
        <p:nvSpPr>
          <p:cNvPr id="9" name="Text 6"/>
          <p:cNvSpPr/>
          <p:nvPr/>
        </p:nvSpPr>
        <p:spPr>
          <a:xfrm>
            <a:off x="566928" y="19202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 до 1-го токена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624328" y="1920240"/>
            <a:ext cx="1371600" cy="548640"/>
          </a:xfrm>
          <a:prstGeom prst="roundRect">
            <a:avLst>
              <a:gd name="adj" fmla="val 13333"/>
            </a:avLst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2624328" y="19202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генерація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566928" y="28346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ТРИ АБЗАЦИ — ТА САМА МОДЕЛЬ, ТОЙ САМИЙ ПРОВАЙДЕР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566928" y="3154680"/>
            <a:ext cx="2011680" cy="548640"/>
          </a:xfrm>
          <a:prstGeom prst="roundRect">
            <a:avLst>
              <a:gd name="adj" fmla="val 13333"/>
            </a:avLst>
          </a:prstGeom>
          <a:solidFill>
            <a:srgbClr val="1A0B3D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15468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 до 1-го токена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2624328" y="3154680"/>
            <a:ext cx="6035040" cy="548640"/>
          </a:xfrm>
          <a:prstGeom prst="roundRect">
            <a:avLst>
              <a:gd name="adj" fmla="val 13333"/>
            </a:avLst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2624328" y="315468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генерація: послідовно, токен за токеном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66928" y="3767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A94A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схематично: співвідношення часток, не виміряні значення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66928" y="416052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1A0808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86384" y="42885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786384" y="4544568"/>
            <a:ext cx="106253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 росте і від довших відповідей, і від проблем провайдера.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566928" y="54864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time-to-first-token</a:t>
            </a:r>
            <a:pPr indent="0" marL="0"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— метрика для інтерфейсів, де відповідь друкується на очах. Стрімінг — свідомо за межами курсу.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П'ять способів зламатися — і сліпа зона моніторингу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00200"/>
            <a:ext cx="5349240" cy="3246120"/>
          </a:xfrm>
          <a:prstGeom prst="roundRect">
            <a:avLst>
              <a:gd name="adj" fmla="val 3380"/>
            </a:avLst>
          </a:prstGeom>
          <a:solidFill>
            <a:srgbClr val="06180F"/>
          </a:solidFill>
          <a:ln/>
        </p:spPr>
      </p:sp>
      <p:sp>
        <p:nvSpPr>
          <p:cNvPr id="8" name="Text 5"/>
          <p:cNvSpPr/>
          <p:nvPr/>
        </p:nvSpPr>
        <p:spPr>
          <a:xfrm>
            <a:off x="795528" y="178308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МОНІТОРИНГ БАЧИТЬ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795528" y="2240280"/>
            <a:ext cx="1234440" cy="457200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/>
        </p:spPr>
      </p:sp>
      <p:sp>
        <p:nvSpPr>
          <p:cNvPr id="10" name="Text 7"/>
          <p:cNvSpPr/>
          <p:nvPr/>
        </p:nvSpPr>
        <p:spPr>
          <a:xfrm>
            <a:off x="795528" y="224028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429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2167128" y="224028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вичерпана квота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95528" y="3044952"/>
            <a:ext cx="1234440" cy="457200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795528" y="3044952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5xx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2167128" y="3044952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провайдера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795528" y="3849624"/>
            <a:ext cx="1234440" cy="457200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/>
        </p:spPr>
      </p:sp>
      <p:sp>
        <p:nvSpPr>
          <p:cNvPr id="16" name="Text 13"/>
          <p:cNvSpPr/>
          <p:nvPr/>
        </p:nvSpPr>
        <p:spPr>
          <a:xfrm>
            <a:off x="795528" y="3849624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таймаут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2167128" y="3849624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відповідь після того, як пішов користувач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281928" y="1600200"/>
            <a:ext cx="5349240" cy="3246120"/>
          </a:xfrm>
          <a:prstGeom prst="roundRect">
            <a:avLst>
              <a:gd name="adj" fmla="val 3380"/>
            </a:avLst>
          </a:prstGeom>
          <a:solidFill>
            <a:srgbClr val="1A0808"/>
          </a:solidFill>
          <a:ln/>
        </p:spPr>
      </p:sp>
      <p:sp>
        <p:nvSpPr>
          <p:cNvPr id="19" name="Text 16"/>
          <p:cNvSpPr/>
          <p:nvPr/>
        </p:nvSpPr>
        <p:spPr>
          <a:xfrm>
            <a:off x="6510528" y="178308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НЕ БАЧИТЬ У ПРИНЦИПІ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6510528" y="2240280"/>
            <a:ext cx="4892040" cy="1051560"/>
          </a:xfrm>
          <a:prstGeom prst="roundRect">
            <a:avLst>
              <a:gd name="adj" fmla="val 8696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6711696" y="236829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 + сміття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6711696" y="277063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обрізана, порожня або не-JSON відповідь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510528" y="3474720"/>
            <a:ext cx="4892040" cy="1051560"/>
          </a:xfrm>
          <a:prstGeom prst="roundRect">
            <a:avLst>
              <a:gd name="adj" fmla="val 8696"/>
            </a:avLst>
          </a:prstGeom>
          <a:solidFill>
            <a:srgbClr val="000000"/>
          </a:solidFill>
          <a:ln/>
        </p:spPr>
      </p:sp>
      <p:sp>
        <p:nvSpPr>
          <p:cNvPr id="24" name="Text 21"/>
          <p:cNvSpPr/>
          <p:nvPr/>
        </p:nvSpPr>
        <p:spPr>
          <a:xfrm>
            <a:off x="6711696" y="360273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 + тихо гірше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6711696" y="400507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новий снапшот моделі або правка промпта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66928" y="507492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2122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Дві праві категорії ловить лише власний лог і гейт якості.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Стек капстоуна: шлях запиту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2148840"/>
            <a:ext cx="162306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21792" y="2148840"/>
            <a:ext cx="15133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Користувач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2281428" y="2560320"/>
            <a:ext cx="164592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2409444" y="2491740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11" name="Shape 8"/>
          <p:cNvSpPr/>
          <p:nvPr/>
        </p:nvSpPr>
        <p:spPr>
          <a:xfrm>
            <a:off x="2647188" y="2148840"/>
            <a:ext cx="162306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702052" y="2148840"/>
            <a:ext cx="15133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Chat UI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4361688" y="2560320"/>
            <a:ext cx="164592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4489704" y="2491740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15" name="Shape 12"/>
          <p:cNvSpPr/>
          <p:nvPr/>
        </p:nvSpPr>
        <p:spPr>
          <a:xfrm>
            <a:off x="4727448" y="2148840"/>
            <a:ext cx="2743200" cy="822960"/>
          </a:xfrm>
          <a:prstGeom prst="roundRect">
            <a:avLst>
              <a:gd name="adj" fmla="val 11111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782312" y="2148840"/>
            <a:ext cx="2633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Сервіс · контур керування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7562088" y="2560320"/>
            <a:ext cx="164592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7690104" y="2491740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19" name="Shape 16"/>
          <p:cNvSpPr/>
          <p:nvPr/>
        </p:nvSpPr>
        <p:spPr>
          <a:xfrm>
            <a:off x="7927848" y="2148840"/>
            <a:ext cx="162306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982712" y="2148840"/>
            <a:ext cx="15133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Gateway-адаптер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9642348" y="2560320"/>
            <a:ext cx="164592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rot="5400000">
            <a:off x="9770364" y="2491740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23" name="Shape 20"/>
          <p:cNvSpPr/>
          <p:nvPr/>
        </p:nvSpPr>
        <p:spPr>
          <a:xfrm>
            <a:off x="10008108" y="2148840"/>
            <a:ext cx="162306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10062972" y="2148840"/>
            <a:ext cx="15133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 / mock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760720" y="3063240"/>
            <a:ext cx="0" cy="713232"/>
          </a:xfrm>
          <a:prstGeom prst="line">
            <a:avLst/>
          </a:prstGeom>
          <a:noFill/>
          <a:ln w="15875">
            <a:solidFill>
              <a:srgbClr val="3FCF8E"/>
            </a:solidFill>
            <a:prstDash val="dash"/>
          </a:ln>
        </p:spPr>
      </p:sp>
      <p:sp>
        <p:nvSpPr>
          <p:cNvPr id="26" name="Shape 23"/>
          <p:cNvSpPr/>
          <p:nvPr/>
        </p:nvSpPr>
        <p:spPr>
          <a:xfrm rot="10800000">
            <a:off x="5692140" y="3739896"/>
            <a:ext cx="137160" cy="146304"/>
          </a:xfrm>
          <a:prstGeom prst="triangle">
            <a:avLst/>
          </a:prstGeom>
          <a:solidFill>
            <a:srgbClr val="3FCF8E"/>
          </a:solidFill>
          <a:ln/>
        </p:spPr>
      </p:sp>
      <p:sp>
        <p:nvSpPr>
          <p:cNvPr id="27" name="Shape 24"/>
          <p:cNvSpPr/>
          <p:nvPr/>
        </p:nvSpPr>
        <p:spPr>
          <a:xfrm>
            <a:off x="4800600" y="3931920"/>
            <a:ext cx="1920240" cy="566928"/>
          </a:xfrm>
          <a:prstGeom prst="roundRect">
            <a:avLst>
              <a:gd name="adj" fmla="val 16129"/>
            </a:avLst>
          </a:prstGeom>
          <a:solidFill>
            <a:srgbClr val="06180F"/>
          </a:solidFill>
          <a:ln/>
        </p:spPr>
      </p:sp>
      <p:sp>
        <p:nvSpPr>
          <p:cNvPr id="28" name="Text 25"/>
          <p:cNvSpPr/>
          <p:nvPr/>
        </p:nvSpPr>
        <p:spPr>
          <a:xfrm>
            <a:off x="4800600" y="393192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Лог у БД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566928" y="4892040"/>
            <a:ext cx="5120640" cy="658368"/>
          </a:xfrm>
          <a:prstGeom prst="roundRect">
            <a:avLst>
              <a:gd name="adj" fmla="val 16667"/>
            </a:avLst>
          </a:prstGeom>
          <a:solidFill>
            <a:srgbClr val="07060C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86384" y="5038344"/>
            <a:ext cx="4681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up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п'ять компонентів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6035040" y="4892040"/>
            <a:ext cx="5596128" cy="658368"/>
          </a:xfrm>
          <a:prstGeom prst="roundRect">
            <a:avLst>
              <a:gd name="adj" fmla="val 16667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254496" y="5038344"/>
            <a:ext cx="5157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 самі ролі ви зустрінете в будь-якому проді — незалежно від інструментів.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П'ять компонентів — і ваші стосунки з ними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645920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Chat UI + консоль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4548226" y="1645920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обличчя системи — користуєтесь, не змінюєте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2414016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2414016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548226" y="2414016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контур керування: модель, кеш, fallback, вартість — тут уся ваша робота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182112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86384" y="3182112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Gateway-адаптер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48226" y="3182112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єдиний вихід до провайдерів — конфігуруєте список моделей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950208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3950208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База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4548226" y="3950208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лог, реєстр промптів, вартість — читаєте і розширюєте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4718304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4718304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Mock-провайдер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4548226" y="4718304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керована «модель» для тестів і симуляції збоїв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566928" y="562356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86384" y="576986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Права колонка чесно ділить стек: що ви будуєте — і чим просто користуєтесь.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Сервіс вирішує. Адаптер виконує.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5349240" cy="1965960"/>
          </a:xfrm>
          <a:prstGeom prst="roundRect">
            <a:avLst>
              <a:gd name="adj" fmla="val 5581"/>
            </a:avLst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841248" y="18288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ВИРІШУЄ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41248" y="214884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841248" y="269748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DEDA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яку модель · чи кеш · чи fallback · скільки коштувало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281928" y="1645920"/>
            <a:ext cx="5349240" cy="1965960"/>
          </a:xfrm>
          <a:prstGeom prst="roundRect">
            <a:avLst>
              <a:gd name="adj" fmla="val 5581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556248" y="18288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ВИКОНУЄ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556248" y="214884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Gateway-адаптер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6556248" y="269748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виклик · згладжування API · зберігання ключів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566928" y="384048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86384" y="396849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786384" y="4224528"/>
            <a:ext cx="491032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живе тільки в gateway — інакше контуру керування немає.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281928" y="384048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1A0808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501384" y="396849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6501384" y="4224528"/>
            <a:ext cx="491032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в адаптері — ви клікаєте прапорці, а не будуєте механізм.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566928" y="57150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Інструменти змінюються — механізми лишаються.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Unified log: рядок, з якого виростає весь курс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07060C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79222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request_id · model ·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prompt_version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· latency_ms · prompt_tokens · completion_tokens ·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cost_usd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· status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66928" y="2651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9A94A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підсвічені поля сьогодні порожні — це ваша робота на два тижні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566928" y="306324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prompt_version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310128" y="3291840"/>
            <a:ext cx="393192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5400000">
            <a:off x="3666744" y="3223260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13" name="Text 10"/>
          <p:cNvSpPr/>
          <p:nvPr/>
        </p:nvSpPr>
        <p:spPr>
          <a:xfrm>
            <a:off x="3950208" y="306324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«що зламалось учора о 19:40»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10927080" y="314553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1A0B3D"/>
          </a:solidFill>
          <a:ln/>
        </p:spPr>
      </p:sp>
      <p:sp>
        <p:nvSpPr>
          <p:cNvPr id="15" name="Text 12"/>
          <p:cNvSpPr/>
          <p:nvPr/>
        </p:nvSpPr>
        <p:spPr>
          <a:xfrm>
            <a:off x="10927080" y="314553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566928" y="36118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3310128" y="3840480"/>
            <a:ext cx="393192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3666744" y="3771900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19" name="Text 16"/>
          <p:cNvSpPr/>
          <p:nvPr/>
        </p:nvSpPr>
        <p:spPr>
          <a:xfrm>
            <a:off x="3950208" y="361188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розподіл трафіку, доказ routing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10927080" y="369417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1A0B3D"/>
          </a:solidFill>
          <a:ln/>
        </p:spPr>
      </p:sp>
      <p:sp>
        <p:nvSpPr>
          <p:cNvPr id="21" name="Text 18"/>
          <p:cNvSpPr/>
          <p:nvPr/>
        </p:nvSpPr>
        <p:spPr>
          <a:xfrm>
            <a:off x="10927080" y="369417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566928" y="41605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tokens · cost_usd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3310128" y="4389120"/>
            <a:ext cx="393192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5400000">
            <a:off x="3666744" y="4320540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25" name="Text 22"/>
          <p:cNvSpPr/>
          <p:nvPr/>
        </p:nvSpPr>
        <p:spPr>
          <a:xfrm>
            <a:off x="3950208" y="416052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вартість, бюджет, алерти</a:t>
            </a:r>
            <a:endParaRPr lang="en-US" sz="1250" dirty="0"/>
          </a:p>
        </p:txBody>
      </p:sp>
      <p:sp>
        <p:nvSpPr>
          <p:cNvPr id="26" name="Shape 23"/>
          <p:cNvSpPr/>
          <p:nvPr/>
        </p:nvSpPr>
        <p:spPr>
          <a:xfrm>
            <a:off x="10927080" y="424281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1A0B3D"/>
          </a:solidFill>
          <a:ln/>
        </p:spPr>
      </p:sp>
      <p:sp>
        <p:nvSpPr>
          <p:cNvPr id="27" name="Text 24"/>
          <p:cNvSpPr/>
          <p:nvPr/>
        </p:nvSpPr>
        <p:spPr>
          <a:xfrm>
            <a:off x="10927080" y="424281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566928" y="47091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latency_ms · status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3310128" y="4937760"/>
            <a:ext cx="393192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rot="5400000">
            <a:off x="3666744" y="4869180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31" name="Text 28"/>
          <p:cNvSpPr/>
          <p:nvPr/>
        </p:nvSpPr>
        <p:spPr>
          <a:xfrm>
            <a:off x="3950208" y="470916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p95, error rate, сліди інцидентів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10927080" y="479145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1A0B3D"/>
          </a:solidFill>
          <a:ln/>
        </p:spPr>
      </p:sp>
      <p:sp>
        <p:nvSpPr>
          <p:cNvPr id="33" name="Text 30"/>
          <p:cNvSpPr/>
          <p:nvPr/>
        </p:nvSpPr>
        <p:spPr>
          <a:xfrm>
            <a:off x="10927080" y="479145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W4–5</a:t>
            </a:r>
            <a:endParaRPr lang="en-US" sz="900" dirty="0"/>
          </a:p>
        </p:txBody>
      </p:sp>
      <p:sp>
        <p:nvSpPr>
          <p:cNvPr id="34" name="Text 31"/>
          <p:cNvSpPr/>
          <p:nvPr/>
        </p:nvSpPr>
        <p:spPr>
          <a:xfrm>
            <a:off x="566928" y="52578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весь рядок разом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3310128" y="5486400"/>
            <a:ext cx="393192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 rot="5400000">
            <a:off x="3666744" y="5417820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37" name="Text 34"/>
          <p:cNvSpPr/>
          <p:nvPr/>
        </p:nvSpPr>
        <p:spPr>
          <a:xfrm>
            <a:off x="3950208" y="525780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метрики консолі, гейти якості</a:t>
            </a:r>
            <a:endParaRPr lang="en-US" sz="1250" dirty="0"/>
          </a:p>
        </p:txBody>
      </p:sp>
      <p:sp>
        <p:nvSpPr>
          <p:cNvPr id="38" name="Shape 35"/>
          <p:cNvSpPr/>
          <p:nvPr/>
        </p:nvSpPr>
        <p:spPr>
          <a:xfrm>
            <a:off x="10927080" y="534009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1A0B3D"/>
          </a:solidFill>
          <a:ln/>
        </p:spPr>
      </p:sp>
      <p:sp>
        <p:nvSpPr>
          <p:cNvPr id="39" name="Text 36"/>
          <p:cNvSpPr/>
          <p:nvPr/>
        </p:nvSpPr>
        <p:spPr>
          <a:xfrm>
            <a:off x="10927080" y="534009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W5–6</a:t>
            </a:r>
            <a:endParaRPr lang="en-US" sz="900" dirty="0"/>
          </a:p>
        </p:txBody>
      </p:sp>
      <p:sp>
        <p:nvSpPr>
          <p:cNvPr id="40" name="Shape 37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Немає лога — немає операцій.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Mock: керовані збої + чутливість до промпта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66928" y="1600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СУПЕРСИЛА 1 · ПАДАЄ НА ЗАМОВЛЕННЯ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566928" y="2011680"/>
            <a:ext cx="1600200" cy="502920"/>
          </a:xfrm>
          <a:prstGeom prst="roundRect">
            <a:avLst>
              <a:gd name="adj" fmla="val 14545"/>
            </a:avLst>
          </a:prstGeom>
          <a:solidFill>
            <a:srgbClr val="1A0808"/>
          </a:solidFill>
          <a:ln/>
        </p:spPr>
      </p:sp>
      <p:sp>
        <p:nvSpPr>
          <p:cNvPr id="9" name="Text 6"/>
          <p:cNvSpPr/>
          <p:nvPr/>
        </p:nvSpPr>
        <p:spPr>
          <a:xfrm>
            <a:off x="566928" y="201168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__fail_503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2304288" y="20116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 лежить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093208" y="2011680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66928" y="2670048"/>
            <a:ext cx="1600200" cy="502920"/>
          </a:xfrm>
          <a:prstGeom prst="roundRect">
            <a:avLst>
              <a:gd name="adj" fmla="val 14545"/>
            </a:avLst>
          </a:prstGeom>
          <a:solidFill>
            <a:srgbClr val="1A0808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2670048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__fail_429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2304288" y="267004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вичерпані ліміти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093208" y="2670048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урок 7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566928" y="3328416"/>
            <a:ext cx="1600200" cy="502920"/>
          </a:xfrm>
          <a:prstGeom prst="roundRect">
            <a:avLst>
              <a:gd name="adj" fmla="val 14545"/>
            </a:avLst>
          </a:prstGeom>
          <a:solidFill>
            <a:srgbClr val="0B1A38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3328416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__delay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2304288" y="3328416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стрибок latency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093208" y="3328416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W4–5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566928" y="3986784"/>
            <a:ext cx="1600200" cy="502920"/>
          </a:xfrm>
          <a:prstGeom prst="roundRect">
            <a:avLst>
              <a:gd name="adj" fmla="val 14545"/>
            </a:avLst>
          </a:prstGeom>
          <a:solidFill>
            <a:srgbClr val="0B1A38"/>
          </a:solidFill>
          <a:ln/>
        </p:spPr>
      </p:sp>
      <p:sp>
        <p:nvSpPr>
          <p:cNvPr id="21" name="Text 18"/>
          <p:cNvSpPr/>
          <p:nvPr/>
        </p:nvSpPr>
        <p:spPr>
          <a:xfrm>
            <a:off x="566928" y="3986784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__garbage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2304288" y="3986784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беззмістовна відповідь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5093208" y="3986784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ДЗ W5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566928" y="475488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Надійність, яку тренують лише на реальних інцидентах, — це сподівання.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492240" y="16002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СУПЕРСИЛА 2 · РЕАГУЄ НА ПРОМПТ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6492240" y="2011680"/>
            <a:ext cx="2340864" cy="566928"/>
          </a:xfrm>
          <a:prstGeom prst="roundRect">
            <a:avLst>
              <a:gd name="adj" fmla="val 16129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547104" y="201168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 v2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8924544" y="2295144"/>
            <a:ext cx="164592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5400000">
            <a:off x="9052560" y="2226564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30" name="Shape 27"/>
          <p:cNvSpPr/>
          <p:nvPr/>
        </p:nvSpPr>
        <p:spPr>
          <a:xfrm>
            <a:off x="9290304" y="2011680"/>
            <a:ext cx="2340864" cy="566928"/>
          </a:xfrm>
          <a:prstGeom prst="roundRect">
            <a:avLst>
              <a:gd name="adj" fmla="val 16129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9345168" y="201168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 по суті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6492240" y="2880360"/>
            <a:ext cx="2340864" cy="566928"/>
          </a:xfrm>
          <a:prstGeom prst="roundRect">
            <a:avLst>
              <a:gd name="adj" fmla="val 16129"/>
            </a:avLst>
          </a:prstGeom>
          <a:solidFill>
            <a:srgbClr val="1A0808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6547104" y="288036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 зламано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8924544" y="3163824"/>
            <a:ext cx="164592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 rot="5400000">
            <a:off x="9052560" y="3095244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36" name="Shape 33"/>
          <p:cNvSpPr/>
          <p:nvPr/>
        </p:nvSpPr>
        <p:spPr>
          <a:xfrm>
            <a:off x="9290304" y="2880360"/>
            <a:ext cx="2340864" cy="566928"/>
          </a:xfrm>
          <a:prstGeom prst="roundRect">
            <a:avLst>
              <a:gd name="adj" fmla="val 16129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9345168" y="288036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«не знаю»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6492240" y="3749040"/>
            <a:ext cx="5138928" cy="1371600"/>
          </a:xfrm>
          <a:prstGeom prst="roundRect">
            <a:avLst>
              <a:gd name="adj" fmla="val 8000"/>
            </a:avLst>
          </a:prstGeom>
          <a:solidFill>
            <a:srgbClr val="5A05F4"/>
          </a:solidFill>
          <a:ln/>
        </p:spPr>
      </p:sp>
      <p:sp>
        <p:nvSpPr>
          <p:cNvPr id="39" name="Text 36"/>
          <p:cNvSpPr/>
          <p:nvPr/>
        </p:nvSpPr>
        <p:spPr>
          <a:xfrm>
            <a:off x="6711696" y="3895344"/>
            <a:ext cx="470001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Регресію промпта видно автоматично: зламали — почервоніло.</a:t>
            </a:r>
            <a:endParaRPr lang="en-US" sz="1300" dirty="0"/>
          </a:p>
        </p:txBody>
      </p:sp>
      <p:sp>
        <p:nvSpPr>
          <p:cNvPr id="40" name="Shape 37"/>
          <p:cNvSpPr/>
          <p:nvPr/>
        </p:nvSpPr>
        <p:spPr>
          <a:xfrm>
            <a:off x="6492240" y="5257800"/>
            <a:ext cx="5138928" cy="960120"/>
          </a:xfrm>
          <a:prstGeom prst="roundRect">
            <a:avLst>
              <a:gd name="adj" fmla="val 11429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6711696" y="5385816"/>
            <a:ext cx="4700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ЧОМУ ЦЕ ПЕРЕНОСИТЬСЯ НА ПРОД</a:t>
            </a:r>
            <a:endParaRPr lang="en-US" sz="950" dirty="0"/>
          </a:p>
        </p:txBody>
      </p:sp>
      <p:sp>
        <p:nvSpPr>
          <p:cNvPr id="42" name="Text 39"/>
          <p:cNvSpPr/>
          <p:nvPr/>
        </p:nvSpPr>
        <p:spPr>
          <a:xfrm>
            <a:off x="6711696" y="5641848"/>
            <a:ext cx="470001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Механіка контуру однакова; міняється лише «мозок» на іншому кінці дроту.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Реальний ключ і розширений стек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645920"/>
            <a:ext cx="11064240" cy="1508760"/>
          </a:xfrm>
          <a:prstGeom prst="roundRect">
            <a:avLst>
              <a:gd name="adj" fmla="val 7273"/>
            </a:avLst>
          </a:prstGeom>
          <a:solidFill>
            <a:srgbClr val="07060C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86384" y="1792224"/>
            <a:ext cx="10625328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 gateway/.env.example gateway/.env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вписати ключ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MODEL=назва-моделі docker compose up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реальний провайдер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--profile advanced up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+ Redis (W3)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566928" y="3429000"/>
            <a:ext cx="3566160" cy="1737360"/>
          </a:xfrm>
          <a:prstGeom prst="roundRect">
            <a:avLst>
              <a:gd name="adj" fmla="val 6316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68096" y="358444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Зміниться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4114800"/>
            <a:ext cx="316382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якість відповідей, багатоходовий діалог, цифри вартості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315968" y="3429000"/>
            <a:ext cx="3566160" cy="1737360"/>
          </a:xfrm>
          <a:prstGeom prst="roundRect">
            <a:avLst>
              <a:gd name="adj" fmla="val 6316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517136" y="358444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зміниться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517136" y="4114800"/>
            <a:ext cx="316382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жоден механізм контуру: routing, лог, кеш, fallback, гейти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8065008" y="3429000"/>
            <a:ext cx="3566160" cy="1737360"/>
          </a:xfrm>
          <a:prstGeom prst="roundRect">
            <a:avLst>
              <a:gd name="adj" fmla="val 6316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84464" y="3557016"/>
            <a:ext cx="3127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8284464" y="3813048"/>
            <a:ext cx="312724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Берете ключ — одразу ставте ліміт витрат у провайдера.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566928" y="53949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Радимо не вмикати в перші тижні: на mock видно механіку, а не магію моделі.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стек піднявся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docker compose up --build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чат відповідає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447141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«Як скинути пароль?»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97356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8" name="Text 15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консоль порожня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817473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«—» у кожній плитці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56692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6809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76809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128016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TODO у коді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76809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мапа роботи на 6 тижнів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27024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47141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447141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498348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рядок у лозі</a:t>
            </a:r>
            <a:endParaRPr lang="en-US" sz="1450" dirty="0"/>
          </a:p>
        </p:txBody>
      </p:sp>
      <p:sp>
        <p:nvSpPr>
          <p:cNvPr id="30" name="Text 27"/>
          <p:cNvSpPr/>
          <p:nvPr/>
        </p:nvSpPr>
        <p:spPr>
          <a:xfrm>
            <a:off x="447141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таблиця requests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797356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1A0808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817473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817473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868680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чесний злам</a:t>
            </a:r>
            <a:endParaRPr lang="en-US" sz="1450" dirty="0"/>
          </a:p>
        </p:txBody>
      </p:sp>
      <p:sp>
        <p:nvSpPr>
          <p:cNvPr id="35" name="Text 32"/>
          <p:cNvSpPr/>
          <p:nvPr/>
        </p:nvSpPr>
        <p:spPr>
          <a:xfrm>
            <a:off x="817473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— і жодного плану Б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566928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786384" y="5157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38" name="Text 35"/>
          <p:cNvSpPr/>
          <p:nvPr/>
        </p:nvSpPr>
        <p:spPr>
          <a:xfrm>
            <a:off x="786384" y="54132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Зафіксувати точку А — стан системи до шарів керування. Порожня консоль і збій без плану Б — не дефект демо, а предмет курсу.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п'ять кроків + один опційний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4"/>
          <p:cNvSpPr/>
          <p:nvPr/>
        </p:nvSpPr>
        <p:spPr>
          <a:xfrm>
            <a:off x="566928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88720" y="164592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Підняти стек  </a:t>
            </a:r>
            <a:pPr indent="0" marL="0"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docker compose up --build → localhost:4200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66928" y="243230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24323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188720" y="243230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Оглянути половини  </a:t>
            </a:r>
            <a:pPr indent="0" marL="0"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чат відповідає; консоль — «—» у кожній плитці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321868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32186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88720" y="321868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код  </a:t>
            </a:r>
            <a:pPr indent="0" marL="0"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service/Program.cs, /chat згори вниз; знайти TODO(student)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66928" y="4005072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566928" y="40050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188720" y="400507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Знайти запит у лозі  </a:t>
            </a:r>
            <a:pPr indent="0" marL="0"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SELECT * FROM requests ORDER BY created_at DESC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66928" y="479145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566928" y="4791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88720" y="479145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Зламати  </a:t>
            </a:r>
            <a:pPr indent="0" marL="0"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«сервіс недоступний», плану Б немає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66928" y="5577840"/>
            <a:ext cx="457200" cy="457200"/>
          </a:xfrm>
          <a:prstGeom prst="ellipse">
            <a:avLst/>
          </a:prstGeom>
          <a:solidFill>
            <a:srgbClr val="6BA0F8"/>
          </a:solidFill>
          <a:ln/>
        </p:spPr>
      </p:sp>
      <p:sp>
        <p:nvSpPr>
          <p:cNvPr id="22" name="Text 19"/>
          <p:cNvSpPr/>
          <p:nvPr/>
        </p:nvSpPr>
        <p:spPr>
          <a:xfrm>
            <a:off x="566928" y="5577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1188720" y="55778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Розширений стек · опційно  </a:t>
            </a:r>
            <a:pPr indent="0" marL="0"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--profile advanced → +Redis → погасити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91640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68096" y="184708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жива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377440"/>
            <a:ext cx="316382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шлях запиту видно наскрізь: UI → сервіс → адаптер → mock → лог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15968" y="1691640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517136" y="184708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Керування ще немає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4517136" y="2377440"/>
            <a:ext cx="316382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консоль «—», prompt_version і cost_usd порожні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065008" y="1691640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1A0808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66176" y="184708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Плану Б немає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8266176" y="2377440"/>
            <a:ext cx="316382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заглушки, деградації і сліду в метриках не існує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1A0808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2179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точка А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1847088" y="4343400"/>
            <a:ext cx="164592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1975104" y="4274820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19" name="Shape 16"/>
          <p:cNvSpPr/>
          <p:nvPr/>
        </p:nvSpPr>
        <p:spPr>
          <a:xfrm>
            <a:off x="221284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226771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промпти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3493008" y="4343400"/>
            <a:ext cx="164592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rot="5400000">
            <a:off x="3621024" y="4274820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23" name="Shape 20"/>
          <p:cNvSpPr/>
          <p:nvPr/>
        </p:nvSpPr>
        <p:spPr>
          <a:xfrm>
            <a:off x="385876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391363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гроші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5138928" y="4343400"/>
            <a:ext cx="164592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rot="5400000">
            <a:off x="5266944" y="4274820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27" name="Shape 24"/>
          <p:cNvSpPr/>
          <p:nvPr/>
        </p:nvSpPr>
        <p:spPr>
          <a:xfrm>
            <a:off x="550468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55955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кеш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6784848" y="4343400"/>
            <a:ext cx="164592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rot="5400000">
            <a:off x="6912864" y="4274820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31" name="Shape 28"/>
          <p:cNvSpPr/>
          <p:nvPr/>
        </p:nvSpPr>
        <p:spPr>
          <a:xfrm>
            <a:off x="715060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20547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надійність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8430768" y="4343400"/>
            <a:ext cx="164592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 rot="5400000">
            <a:off x="8558784" y="4274820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35" name="Shape 32"/>
          <p:cNvSpPr/>
          <p:nvPr/>
        </p:nvSpPr>
        <p:spPr>
          <a:xfrm>
            <a:off x="879652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885139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видимість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10076688" y="4343400"/>
            <a:ext cx="164592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 rot="5400000">
            <a:off x="10204704" y="4274820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39" name="Shape 36"/>
          <p:cNvSpPr/>
          <p:nvPr/>
        </p:nvSpPr>
        <p:spPr>
          <a:xfrm>
            <a:off x="1044244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1049731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точка Б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42" name="Text 39"/>
          <p:cNvSpPr/>
          <p:nvPr/>
        </p:nvSpPr>
        <p:spPr>
          <a:xfrm>
            <a:off x="786384" y="522122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Точку Б ви збудуєте самі — шар за шаром, тиждень за тижнем. Сьогоднішній скріншот консолі збережіть: на тижні 6 порівняєте.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2423160"/>
          </a:xfrm>
          <a:prstGeom prst="roundRect">
            <a:avLst>
              <a:gd name="adj" fmla="val 4528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A0B3D"/>
          </a:solidFill>
          <a:ln w="12700">
            <a:solidFill>
              <a:srgbClr val="A98BF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A98BFF"/>
          </a:solidFill>
          <a:ln/>
        </p:spPr>
      </p:sp>
      <p:sp>
        <p:nvSpPr>
          <p:cNvPr id="9" name="Shape 6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A98BFF"/>
          </a:solidFill>
          <a:ln/>
        </p:spPr>
      </p:sp>
      <p:sp>
        <p:nvSpPr>
          <p:cNvPr id="10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стек піднявся, консоль показує «—»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A0B3D"/>
          </a:solidFill>
          <a:ln w="12700">
            <a:solidFill>
              <a:srgbClr val="A98B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A98BFF"/>
          </a:solidFill>
          <a:ln/>
        </p:spPr>
      </p:sp>
      <p:sp>
        <p:nvSpPr>
          <p:cNvPr id="13" name="Shape 10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A98BFF"/>
          </a:solidFill>
          <a:ln/>
        </p:spPr>
      </p:sp>
      <p:sp>
        <p:nvSpPr>
          <p:cNvPr id="14" name="Text 11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малюю шлях запиту з пам'яті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978408" y="3291840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A0B3D"/>
          </a:solidFill>
          <a:ln w="12700">
            <a:solidFill>
              <a:srgbClr val="A98BF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2700000">
            <a:off x="1041227" y="3431286"/>
            <a:ext cx="58156" cy="27432"/>
          </a:xfrm>
          <a:prstGeom prst="rect">
            <a:avLst/>
          </a:prstGeom>
          <a:solidFill>
            <a:srgbClr val="A98BFF"/>
          </a:solidFill>
          <a:ln/>
        </p:spPr>
      </p:sp>
      <p:sp>
        <p:nvSpPr>
          <p:cNvPr id="17" name="Shape 14"/>
          <p:cNvSpPr/>
          <p:nvPr/>
        </p:nvSpPr>
        <p:spPr>
          <a:xfrm rot="-3000000">
            <a:off x="1069025" y="3405226"/>
            <a:ext cx="121432" cy="27432"/>
          </a:xfrm>
          <a:prstGeom prst="rect">
            <a:avLst/>
          </a:prstGeom>
          <a:solidFill>
            <a:srgbClr val="A98BFF"/>
          </a:solidFill>
          <a:ln/>
        </p:spPr>
      </p:sp>
      <p:sp>
        <p:nvSpPr>
          <p:cNvPr id="18" name="Text 15"/>
          <p:cNvSpPr/>
          <p:nvPr/>
        </p:nvSpPr>
        <p:spPr>
          <a:xfrm>
            <a:off x="1362456" y="3236976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знайшов свій рядок у requests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A0B3D"/>
          </a:solidFill>
          <a:ln w="12700">
            <a:solidFill>
              <a:srgbClr val="A98BF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A98BFF"/>
          </a:solidFill>
          <a:ln/>
        </p:spPr>
      </p:sp>
      <p:sp>
        <p:nvSpPr>
          <p:cNvPr id="21" name="Shape 18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A98BFF"/>
          </a:solidFill>
          <a:ln/>
        </p:spPr>
      </p:sp>
      <p:sp>
        <p:nvSpPr>
          <p:cNvPr id="22" name="Text 19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бачив поведінку при збої провайдера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A0B3D"/>
          </a:solidFill>
          <a:ln w="12700">
            <a:solidFill>
              <a:srgbClr val="A98BF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A98BFF"/>
          </a:solidFill>
          <a:ln/>
        </p:spPr>
      </p:sp>
      <p:sp>
        <p:nvSpPr>
          <p:cNvPr id="25" name="Shape 22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A98BFF"/>
          </a:solidFill>
          <a:ln/>
        </p:spPr>
      </p:sp>
      <p:sp>
        <p:nvSpPr>
          <p:cNvPr id="26" name="Text 23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temperature=0 не рятує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6144768" y="3291840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A0B3D"/>
          </a:solidFill>
          <a:ln w="12700">
            <a:solidFill>
              <a:srgbClr val="A98BFF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 rot="2700000">
            <a:off x="6207587" y="3431286"/>
            <a:ext cx="58156" cy="27432"/>
          </a:xfrm>
          <a:prstGeom prst="rect">
            <a:avLst/>
          </a:prstGeom>
          <a:solidFill>
            <a:srgbClr val="A98BFF"/>
          </a:solidFill>
          <a:ln/>
        </p:spPr>
      </p:sp>
      <p:sp>
        <p:nvSpPr>
          <p:cNvPr id="29" name="Shape 26"/>
          <p:cNvSpPr/>
          <p:nvPr/>
        </p:nvSpPr>
        <p:spPr>
          <a:xfrm rot="-3000000">
            <a:off x="6235385" y="3405226"/>
            <a:ext cx="121432" cy="27432"/>
          </a:xfrm>
          <a:prstGeom prst="rect">
            <a:avLst/>
          </a:prstGeom>
          <a:solidFill>
            <a:srgbClr val="A98BFF"/>
          </a:solidFill>
          <a:ln/>
        </p:spPr>
      </p:sp>
      <p:sp>
        <p:nvSpPr>
          <p:cNvPr id="30" name="Text 27"/>
          <p:cNvSpPr/>
          <p:nvPr/>
        </p:nvSpPr>
        <p:spPr>
          <a:xfrm>
            <a:off x="6528816" y="3236976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назву дві невидимі категорії відмов</a:t>
            </a:r>
            <a:endParaRPr lang="en-US" sz="1250" dirty="0"/>
          </a:p>
        </p:txBody>
      </p:sp>
      <p:sp>
        <p:nvSpPr>
          <p:cNvPr id="31" name="Text 28"/>
          <p:cNvSpPr/>
          <p:nvPr/>
        </p:nvSpPr>
        <p:spPr>
          <a:xfrm>
            <a:off x="566928" y="44348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94A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916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865376"/>
            <a:ext cx="384048" cy="384048"/>
          </a:xfrm>
          <a:prstGeom prst="ellipse">
            <a:avLst/>
          </a:prstGeom>
          <a:solidFill>
            <a:srgbClr val="1A0808"/>
          </a:solidFill>
          <a:ln/>
        </p:spPr>
      </p:sp>
      <p:sp>
        <p:nvSpPr>
          <p:cNvPr id="8" name="Shape 5"/>
          <p:cNvSpPr/>
          <p:nvPr/>
        </p:nvSpPr>
        <p:spPr>
          <a:xfrm rot="2700000">
            <a:off x="871789" y="2041654"/>
            <a:ext cx="176662" cy="31492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9" name="Shape 6"/>
          <p:cNvSpPr/>
          <p:nvPr/>
        </p:nvSpPr>
        <p:spPr>
          <a:xfrm rot="-2700000">
            <a:off x="871789" y="2041654"/>
            <a:ext cx="176662" cy="31492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10" name="Text 7"/>
          <p:cNvSpPr/>
          <p:nvPr/>
        </p:nvSpPr>
        <p:spPr>
          <a:xfrm>
            <a:off x="1298448" y="16916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у коді застосунку   </a:t>
            </a:r>
            <a:pPr indent="0" marL="0">
              <a:buNone/>
            </a:pPr>
            <a:r>
              <a:rPr lang="en-US" sz="12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«потім перенесемо» — не перенесете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566928" y="25603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68096" y="2734056"/>
            <a:ext cx="384048" cy="384048"/>
          </a:xfrm>
          <a:prstGeom prst="ellipse">
            <a:avLst/>
          </a:prstGeom>
          <a:solidFill>
            <a:srgbClr val="1A0808"/>
          </a:solidFill>
          <a:ln/>
        </p:spPr>
      </p:sp>
      <p:sp>
        <p:nvSpPr>
          <p:cNvPr id="13" name="Shape 10"/>
          <p:cNvSpPr/>
          <p:nvPr/>
        </p:nvSpPr>
        <p:spPr>
          <a:xfrm rot="2700000">
            <a:off x="871789" y="2910334"/>
            <a:ext cx="176662" cy="31492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14" name="Shape 11"/>
          <p:cNvSpPr/>
          <p:nvPr/>
        </p:nvSpPr>
        <p:spPr>
          <a:xfrm rot="-2700000">
            <a:off x="871789" y="2910334"/>
            <a:ext cx="176662" cy="31492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15" name="Text 12"/>
          <p:cNvSpPr/>
          <p:nvPr/>
        </p:nvSpPr>
        <p:spPr>
          <a:xfrm>
            <a:off x="1298448" y="25603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Демо на одному запиті   </a:t>
            </a:r>
            <a:pPr indent="0" marL="0">
              <a:buNone/>
            </a:pPr>
            <a:r>
              <a:rPr lang="en-US" sz="12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готовність — це чотири питання, а не скріншот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34290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68096" y="3602736"/>
            <a:ext cx="384048" cy="384048"/>
          </a:xfrm>
          <a:prstGeom prst="ellipse">
            <a:avLst/>
          </a:prstGeom>
          <a:solidFill>
            <a:srgbClr val="1A0808"/>
          </a:solidFill>
          <a:ln/>
        </p:spPr>
      </p:sp>
      <p:sp>
        <p:nvSpPr>
          <p:cNvPr id="18" name="Shape 15"/>
          <p:cNvSpPr/>
          <p:nvPr/>
        </p:nvSpPr>
        <p:spPr>
          <a:xfrm rot="2700000">
            <a:off x="871789" y="3779014"/>
            <a:ext cx="176662" cy="31492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19" name="Shape 16"/>
          <p:cNvSpPr/>
          <p:nvPr/>
        </p:nvSpPr>
        <p:spPr>
          <a:xfrm rot="-2700000">
            <a:off x="871789" y="3779014"/>
            <a:ext cx="176662" cy="31492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20" name="Text 17"/>
          <p:cNvSpPr/>
          <p:nvPr/>
        </p:nvSpPr>
        <p:spPr>
          <a:xfrm>
            <a:off x="1298448" y="34290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«Логи — коли зламається»   </a:t>
            </a:r>
            <a:pPr indent="0" marL="0">
              <a:buNone/>
            </a:pPr>
            <a:r>
              <a:rPr lang="en-US" sz="12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тоді дивитися буде нікуди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66928" y="42976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68096" y="4471416"/>
            <a:ext cx="384048" cy="384048"/>
          </a:xfrm>
          <a:prstGeom prst="ellipse">
            <a:avLst/>
          </a:prstGeom>
          <a:solidFill>
            <a:srgbClr val="1A0808"/>
          </a:solidFill>
          <a:ln/>
        </p:spPr>
      </p:sp>
      <p:sp>
        <p:nvSpPr>
          <p:cNvPr id="23" name="Shape 20"/>
          <p:cNvSpPr/>
          <p:nvPr/>
        </p:nvSpPr>
        <p:spPr>
          <a:xfrm rot="2700000">
            <a:off x="871789" y="4647694"/>
            <a:ext cx="176662" cy="31492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24" name="Shape 21"/>
          <p:cNvSpPr/>
          <p:nvPr/>
        </p:nvSpPr>
        <p:spPr>
          <a:xfrm rot="-2700000">
            <a:off x="871789" y="4647694"/>
            <a:ext cx="176662" cy="31492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25" name="Text 22"/>
          <p:cNvSpPr/>
          <p:nvPr/>
        </p:nvSpPr>
        <p:spPr>
          <a:xfrm>
            <a:off x="1298448" y="42976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провайдери одразу   </a:t>
            </a:r>
            <a:pPr indent="0" marL="0">
              <a:buNone/>
            </a:pPr>
            <a:r>
              <a:rPr lang="en-US" sz="12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спочатку один контур наскрізь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566928" y="51663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8096" y="5340096"/>
            <a:ext cx="384048" cy="384048"/>
          </a:xfrm>
          <a:prstGeom prst="ellipse">
            <a:avLst/>
          </a:prstGeom>
          <a:solidFill>
            <a:srgbClr val="1A0808"/>
          </a:solidFill>
          <a:ln/>
        </p:spPr>
      </p:sp>
      <p:sp>
        <p:nvSpPr>
          <p:cNvPr id="28" name="Shape 25"/>
          <p:cNvSpPr/>
          <p:nvPr/>
        </p:nvSpPr>
        <p:spPr>
          <a:xfrm rot="2700000">
            <a:off x="871789" y="5516374"/>
            <a:ext cx="176662" cy="31492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29" name="Shape 26"/>
          <p:cNvSpPr/>
          <p:nvPr/>
        </p:nvSpPr>
        <p:spPr>
          <a:xfrm rot="-2700000">
            <a:off x="871789" y="5516374"/>
            <a:ext cx="176662" cy="31492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30" name="Text 27"/>
          <p:cNvSpPr/>
          <p:nvPr/>
        </p:nvSpPr>
        <p:spPr>
          <a:xfrm>
            <a:off x="1298448" y="51663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Реальний ключ з першого дня   </a:t>
            </a:r>
            <a:pPr indent="0" marL="0">
              <a:buNone/>
            </a:pPr>
            <a:r>
              <a:rPr lang="en-US" sz="12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mock видно механіку, там — лише рахунок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91640"/>
            <a:ext cx="5349240" cy="2377440"/>
          </a:xfrm>
          <a:prstGeom prst="roundRect">
            <a:avLst>
              <a:gd name="adj" fmla="val 4615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68096" y="18470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377440"/>
            <a:ext cx="4946904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пройти 5 обов'язкових кроків лабораторної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витримати чек-лист «перевір себе»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переглянути гайд для студента по діагоналі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81928" y="1691640"/>
            <a:ext cx="5349240" cy="2377440"/>
          </a:xfrm>
          <a:prstGeom prst="roundRect">
            <a:avLst>
              <a:gd name="adj" fmla="val 4615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83096" y="18470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6483096" y="2377440"/>
            <a:ext cx="4946904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підняти розширений профіль стека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якщо є свій ключ — поставити ліміт витрат у кабінеті провайдера (ключ поки не підключати)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66928" y="4343400"/>
            <a:ext cx="11064240" cy="1371600"/>
          </a:xfrm>
          <a:prstGeom prst="roundRect">
            <a:avLst>
              <a:gd name="adj" fmla="val 9333"/>
            </a:avLst>
          </a:prstGeom>
          <a:solidFill>
            <a:srgbClr val="000000"/>
          </a:solidFill>
          <a:ln w="19050">
            <a:solidFill>
              <a:srgbClr val="A98B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41248" y="4526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1 — здається після уроку 2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841248" y="49377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Логування + prompt registry. Тиждень здається одним PR у своєму репозиторії; критерії — у файлі ДЗ після наступного уроку.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1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 — не «працює»: гроші, надійність, якість і видимість потребують власного контуру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контракт виклику однаковий у всіх: messages, параметри, finish_reason, usage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перевіряємо властивості, а не рядки; latency читаємо разом із довжиною відповіді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 вирішує — адаптер виконує; ключ живе тільки в gateway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unified log — рядок, з якого виростає весь курс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2 · Prompt lifecycle: промпт як production-артефакт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системний промпт захардкоджений у коді — і це остання доба, коли це прийнятно. Далі: версії, promote, rollback і відкат за секунди.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1 · LLMOps і архітектура production LLM-системи</dc:title>
  <dc:subject>PptxGenJS Presentation</dc:subject>
  <dc:creator>LLMOps Bootcamp</dc:creator>
  <cp:lastModifiedBy>LLMOps Bootcamp</cp:lastModifiedBy>
  <cp:revision>1</cp:revision>
  <dcterms:created xsi:type="dcterms:W3CDTF">2026-08-17T08:18:43Z</dcterms:created>
  <dcterms:modified xsi:type="dcterms:W3CDTF">2026-08-17T08:18:43Z</dcterms:modified>
</cp:coreProperties>
</file>