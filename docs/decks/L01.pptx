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УРОК 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і архітектура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LLM-системи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«API відповів 200» до системи, якою можна керувати. Сьогодні розберемо об'єкт керування, піднімемо каркас капстоуна — і чесно зламаємо його.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дій, які перевірите руками вже сьогодні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команда — п'ять компонентів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Намалювати шлях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→ сервіс → адаптер → mock → лог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відповідь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finish_reason і usage, не лише текст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недетермінізм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temperature=0 не рятує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Назвати сліпі зони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відмови повз моніторинг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7356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17473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4" name="Text 32"/>
          <p:cNvSpPr/>
          <p:nvPr/>
        </p:nvSpPr>
        <p:spPr>
          <a:xfrm>
            <a:off x="817473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817473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яких полів бракує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≠ production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Токени і три ціни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 і латентність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Стек: вирішує vs виконує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Перші п'ять блоків — об'єкт керування. Наступні — каркас, який ви будуватимете шість тижнів.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демо за день — а прод ніколи?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5564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713232" y="257403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каже вам HTTP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320040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538728"/>
            <a:ext cx="2907792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713232" y="4357116"/>
            <a:ext cx="29077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відповіді на операційні питання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6052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6168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5" name="Text 13"/>
          <p:cNvSpPr/>
          <p:nvPr/>
        </p:nvSpPr>
        <p:spPr>
          <a:xfrm>
            <a:off x="436168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7375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36168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тиждень — і хто помітить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92440" y="164592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8293608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805672" y="180136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293608" y="233172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ліг на 20 хвилин у робочий час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16052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6168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5" name="Text 23"/>
          <p:cNvSpPr/>
          <p:nvPr/>
        </p:nvSpPr>
        <p:spPr>
          <a:xfrm>
            <a:off x="436168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7375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36168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«маленька» правка промпта без компіляції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92440" y="3429000"/>
            <a:ext cx="37490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3608" y="36118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0" name="Text 28"/>
          <p:cNvSpPr/>
          <p:nvPr/>
        </p:nvSpPr>
        <p:spPr>
          <a:xfrm>
            <a:off x="8293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805672" y="3584448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Видимість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8293608" y="4114800"/>
            <a:ext cx="33467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«бот верзе дурниці», а графіки зелені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160520" y="5349240"/>
            <a:ext cx="7470648" cy="566928"/>
          </a:xfrm>
          <a:prstGeom prst="roundRect">
            <a:avLst>
              <a:gd name="adj" fmla="val 19355"/>
            </a:avLst>
          </a:prstGeom>
          <a:solidFill>
            <a:srgbClr val="F9E9E8"/>
          </a:solidFill>
          <a:ln/>
        </p:spPr>
      </p:sp>
      <p:sp>
        <p:nvSpPr>
          <p:cNvPr id="34" name="Text 32"/>
          <p:cNvSpPr/>
          <p:nvPr/>
        </p:nvSpPr>
        <p:spPr>
          <a:xfrm>
            <a:off x="4379976" y="5495544"/>
            <a:ext cx="703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Класичний моніторинг на ці питання сліпий.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властивості, яких немає у звичайних сервісів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Недетермінізм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вхід — різний вихід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3" name="Shape 11"/>
          <p:cNvSpPr/>
          <p:nvPr/>
        </p:nvSpPr>
        <p:spPr>
          <a:xfrm>
            <a:off x="3584448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4" name="Text 12"/>
          <p:cNvSpPr/>
          <p:nvPr/>
        </p:nvSpPr>
        <p:spPr>
          <a:xfrm>
            <a:off x="35844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96512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Оплата за токен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584448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залежить від поведінки, не від кількості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9632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12864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Регресії без коміта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0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або снапшот моделі — без деплою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015984" y="1600200"/>
            <a:ext cx="2651760" cy="1572768"/>
          </a:xfrm>
          <a:prstGeom prst="roundRect">
            <a:avLst>
              <a:gd name="adj" fmla="val 6977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9217152" y="178308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921715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729216" y="175564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 інфраструктура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217152" y="2286000"/>
            <a:ext cx="2249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ваш uptime залежить від чужого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34747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ТЕЗА КУРСУ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385876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LLMOps — не про те, як покликати модель, а як експлуатувати її як production-сервіс: керувати вартістю, надійністю, якістю і видимістю.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ECEBFB"/>
          </a:solidFill>
          <a:ln/>
        </p:spPr>
      </p:sp>
      <p:sp>
        <p:nvSpPr>
          <p:cNvPr id="31" name="Text 29"/>
          <p:cNvSpPr/>
          <p:nvPr/>
        </p:nvSpPr>
        <p:spPr>
          <a:xfrm>
            <a:off x="6217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промпти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2140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5400000">
            <a:off x="224942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4" name="Shape 32"/>
          <p:cNvSpPr/>
          <p:nvPr/>
        </p:nvSpPr>
        <p:spPr>
          <a:xfrm>
            <a:off x="248716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4203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гроші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04164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rot="5400000">
            <a:off x="416966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8" name="Shape 36"/>
          <p:cNvSpPr/>
          <p:nvPr/>
        </p:nvSpPr>
        <p:spPr>
          <a:xfrm>
            <a:off x="440740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6227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і дії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96188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608990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2" name="Shape 40"/>
          <p:cNvSpPr/>
          <p:nvPr/>
        </p:nvSpPr>
        <p:spPr>
          <a:xfrm>
            <a:off x="632764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251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88212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rot="5400000">
            <a:off x="801014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46" name="Shape 44"/>
          <p:cNvSpPr/>
          <p:nvPr/>
        </p:nvSpPr>
        <p:spPr>
          <a:xfrm>
            <a:off x="824788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30275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видимість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802368" y="5239512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rot="5400000">
            <a:off x="9930384" y="5170932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50" name="Shape 48"/>
          <p:cNvSpPr/>
          <p:nvPr/>
        </p:nvSpPr>
        <p:spPr>
          <a:xfrm>
            <a:off x="10168128" y="4937760"/>
            <a:ext cx="1463040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222992" y="4937760"/>
            <a:ext cx="1353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гейт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66928" y="57607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тиждень закриває одне питання — механізмом, а не порадою.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Анатомія виклику: що летить у модель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577840" cy="2514600"/>
          </a:xfrm>
          <a:prstGeom prst="roundRect">
            <a:avLst>
              <a:gd name="adj" fmla="val 436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46504"/>
            <a:ext cx="5138928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"mock",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"messages"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{"role":"system", "content":"…"},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{"role":"user",   "content":"…"}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саме це шле service/Program.cs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34340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4489704"/>
            <a:ext cx="51389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не має пам'яті: історію привозите ви — тому довгий діалог дорожчає лінійно.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92240" y="1600200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711696" y="1600200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458932" y="1600200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свобода вибору токена — тримають низькою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92240" y="2569464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711696" y="2569464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max_tokens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458932" y="2569464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стеля довжини = стеля вартості виклику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3538728"/>
            <a:ext cx="5138928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3538728"/>
            <a:ext cx="174723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response_format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58932" y="3538728"/>
            <a:ext cx="296667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строгий JSON, який валідує провайдер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4480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— це той промпт, який наступного уроку переїде в реєстр.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повертається: не тільки текст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68580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  <a:gridCol w="2606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finish_reason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означає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модель завершила думку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нормальний випадок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вдарилась у max_tokens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збій формату: не кешувати, не показувати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просить інструмент (урок 6)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може бути порожнім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content_filter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зрізав фільтр провайдера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окрема категорія в метриках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35240" y="1600200"/>
            <a:ext cx="3995928" cy="1874520"/>
          </a:xfrm>
          <a:prstGeom prst="roundRect">
            <a:avLst>
              <a:gd name="adj" fmla="val 5854"/>
            </a:avLst>
          </a:prstGeom>
          <a:solidFill>
            <a:srgbClr val="F9E9E8"/>
          </a:solidFill>
          <a:ln/>
        </p:spPr>
      </p:sp>
      <p:sp>
        <p:nvSpPr>
          <p:cNvPr id="9" name="Text 6"/>
          <p:cNvSpPr/>
          <p:nvPr/>
        </p:nvSpPr>
        <p:spPr>
          <a:xfrm>
            <a:off x="7854696" y="17282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54696" y="1984248"/>
            <a:ext cx="355701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лише content: обрізана відповідь виглядає успішною — 200, текст є, метрики зелені.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3703320"/>
            <a:ext cx="39959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2" name="Text 9"/>
          <p:cNvSpPr/>
          <p:nvPr/>
        </p:nvSpPr>
        <p:spPr>
          <a:xfrm>
            <a:off x="7854696" y="383133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ТРЕТЄ ПОЛЕ — USAGE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854696" y="4087368"/>
            <a:ext cx="3557016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 · вихідні · кеш провайдера. Єдине джерело правди про гроші (урок 4).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4663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віддає лише stop і tool_calls — гілку length перевіряємо юніт-тестом.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ціни в одному виклику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7099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 симв.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13232" y="24487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токен англійською (≈¾ слова)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3310128"/>
            <a:ext cx="299923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дорожче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13232" y="4048963"/>
            <a:ext cx="2999232" cy="526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зміст українською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4800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Операційне рішення: якою мовою тримати системний промпт, що їде в кожному запиті.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1874520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провайдера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1965046"/>
            <a:ext cx="361188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8613648" y="187452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різко нижча ставка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206240" y="2670048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17920" y="2760574"/>
            <a:ext cx="794614" cy="321869"/>
          </a:xfrm>
          <a:prstGeom prst="roundRect">
            <a:avLst>
              <a:gd name="adj" fmla="val 14205"/>
            </a:avLst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8613648" y="267004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промпт та історія — найдешевші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206240" y="3465576"/>
            <a:ext cx="1847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3556102"/>
            <a:ext cx="2167128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22" name="Text 20"/>
          <p:cNvSpPr/>
          <p:nvPr/>
        </p:nvSpPr>
        <p:spPr>
          <a:xfrm>
            <a:off x="8613648" y="3465576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кілька разів дорожчі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206240" y="411480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схематично: порядок величин, а не точні коефіцієнти — прайс розбираємо в уроці 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06240" y="4572000"/>
            <a:ext cx="7424928" cy="1280160"/>
          </a:xfrm>
          <a:prstGeom prst="roundRect">
            <a:avLst>
              <a:gd name="adj" fmla="val 8571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4425696" y="4700016"/>
            <a:ext cx="6986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25696" y="4956048"/>
            <a:ext cx="6986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не виводиться з кількості запитів. Тому в лозі вхідні й вихідні токени стоять окремо — без них будь-яка цифра вартості вигадана.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= 0 — це не детермінізм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Пакети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 пакета впливає на арифметику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Плаваюча точка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обчислення не асоціативні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64592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Снапшоти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33172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та сама — модель оновлена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запит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4164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5400000">
            <a:off x="416966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6" name="Shape 24"/>
          <p:cNvSpPr/>
          <p:nvPr/>
        </p:nvSpPr>
        <p:spPr>
          <a:xfrm>
            <a:off x="440740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6227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temperature = 0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82128" y="36118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8010144" y="35433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8247888" y="3291840"/>
            <a:ext cx="338328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3291840"/>
            <a:ext cx="3273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інші слова у відповіді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33" name="Text 31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рядки: чи є потрібне, чи немає забороненого, чи тримається формат. На цьому стоїть golden dataset уроку 10 — expect і forbid, а не «дорівнює».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Латентність: час залежить від довжини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КОРОТКА ВІДПОВІДЬ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66928" y="192024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1920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9202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1" name="Text 9"/>
          <p:cNvSpPr/>
          <p:nvPr/>
        </p:nvSpPr>
        <p:spPr>
          <a:xfrm>
            <a:off x="2624328" y="1920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28346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ТРИ АБЗАЦИ — ТА САМА МОДЕЛЬ, ТОЙ САМИЙ ПРОВАЙДЕР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66928" y="3154680"/>
            <a:ext cx="2011680" cy="548640"/>
          </a:xfrm>
          <a:prstGeom prst="roundRect">
            <a:avLst>
              <a:gd name="adj" fmla="val 13333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1546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до 1-го токена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24328" y="3154680"/>
            <a:ext cx="6035040" cy="548640"/>
          </a:xfrm>
          <a:prstGeom prst="roundRect">
            <a:avLst>
              <a:gd name="adj" fmla="val 13333"/>
            </a:avLst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2624328" y="31546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генерація: послідовно, токен за токеном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197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45312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Читати p95 як характеристику інфраструктури. Зростання p95 однаково легко означає «відповіді подовшали», як і «провайдеру погано» — тому latency у лозі живе поряд із вихідними токенами.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time-to-first-token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метрика для інтерфейсів, де відповідь друкується на очах. Стрімінг — свідомо за межами курсу.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способів зламатися — і сліпа зона моніторингу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МОНІТОРИНГ БАЧИТЬ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95528" y="2240280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167128" y="22402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вичерпана квота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044952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95528" y="304495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167128" y="3044952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інцидент провайдера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849624"/>
            <a:ext cx="12344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3849624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таймаут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67128" y="3849624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відповідь після того, як пішов користувач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81928" y="1600200"/>
            <a:ext cx="5349240" cy="3246120"/>
          </a:xfrm>
          <a:prstGeom prst="roundRect">
            <a:avLst>
              <a:gd name="adj" fmla="val 3380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10528" y="178308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БАЧИТЬ У ПРИНЦИПІ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10528" y="224028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11696" y="236829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сміття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711696" y="27706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обрізана, порожня або не-JSON відповідь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3474720"/>
            <a:ext cx="48920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711696" y="360273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+ тихо гірше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11696" y="4005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снапшот моделі або правка промпта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праві категорії — причина, чому цей курс існує: їх ловить лише власний лог, перевірки якості та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капстоуна: шлях запиту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28142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40944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64718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0205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616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4897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4727448" y="214884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4782312" y="2148840"/>
            <a:ext cx="2633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· контур керування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56208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69010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2784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8271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642348" y="256032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770364" y="24917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08108" y="2148840"/>
            <a:ext cx="16230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062972" y="2148840"/>
            <a:ext cx="15133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/ mock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760720" y="3063240"/>
            <a:ext cx="0" cy="713232"/>
          </a:xfrm>
          <a:prstGeom prst="line">
            <a:avLst/>
          </a:prstGeom>
          <a:noFill/>
          <a:ln w="15875">
            <a:solidFill>
              <a:srgbClr val="177245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rot="10800000">
            <a:off x="5692140" y="3739896"/>
            <a:ext cx="137160" cy="146304"/>
          </a:xfrm>
          <a:prstGeom prst="triangle">
            <a:avLst/>
          </a:prstGeom>
          <a:solidFill>
            <a:srgbClr val="177245"/>
          </a:solidFill>
          <a:ln/>
        </p:spPr>
      </p:sp>
      <p:sp>
        <p:nvSpPr>
          <p:cNvPr id="27" name="Shape 25"/>
          <p:cNvSpPr/>
          <p:nvPr/>
        </p:nvSpPr>
        <p:spPr>
          <a:xfrm>
            <a:off x="4800600" y="3931920"/>
            <a:ext cx="1920240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4800600" y="39319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БД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892040"/>
            <a:ext cx="5120640" cy="658368"/>
          </a:xfrm>
          <a:prstGeom prst="roundRect">
            <a:avLst>
              <a:gd name="adj" fmla="val 16667"/>
            </a:avLst>
          </a:prstGeom>
          <a:solidFill>
            <a:srgbClr val="14161C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038344"/>
            <a:ext cx="4681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п'ять компонентів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035040" y="4892040"/>
            <a:ext cx="5596128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6254496" y="5038344"/>
            <a:ext cx="5157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 самі ролі ви зустрінете в будь-якому проді — незалежно від інструментів.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компонентів — і ваші стосунки з ними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64592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+ консоль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64592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обличчя системи — користуєтесь, не змінюєте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41401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41401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керування: модель, кеш, fallback, вартість — тут уся ваша робота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18211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18211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18211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єдиний вихід до провайдерів — конфігуруєте список моделей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950208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950208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3950208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лог, реєстр промптів, вартість — читаєте і розширюєте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1830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471830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Mock-провайдер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548226" y="471830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керована «модель» для тестів і симуляції збоїв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6235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7698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колонка чесно ділить стек: що ви будуєте — і чим просто користуєтесь.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вирішує. Адаптер виконує.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41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яку модель · чи кеш · чи fallback · скільки коштувало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81928" y="1645920"/>
            <a:ext cx="534924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56248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56248" y="21488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Gateway-адаптер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556248" y="26974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виклик · згладжування API · зберігання ключів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провайдера живе тільки в gateway. Секрет у коді застосунку = контуру керування ще немає.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81928" y="38404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F9E9E8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39684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501384" y="422452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Віддати рішення адаптеру: тоді ви вчитеся клікати прапорці інструмента, а не будувати механізм.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66928" y="5715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змінюються — механізми лишаються.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log: рядок, з якого виростає весь курс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 · model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latency_ms · prompt_tokens · completion_tokens ·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status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помаранчеві поля сьогодні порожні — це ваша робота на два тижні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329184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3666744" y="32232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Text 11"/>
          <p:cNvSpPr/>
          <p:nvPr/>
        </p:nvSpPr>
        <p:spPr>
          <a:xfrm>
            <a:off x="3950208" y="306324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трафіку, доказ routing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10927080" y="314553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14553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10128" y="384048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666744" y="37719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36118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«що зламалось учора о 19:40»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927080" y="36941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10927080" y="36941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66928" y="4160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 · cost_usd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10128" y="438912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3666744" y="432054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Text 23"/>
          <p:cNvSpPr/>
          <p:nvPr/>
        </p:nvSpPr>
        <p:spPr>
          <a:xfrm>
            <a:off x="3950208" y="41605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вартість, бюджет, алерти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0927080" y="424281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10927080" y="424281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66928" y="47091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latency_ms · status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10128" y="493776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3666744" y="48691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Text 29"/>
          <p:cNvSpPr/>
          <p:nvPr/>
        </p:nvSpPr>
        <p:spPr>
          <a:xfrm>
            <a:off x="3950208" y="47091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p95, error rate, сліди інцидентів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927080" y="479145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3" name="Text 31"/>
          <p:cNvSpPr/>
          <p:nvPr/>
        </p:nvSpPr>
        <p:spPr>
          <a:xfrm>
            <a:off x="10927080" y="479145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66928" y="5257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весь рядок разом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310128" y="5486400"/>
            <a:ext cx="3931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rot="5400000">
            <a:off x="3666744" y="5417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7" name="Text 35"/>
          <p:cNvSpPr/>
          <p:nvPr/>
        </p:nvSpPr>
        <p:spPr>
          <a:xfrm>
            <a:off x="3950208" y="52578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консолі, гейти якості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927080" y="534009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10927080" y="534009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W5–6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66928" y="5852160"/>
            <a:ext cx="11064240" cy="475488"/>
          </a:xfrm>
          <a:prstGeom prst="roundRect">
            <a:avLst>
              <a:gd name="adj" fmla="val 23077"/>
            </a:avLst>
          </a:prstGeom>
          <a:solidFill>
            <a:srgbClr val="E9F3EE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5998464"/>
            <a:ext cx="10625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Немає лога — немає операцій.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Mock: керовані збої + чутливість до промпта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66928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1 · ПАДАЄ НА ЗАМОВЛЕННЯ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011680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01168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__fail_503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04288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 лежить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93208" y="2011680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2670048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267004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__fail_429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04288" y="26700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вичерпані ліміти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93208" y="2670048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урок 7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32841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__delay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04288" y="332841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стрибок latency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93208" y="3328416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W4–5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3986784"/>
            <a:ext cx="1600200" cy="502920"/>
          </a:xfrm>
          <a:prstGeom prst="roundRect">
            <a:avLst>
              <a:gd name="adj" fmla="val 14545"/>
            </a:avLst>
          </a:prstGeom>
          <a:solidFill>
            <a:srgbClr val="F8F0E2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986784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__garbage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04288" y="39867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беззмістовна відповідь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93208" y="3986784"/>
            <a:ext cx="96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ДЗ W5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66928" y="47548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Надійність, яку тренують лише на реальних інцидентах, — це сподівання.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16002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СУПЕРСИЛА 2 · РЕАГУЄ НА ПРОМПТ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92240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6547104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v2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924544" y="229514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9052560" y="222656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0" name="Shape 28"/>
          <p:cNvSpPr/>
          <p:nvPr/>
        </p:nvSpPr>
        <p:spPr>
          <a:xfrm>
            <a:off x="9290304" y="201168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45168" y="201168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по суті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92240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9E9E8"/>
          </a:solidFill>
          <a:ln/>
        </p:spPr>
      </p:sp>
      <p:sp>
        <p:nvSpPr>
          <p:cNvPr id="33" name="Text 31"/>
          <p:cNvSpPr/>
          <p:nvPr/>
        </p:nvSpPr>
        <p:spPr>
          <a:xfrm>
            <a:off x="6547104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зламано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924544" y="3163824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9052560" y="3095244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6" name="Shape 34"/>
          <p:cNvSpPr/>
          <p:nvPr/>
        </p:nvSpPr>
        <p:spPr>
          <a:xfrm>
            <a:off x="9290304" y="2880360"/>
            <a:ext cx="234086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345168" y="2880360"/>
            <a:ext cx="22311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92240" y="3749040"/>
            <a:ext cx="5138928" cy="1371600"/>
          </a:xfrm>
          <a:prstGeom prst="roundRect">
            <a:avLst>
              <a:gd name="adj" fmla="val 8000"/>
            </a:avLst>
          </a:prstGeom>
          <a:solidFill>
            <a:srgbClr val="ECEBFB"/>
          </a:solidFill>
          <a:ln/>
        </p:spPr>
      </p:sp>
      <p:sp>
        <p:nvSpPr>
          <p:cNvPr id="39" name="Text 37"/>
          <p:cNvSpPr/>
          <p:nvPr/>
        </p:nvSpPr>
        <p:spPr>
          <a:xfrm>
            <a:off x="6711696" y="3895344"/>
            <a:ext cx="47000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Тому регресію промпта видно автоматично: зламали — перевірки почервоніли. На тижні 5–6 це стане гейтом у CI.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492240" y="5257800"/>
            <a:ext cx="5138928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6711696" y="5385816"/>
            <a:ext cx="4700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ЦЕ ПЕРЕНОСИТЬСЯ НА ПРОД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711696" y="5641848"/>
            <a:ext cx="470001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Механіка контуру однакова; міняється лише «мозок» на іншому кінці дроту.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і розширений стек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64592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1792224"/>
            <a:ext cx="10625328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gateway/.env.example gateway/.env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вписати ключ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MODEL=назва-моделі docker compose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реальний провайдер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--profile advanced up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+ Redis (W3)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Зміниться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відповідей, багатоходовий діалог, цифри вартості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1596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5" name="Text 13"/>
          <p:cNvSpPr/>
          <p:nvPr/>
        </p:nvSpPr>
        <p:spPr>
          <a:xfrm>
            <a:off x="4517136" y="358444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зміниться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17136" y="4114800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жоден механізм контуру: routing, лог, кеш, fallback, гейти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65008" y="3429000"/>
            <a:ext cx="3566160" cy="1737360"/>
          </a:xfrm>
          <a:prstGeom prst="roundRect">
            <a:avLst>
              <a:gd name="adj" fmla="val 6316"/>
            </a:avLst>
          </a:prstGeom>
          <a:solidFill>
            <a:srgbClr val="F8F0E2"/>
          </a:solidFill>
          <a:ln/>
        </p:spPr>
      </p:sp>
      <p:sp>
        <p:nvSpPr>
          <p:cNvPr id="18" name="Text 16"/>
          <p:cNvSpPr/>
          <p:nvPr/>
        </p:nvSpPr>
        <p:spPr>
          <a:xfrm>
            <a:off x="8284464" y="3557016"/>
            <a:ext cx="3127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84464" y="3813048"/>
            <a:ext cx="312724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Берете ключ — одразу поставте ліміт витрат у кабінеті провайдера. Перша операційна звичка курсу.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6928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Радимо не вмикати в перші тижні: на mock видно механіку, а не магію моделі.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7024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47141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«Як скинути пароль?»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973568" y="16459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порожня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8174736" y="23317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«—» у кожній плитці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у коді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76809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мапа роботи на 6 тижнів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7024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E9F3EE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8" name="Text 26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рядок у лозі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447141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таблиця requests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973568" y="324612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32" name="Shape 30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1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чесний злам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8174736" y="393192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— і жодного плану Б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37" name="Text 35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Зафіксувати точку А — стан системи до шарів керування. Порожня консоль і збій без плану Б — не дефект демо, а предмет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п'ять кроків + один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645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Підняти стек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--build → localhost:4200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43230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432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43230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Оглянути половини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 відповідає; консоль — «—» у кожній плитці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21868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2186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2186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код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service/Program.cs, /chat згори вниз; знайти TODO(student)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005072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005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00507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Знайти запит у лозі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* FROM requests ORDER BY created_at DESC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79145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9145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«сервіс недоступний», плану Б немає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577840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5577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188720" y="55778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Розширений стек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--profile advanced → +Redis → погасити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жива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запиту видно наскрізь: UI → сервіс → адаптер → mock → лог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Керування ще немає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консоль «—», prompt_version і cost_usd порожні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6916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4708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Плану Б немає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377440"/>
            <a:ext cx="316382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__fail_503 → заглушки, деградації і сліду в метриках не існує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6217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8470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19751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22128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677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промпти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49300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362102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385876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гроші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3892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5400000">
            <a:off x="526694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7" name="Shape 25"/>
          <p:cNvSpPr/>
          <p:nvPr/>
        </p:nvSpPr>
        <p:spPr>
          <a:xfrm>
            <a:off x="550468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5955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кеш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8484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rot="5400000">
            <a:off x="691286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1" name="Shape 29"/>
          <p:cNvSpPr/>
          <p:nvPr/>
        </p:nvSpPr>
        <p:spPr>
          <a:xfrm>
            <a:off x="715060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0547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надійність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3076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rot="5400000">
            <a:off x="855878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5" name="Shape 33"/>
          <p:cNvSpPr/>
          <p:nvPr/>
        </p:nvSpPr>
        <p:spPr>
          <a:xfrm>
            <a:off x="879652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85139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видимість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6688" y="43434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10204704" y="42748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39" name="Shape 37"/>
          <p:cNvSpPr/>
          <p:nvPr/>
        </p:nvSpPr>
        <p:spPr>
          <a:xfrm>
            <a:off x="10442448" y="4023360"/>
            <a:ext cx="1188720" cy="640080"/>
          </a:xfrm>
          <a:prstGeom prst="roundRect">
            <a:avLst>
              <a:gd name="adj" fmla="val 14286"/>
            </a:avLst>
          </a:prstGeom>
          <a:solidFill>
            <a:srgbClr val="E9F3EE"/>
          </a:solidFill>
          <a:ln/>
        </p:spPr>
      </p:sp>
      <p:sp>
        <p:nvSpPr>
          <p:cNvPr id="40" name="Text 38"/>
          <p:cNvSpPr/>
          <p:nvPr/>
        </p:nvSpPr>
        <p:spPr>
          <a:xfrm>
            <a:off x="10497312" y="4023360"/>
            <a:ext cx="10789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точка Б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" y="522122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Точку Б ви збудуєте самі — шар за шаром, тиждень за тижнем. Сьогоднішній скріншот консолі збережіть: на тижні 6 порівняєте.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стек піднявся, консоль показує «—»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малюю шлях запиту з пам'яті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7840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6245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знайшов свій рядок у requests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бачив поведінку при збої провайдера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temperature=0 не рятує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44768" y="32918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44768" y="3291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28816" y="32369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назву дві невидимі категорії відмов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66928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653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6916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у коді застосунку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«потім перенесемо» — не перенесете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603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7340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5603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на одному запиті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готовність — це чотири питання, а не скріншот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4290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027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4290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«Логи — коли зламається»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тоді дивитися буде нікуди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42976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4714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471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2976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провайдери одразу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спочатку один контур наскрізь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1663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3400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1663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Реальний ключ з першого дня   </a:t>
            </a:r>
            <a:pPr indent="0" marL="0">
              <a:buNone/>
            </a:pPr>
            <a:r>
              <a:rPr lang="en-US" sz="12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mock видно механіку, там — лише рахунок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пройти 5 обов'язкових кроків лабораторної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витримати чек-лист «перевір себе»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переглянути гайд для студента по діагоналі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2377440"/>
          </a:xfrm>
          <a:prstGeom prst="roundRect">
            <a:avLst>
              <a:gd name="adj" fmla="val 4615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377440"/>
            <a:ext cx="4946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підняти розширений профіль стека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якщо є свій ключ — поставити ліміт витрат у кабінеті провайдера (ключ поки не підключати)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34340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526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1 — здається після уроку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937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Логування + prompt registry. Тиждень здається одним PR у своєму репозиторії;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— не «працює»: гроші, надійність, якість і видимість потребують власного контуру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 виклику однаковий у всіх: messages, параметри, finish_reason, usage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перевіряємо властивості, а не рядки; latency читаємо разом із довжиною відповіді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 вирішує — адаптер виконує; ключ живе тільки в gateway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log — рядок, з якого виростає весь курс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2 · Prompt lifecycle: промпт як production-артефакт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Сьогодні ваш системний промпт захардкоджений у коді — і це остання доба, коли це прийнятно. Далі: версії, promote і rollback; що стається з якістю, коли «маленьку правку промпта» викочують без сліду; і як зробити відкат за секунди замість розкопок «а як там було вчора».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 · LLMOps і архітектура production LLM-системи</dc:title>
  <dc:subject>PptxGenJS Presentation</dc:subject>
  <dc:creator>LLMOps Bootcamp</dc:creator>
  <cp:lastModifiedBy>LLMOps Bootcamp</cp:lastModifiedBy>
  <cp:revision>1</cp:revision>
  <dcterms:created xsi:type="dcterms:W3CDTF">2026-08-10T11:41:00Z</dcterms:created>
  <dcterms:modified xsi:type="dcterms:W3CDTF">2026-08-10T11:41:00Z</dcterms:modified>
</cp:coreProperties>
</file>