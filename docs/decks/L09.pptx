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notesMasterIdLst>
    <p:notesMasterId r:id="rId2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notesMaster" Target="notesMasters/notesMaster1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1000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09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9098280" y="1234440"/>
            <a:ext cx="2743200" cy="2743200"/>
          </a:xfrm>
          <a:prstGeom prst="roundRect">
            <a:avLst>
              <a:gd name="adj" fmla="val 5333"/>
            </a:avLst>
          </a:prstGeom>
          <a:ln w="12700">
            <a:solidFill>
              <a:srgbClr val="C9B8FB">
                <a:alpha val="24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482328" y="1618488"/>
            <a:ext cx="1975104" cy="1975104"/>
          </a:xfrm>
          <a:prstGeom prst="roundRect">
            <a:avLst>
              <a:gd name="adj" fmla="val 7407"/>
            </a:avLst>
          </a:prstGeom>
          <a:ln w="12700">
            <a:solidFill>
              <a:srgbClr val="C9B8FB">
                <a:alpha val="42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66376" y="2002536"/>
            <a:ext cx="1207008" cy="1207008"/>
          </a:xfrm>
          <a:prstGeom prst="roundRect">
            <a:avLst>
              <a:gd name="adj" fmla="val 12121"/>
            </a:avLst>
          </a:prstGeom>
          <a:ln w="12700">
            <a:solidFill>
              <a:srgbClr val="C9B8FB">
                <a:alpha val="66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554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ТИЖДЕНЬ 5 · УРОК 9 З 12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66928" y="1965960"/>
            <a:ext cx="8229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Observability</a:t>
            </a:r>
            <a:endParaRPr lang="en-US" sz="40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для LLM-систем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566928" y="411480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C9B8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Uptime зелений, користувачі нещасні. Сьогодні консоль оживає повністю: p95 і error rate з власного лога, cache-hit і fallback з лічильників — і вміння бачити інциденти без жодної помилки.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66928" y="5806440"/>
            <a:ext cx="1646834" cy="310896"/>
          </a:xfrm>
          <a:prstGeom prst="roundRect">
            <a:avLst>
              <a:gd name="adj" fmla="val 50000"/>
            </a:avLst>
          </a:prstGeom>
          <a:ln w="12700">
            <a:solidFill>
              <a:srgbClr val="C9B8FB">
                <a:alpha val="60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5806440"/>
            <a:ext cx="164683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W1 Основа + промпти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2323490" y="5806440"/>
            <a:ext cx="1502359" cy="310896"/>
          </a:xfrm>
          <a:prstGeom prst="roundRect">
            <a:avLst>
              <a:gd name="adj" fmla="val 50000"/>
            </a:avLst>
          </a:prstGeom>
          <a:ln w="12700">
            <a:solidFill>
              <a:srgbClr val="C9B8FB">
                <a:alpha val="6000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323490" y="5806440"/>
            <a:ext cx="150235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W2 Routing + cost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935578" y="5806440"/>
            <a:ext cx="1285646" cy="310896"/>
          </a:xfrm>
          <a:prstGeom prst="roundRect">
            <a:avLst>
              <a:gd name="adj" fmla="val 50000"/>
            </a:avLst>
          </a:prstGeom>
          <a:ln w="12700">
            <a:solidFill>
              <a:srgbClr val="C9B8FB">
                <a:alpha val="6000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935578" y="5806440"/>
            <a:ext cx="128564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W3 Кеш + tools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5330952" y="5806440"/>
            <a:ext cx="1935785" cy="310896"/>
          </a:xfrm>
          <a:prstGeom prst="roundRect">
            <a:avLst>
              <a:gd name="adj" fmla="val 50000"/>
            </a:avLst>
          </a:prstGeom>
          <a:ln w="12700">
            <a:solidFill>
              <a:srgbClr val="C9B8FB">
                <a:alpha val="6000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330952" y="5806440"/>
            <a:ext cx="193578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W4 Надійність + безпека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7376465" y="5806440"/>
            <a:ext cx="2008022" cy="310896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18" name="Text 16"/>
          <p:cNvSpPr/>
          <p:nvPr/>
        </p:nvSpPr>
        <p:spPr>
          <a:xfrm>
            <a:off x="7376465" y="5806440"/>
            <a:ext cx="20080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W5 Observability + evals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9494215" y="5806440"/>
            <a:ext cx="1213409" cy="310896"/>
          </a:xfrm>
          <a:prstGeom prst="roundRect">
            <a:avLst>
              <a:gd name="adj" fmla="val 50000"/>
            </a:avLst>
          </a:prstGeom>
          <a:ln w="12700">
            <a:solidFill>
              <a:srgbClr val="C9B8FB">
                <a:alpha val="6000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494215" y="5806440"/>
            <a:ext cx="121340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W6 CI + фінал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ви зможете після уроку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66928" y="1005840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П'ять дій, які перевірите руками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66928" y="1271016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27101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6809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Порахувати p95 і error rate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одним SQL по власному логу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27024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447141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447141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498348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Оживити всі шість плиток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447141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цифри звірені з SQL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797356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817473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817473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868680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Пояснити, чому p95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817473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 не середнє — і чому перцентилі не усереднюються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566928" y="352044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768096" y="37033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768096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1280160" y="36758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Відтворити тихий інцидент</a:t>
            </a:r>
            <a:endParaRPr lang="en-US" sz="1450" dirty="0"/>
          </a:p>
        </p:txBody>
      </p:sp>
      <p:sp>
        <p:nvSpPr>
          <p:cNvPr id="26" name="Text 23"/>
          <p:cNvSpPr/>
          <p:nvPr/>
        </p:nvSpPr>
        <p:spPr>
          <a:xfrm>
            <a:off x="768096" y="420624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fallback росте без жодного 500 користувачу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4270248" y="352044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4471416" y="37033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9" name="Text 26"/>
          <p:cNvSpPr/>
          <p:nvPr/>
        </p:nvSpPr>
        <p:spPr>
          <a:xfrm>
            <a:off x="4471416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4983480" y="36758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Сформулювати SLO</a:t>
            </a:r>
            <a:endParaRPr lang="en-US" sz="1450" dirty="0"/>
          </a:p>
        </p:txBody>
      </p:sp>
      <p:sp>
        <p:nvSpPr>
          <p:cNvPr id="31" name="Text 28"/>
          <p:cNvSpPr/>
          <p:nvPr/>
        </p:nvSpPr>
        <p:spPr>
          <a:xfrm>
            <a:off x="4471416" y="420624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 порахувати тижневий бюджет помилок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Маршрут на сьогодні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6809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128016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Тихі інциденти й чотири виміри</a:t>
            </a:r>
            <a:endParaRPr lang="en-US" sz="1450" dirty="0"/>
          </a:p>
        </p:txBody>
      </p:sp>
      <p:sp>
        <p:nvSpPr>
          <p:cNvPr id="10" name="Shape 7"/>
          <p:cNvSpPr/>
          <p:nvPr/>
        </p:nvSpPr>
        <p:spPr>
          <a:xfrm>
            <a:off x="427024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47141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2" name="Text 9"/>
          <p:cNvSpPr/>
          <p:nvPr/>
        </p:nvSpPr>
        <p:spPr>
          <a:xfrm>
            <a:off x="447141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498348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Лог-рядок = джерело всього</a:t>
            </a:r>
            <a:endParaRPr lang="en-US" sz="1450" dirty="0"/>
          </a:p>
        </p:txBody>
      </p:sp>
      <p:sp>
        <p:nvSpPr>
          <p:cNvPr id="14" name="Shape 11"/>
          <p:cNvSpPr/>
          <p:nvPr/>
        </p:nvSpPr>
        <p:spPr>
          <a:xfrm>
            <a:off x="797356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817473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6" name="Text 13"/>
          <p:cNvSpPr/>
          <p:nvPr/>
        </p:nvSpPr>
        <p:spPr>
          <a:xfrm>
            <a:off x="817473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868680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p95, не середнє</a:t>
            </a:r>
            <a:endParaRPr lang="en-US" sz="1450" dirty="0"/>
          </a:p>
        </p:txBody>
      </p:sp>
      <p:sp>
        <p:nvSpPr>
          <p:cNvPr id="18" name="Shape 15"/>
          <p:cNvSpPr/>
          <p:nvPr/>
        </p:nvSpPr>
        <p:spPr>
          <a:xfrm>
            <a:off x="56692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76809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76809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128016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Розтин /observability</a:t>
            </a:r>
            <a:endParaRPr lang="en-US" sz="1450" dirty="0"/>
          </a:p>
        </p:txBody>
      </p:sp>
      <p:sp>
        <p:nvSpPr>
          <p:cNvPr id="22" name="Shape 19"/>
          <p:cNvSpPr/>
          <p:nvPr/>
        </p:nvSpPr>
        <p:spPr>
          <a:xfrm>
            <a:off x="427024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447141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447141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498348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/providers і шість плиток</a:t>
            </a:r>
            <a:endParaRPr lang="en-US" sz="1450" dirty="0"/>
          </a:p>
        </p:txBody>
      </p:sp>
      <p:sp>
        <p:nvSpPr>
          <p:cNvPr id="26" name="Shape 23"/>
          <p:cNvSpPr/>
          <p:nvPr/>
        </p:nvSpPr>
        <p:spPr>
          <a:xfrm>
            <a:off x="797356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817473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8" name="Text 25"/>
          <p:cNvSpPr/>
          <p:nvPr/>
        </p:nvSpPr>
        <p:spPr>
          <a:xfrm>
            <a:off x="817473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1200" dirty="0"/>
          </a:p>
        </p:txBody>
      </p:sp>
      <p:sp>
        <p:nvSpPr>
          <p:cNvPr id="29" name="Text 26"/>
          <p:cNvSpPr/>
          <p:nvPr/>
        </p:nvSpPr>
        <p:spPr>
          <a:xfrm>
            <a:off x="868680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Тренд важливіший за снапшот</a:t>
            </a:r>
            <a:endParaRPr lang="en-US" sz="1450" dirty="0"/>
          </a:p>
        </p:txBody>
      </p:sp>
      <p:sp>
        <p:nvSpPr>
          <p:cNvPr id="30" name="Shape 27"/>
          <p:cNvSpPr/>
          <p:nvPr/>
        </p:nvSpPr>
        <p:spPr>
          <a:xfrm>
            <a:off x="56692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76809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2" name="Text 29"/>
          <p:cNvSpPr/>
          <p:nvPr/>
        </p:nvSpPr>
        <p:spPr>
          <a:xfrm>
            <a:off x="76809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1200" dirty="0"/>
          </a:p>
        </p:txBody>
      </p:sp>
      <p:sp>
        <p:nvSpPr>
          <p:cNvPr id="33" name="Text 30"/>
          <p:cNvSpPr/>
          <p:nvPr/>
        </p:nvSpPr>
        <p:spPr>
          <a:xfrm>
            <a:off x="128016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SLI, SLO, бюджет помилок</a:t>
            </a:r>
            <a:endParaRPr lang="en-US" sz="1450" dirty="0"/>
          </a:p>
        </p:txBody>
      </p:sp>
      <p:sp>
        <p:nvSpPr>
          <p:cNvPr id="34" name="Shape 31"/>
          <p:cNvSpPr/>
          <p:nvPr/>
        </p:nvSpPr>
        <p:spPr>
          <a:xfrm>
            <a:off x="427024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8F0E2"/>
          </a:solidFill>
          <a:ln/>
        </p:spPr>
      </p:sp>
      <p:sp>
        <p:nvSpPr>
          <p:cNvPr id="35" name="Shape 32"/>
          <p:cNvSpPr/>
          <p:nvPr/>
        </p:nvSpPr>
        <p:spPr>
          <a:xfrm>
            <a:off x="4471416" y="3931920"/>
            <a:ext cx="384048" cy="384048"/>
          </a:xfrm>
          <a:prstGeom prst="ellipse">
            <a:avLst/>
          </a:prstGeom>
          <a:solidFill>
            <a:srgbClr val="9A5B12"/>
          </a:solidFill>
          <a:ln/>
        </p:spPr>
      </p:sp>
      <p:sp>
        <p:nvSpPr>
          <p:cNvPr id="36" name="Text 33"/>
          <p:cNvSpPr/>
          <p:nvPr/>
        </p:nvSpPr>
        <p:spPr>
          <a:xfrm>
            <a:off x="447141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8F0E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1200" dirty="0"/>
          </a:p>
        </p:txBody>
      </p:sp>
      <p:sp>
        <p:nvSpPr>
          <p:cNvPr id="37" name="Text 34"/>
          <p:cNvSpPr/>
          <p:nvPr/>
        </p:nvSpPr>
        <p:spPr>
          <a:xfrm>
            <a:off x="498348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Таксономія помилок · опційно</a:t>
            </a:r>
            <a:endParaRPr lang="en-US" sz="1450" dirty="0"/>
          </a:p>
        </p:txBody>
      </p:sp>
      <p:sp>
        <p:nvSpPr>
          <p:cNvPr id="38" name="Shape 35"/>
          <p:cNvSpPr/>
          <p:nvPr/>
        </p:nvSpPr>
        <p:spPr>
          <a:xfrm>
            <a:off x="797356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817473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0" name="Text 37"/>
          <p:cNvSpPr/>
          <p:nvPr/>
        </p:nvSpPr>
        <p:spPr>
          <a:xfrm>
            <a:off x="817473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1200" dirty="0"/>
          </a:p>
        </p:txBody>
      </p:sp>
      <p:sp>
        <p:nvSpPr>
          <p:cNvPr id="41" name="Text 38"/>
          <p:cNvSpPr/>
          <p:nvPr/>
        </p:nvSpPr>
        <p:spPr>
          <a:xfrm>
            <a:off x="868680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Трейс, спани, PII в лозі</a:t>
            </a:r>
            <a:endParaRPr lang="en-US" sz="1450" dirty="0"/>
          </a:p>
        </p:txBody>
      </p:sp>
      <p:sp>
        <p:nvSpPr>
          <p:cNvPr id="42" name="Shape 39"/>
          <p:cNvSpPr/>
          <p:nvPr/>
        </p:nvSpPr>
        <p:spPr>
          <a:xfrm>
            <a:off x="56692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76809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4" name="Text 41"/>
          <p:cNvSpPr/>
          <p:nvPr/>
        </p:nvSpPr>
        <p:spPr>
          <a:xfrm>
            <a:off x="76809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200" dirty="0"/>
          </a:p>
        </p:txBody>
      </p:sp>
      <p:sp>
        <p:nvSpPr>
          <p:cNvPr id="45" name="Text 42"/>
          <p:cNvSpPr/>
          <p:nvPr/>
        </p:nvSpPr>
        <p:spPr>
          <a:xfrm>
            <a:off x="128016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продукті чи індустріальний стек</a:t>
            </a:r>
            <a:endParaRPr lang="en-US" sz="1450" dirty="0"/>
          </a:p>
        </p:txBody>
      </p:sp>
      <p:sp>
        <p:nvSpPr>
          <p:cNvPr id="46" name="Shape 43"/>
          <p:cNvSpPr/>
          <p:nvPr/>
        </p:nvSpPr>
        <p:spPr>
          <a:xfrm>
            <a:off x="427024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47" name="Shape 44"/>
          <p:cNvSpPr/>
          <p:nvPr/>
        </p:nvSpPr>
        <p:spPr>
          <a:xfrm>
            <a:off x="447141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8" name="Text 45"/>
          <p:cNvSpPr/>
          <p:nvPr/>
        </p:nvSpPr>
        <p:spPr>
          <a:xfrm>
            <a:off x="447141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1200" dirty="0"/>
          </a:p>
        </p:txBody>
      </p:sp>
      <p:sp>
        <p:nvSpPr>
          <p:cNvPr id="49" name="Text 46"/>
          <p:cNvSpPr/>
          <p:nvPr/>
        </p:nvSpPr>
        <p:spPr>
          <a:xfrm>
            <a:off x="498348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Лабораторна</a:t>
            </a:r>
            <a:endParaRPr lang="en-US" sz="1450" dirty="0"/>
          </a:p>
        </p:txBody>
      </p:sp>
      <p:sp>
        <p:nvSpPr>
          <p:cNvPr id="50" name="Shape 47"/>
          <p:cNvSpPr/>
          <p:nvPr/>
        </p:nvSpPr>
        <p:spPr>
          <a:xfrm>
            <a:off x="797356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817473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52" name="Text 49"/>
          <p:cNvSpPr/>
          <p:nvPr/>
        </p:nvSpPr>
        <p:spPr>
          <a:xfrm>
            <a:off x="817473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</a:t>
            </a:r>
            <a:endParaRPr lang="en-US" sz="1200" dirty="0"/>
          </a:p>
        </p:txBody>
      </p:sp>
      <p:sp>
        <p:nvSpPr>
          <p:cNvPr id="53" name="Text 50"/>
          <p:cNvSpPr/>
          <p:nvPr/>
        </p:nvSpPr>
        <p:spPr>
          <a:xfrm>
            <a:off x="868680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Антипатерни</a:t>
            </a:r>
            <a:endParaRPr lang="en-US" sz="1450" dirty="0"/>
          </a:p>
        </p:txBody>
      </p:sp>
      <p:sp>
        <p:nvSpPr>
          <p:cNvPr id="54" name="Shape 51"/>
          <p:cNvSpPr/>
          <p:nvPr/>
        </p:nvSpPr>
        <p:spPr>
          <a:xfrm>
            <a:off x="566928" y="5779008"/>
            <a:ext cx="11064240" cy="402336"/>
          </a:xfrm>
          <a:prstGeom prst="roundRect">
            <a:avLst>
              <a:gd name="adj" fmla="val 27273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55" name="Text 52"/>
          <p:cNvSpPr/>
          <p:nvPr/>
        </p:nvSpPr>
        <p:spPr>
          <a:xfrm>
            <a:off x="786384" y="5925312"/>
            <a:ext cx="1062532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 «усе зелене» — до системи, у якій видно те, що не дає помилок.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Терміни, якими користуватимемось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66928" y="1005840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Шість слів сьогоднішнього уроку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66928" y="1271016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27101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49808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p95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49808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час, у який вкладаються 95% запитів — досвід найневдаліших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4322064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504944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error rate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4504944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частка запитів, що завершилися не-200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8077200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260080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cache-hit / fallback</a:t>
            </a:r>
            <a:endParaRPr lang="en-US" sz="1250" dirty="0"/>
          </a:p>
        </p:txBody>
      </p:sp>
      <p:sp>
        <p:nvSpPr>
          <p:cNvPr id="15" name="Text 12"/>
          <p:cNvSpPr/>
          <p:nvPr/>
        </p:nvSpPr>
        <p:spPr>
          <a:xfrm>
            <a:off x="8260080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власні лічильники з уроків 5 і 7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566928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49808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SLI / SLO</a:t>
            </a:r>
            <a:endParaRPr lang="en-US" sz="1250" dirty="0"/>
          </a:p>
        </p:txBody>
      </p:sp>
      <p:sp>
        <p:nvSpPr>
          <p:cNvPr id="18" name="Text 15"/>
          <p:cNvSpPr/>
          <p:nvPr/>
        </p:nvSpPr>
        <p:spPr>
          <a:xfrm>
            <a:off x="749808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показник, який міряємо — і цільове значення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4322064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4504944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бюджет помилок</a:t>
            </a:r>
            <a:endParaRPr lang="en-US" sz="1250" dirty="0"/>
          </a:p>
        </p:txBody>
      </p:sp>
      <p:sp>
        <p:nvSpPr>
          <p:cNvPr id="21" name="Text 18"/>
          <p:cNvSpPr/>
          <p:nvPr/>
        </p:nvSpPr>
        <p:spPr>
          <a:xfrm>
            <a:off x="4504944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скільки невдач дозволено в межах SLO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8077200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260080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тихий інцидент</a:t>
            </a:r>
            <a:endParaRPr lang="en-US" sz="1250" dirty="0"/>
          </a:p>
        </p:txBody>
      </p:sp>
      <p:sp>
        <p:nvSpPr>
          <p:cNvPr id="24" name="Text 21"/>
          <p:cNvSpPr/>
          <p:nvPr/>
        </p:nvSpPr>
        <p:spPr>
          <a:xfrm>
            <a:off x="8260080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збій без жодної помилки користувачу</a:t>
            </a:r>
            <a:endParaRPr lang="en-US" sz="1150" dirty="0"/>
          </a:p>
        </p:txBody>
      </p:sp>
      <p:sp>
        <p:nvSpPr>
          <p:cNvPr id="25" name="Shape 22"/>
          <p:cNvSpPr/>
          <p:nvPr/>
        </p:nvSpPr>
        <p:spPr>
          <a:xfrm>
            <a:off x="566928" y="4526280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86384" y="4672584"/>
            <a:ext cx="10625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Кожне побачимо в коді — тут вони лише щоб не спотикатися.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Тихі інциденти: все зелене — все погано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BE9E9"/>
          </a:solidFill>
          <a:ln/>
        </p:spPr>
      </p:sp>
      <p:sp>
        <p:nvSpPr>
          <p:cNvPr id="8" name="Shape 5"/>
          <p:cNvSpPr/>
          <p:nvPr/>
        </p:nvSpPr>
        <p:spPr>
          <a:xfrm>
            <a:off x="768096" y="1920240"/>
            <a:ext cx="384048" cy="384048"/>
          </a:xfrm>
          <a:prstGeom prst="ellipse">
            <a:avLst/>
          </a:prstGeom>
          <a:solidFill>
            <a:srgbClr val="C62A2A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BE9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Якість просіла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242316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після зміни промпта — HTTP 200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270248" y="173736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BE9E9"/>
          </a:solidFill>
          <a:ln/>
        </p:spPr>
      </p:sp>
      <p:sp>
        <p:nvSpPr>
          <p:cNvPr id="13" name="Shape 10"/>
          <p:cNvSpPr/>
          <p:nvPr/>
        </p:nvSpPr>
        <p:spPr>
          <a:xfrm>
            <a:off x="4471416" y="1920240"/>
            <a:ext cx="384048" cy="384048"/>
          </a:xfrm>
          <a:prstGeom prst="ellipse">
            <a:avLst/>
          </a:prstGeom>
          <a:solidFill>
            <a:srgbClr val="C62A2A"/>
          </a:solidFill>
          <a:ln/>
        </p:spPr>
      </p:sp>
      <p:sp>
        <p:nvSpPr>
          <p:cNvPr id="14" name="Text 11"/>
          <p:cNvSpPr/>
          <p:nvPr/>
        </p:nvSpPr>
        <p:spPr>
          <a:xfrm>
            <a:off x="447141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BE9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498348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Вартість ×3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4471416" y="242316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хтось зламав ключ кешу — HTTP 200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7973568" y="173736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BE9E9"/>
          </a:solidFill>
          <a:ln/>
        </p:spPr>
      </p:sp>
      <p:sp>
        <p:nvSpPr>
          <p:cNvPr id="18" name="Shape 15"/>
          <p:cNvSpPr/>
          <p:nvPr/>
        </p:nvSpPr>
        <p:spPr>
          <a:xfrm>
            <a:off x="8174736" y="1920240"/>
            <a:ext cx="384048" cy="384048"/>
          </a:xfrm>
          <a:prstGeom prst="ellipse">
            <a:avLst/>
          </a:prstGeom>
          <a:solidFill>
            <a:srgbClr val="C62A2A"/>
          </a:solidFill>
          <a:ln/>
        </p:spPr>
      </p:sp>
      <p:sp>
        <p:nvSpPr>
          <p:cNvPr id="19" name="Text 16"/>
          <p:cNvSpPr/>
          <p:nvPr/>
        </p:nvSpPr>
        <p:spPr>
          <a:xfrm>
            <a:off x="817473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BE9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868680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Трафік поповз на слабшу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8174736" y="242316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працює fallback — HTTP 200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566928" y="3520440"/>
            <a:ext cx="2423160" cy="713232"/>
          </a:xfrm>
          <a:prstGeom prst="roundRect">
            <a:avLst>
              <a:gd name="adj" fmla="val 12821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621792" y="3520440"/>
            <a:ext cx="23134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113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доступність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3081528" y="3877056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 rot="5400000">
            <a:off x="3209544" y="3808476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26" name="Shape 23"/>
          <p:cNvSpPr/>
          <p:nvPr/>
        </p:nvSpPr>
        <p:spPr>
          <a:xfrm>
            <a:off x="3447288" y="3520440"/>
            <a:ext cx="2423160" cy="713232"/>
          </a:xfrm>
          <a:prstGeom prst="roundRect">
            <a:avLst>
              <a:gd name="adj" fmla="val 12821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3502152" y="3520440"/>
            <a:ext cx="23134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113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latency</a:t>
            </a:r>
            <a:endParaRPr lang="en-US" sz="1100" dirty="0"/>
          </a:p>
        </p:txBody>
      </p:sp>
      <p:sp>
        <p:nvSpPr>
          <p:cNvPr id="28" name="Shape 25"/>
          <p:cNvSpPr/>
          <p:nvPr/>
        </p:nvSpPr>
        <p:spPr>
          <a:xfrm>
            <a:off x="5961888" y="3877056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 rot="5400000">
            <a:off x="6089904" y="3808476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30" name="Shape 27"/>
          <p:cNvSpPr/>
          <p:nvPr/>
        </p:nvSpPr>
        <p:spPr>
          <a:xfrm>
            <a:off x="6327648" y="3520440"/>
            <a:ext cx="2423160" cy="713232"/>
          </a:xfrm>
          <a:prstGeom prst="roundRect">
            <a:avLst>
              <a:gd name="adj" fmla="val 12821"/>
            </a:avLst>
          </a:prstGeom>
          <a:solidFill>
            <a:srgbClr val="EFEAFE"/>
          </a:solidFill>
          <a:ln/>
        </p:spPr>
      </p:sp>
      <p:sp>
        <p:nvSpPr>
          <p:cNvPr id="31" name="Text 28"/>
          <p:cNvSpPr/>
          <p:nvPr/>
        </p:nvSpPr>
        <p:spPr>
          <a:xfrm>
            <a:off x="6382512" y="3520440"/>
            <a:ext cx="23134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вартість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8842248" y="3877056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 rot="5400000">
            <a:off x="8970264" y="3808476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34" name="Shape 31"/>
          <p:cNvSpPr/>
          <p:nvPr/>
        </p:nvSpPr>
        <p:spPr>
          <a:xfrm>
            <a:off x="9208008" y="3520440"/>
            <a:ext cx="2423160" cy="713232"/>
          </a:xfrm>
          <a:prstGeom prst="roundRect">
            <a:avLst>
              <a:gd name="adj" fmla="val 12821"/>
            </a:avLst>
          </a:prstGeom>
          <a:solidFill>
            <a:srgbClr val="EFEAFE"/>
          </a:solidFill>
          <a:ln/>
        </p:spPr>
      </p:sp>
      <p:sp>
        <p:nvSpPr>
          <p:cNvPr id="35" name="Text 32"/>
          <p:cNvSpPr/>
          <p:nvPr/>
        </p:nvSpPr>
        <p:spPr>
          <a:xfrm>
            <a:off x="9262872" y="3520440"/>
            <a:ext cx="23134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якість / поведінка</a:t>
            </a:r>
            <a:endParaRPr lang="en-US" sz="1100" dirty="0"/>
          </a:p>
        </p:txBody>
      </p:sp>
      <p:sp>
        <p:nvSpPr>
          <p:cNvPr id="36" name="Text 33"/>
          <p:cNvSpPr/>
          <p:nvPr/>
        </p:nvSpPr>
        <p:spPr>
          <a:xfrm>
            <a:off x="566928" y="43434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9AA1A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перші два виміри знайомі з веб-сервісів; другі два — власне LLMOps</a:t>
            </a:r>
            <a:endParaRPr lang="en-US" sz="1150" dirty="0"/>
          </a:p>
        </p:txBody>
      </p:sp>
      <p:sp>
        <p:nvSpPr>
          <p:cNvPr id="37" name="Shape 34"/>
          <p:cNvSpPr/>
          <p:nvPr/>
        </p:nvSpPr>
        <p:spPr>
          <a:xfrm>
            <a:off x="566928" y="480060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5A05F4"/>
          </a:solidFill>
          <a:ln/>
        </p:spPr>
      </p:sp>
      <p:sp>
        <p:nvSpPr>
          <p:cNvPr id="38" name="Text 35"/>
          <p:cNvSpPr/>
          <p:nvPr/>
        </p:nvSpPr>
        <p:spPr>
          <a:xfrm>
            <a:off x="786384" y="49286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 ЦЕЙ ШАР</a:t>
            </a:r>
            <a:endParaRPr lang="en-US" sz="950" dirty="0"/>
          </a:p>
        </p:txBody>
      </p:sp>
      <p:sp>
        <p:nvSpPr>
          <p:cNvPr id="39" name="Text 36"/>
          <p:cNvSpPr/>
          <p:nvPr/>
        </p:nvSpPr>
        <p:spPr>
          <a:xfrm>
            <a:off x="786384" y="5184648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Механізми чотирьох тижнів працюють — сьогодні вони стають видимими цифрами.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Один лог-рядок — джерело всього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F5F4FA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86384" y="1883664"/>
            <a:ext cx="10625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requests: request_id · model · prompt_version · latency_ms · tokens · cost_usd · status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566928" y="283464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EFEAFE"/>
          </a:solidFill>
          <a:ln/>
        </p:spPr>
      </p:sp>
      <p:sp>
        <p:nvSpPr>
          <p:cNvPr id="10" name="Shape 7"/>
          <p:cNvSpPr/>
          <p:nvPr/>
        </p:nvSpPr>
        <p:spPr>
          <a:xfrm>
            <a:off x="768096" y="30175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8"/>
          <p:cNvSpPr/>
          <p:nvPr/>
        </p:nvSpPr>
        <p:spPr>
          <a:xfrm>
            <a:off x="768096" y="3017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FEA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1280160" y="29900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Трейс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768096" y="3520440"/>
            <a:ext cx="31181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 request_id відновлюється шлях: яка модель, яка версія, скільки тривало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4270248" y="283464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EFEAFE"/>
          </a:solidFill>
          <a:ln/>
        </p:spPr>
      </p:sp>
      <p:sp>
        <p:nvSpPr>
          <p:cNvPr id="15" name="Shape 12"/>
          <p:cNvSpPr/>
          <p:nvPr/>
        </p:nvSpPr>
        <p:spPr>
          <a:xfrm>
            <a:off x="4471416" y="30175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6" name="Text 13"/>
          <p:cNvSpPr/>
          <p:nvPr/>
        </p:nvSpPr>
        <p:spPr>
          <a:xfrm>
            <a:off x="4471416" y="3017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FEA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983480" y="29900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Метрика</a:t>
            </a:r>
            <a:endParaRPr lang="en-US" sz="1450" dirty="0"/>
          </a:p>
        </p:txBody>
      </p:sp>
      <p:sp>
        <p:nvSpPr>
          <p:cNvPr id="18" name="Text 15"/>
          <p:cNvSpPr/>
          <p:nvPr/>
        </p:nvSpPr>
        <p:spPr>
          <a:xfrm>
            <a:off x="4471416" y="3520440"/>
            <a:ext cx="31181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p95 по latency_ms, error rate як частка не-200, сума cost_usd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7973568" y="283464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EFEAFE"/>
          </a:solidFill>
          <a:ln/>
        </p:spPr>
      </p:sp>
      <p:sp>
        <p:nvSpPr>
          <p:cNvPr id="20" name="Shape 17"/>
          <p:cNvSpPr/>
          <p:nvPr/>
        </p:nvSpPr>
        <p:spPr>
          <a:xfrm>
            <a:off x="8174736" y="30175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1" name="Text 18"/>
          <p:cNvSpPr/>
          <p:nvPr/>
        </p:nvSpPr>
        <p:spPr>
          <a:xfrm>
            <a:off x="8174736" y="3017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FEA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8686800" y="29900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Аудит</a:t>
            </a:r>
            <a:endParaRPr lang="en-US" sz="1450" dirty="0"/>
          </a:p>
        </p:txBody>
      </p:sp>
      <p:sp>
        <p:nvSpPr>
          <p:cNvPr id="23" name="Text 20"/>
          <p:cNvSpPr/>
          <p:nvPr/>
        </p:nvSpPr>
        <p:spPr>
          <a:xfrm>
            <a:off x="8174736" y="3520440"/>
            <a:ext cx="31181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хто, коли, якою версією, з яким результатом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566928" y="461772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E9F4EF"/>
          </a:solidFill>
          <a:ln/>
        </p:spPr>
      </p:sp>
      <p:sp>
        <p:nvSpPr>
          <p:cNvPr id="25" name="Text 22"/>
          <p:cNvSpPr/>
          <p:nvPr/>
        </p:nvSpPr>
        <p:spPr>
          <a:xfrm>
            <a:off x="786384" y="4764024"/>
            <a:ext cx="10625328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Ніякої магії: жодного окремого «стека спостережуваності» для ядра — SQL по таблиці, яку ви й так пишете. Лог, закладений заздалегідь, — різниця між «подивімось» і «даних немає».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Новий зріз = нова колонка, не нова система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37360"/>
          <a:ext cx="676656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2194560"/>
                <a:gridCol w="219456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9AA1A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зріз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9AA1A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груп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9AA1A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агрегувати?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B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B8A5A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моделі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4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одиниці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4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так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4E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B8A5A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версії промпта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4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десятки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4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так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4E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9A5B12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тенанти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0E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сотні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0E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вже на межі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0E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C62A2A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user_id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мільйони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ні — лише для трейсів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9"/>
                    </a:solidFill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7635240" y="1737360"/>
            <a:ext cx="3995928" cy="2743200"/>
          </a:xfrm>
          <a:prstGeom prst="roundRect">
            <a:avLst>
              <a:gd name="adj" fmla="val 4000"/>
            </a:avLst>
          </a:prstGeom>
          <a:solidFill>
            <a:srgbClr val="5A05F4"/>
          </a:solidFill>
          <a:ln/>
        </p:spPr>
      </p:sp>
      <p:sp>
        <p:nvSpPr>
          <p:cNvPr id="9" name="Text 5"/>
          <p:cNvSpPr/>
          <p:nvPr/>
        </p:nvSpPr>
        <p:spPr>
          <a:xfrm>
            <a:off x="7854696" y="1865376"/>
            <a:ext cx="35570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10" name="Text 6"/>
          <p:cNvSpPr/>
          <p:nvPr/>
        </p:nvSpPr>
        <p:spPr>
          <a:xfrm>
            <a:off x="7854696" y="2121408"/>
            <a:ext cx="3557016" cy="2231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Колонка в момент події — безкоштовний GROUP BY. Через місяць — даних уже немає.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566928" y="475488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786384" y="4901184"/>
            <a:ext cx="10625328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Зріз по тенантах — додайте tenant_id у лог-рядок у момент запиту.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p95, не середнє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3566160" cy="1463040"/>
          </a:xfrm>
          <a:prstGeom prst="roundRect">
            <a:avLst>
              <a:gd name="adj" fmla="val 7500"/>
            </a:avLst>
          </a:prstGeom>
          <a:solidFill>
            <a:srgbClr val="E9F4EF"/>
          </a:solidFill>
          <a:ln/>
        </p:spPr>
      </p:sp>
      <p:sp>
        <p:nvSpPr>
          <p:cNvPr id="8" name="Text 5"/>
          <p:cNvSpPr/>
          <p:nvPr/>
        </p:nvSpPr>
        <p:spPr>
          <a:xfrm>
            <a:off x="713232" y="1847088"/>
            <a:ext cx="327355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≈ 1.1 с</a:t>
            </a:r>
            <a:endParaRPr lang="en-US" sz="3200" dirty="0"/>
          </a:p>
        </p:txBody>
      </p:sp>
      <p:sp>
        <p:nvSpPr>
          <p:cNvPr id="9" name="Text 6"/>
          <p:cNvSpPr/>
          <p:nvPr/>
        </p:nvSpPr>
        <p:spPr>
          <a:xfrm>
            <a:off x="713232" y="2585923"/>
            <a:ext cx="3273552" cy="5266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середнє — «прийнятно»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4315968" y="1737360"/>
            <a:ext cx="3566160" cy="1463040"/>
          </a:xfrm>
          <a:prstGeom prst="roundRect">
            <a:avLst>
              <a:gd name="adj" fmla="val 7500"/>
            </a:avLst>
          </a:prstGeom>
          <a:solidFill>
            <a:srgbClr val="FBE9E9"/>
          </a:solidFill>
          <a:ln/>
        </p:spPr>
      </p:sp>
      <p:sp>
        <p:nvSpPr>
          <p:cNvPr id="11" name="Text 8"/>
          <p:cNvSpPr/>
          <p:nvPr/>
        </p:nvSpPr>
        <p:spPr>
          <a:xfrm>
            <a:off x="4462272" y="1847088"/>
            <a:ext cx="327355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p95</a:t>
            </a:r>
            <a:endParaRPr lang="en-US" sz="3200" dirty="0"/>
          </a:p>
        </p:txBody>
      </p:sp>
      <p:sp>
        <p:nvSpPr>
          <p:cNvPr id="12" name="Text 9"/>
          <p:cNvSpPr/>
          <p:nvPr/>
        </p:nvSpPr>
        <p:spPr>
          <a:xfrm>
            <a:off x="4462272" y="2585923"/>
            <a:ext cx="3273552" cy="5266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досвід найневдаліших: у хвості живуть скарги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8065008" y="1737360"/>
            <a:ext cx="3566160" cy="1463040"/>
          </a:xfrm>
          <a:prstGeom prst="roundRect">
            <a:avLst>
              <a:gd name="adj" fmla="val 7500"/>
            </a:avLst>
          </a:prstGeom>
          <a:solidFill>
            <a:srgbClr val="F8F0E2"/>
          </a:solidFill>
          <a:ln/>
        </p:spPr>
      </p:sp>
      <p:sp>
        <p:nvSpPr>
          <p:cNvPr id="14" name="Text 11"/>
          <p:cNvSpPr/>
          <p:nvPr/>
        </p:nvSpPr>
        <p:spPr>
          <a:xfrm>
            <a:off x="8211312" y="1847088"/>
            <a:ext cx="327355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p99</a:t>
            </a:r>
            <a:endParaRPr lang="en-US" sz="3200" dirty="0"/>
          </a:p>
        </p:txBody>
      </p:sp>
      <p:sp>
        <p:nvSpPr>
          <p:cNvPr id="15" name="Text 12"/>
          <p:cNvSpPr/>
          <p:nvPr/>
        </p:nvSpPr>
        <p:spPr>
          <a:xfrm>
            <a:off x="8211312" y="2585923"/>
            <a:ext cx="3273552" cy="5266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те саме для найгіршого відсотка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566928" y="342900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FBE9E9"/>
          </a:solidFill>
          <a:ln/>
        </p:spPr>
      </p:sp>
      <p:sp>
        <p:nvSpPr>
          <p:cNvPr id="17" name="Text 14"/>
          <p:cNvSpPr/>
          <p:nvPr/>
        </p:nvSpPr>
        <p:spPr>
          <a:xfrm>
            <a:off x="786384" y="35570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18" name="Text 15"/>
          <p:cNvSpPr/>
          <p:nvPr/>
        </p:nvSpPr>
        <p:spPr>
          <a:xfrm>
            <a:off x="786384" y="3813048"/>
            <a:ext cx="10625328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Середня latency згладить і сплеск, і деградацію. Алерти — на перцентилі.</a:t>
            </a:r>
            <a:endParaRPr lang="en-US" sz="1300" dirty="0"/>
          </a:p>
        </p:txBody>
      </p:sp>
      <p:sp>
        <p:nvSpPr>
          <p:cNvPr id="19" name="Shape 16"/>
          <p:cNvSpPr/>
          <p:nvPr/>
        </p:nvSpPr>
        <p:spPr>
          <a:xfrm>
            <a:off x="566928" y="480060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786384" y="4946904"/>
            <a:ext cx="10625328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Перцентилі не усереднюються: середнє від двох p95 — не p95 за дві години.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Розтин: GET /observability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11064240" cy="1965960"/>
          </a:xfrm>
          <a:prstGeom prst="roundRect">
            <a:avLst>
              <a:gd name="adj" fmla="val 5581"/>
            </a:avLst>
          </a:prstGeom>
          <a:solidFill>
            <a:srgbClr val="F5F4FA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86384" y="1883664"/>
            <a:ext cx="10625328" cy="1673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count(*),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2326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COALESCE(percentile_cont(0.95) WITHIN GROUP (ORDER BY latency_ms), 0),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2326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COALESCE(AVG(CASE WHEN status &lt;&gt; '200' THEN 1.0 ELSE 0 END) * 100, 0)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 requests WHERE created_at::date = CURRENT_DATE;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566928" y="3931920"/>
            <a:ext cx="5349240" cy="1600200"/>
          </a:xfrm>
          <a:prstGeom prst="roundRect">
            <a:avLst>
              <a:gd name="adj" fmla="val 6857"/>
            </a:avLst>
          </a:prstGeom>
          <a:solidFill>
            <a:srgbClr val="E9F4EF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408736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 бази: requests · p95 · error rate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4617720"/>
            <a:ext cx="49469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переживають рестарт, історичні — по них видно тренд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281928" y="3931920"/>
            <a:ext cx="5349240" cy="1600200"/>
          </a:xfrm>
          <a:prstGeom prst="roundRect">
            <a:avLst>
              <a:gd name="adj" fmla="val 6857"/>
            </a:avLst>
          </a:prstGeom>
          <a:solidFill>
            <a:srgbClr val="F8F0E2"/>
          </a:solidFill>
          <a:ln/>
        </p:spPr>
      </p:sp>
      <p:sp>
        <p:nvSpPr>
          <p:cNvPr id="13" name="Text 10"/>
          <p:cNvSpPr/>
          <p:nvPr/>
        </p:nvSpPr>
        <p:spPr>
          <a:xfrm>
            <a:off x="6483096" y="408736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 пам'яті: cache-hit · fallback</a:t>
            </a:r>
            <a:endParaRPr lang="en-US" sz="1450" dirty="0"/>
          </a:p>
        </p:txBody>
      </p:sp>
      <p:sp>
        <p:nvSpPr>
          <p:cNvPr id="14" name="Text 11"/>
          <p:cNvSpPr/>
          <p:nvPr/>
        </p:nvSpPr>
        <p:spPr>
          <a:xfrm>
            <a:off x="6483096" y="4617720"/>
            <a:ext cx="49469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швидкі, але обнуляються з рестартом; кожен ребілд сервісу = рестарт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566928" y="566928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COALESCE — не косметика: на порожній таблиці агрегати дають NULL, і свіжий стек віддає 500 ще до першого запиту.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Плитка — це відповідь на питання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37360"/>
          <a:ext cx="1106424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4937760"/>
                <a:gridCol w="3383280"/>
              </a:tblGrid>
              <a:tr h="4937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9AA1A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плитка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9AA1A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операційне питання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9AA1A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звідки цифра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B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Requests today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яке навантаження зараз?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count по лозі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5A05F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Вартість сьогодні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A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скільки палимо і чи в бюджеті?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A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сума cost_usd (урок 4)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AFE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p95 latency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що бачать найневдаліші користувачі?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перцентиль по лозі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Error rate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яка частка запитів ламається?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частка не-200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5A05F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Cache-hit %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A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чи окупається кеш?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A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лічильники (урок 5)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AFE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Fallback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чи живемо ми на плані Б?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лічильник (урок 7)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566928" y="5303520"/>
            <a:ext cx="11064240" cy="822960"/>
          </a:xfrm>
          <a:prstGeom prst="roundRect">
            <a:avLst>
              <a:gd name="adj" fmla="val 13333"/>
            </a:avLst>
          </a:prstGeom>
          <a:solidFill>
            <a:srgbClr val="E9F4EF"/>
          </a:solidFill>
          <a:ln/>
        </p:spPr>
      </p:sp>
      <p:sp>
        <p:nvSpPr>
          <p:cNvPr id="9" name="Text 5"/>
          <p:cNvSpPr/>
          <p:nvPr/>
        </p:nvSpPr>
        <p:spPr>
          <a:xfrm>
            <a:off x="786384" y="54315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10" name="Text 6"/>
          <p:cNvSpPr/>
          <p:nvPr/>
        </p:nvSpPr>
        <p:spPr>
          <a:xfrm>
            <a:off x="786384" y="5687568"/>
            <a:ext cx="10625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Кожен елемент вітрини відповідає на питання, яке хтось справді ставить. Плитка без питання — прикраса, яку перестають помічати.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GET /providers: статус не має права брехати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2212848" y="1920240"/>
            <a:ext cx="960120" cy="960120"/>
          </a:xfrm>
          <a:prstGeom prst="ellipse">
            <a:avLst/>
          </a:prstGeom>
          <a:solidFill>
            <a:srgbClr val="E9F4EF"/>
          </a:solidFill>
          <a:ln w="19050">
            <a:solidFill>
              <a:srgbClr val="1B8A5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2212848" y="192024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ok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1892808" y="2935224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перший успішний виклик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3246120" y="2400300"/>
            <a:ext cx="1389888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 rot="5400000">
            <a:off x="4599432" y="233172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2" name="Text 9"/>
          <p:cNvSpPr/>
          <p:nvPr/>
        </p:nvSpPr>
        <p:spPr>
          <a:xfrm>
            <a:off x="3172968" y="2016252"/>
            <a:ext cx="1645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 збоїв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4818888" y="1920240"/>
            <a:ext cx="960120" cy="960120"/>
          </a:xfrm>
          <a:prstGeom prst="ellipse">
            <a:avLst/>
          </a:prstGeom>
          <a:solidFill>
            <a:srgbClr val="F8F0E2"/>
          </a:solidFill>
          <a:ln w="19050">
            <a:solidFill>
              <a:srgbClr val="9A5B12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4818888" y="192024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degraded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4498848" y="2935224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поспіль збої в ланцюзі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566928" y="3931920"/>
            <a:ext cx="5349240" cy="1463040"/>
          </a:xfrm>
          <a:prstGeom prst="roundRect">
            <a:avLst>
              <a:gd name="adj" fmla="val 7500"/>
            </a:avLst>
          </a:prstGeom>
          <a:solidFill>
            <a:srgbClr val="EFEAFE"/>
          </a:solidFill>
          <a:ln/>
        </p:spPr>
      </p:sp>
      <p:sp>
        <p:nvSpPr>
          <p:cNvPr id="17" name="Text 14"/>
          <p:cNvSpPr/>
          <p:nvPr/>
        </p:nvSpPr>
        <p:spPr>
          <a:xfrm>
            <a:off x="768096" y="408736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Джерело вже є</a:t>
            </a:r>
            <a:endParaRPr lang="en-US" sz="1450" dirty="0"/>
          </a:p>
        </p:txBody>
      </p:sp>
      <p:sp>
        <p:nvSpPr>
          <p:cNvPr id="18" name="Text 15"/>
          <p:cNvSpPr/>
          <p:nvPr/>
        </p:nvSpPr>
        <p:spPr>
          <a:xfrm>
            <a:off x="768096" y="4617720"/>
            <a:ext cx="49469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лічильник збоїв fallback-ланцюга з тижня 4; у кого є breaker — його готовий стан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6281928" y="3931920"/>
            <a:ext cx="5349240" cy="1463040"/>
          </a:xfrm>
          <a:prstGeom prst="roundRect">
            <a:avLst>
              <a:gd name="adj" fmla="val 7500"/>
            </a:avLst>
          </a:prstGeom>
          <a:solidFill>
            <a:srgbClr val="FBE9E9"/>
          </a:solidFill>
          <a:ln/>
        </p:spPr>
      </p:sp>
      <p:sp>
        <p:nvSpPr>
          <p:cNvPr id="20" name="Text 17"/>
          <p:cNvSpPr/>
          <p:nvPr/>
        </p:nvSpPr>
        <p:spPr>
          <a:xfrm>
            <a:off x="6501384" y="4059936"/>
            <a:ext cx="4910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ПАСТКА КЕШУ</a:t>
            </a:r>
            <a:endParaRPr lang="en-US" sz="950" dirty="0"/>
          </a:p>
        </p:txBody>
      </p:sp>
      <p:sp>
        <p:nvSpPr>
          <p:cNvPr id="21" name="Text 18"/>
          <p:cNvSpPr/>
          <p:nvPr/>
        </p:nvSpPr>
        <p:spPr>
          <a:xfrm>
            <a:off x="6501384" y="4315968"/>
            <a:ext cx="491032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Breaker оновлюється лише на реальних викликах — «down» триває довше за проблему.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566928" y="5532120"/>
            <a:ext cx="11064240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786384" y="5678424"/>
            <a:ext cx="10625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Статус, прибитий до «ok», — брехня рівно в момент, коли правда потрібна.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Тренд важливіший за снапшот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3520440" cy="1691640"/>
          </a:xfrm>
          <a:prstGeom prst="roundRect">
            <a:avLst>
              <a:gd name="adj" fmla="val 6486"/>
            </a:avLst>
          </a:prstGeom>
          <a:solidFill>
            <a:srgbClr val="F8F0E2"/>
          </a:solidFill>
          <a:ln/>
        </p:spPr>
      </p:sp>
      <p:sp>
        <p:nvSpPr>
          <p:cNvPr id="8" name="Shape 5"/>
          <p:cNvSpPr/>
          <p:nvPr/>
        </p:nvSpPr>
        <p:spPr>
          <a:xfrm>
            <a:off x="768096" y="1965960"/>
            <a:ext cx="384048" cy="384048"/>
          </a:xfrm>
          <a:prstGeom prst="ellipse">
            <a:avLst/>
          </a:prstGeom>
          <a:solidFill>
            <a:srgbClr val="9A5B12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8F0E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fallback росте щогодини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2468880"/>
            <a:ext cx="311810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основна модель деградує, а ви «не бачите» — відповіді ж ідуть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270248" y="1783080"/>
            <a:ext cx="3520440" cy="1691640"/>
          </a:xfrm>
          <a:prstGeom prst="roundRect">
            <a:avLst>
              <a:gd name="adj" fmla="val 6486"/>
            </a:avLst>
          </a:prstGeom>
          <a:solidFill>
            <a:srgbClr val="F8F0E2"/>
          </a:solidFill>
          <a:ln/>
        </p:spPr>
      </p:sp>
      <p:sp>
        <p:nvSpPr>
          <p:cNvPr id="13" name="Shape 10"/>
          <p:cNvSpPr/>
          <p:nvPr/>
        </p:nvSpPr>
        <p:spPr>
          <a:xfrm>
            <a:off x="4471416" y="1965960"/>
            <a:ext cx="384048" cy="384048"/>
          </a:xfrm>
          <a:prstGeom prst="ellipse">
            <a:avLst/>
          </a:prstGeom>
          <a:solidFill>
            <a:srgbClr val="9A5B12"/>
          </a:solidFill>
          <a:ln/>
        </p:spPr>
      </p:sp>
      <p:sp>
        <p:nvSpPr>
          <p:cNvPr id="14" name="Text 11"/>
          <p:cNvSpPr/>
          <p:nvPr/>
        </p:nvSpPr>
        <p:spPr>
          <a:xfrm>
            <a:off x="447141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8F0E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498348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cache-hit падає тиждень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4471416" y="2468880"/>
            <a:ext cx="311810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зламали ключ правкою або змінився профіль трафіку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7973568" y="1783080"/>
            <a:ext cx="3520440" cy="1691640"/>
          </a:xfrm>
          <a:prstGeom prst="roundRect">
            <a:avLst>
              <a:gd name="adj" fmla="val 6486"/>
            </a:avLst>
          </a:prstGeom>
          <a:solidFill>
            <a:srgbClr val="F8F0E2"/>
          </a:solidFill>
          <a:ln/>
        </p:spPr>
      </p:sp>
      <p:sp>
        <p:nvSpPr>
          <p:cNvPr id="18" name="Shape 15"/>
          <p:cNvSpPr/>
          <p:nvPr/>
        </p:nvSpPr>
        <p:spPr>
          <a:xfrm>
            <a:off x="8174736" y="1965960"/>
            <a:ext cx="384048" cy="384048"/>
          </a:xfrm>
          <a:prstGeom prst="ellipse">
            <a:avLst/>
          </a:prstGeom>
          <a:solidFill>
            <a:srgbClr val="9A5B12"/>
          </a:solidFill>
          <a:ln/>
        </p:spPr>
      </p:sp>
      <p:sp>
        <p:nvSpPr>
          <p:cNvPr id="19" name="Text 16"/>
          <p:cNvSpPr/>
          <p:nvPr/>
        </p:nvSpPr>
        <p:spPr>
          <a:xfrm>
            <a:off x="817473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8F0E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868680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розподіл поїхав на strong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8174736" y="2468880"/>
            <a:ext cx="311810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або ескалацій більше, або роутер зламаний — бюджет горить удвічі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566928" y="3840480"/>
            <a:ext cx="11064240" cy="1371600"/>
          </a:xfrm>
          <a:prstGeom prst="roundRect">
            <a:avLst>
              <a:gd name="adj" fmla="val 8000"/>
            </a:avLst>
          </a:prstGeom>
          <a:solidFill>
            <a:srgbClr val="5A05F4"/>
          </a:solidFill>
          <a:ln/>
        </p:spPr>
      </p:sp>
      <p:sp>
        <p:nvSpPr>
          <p:cNvPr id="23" name="Text 20"/>
          <p:cNvSpPr/>
          <p:nvPr/>
        </p:nvSpPr>
        <p:spPr>
          <a:xfrm>
            <a:off x="786384" y="396849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АНАТОМІЯ АЛЕРТУ — ЧОТИРИ ОБОВ'ЯЗКОВІ ЧАСТИНИ</a:t>
            </a:r>
            <a:endParaRPr lang="en-US" sz="950" dirty="0"/>
          </a:p>
        </p:txBody>
      </p:sp>
      <p:sp>
        <p:nvSpPr>
          <p:cNvPr id="24" name="Text 21"/>
          <p:cNvSpPr/>
          <p:nvPr/>
        </p:nvSpPr>
        <p:spPr>
          <a:xfrm>
            <a:off x="786384" y="4224528"/>
            <a:ext cx="10625328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метрика (error rate) + поріг (понад 5%) + тривалість (протягом 15 хвилин) + адресат (хто прокидається). Тривалість пропускають найчастіше — і отримують сирену на кожен чих.</a:t>
            </a:r>
            <a:endParaRPr lang="en-US" sz="1300" dirty="0"/>
          </a:p>
        </p:txBody>
      </p:sp>
      <p:sp>
        <p:nvSpPr>
          <p:cNvPr id="25" name="Shape 22"/>
          <p:cNvSpPr/>
          <p:nvPr/>
        </p:nvSpPr>
        <p:spPr>
          <a:xfrm>
            <a:off x="566928" y="5349240"/>
            <a:ext cx="11064240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86384" y="5495544"/>
            <a:ext cx="10625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Снапшот каже «зараз погано». Тренд каже «стає гірше» — і дає час.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Скільки — це нормально: SLI, SLO, бюджет помилок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11064240" cy="621792"/>
          </a:xfrm>
          <a:prstGeom prst="roundRect">
            <a:avLst>
              <a:gd name="adj" fmla="val 14706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86384" y="1783080"/>
            <a:ext cx="376184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SLI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4548226" y="1783080"/>
            <a:ext cx="6640373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показник, який ви міряєте: частка успішних відповідей, p95 latency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566928" y="2514600"/>
            <a:ext cx="11064240" cy="621792"/>
          </a:xfrm>
          <a:prstGeom prst="roundRect">
            <a:avLst>
              <a:gd name="adj" fmla="val 14706"/>
            </a:avLst>
          </a:prstGeom>
          <a:solidFill>
            <a:srgbClr val="EFEAFE"/>
          </a:solidFill>
          <a:ln/>
        </p:spPr>
      </p:sp>
      <p:sp>
        <p:nvSpPr>
          <p:cNvPr id="11" name="Text 8"/>
          <p:cNvSpPr/>
          <p:nvPr/>
        </p:nvSpPr>
        <p:spPr>
          <a:xfrm>
            <a:off x="786384" y="2514600"/>
            <a:ext cx="376184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SLO</a:t>
            </a:r>
            <a:endParaRPr lang="en-US" sz="1350" dirty="0"/>
          </a:p>
        </p:txBody>
      </p:sp>
      <p:sp>
        <p:nvSpPr>
          <p:cNvPr id="12" name="Text 9"/>
          <p:cNvSpPr/>
          <p:nvPr/>
        </p:nvSpPr>
        <p:spPr>
          <a:xfrm>
            <a:off x="4548226" y="2514600"/>
            <a:ext cx="6640373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цільове значення, про яке домовилися: «99% успішних», «p95 ≤ 3 с»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566928" y="3246120"/>
            <a:ext cx="11064240" cy="621792"/>
          </a:xfrm>
          <a:prstGeom prst="roundRect">
            <a:avLst>
              <a:gd name="adj" fmla="val 14706"/>
            </a:avLst>
          </a:prstGeom>
          <a:solidFill>
            <a:srgbClr val="E9F4EF"/>
          </a:solidFill>
          <a:ln/>
        </p:spPr>
      </p:sp>
      <p:sp>
        <p:nvSpPr>
          <p:cNvPr id="14" name="Text 11"/>
          <p:cNvSpPr/>
          <p:nvPr/>
        </p:nvSpPr>
        <p:spPr>
          <a:xfrm>
            <a:off x="786384" y="3246120"/>
            <a:ext cx="376184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Бюджет помилок</a:t>
            </a:r>
            <a:endParaRPr lang="en-US" sz="1350" dirty="0"/>
          </a:p>
        </p:txBody>
      </p:sp>
      <p:sp>
        <p:nvSpPr>
          <p:cNvPr id="15" name="Text 12"/>
          <p:cNvSpPr/>
          <p:nvPr/>
        </p:nvSpPr>
        <p:spPr>
          <a:xfrm>
            <a:off x="4548226" y="3246120"/>
            <a:ext cx="6640373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1% невдач дозволено: 10 000 звернень = 100 невдач на тиждень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566928" y="4041648"/>
            <a:ext cx="118872" cy="118872"/>
          </a:xfrm>
          <a:prstGeom prst="rect">
            <a:avLst/>
          </a:prstGeom>
          <a:solidFill>
            <a:srgbClr val="E9F4EF"/>
          </a:solidFill>
          <a:ln/>
        </p:spPr>
      </p:sp>
      <p:sp>
        <p:nvSpPr>
          <p:cNvPr id="17" name="Shape 14"/>
          <p:cNvSpPr/>
          <p:nvPr/>
        </p:nvSpPr>
        <p:spPr>
          <a:xfrm>
            <a:off x="726948" y="4041648"/>
            <a:ext cx="118872" cy="118872"/>
          </a:xfrm>
          <a:prstGeom prst="rect">
            <a:avLst/>
          </a:prstGeom>
          <a:solidFill>
            <a:srgbClr val="E9F4EF"/>
          </a:solidFill>
          <a:ln/>
        </p:spPr>
      </p:sp>
      <p:sp>
        <p:nvSpPr>
          <p:cNvPr id="18" name="Shape 15"/>
          <p:cNvSpPr/>
          <p:nvPr/>
        </p:nvSpPr>
        <p:spPr>
          <a:xfrm>
            <a:off x="886968" y="4041648"/>
            <a:ext cx="118872" cy="118872"/>
          </a:xfrm>
          <a:prstGeom prst="rect">
            <a:avLst/>
          </a:prstGeom>
          <a:solidFill>
            <a:srgbClr val="E9F4EF"/>
          </a:solidFill>
          <a:ln/>
        </p:spPr>
      </p:sp>
      <p:sp>
        <p:nvSpPr>
          <p:cNvPr id="19" name="Shape 16"/>
          <p:cNvSpPr/>
          <p:nvPr/>
        </p:nvSpPr>
        <p:spPr>
          <a:xfrm>
            <a:off x="1046988" y="4041648"/>
            <a:ext cx="118872" cy="118872"/>
          </a:xfrm>
          <a:prstGeom prst="rect">
            <a:avLst/>
          </a:prstGeom>
          <a:solidFill>
            <a:srgbClr val="E9F4EF"/>
          </a:solidFill>
          <a:ln/>
        </p:spPr>
      </p:sp>
      <p:sp>
        <p:nvSpPr>
          <p:cNvPr id="20" name="Shape 17"/>
          <p:cNvSpPr/>
          <p:nvPr/>
        </p:nvSpPr>
        <p:spPr>
          <a:xfrm>
            <a:off x="1207008" y="4041648"/>
            <a:ext cx="118872" cy="118872"/>
          </a:xfrm>
          <a:prstGeom prst="rect">
            <a:avLst/>
          </a:prstGeom>
          <a:solidFill>
            <a:srgbClr val="E9F4EF"/>
          </a:solidFill>
          <a:ln/>
        </p:spPr>
      </p:sp>
      <p:sp>
        <p:nvSpPr>
          <p:cNvPr id="21" name="Shape 18"/>
          <p:cNvSpPr/>
          <p:nvPr/>
        </p:nvSpPr>
        <p:spPr>
          <a:xfrm>
            <a:off x="1367028" y="4041648"/>
            <a:ext cx="118872" cy="118872"/>
          </a:xfrm>
          <a:prstGeom prst="rect">
            <a:avLst/>
          </a:prstGeom>
          <a:solidFill>
            <a:srgbClr val="E9F4EF"/>
          </a:solidFill>
          <a:ln/>
        </p:spPr>
      </p:sp>
      <p:sp>
        <p:nvSpPr>
          <p:cNvPr id="22" name="Shape 19"/>
          <p:cNvSpPr/>
          <p:nvPr/>
        </p:nvSpPr>
        <p:spPr>
          <a:xfrm>
            <a:off x="1527048" y="4041648"/>
            <a:ext cx="118872" cy="118872"/>
          </a:xfrm>
          <a:prstGeom prst="rect">
            <a:avLst/>
          </a:prstGeom>
          <a:solidFill>
            <a:srgbClr val="E9F4EF"/>
          </a:solidFill>
          <a:ln/>
        </p:spPr>
      </p:sp>
      <p:sp>
        <p:nvSpPr>
          <p:cNvPr id="23" name="Shape 20"/>
          <p:cNvSpPr/>
          <p:nvPr/>
        </p:nvSpPr>
        <p:spPr>
          <a:xfrm>
            <a:off x="1687068" y="4041648"/>
            <a:ext cx="118872" cy="118872"/>
          </a:xfrm>
          <a:prstGeom prst="rect">
            <a:avLst/>
          </a:prstGeom>
          <a:solidFill>
            <a:srgbClr val="E9F4EF"/>
          </a:solidFill>
          <a:ln/>
        </p:spPr>
      </p:sp>
      <p:sp>
        <p:nvSpPr>
          <p:cNvPr id="24" name="Shape 21"/>
          <p:cNvSpPr/>
          <p:nvPr/>
        </p:nvSpPr>
        <p:spPr>
          <a:xfrm>
            <a:off x="1847088" y="4041648"/>
            <a:ext cx="118872" cy="118872"/>
          </a:xfrm>
          <a:prstGeom prst="rect">
            <a:avLst/>
          </a:prstGeom>
          <a:solidFill>
            <a:srgbClr val="E9F4EF"/>
          </a:solidFill>
          <a:ln/>
        </p:spPr>
      </p:sp>
      <p:sp>
        <p:nvSpPr>
          <p:cNvPr id="25" name="Shape 22"/>
          <p:cNvSpPr/>
          <p:nvPr/>
        </p:nvSpPr>
        <p:spPr>
          <a:xfrm>
            <a:off x="2007108" y="4041648"/>
            <a:ext cx="118872" cy="118872"/>
          </a:xfrm>
          <a:prstGeom prst="rect">
            <a:avLst/>
          </a:prstGeom>
          <a:solidFill>
            <a:srgbClr val="E9F4EF"/>
          </a:solidFill>
          <a:ln/>
        </p:spPr>
      </p:sp>
      <p:sp>
        <p:nvSpPr>
          <p:cNvPr id="26" name="Shape 23"/>
          <p:cNvSpPr/>
          <p:nvPr/>
        </p:nvSpPr>
        <p:spPr>
          <a:xfrm>
            <a:off x="2167128" y="4041648"/>
            <a:ext cx="118872" cy="118872"/>
          </a:xfrm>
          <a:prstGeom prst="rect">
            <a:avLst/>
          </a:prstGeom>
          <a:solidFill>
            <a:srgbClr val="E9F4EF"/>
          </a:solidFill>
          <a:ln/>
        </p:spPr>
      </p:sp>
      <p:sp>
        <p:nvSpPr>
          <p:cNvPr id="27" name="Shape 24"/>
          <p:cNvSpPr/>
          <p:nvPr/>
        </p:nvSpPr>
        <p:spPr>
          <a:xfrm>
            <a:off x="2327148" y="4041648"/>
            <a:ext cx="118872" cy="118872"/>
          </a:xfrm>
          <a:prstGeom prst="rect">
            <a:avLst/>
          </a:prstGeom>
          <a:solidFill>
            <a:srgbClr val="E9F4EF"/>
          </a:solidFill>
          <a:ln/>
        </p:spPr>
      </p:sp>
      <p:sp>
        <p:nvSpPr>
          <p:cNvPr id="28" name="Shape 25"/>
          <p:cNvSpPr/>
          <p:nvPr/>
        </p:nvSpPr>
        <p:spPr>
          <a:xfrm>
            <a:off x="2487168" y="4041648"/>
            <a:ext cx="118872" cy="118872"/>
          </a:xfrm>
          <a:prstGeom prst="rect">
            <a:avLst/>
          </a:prstGeom>
          <a:solidFill>
            <a:srgbClr val="E9F4EF"/>
          </a:solidFill>
          <a:ln/>
        </p:spPr>
      </p:sp>
      <p:sp>
        <p:nvSpPr>
          <p:cNvPr id="29" name="Shape 26"/>
          <p:cNvSpPr/>
          <p:nvPr/>
        </p:nvSpPr>
        <p:spPr>
          <a:xfrm>
            <a:off x="2647188" y="4041648"/>
            <a:ext cx="118872" cy="118872"/>
          </a:xfrm>
          <a:prstGeom prst="rect">
            <a:avLst/>
          </a:prstGeom>
          <a:solidFill>
            <a:srgbClr val="E9F4EF"/>
          </a:solidFill>
          <a:ln/>
        </p:spPr>
      </p:sp>
      <p:sp>
        <p:nvSpPr>
          <p:cNvPr id="30" name="Shape 27"/>
          <p:cNvSpPr/>
          <p:nvPr/>
        </p:nvSpPr>
        <p:spPr>
          <a:xfrm>
            <a:off x="2807208" y="4041648"/>
            <a:ext cx="118872" cy="118872"/>
          </a:xfrm>
          <a:prstGeom prst="rect">
            <a:avLst/>
          </a:prstGeom>
          <a:solidFill>
            <a:srgbClr val="E9F4EF"/>
          </a:solidFill>
          <a:ln/>
        </p:spPr>
      </p:sp>
      <p:sp>
        <p:nvSpPr>
          <p:cNvPr id="31" name="Shape 28"/>
          <p:cNvSpPr/>
          <p:nvPr/>
        </p:nvSpPr>
        <p:spPr>
          <a:xfrm>
            <a:off x="2967228" y="4041648"/>
            <a:ext cx="118872" cy="118872"/>
          </a:xfrm>
          <a:prstGeom prst="rect">
            <a:avLst/>
          </a:prstGeom>
          <a:solidFill>
            <a:srgbClr val="E9F4EF"/>
          </a:solidFill>
          <a:ln/>
        </p:spPr>
      </p:sp>
      <p:sp>
        <p:nvSpPr>
          <p:cNvPr id="32" name="Shape 29"/>
          <p:cNvSpPr/>
          <p:nvPr/>
        </p:nvSpPr>
        <p:spPr>
          <a:xfrm>
            <a:off x="3127248" y="4041648"/>
            <a:ext cx="118872" cy="118872"/>
          </a:xfrm>
          <a:prstGeom prst="rect">
            <a:avLst/>
          </a:prstGeom>
          <a:solidFill>
            <a:srgbClr val="E9F4EF"/>
          </a:solidFill>
          <a:ln/>
        </p:spPr>
      </p:sp>
      <p:sp>
        <p:nvSpPr>
          <p:cNvPr id="33" name="Shape 30"/>
          <p:cNvSpPr/>
          <p:nvPr/>
        </p:nvSpPr>
        <p:spPr>
          <a:xfrm>
            <a:off x="3287268" y="4041648"/>
            <a:ext cx="118872" cy="118872"/>
          </a:xfrm>
          <a:prstGeom prst="rect">
            <a:avLst/>
          </a:prstGeom>
          <a:solidFill>
            <a:srgbClr val="E9F4EF"/>
          </a:solidFill>
          <a:ln/>
        </p:spPr>
      </p:sp>
      <p:sp>
        <p:nvSpPr>
          <p:cNvPr id="34" name="Shape 31"/>
          <p:cNvSpPr/>
          <p:nvPr/>
        </p:nvSpPr>
        <p:spPr>
          <a:xfrm>
            <a:off x="3447288" y="4041648"/>
            <a:ext cx="118872" cy="118872"/>
          </a:xfrm>
          <a:prstGeom prst="rect">
            <a:avLst/>
          </a:prstGeom>
          <a:solidFill>
            <a:srgbClr val="E9F4EF"/>
          </a:solidFill>
          <a:ln/>
        </p:spPr>
      </p:sp>
      <p:sp>
        <p:nvSpPr>
          <p:cNvPr id="35" name="Shape 32"/>
          <p:cNvSpPr/>
          <p:nvPr/>
        </p:nvSpPr>
        <p:spPr>
          <a:xfrm>
            <a:off x="3607308" y="4041648"/>
            <a:ext cx="118872" cy="118872"/>
          </a:xfrm>
          <a:prstGeom prst="rect">
            <a:avLst/>
          </a:prstGeom>
          <a:solidFill>
            <a:srgbClr val="E9F4EF"/>
          </a:solidFill>
          <a:ln/>
        </p:spPr>
      </p:sp>
      <p:sp>
        <p:nvSpPr>
          <p:cNvPr id="36" name="Shape 33"/>
          <p:cNvSpPr/>
          <p:nvPr/>
        </p:nvSpPr>
        <p:spPr>
          <a:xfrm>
            <a:off x="566928" y="4201668"/>
            <a:ext cx="118872" cy="118872"/>
          </a:xfrm>
          <a:prstGeom prst="rect">
            <a:avLst/>
          </a:prstGeom>
          <a:solidFill>
            <a:srgbClr val="E9F4EF"/>
          </a:solidFill>
          <a:ln/>
        </p:spPr>
      </p:sp>
      <p:sp>
        <p:nvSpPr>
          <p:cNvPr id="37" name="Shape 34"/>
          <p:cNvSpPr/>
          <p:nvPr/>
        </p:nvSpPr>
        <p:spPr>
          <a:xfrm>
            <a:off x="726948" y="4201668"/>
            <a:ext cx="118872" cy="118872"/>
          </a:xfrm>
          <a:prstGeom prst="rect">
            <a:avLst/>
          </a:prstGeom>
          <a:solidFill>
            <a:srgbClr val="E9F4EF"/>
          </a:solidFill>
          <a:ln/>
        </p:spPr>
      </p:sp>
      <p:sp>
        <p:nvSpPr>
          <p:cNvPr id="38" name="Shape 35"/>
          <p:cNvSpPr/>
          <p:nvPr/>
        </p:nvSpPr>
        <p:spPr>
          <a:xfrm>
            <a:off x="886968" y="4201668"/>
            <a:ext cx="118872" cy="118872"/>
          </a:xfrm>
          <a:prstGeom prst="rect">
            <a:avLst/>
          </a:prstGeom>
          <a:solidFill>
            <a:srgbClr val="E9F4EF"/>
          </a:solidFill>
          <a:ln/>
        </p:spPr>
      </p:sp>
      <p:sp>
        <p:nvSpPr>
          <p:cNvPr id="39" name="Shape 36"/>
          <p:cNvSpPr/>
          <p:nvPr/>
        </p:nvSpPr>
        <p:spPr>
          <a:xfrm>
            <a:off x="1046988" y="4201668"/>
            <a:ext cx="118872" cy="118872"/>
          </a:xfrm>
          <a:prstGeom prst="rect">
            <a:avLst/>
          </a:prstGeom>
          <a:solidFill>
            <a:srgbClr val="E9F4EF"/>
          </a:solidFill>
          <a:ln/>
        </p:spPr>
      </p:sp>
      <p:sp>
        <p:nvSpPr>
          <p:cNvPr id="40" name="Shape 37"/>
          <p:cNvSpPr/>
          <p:nvPr/>
        </p:nvSpPr>
        <p:spPr>
          <a:xfrm>
            <a:off x="1207008" y="4201668"/>
            <a:ext cx="118872" cy="118872"/>
          </a:xfrm>
          <a:prstGeom prst="rect">
            <a:avLst/>
          </a:prstGeom>
          <a:solidFill>
            <a:srgbClr val="E9F4EF"/>
          </a:solidFill>
          <a:ln/>
        </p:spPr>
      </p:sp>
      <p:sp>
        <p:nvSpPr>
          <p:cNvPr id="41" name="Shape 38"/>
          <p:cNvSpPr/>
          <p:nvPr/>
        </p:nvSpPr>
        <p:spPr>
          <a:xfrm>
            <a:off x="1367028" y="4201668"/>
            <a:ext cx="118872" cy="118872"/>
          </a:xfrm>
          <a:prstGeom prst="rect">
            <a:avLst/>
          </a:prstGeom>
          <a:solidFill>
            <a:srgbClr val="E9F4EF"/>
          </a:solidFill>
          <a:ln/>
        </p:spPr>
      </p:sp>
      <p:sp>
        <p:nvSpPr>
          <p:cNvPr id="42" name="Shape 39"/>
          <p:cNvSpPr/>
          <p:nvPr/>
        </p:nvSpPr>
        <p:spPr>
          <a:xfrm>
            <a:off x="1527048" y="4201668"/>
            <a:ext cx="118872" cy="118872"/>
          </a:xfrm>
          <a:prstGeom prst="rect">
            <a:avLst/>
          </a:prstGeom>
          <a:solidFill>
            <a:srgbClr val="E9F4EF"/>
          </a:solidFill>
          <a:ln/>
        </p:spPr>
      </p:sp>
      <p:sp>
        <p:nvSpPr>
          <p:cNvPr id="43" name="Shape 40"/>
          <p:cNvSpPr/>
          <p:nvPr/>
        </p:nvSpPr>
        <p:spPr>
          <a:xfrm>
            <a:off x="1687068" y="4201668"/>
            <a:ext cx="118872" cy="118872"/>
          </a:xfrm>
          <a:prstGeom prst="rect">
            <a:avLst/>
          </a:prstGeom>
          <a:solidFill>
            <a:srgbClr val="E9F4EF"/>
          </a:solidFill>
          <a:ln/>
        </p:spPr>
      </p:sp>
      <p:sp>
        <p:nvSpPr>
          <p:cNvPr id="44" name="Shape 41"/>
          <p:cNvSpPr/>
          <p:nvPr/>
        </p:nvSpPr>
        <p:spPr>
          <a:xfrm>
            <a:off x="1847088" y="4201668"/>
            <a:ext cx="118872" cy="118872"/>
          </a:xfrm>
          <a:prstGeom prst="rect">
            <a:avLst/>
          </a:prstGeom>
          <a:solidFill>
            <a:srgbClr val="E9F4EF"/>
          </a:solidFill>
          <a:ln/>
        </p:spPr>
      </p:sp>
      <p:sp>
        <p:nvSpPr>
          <p:cNvPr id="45" name="Shape 42"/>
          <p:cNvSpPr/>
          <p:nvPr/>
        </p:nvSpPr>
        <p:spPr>
          <a:xfrm>
            <a:off x="2007108" y="4201668"/>
            <a:ext cx="118872" cy="118872"/>
          </a:xfrm>
          <a:prstGeom prst="rect">
            <a:avLst/>
          </a:prstGeom>
          <a:solidFill>
            <a:srgbClr val="E9F4EF"/>
          </a:solidFill>
          <a:ln/>
        </p:spPr>
      </p:sp>
      <p:sp>
        <p:nvSpPr>
          <p:cNvPr id="46" name="Shape 43"/>
          <p:cNvSpPr/>
          <p:nvPr/>
        </p:nvSpPr>
        <p:spPr>
          <a:xfrm>
            <a:off x="2167128" y="4201668"/>
            <a:ext cx="118872" cy="118872"/>
          </a:xfrm>
          <a:prstGeom prst="rect">
            <a:avLst/>
          </a:prstGeom>
          <a:solidFill>
            <a:srgbClr val="E9F4EF"/>
          </a:solidFill>
          <a:ln/>
        </p:spPr>
      </p:sp>
      <p:sp>
        <p:nvSpPr>
          <p:cNvPr id="47" name="Shape 44"/>
          <p:cNvSpPr/>
          <p:nvPr/>
        </p:nvSpPr>
        <p:spPr>
          <a:xfrm>
            <a:off x="2327148" y="4201668"/>
            <a:ext cx="118872" cy="118872"/>
          </a:xfrm>
          <a:prstGeom prst="rect">
            <a:avLst/>
          </a:prstGeom>
          <a:solidFill>
            <a:srgbClr val="E9F4EF"/>
          </a:solidFill>
          <a:ln/>
        </p:spPr>
      </p:sp>
      <p:sp>
        <p:nvSpPr>
          <p:cNvPr id="48" name="Shape 45"/>
          <p:cNvSpPr/>
          <p:nvPr/>
        </p:nvSpPr>
        <p:spPr>
          <a:xfrm>
            <a:off x="2487168" y="4201668"/>
            <a:ext cx="118872" cy="118872"/>
          </a:xfrm>
          <a:prstGeom prst="rect">
            <a:avLst/>
          </a:prstGeom>
          <a:solidFill>
            <a:srgbClr val="E9F4EF"/>
          </a:solidFill>
          <a:ln/>
        </p:spPr>
      </p:sp>
      <p:sp>
        <p:nvSpPr>
          <p:cNvPr id="49" name="Shape 46"/>
          <p:cNvSpPr/>
          <p:nvPr/>
        </p:nvSpPr>
        <p:spPr>
          <a:xfrm>
            <a:off x="2647188" y="4201668"/>
            <a:ext cx="118872" cy="118872"/>
          </a:xfrm>
          <a:prstGeom prst="rect">
            <a:avLst/>
          </a:prstGeom>
          <a:solidFill>
            <a:srgbClr val="E9F4EF"/>
          </a:solidFill>
          <a:ln/>
        </p:spPr>
      </p:sp>
      <p:sp>
        <p:nvSpPr>
          <p:cNvPr id="50" name="Shape 47"/>
          <p:cNvSpPr/>
          <p:nvPr/>
        </p:nvSpPr>
        <p:spPr>
          <a:xfrm>
            <a:off x="2807208" y="4201668"/>
            <a:ext cx="118872" cy="118872"/>
          </a:xfrm>
          <a:prstGeom prst="rect">
            <a:avLst/>
          </a:prstGeom>
          <a:solidFill>
            <a:srgbClr val="E9F4EF"/>
          </a:solidFill>
          <a:ln/>
        </p:spPr>
      </p:sp>
      <p:sp>
        <p:nvSpPr>
          <p:cNvPr id="51" name="Shape 48"/>
          <p:cNvSpPr/>
          <p:nvPr/>
        </p:nvSpPr>
        <p:spPr>
          <a:xfrm>
            <a:off x="2967228" y="4201668"/>
            <a:ext cx="118872" cy="118872"/>
          </a:xfrm>
          <a:prstGeom prst="rect">
            <a:avLst/>
          </a:prstGeom>
          <a:solidFill>
            <a:srgbClr val="E9F4EF"/>
          </a:solidFill>
          <a:ln/>
        </p:spPr>
      </p:sp>
      <p:sp>
        <p:nvSpPr>
          <p:cNvPr id="52" name="Shape 49"/>
          <p:cNvSpPr/>
          <p:nvPr/>
        </p:nvSpPr>
        <p:spPr>
          <a:xfrm>
            <a:off x="3127248" y="4201668"/>
            <a:ext cx="118872" cy="118872"/>
          </a:xfrm>
          <a:prstGeom prst="rect">
            <a:avLst/>
          </a:prstGeom>
          <a:solidFill>
            <a:srgbClr val="E9F4EF"/>
          </a:solidFill>
          <a:ln/>
        </p:spPr>
      </p:sp>
      <p:sp>
        <p:nvSpPr>
          <p:cNvPr id="53" name="Shape 50"/>
          <p:cNvSpPr/>
          <p:nvPr/>
        </p:nvSpPr>
        <p:spPr>
          <a:xfrm>
            <a:off x="3287268" y="4201668"/>
            <a:ext cx="118872" cy="118872"/>
          </a:xfrm>
          <a:prstGeom prst="rect">
            <a:avLst/>
          </a:prstGeom>
          <a:solidFill>
            <a:srgbClr val="E9F4EF"/>
          </a:solidFill>
          <a:ln/>
        </p:spPr>
      </p:sp>
      <p:sp>
        <p:nvSpPr>
          <p:cNvPr id="54" name="Shape 51"/>
          <p:cNvSpPr/>
          <p:nvPr/>
        </p:nvSpPr>
        <p:spPr>
          <a:xfrm>
            <a:off x="3447288" y="4201668"/>
            <a:ext cx="118872" cy="118872"/>
          </a:xfrm>
          <a:prstGeom prst="rect">
            <a:avLst/>
          </a:prstGeom>
          <a:solidFill>
            <a:srgbClr val="E9F4EF"/>
          </a:solidFill>
          <a:ln/>
        </p:spPr>
      </p:sp>
      <p:sp>
        <p:nvSpPr>
          <p:cNvPr id="55" name="Shape 52"/>
          <p:cNvSpPr/>
          <p:nvPr/>
        </p:nvSpPr>
        <p:spPr>
          <a:xfrm>
            <a:off x="3607308" y="4201668"/>
            <a:ext cx="118872" cy="118872"/>
          </a:xfrm>
          <a:prstGeom prst="rect">
            <a:avLst/>
          </a:prstGeom>
          <a:solidFill>
            <a:srgbClr val="E9F4EF"/>
          </a:solidFill>
          <a:ln/>
        </p:spPr>
      </p:sp>
      <p:sp>
        <p:nvSpPr>
          <p:cNvPr id="56" name="Shape 53"/>
          <p:cNvSpPr/>
          <p:nvPr/>
        </p:nvSpPr>
        <p:spPr>
          <a:xfrm>
            <a:off x="566928" y="4361688"/>
            <a:ext cx="118872" cy="118872"/>
          </a:xfrm>
          <a:prstGeom prst="rect">
            <a:avLst/>
          </a:prstGeom>
          <a:solidFill>
            <a:srgbClr val="E9F4EF"/>
          </a:solidFill>
          <a:ln/>
        </p:spPr>
      </p:sp>
      <p:sp>
        <p:nvSpPr>
          <p:cNvPr id="57" name="Shape 54"/>
          <p:cNvSpPr/>
          <p:nvPr/>
        </p:nvSpPr>
        <p:spPr>
          <a:xfrm>
            <a:off x="726948" y="4361688"/>
            <a:ext cx="118872" cy="118872"/>
          </a:xfrm>
          <a:prstGeom prst="rect">
            <a:avLst/>
          </a:prstGeom>
          <a:solidFill>
            <a:srgbClr val="E9F4EF"/>
          </a:solidFill>
          <a:ln/>
        </p:spPr>
      </p:sp>
      <p:sp>
        <p:nvSpPr>
          <p:cNvPr id="58" name="Shape 55"/>
          <p:cNvSpPr/>
          <p:nvPr/>
        </p:nvSpPr>
        <p:spPr>
          <a:xfrm>
            <a:off x="886968" y="4361688"/>
            <a:ext cx="118872" cy="118872"/>
          </a:xfrm>
          <a:prstGeom prst="rect">
            <a:avLst/>
          </a:prstGeom>
          <a:solidFill>
            <a:srgbClr val="E9F4EF"/>
          </a:solidFill>
          <a:ln/>
        </p:spPr>
      </p:sp>
      <p:sp>
        <p:nvSpPr>
          <p:cNvPr id="59" name="Shape 56"/>
          <p:cNvSpPr/>
          <p:nvPr/>
        </p:nvSpPr>
        <p:spPr>
          <a:xfrm>
            <a:off x="1046988" y="4361688"/>
            <a:ext cx="118872" cy="118872"/>
          </a:xfrm>
          <a:prstGeom prst="rect">
            <a:avLst/>
          </a:prstGeom>
          <a:solidFill>
            <a:srgbClr val="E9F4EF"/>
          </a:solidFill>
          <a:ln/>
        </p:spPr>
      </p:sp>
      <p:sp>
        <p:nvSpPr>
          <p:cNvPr id="60" name="Shape 57"/>
          <p:cNvSpPr/>
          <p:nvPr/>
        </p:nvSpPr>
        <p:spPr>
          <a:xfrm>
            <a:off x="1207008" y="4361688"/>
            <a:ext cx="118872" cy="118872"/>
          </a:xfrm>
          <a:prstGeom prst="rect">
            <a:avLst/>
          </a:prstGeom>
          <a:solidFill>
            <a:srgbClr val="E9F4EF"/>
          </a:solidFill>
          <a:ln/>
        </p:spPr>
      </p:sp>
      <p:sp>
        <p:nvSpPr>
          <p:cNvPr id="61" name="Shape 58"/>
          <p:cNvSpPr/>
          <p:nvPr/>
        </p:nvSpPr>
        <p:spPr>
          <a:xfrm>
            <a:off x="1367028" y="4361688"/>
            <a:ext cx="118872" cy="118872"/>
          </a:xfrm>
          <a:prstGeom prst="rect">
            <a:avLst/>
          </a:prstGeom>
          <a:solidFill>
            <a:srgbClr val="E9F4EF"/>
          </a:solidFill>
          <a:ln/>
        </p:spPr>
      </p:sp>
      <p:sp>
        <p:nvSpPr>
          <p:cNvPr id="62" name="Shape 59"/>
          <p:cNvSpPr/>
          <p:nvPr/>
        </p:nvSpPr>
        <p:spPr>
          <a:xfrm>
            <a:off x="1527048" y="4361688"/>
            <a:ext cx="118872" cy="118872"/>
          </a:xfrm>
          <a:prstGeom prst="rect">
            <a:avLst/>
          </a:prstGeom>
          <a:solidFill>
            <a:srgbClr val="E9F4EF"/>
          </a:solidFill>
          <a:ln/>
        </p:spPr>
      </p:sp>
      <p:sp>
        <p:nvSpPr>
          <p:cNvPr id="63" name="Shape 60"/>
          <p:cNvSpPr/>
          <p:nvPr/>
        </p:nvSpPr>
        <p:spPr>
          <a:xfrm>
            <a:off x="1687068" y="4361688"/>
            <a:ext cx="118872" cy="118872"/>
          </a:xfrm>
          <a:prstGeom prst="rect">
            <a:avLst/>
          </a:prstGeom>
          <a:solidFill>
            <a:srgbClr val="E9F4EF"/>
          </a:solidFill>
          <a:ln/>
        </p:spPr>
      </p:sp>
      <p:sp>
        <p:nvSpPr>
          <p:cNvPr id="64" name="Shape 61"/>
          <p:cNvSpPr/>
          <p:nvPr/>
        </p:nvSpPr>
        <p:spPr>
          <a:xfrm>
            <a:off x="1847088" y="4361688"/>
            <a:ext cx="118872" cy="118872"/>
          </a:xfrm>
          <a:prstGeom prst="rect">
            <a:avLst/>
          </a:prstGeom>
          <a:solidFill>
            <a:srgbClr val="E9F4EF"/>
          </a:solidFill>
          <a:ln/>
        </p:spPr>
      </p:sp>
      <p:sp>
        <p:nvSpPr>
          <p:cNvPr id="65" name="Shape 62"/>
          <p:cNvSpPr/>
          <p:nvPr/>
        </p:nvSpPr>
        <p:spPr>
          <a:xfrm>
            <a:off x="2007108" y="4361688"/>
            <a:ext cx="118872" cy="118872"/>
          </a:xfrm>
          <a:prstGeom prst="rect">
            <a:avLst/>
          </a:prstGeom>
          <a:solidFill>
            <a:srgbClr val="E9F4EF"/>
          </a:solidFill>
          <a:ln/>
        </p:spPr>
      </p:sp>
      <p:sp>
        <p:nvSpPr>
          <p:cNvPr id="66" name="Shape 63"/>
          <p:cNvSpPr/>
          <p:nvPr/>
        </p:nvSpPr>
        <p:spPr>
          <a:xfrm>
            <a:off x="2167128" y="4361688"/>
            <a:ext cx="118872" cy="118872"/>
          </a:xfrm>
          <a:prstGeom prst="rect">
            <a:avLst/>
          </a:prstGeom>
          <a:solidFill>
            <a:srgbClr val="E9F4EF"/>
          </a:solidFill>
          <a:ln/>
        </p:spPr>
      </p:sp>
      <p:sp>
        <p:nvSpPr>
          <p:cNvPr id="67" name="Shape 64"/>
          <p:cNvSpPr/>
          <p:nvPr/>
        </p:nvSpPr>
        <p:spPr>
          <a:xfrm>
            <a:off x="2327148" y="4361688"/>
            <a:ext cx="118872" cy="118872"/>
          </a:xfrm>
          <a:prstGeom prst="rect">
            <a:avLst/>
          </a:prstGeom>
          <a:solidFill>
            <a:srgbClr val="E9F4EF"/>
          </a:solidFill>
          <a:ln/>
        </p:spPr>
      </p:sp>
      <p:sp>
        <p:nvSpPr>
          <p:cNvPr id="68" name="Shape 65"/>
          <p:cNvSpPr/>
          <p:nvPr/>
        </p:nvSpPr>
        <p:spPr>
          <a:xfrm>
            <a:off x="2487168" y="4361688"/>
            <a:ext cx="118872" cy="118872"/>
          </a:xfrm>
          <a:prstGeom prst="rect">
            <a:avLst/>
          </a:prstGeom>
          <a:solidFill>
            <a:srgbClr val="E9F4EF"/>
          </a:solidFill>
          <a:ln/>
        </p:spPr>
      </p:sp>
      <p:sp>
        <p:nvSpPr>
          <p:cNvPr id="69" name="Shape 66"/>
          <p:cNvSpPr/>
          <p:nvPr/>
        </p:nvSpPr>
        <p:spPr>
          <a:xfrm>
            <a:off x="2647188" y="4361688"/>
            <a:ext cx="118872" cy="118872"/>
          </a:xfrm>
          <a:prstGeom prst="rect">
            <a:avLst/>
          </a:prstGeom>
          <a:solidFill>
            <a:srgbClr val="E9F4EF"/>
          </a:solidFill>
          <a:ln/>
        </p:spPr>
      </p:sp>
      <p:sp>
        <p:nvSpPr>
          <p:cNvPr id="70" name="Shape 67"/>
          <p:cNvSpPr/>
          <p:nvPr/>
        </p:nvSpPr>
        <p:spPr>
          <a:xfrm>
            <a:off x="2807208" y="4361688"/>
            <a:ext cx="118872" cy="118872"/>
          </a:xfrm>
          <a:prstGeom prst="rect">
            <a:avLst/>
          </a:prstGeom>
          <a:solidFill>
            <a:srgbClr val="E9F4EF"/>
          </a:solidFill>
          <a:ln/>
        </p:spPr>
      </p:sp>
      <p:sp>
        <p:nvSpPr>
          <p:cNvPr id="71" name="Shape 68"/>
          <p:cNvSpPr/>
          <p:nvPr/>
        </p:nvSpPr>
        <p:spPr>
          <a:xfrm>
            <a:off x="2967228" y="4361688"/>
            <a:ext cx="118872" cy="118872"/>
          </a:xfrm>
          <a:prstGeom prst="rect">
            <a:avLst/>
          </a:prstGeom>
          <a:solidFill>
            <a:srgbClr val="E9F4EF"/>
          </a:solidFill>
          <a:ln/>
        </p:spPr>
      </p:sp>
      <p:sp>
        <p:nvSpPr>
          <p:cNvPr id="72" name="Shape 69"/>
          <p:cNvSpPr/>
          <p:nvPr/>
        </p:nvSpPr>
        <p:spPr>
          <a:xfrm>
            <a:off x="3127248" y="4361688"/>
            <a:ext cx="118872" cy="118872"/>
          </a:xfrm>
          <a:prstGeom prst="rect">
            <a:avLst/>
          </a:prstGeom>
          <a:solidFill>
            <a:srgbClr val="E9F4EF"/>
          </a:solidFill>
          <a:ln/>
        </p:spPr>
      </p:sp>
      <p:sp>
        <p:nvSpPr>
          <p:cNvPr id="73" name="Shape 70"/>
          <p:cNvSpPr/>
          <p:nvPr/>
        </p:nvSpPr>
        <p:spPr>
          <a:xfrm>
            <a:off x="3287268" y="4361688"/>
            <a:ext cx="118872" cy="118872"/>
          </a:xfrm>
          <a:prstGeom prst="rect">
            <a:avLst/>
          </a:prstGeom>
          <a:solidFill>
            <a:srgbClr val="E9F4EF"/>
          </a:solidFill>
          <a:ln/>
        </p:spPr>
      </p:sp>
      <p:sp>
        <p:nvSpPr>
          <p:cNvPr id="74" name="Shape 71"/>
          <p:cNvSpPr/>
          <p:nvPr/>
        </p:nvSpPr>
        <p:spPr>
          <a:xfrm>
            <a:off x="3447288" y="4361688"/>
            <a:ext cx="118872" cy="118872"/>
          </a:xfrm>
          <a:prstGeom prst="rect">
            <a:avLst/>
          </a:prstGeom>
          <a:solidFill>
            <a:srgbClr val="E9F4EF"/>
          </a:solidFill>
          <a:ln/>
        </p:spPr>
      </p:sp>
      <p:sp>
        <p:nvSpPr>
          <p:cNvPr id="75" name="Shape 72"/>
          <p:cNvSpPr/>
          <p:nvPr/>
        </p:nvSpPr>
        <p:spPr>
          <a:xfrm>
            <a:off x="3607308" y="4361688"/>
            <a:ext cx="118872" cy="118872"/>
          </a:xfrm>
          <a:prstGeom prst="rect">
            <a:avLst/>
          </a:prstGeom>
          <a:solidFill>
            <a:srgbClr val="E9F4EF"/>
          </a:solidFill>
          <a:ln/>
        </p:spPr>
      </p:sp>
      <p:sp>
        <p:nvSpPr>
          <p:cNvPr id="76" name="Shape 73"/>
          <p:cNvSpPr/>
          <p:nvPr/>
        </p:nvSpPr>
        <p:spPr>
          <a:xfrm>
            <a:off x="566928" y="4521708"/>
            <a:ext cx="118872" cy="118872"/>
          </a:xfrm>
          <a:prstGeom prst="rect">
            <a:avLst/>
          </a:prstGeom>
          <a:solidFill>
            <a:srgbClr val="E9F4EF"/>
          </a:solidFill>
          <a:ln/>
        </p:spPr>
      </p:sp>
      <p:sp>
        <p:nvSpPr>
          <p:cNvPr id="77" name="Shape 74"/>
          <p:cNvSpPr/>
          <p:nvPr/>
        </p:nvSpPr>
        <p:spPr>
          <a:xfrm>
            <a:off x="726948" y="4521708"/>
            <a:ext cx="118872" cy="118872"/>
          </a:xfrm>
          <a:prstGeom prst="rect">
            <a:avLst/>
          </a:prstGeom>
          <a:solidFill>
            <a:srgbClr val="E9F4EF"/>
          </a:solidFill>
          <a:ln/>
        </p:spPr>
      </p:sp>
      <p:sp>
        <p:nvSpPr>
          <p:cNvPr id="78" name="Shape 75"/>
          <p:cNvSpPr/>
          <p:nvPr/>
        </p:nvSpPr>
        <p:spPr>
          <a:xfrm>
            <a:off x="886968" y="4521708"/>
            <a:ext cx="118872" cy="118872"/>
          </a:xfrm>
          <a:prstGeom prst="rect">
            <a:avLst/>
          </a:prstGeom>
          <a:solidFill>
            <a:srgbClr val="E9F4EF"/>
          </a:solidFill>
          <a:ln/>
        </p:spPr>
      </p:sp>
      <p:sp>
        <p:nvSpPr>
          <p:cNvPr id="79" name="Shape 76"/>
          <p:cNvSpPr/>
          <p:nvPr/>
        </p:nvSpPr>
        <p:spPr>
          <a:xfrm>
            <a:off x="1046988" y="4521708"/>
            <a:ext cx="118872" cy="118872"/>
          </a:xfrm>
          <a:prstGeom prst="rect">
            <a:avLst/>
          </a:prstGeom>
          <a:solidFill>
            <a:srgbClr val="E9F4EF"/>
          </a:solidFill>
          <a:ln/>
        </p:spPr>
      </p:sp>
      <p:sp>
        <p:nvSpPr>
          <p:cNvPr id="80" name="Shape 77"/>
          <p:cNvSpPr/>
          <p:nvPr/>
        </p:nvSpPr>
        <p:spPr>
          <a:xfrm>
            <a:off x="1207008" y="4521708"/>
            <a:ext cx="118872" cy="118872"/>
          </a:xfrm>
          <a:prstGeom prst="rect">
            <a:avLst/>
          </a:prstGeom>
          <a:solidFill>
            <a:srgbClr val="E9F4EF"/>
          </a:solidFill>
          <a:ln/>
        </p:spPr>
      </p:sp>
      <p:sp>
        <p:nvSpPr>
          <p:cNvPr id="81" name="Shape 78"/>
          <p:cNvSpPr/>
          <p:nvPr/>
        </p:nvSpPr>
        <p:spPr>
          <a:xfrm>
            <a:off x="1367028" y="4521708"/>
            <a:ext cx="118872" cy="118872"/>
          </a:xfrm>
          <a:prstGeom prst="rect">
            <a:avLst/>
          </a:prstGeom>
          <a:solidFill>
            <a:srgbClr val="E9F4EF"/>
          </a:solidFill>
          <a:ln/>
        </p:spPr>
      </p:sp>
      <p:sp>
        <p:nvSpPr>
          <p:cNvPr id="82" name="Shape 79"/>
          <p:cNvSpPr/>
          <p:nvPr/>
        </p:nvSpPr>
        <p:spPr>
          <a:xfrm>
            <a:off x="1527048" y="4521708"/>
            <a:ext cx="118872" cy="118872"/>
          </a:xfrm>
          <a:prstGeom prst="rect">
            <a:avLst/>
          </a:prstGeom>
          <a:solidFill>
            <a:srgbClr val="E9F4EF"/>
          </a:solidFill>
          <a:ln/>
        </p:spPr>
      </p:sp>
      <p:sp>
        <p:nvSpPr>
          <p:cNvPr id="83" name="Shape 80"/>
          <p:cNvSpPr/>
          <p:nvPr/>
        </p:nvSpPr>
        <p:spPr>
          <a:xfrm>
            <a:off x="1687068" y="4521708"/>
            <a:ext cx="118872" cy="118872"/>
          </a:xfrm>
          <a:prstGeom prst="rect">
            <a:avLst/>
          </a:prstGeom>
          <a:solidFill>
            <a:srgbClr val="E9F4EF"/>
          </a:solidFill>
          <a:ln/>
        </p:spPr>
      </p:sp>
      <p:sp>
        <p:nvSpPr>
          <p:cNvPr id="84" name="Shape 81"/>
          <p:cNvSpPr/>
          <p:nvPr/>
        </p:nvSpPr>
        <p:spPr>
          <a:xfrm>
            <a:off x="1847088" y="4521708"/>
            <a:ext cx="118872" cy="118872"/>
          </a:xfrm>
          <a:prstGeom prst="rect">
            <a:avLst/>
          </a:prstGeom>
          <a:solidFill>
            <a:srgbClr val="E9F4EF"/>
          </a:solidFill>
          <a:ln/>
        </p:spPr>
      </p:sp>
      <p:sp>
        <p:nvSpPr>
          <p:cNvPr id="85" name="Shape 82"/>
          <p:cNvSpPr/>
          <p:nvPr/>
        </p:nvSpPr>
        <p:spPr>
          <a:xfrm>
            <a:off x="2007108" y="4521708"/>
            <a:ext cx="118872" cy="118872"/>
          </a:xfrm>
          <a:prstGeom prst="rect">
            <a:avLst/>
          </a:prstGeom>
          <a:solidFill>
            <a:srgbClr val="E9F4EF"/>
          </a:solidFill>
          <a:ln/>
        </p:spPr>
      </p:sp>
      <p:sp>
        <p:nvSpPr>
          <p:cNvPr id="86" name="Shape 83"/>
          <p:cNvSpPr/>
          <p:nvPr/>
        </p:nvSpPr>
        <p:spPr>
          <a:xfrm>
            <a:off x="2167128" y="4521708"/>
            <a:ext cx="118872" cy="118872"/>
          </a:xfrm>
          <a:prstGeom prst="rect">
            <a:avLst/>
          </a:prstGeom>
          <a:solidFill>
            <a:srgbClr val="E9F4EF"/>
          </a:solidFill>
          <a:ln/>
        </p:spPr>
      </p:sp>
      <p:sp>
        <p:nvSpPr>
          <p:cNvPr id="87" name="Shape 84"/>
          <p:cNvSpPr/>
          <p:nvPr/>
        </p:nvSpPr>
        <p:spPr>
          <a:xfrm>
            <a:off x="2327148" y="4521708"/>
            <a:ext cx="118872" cy="118872"/>
          </a:xfrm>
          <a:prstGeom prst="rect">
            <a:avLst/>
          </a:prstGeom>
          <a:solidFill>
            <a:srgbClr val="E9F4EF"/>
          </a:solidFill>
          <a:ln/>
        </p:spPr>
      </p:sp>
      <p:sp>
        <p:nvSpPr>
          <p:cNvPr id="88" name="Shape 85"/>
          <p:cNvSpPr/>
          <p:nvPr/>
        </p:nvSpPr>
        <p:spPr>
          <a:xfrm>
            <a:off x="2487168" y="4521708"/>
            <a:ext cx="118872" cy="118872"/>
          </a:xfrm>
          <a:prstGeom prst="rect">
            <a:avLst/>
          </a:prstGeom>
          <a:solidFill>
            <a:srgbClr val="E9F4EF"/>
          </a:solidFill>
          <a:ln/>
        </p:spPr>
      </p:sp>
      <p:sp>
        <p:nvSpPr>
          <p:cNvPr id="89" name="Shape 86"/>
          <p:cNvSpPr/>
          <p:nvPr/>
        </p:nvSpPr>
        <p:spPr>
          <a:xfrm>
            <a:off x="2647188" y="4521708"/>
            <a:ext cx="118872" cy="118872"/>
          </a:xfrm>
          <a:prstGeom prst="rect">
            <a:avLst/>
          </a:prstGeom>
          <a:solidFill>
            <a:srgbClr val="E9F4EF"/>
          </a:solidFill>
          <a:ln/>
        </p:spPr>
      </p:sp>
      <p:sp>
        <p:nvSpPr>
          <p:cNvPr id="90" name="Shape 87"/>
          <p:cNvSpPr/>
          <p:nvPr/>
        </p:nvSpPr>
        <p:spPr>
          <a:xfrm>
            <a:off x="2807208" y="4521708"/>
            <a:ext cx="118872" cy="118872"/>
          </a:xfrm>
          <a:prstGeom prst="rect">
            <a:avLst/>
          </a:prstGeom>
          <a:solidFill>
            <a:srgbClr val="E9F4EF"/>
          </a:solidFill>
          <a:ln/>
        </p:spPr>
      </p:sp>
      <p:sp>
        <p:nvSpPr>
          <p:cNvPr id="91" name="Shape 88"/>
          <p:cNvSpPr/>
          <p:nvPr/>
        </p:nvSpPr>
        <p:spPr>
          <a:xfrm>
            <a:off x="2967228" y="4521708"/>
            <a:ext cx="118872" cy="118872"/>
          </a:xfrm>
          <a:prstGeom prst="rect">
            <a:avLst/>
          </a:prstGeom>
          <a:solidFill>
            <a:srgbClr val="E9F4EF"/>
          </a:solidFill>
          <a:ln/>
        </p:spPr>
      </p:sp>
      <p:sp>
        <p:nvSpPr>
          <p:cNvPr id="92" name="Shape 89"/>
          <p:cNvSpPr/>
          <p:nvPr/>
        </p:nvSpPr>
        <p:spPr>
          <a:xfrm>
            <a:off x="3127248" y="4521708"/>
            <a:ext cx="118872" cy="118872"/>
          </a:xfrm>
          <a:prstGeom prst="rect">
            <a:avLst/>
          </a:prstGeom>
          <a:solidFill>
            <a:srgbClr val="E9F4EF"/>
          </a:solidFill>
          <a:ln/>
        </p:spPr>
      </p:sp>
      <p:sp>
        <p:nvSpPr>
          <p:cNvPr id="93" name="Shape 90"/>
          <p:cNvSpPr/>
          <p:nvPr/>
        </p:nvSpPr>
        <p:spPr>
          <a:xfrm>
            <a:off x="3287268" y="4521708"/>
            <a:ext cx="118872" cy="118872"/>
          </a:xfrm>
          <a:prstGeom prst="rect">
            <a:avLst/>
          </a:prstGeom>
          <a:solidFill>
            <a:srgbClr val="E9F4EF"/>
          </a:solidFill>
          <a:ln/>
        </p:spPr>
      </p:sp>
      <p:sp>
        <p:nvSpPr>
          <p:cNvPr id="94" name="Shape 91"/>
          <p:cNvSpPr/>
          <p:nvPr/>
        </p:nvSpPr>
        <p:spPr>
          <a:xfrm>
            <a:off x="3447288" y="4521708"/>
            <a:ext cx="118872" cy="118872"/>
          </a:xfrm>
          <a:prstGeom prst="rect">
            <a:avLst/>
          </a:prstGeom>
          <a:solidFill>
            <a:srgbClr val="E9F4EF"/>
          </a:solidFill>
          <a:ln/>
        </p:spPr>
      </p:sp>
      <p:sp>
        <p:nvSpPr>
          <p:cNvPr id="95" name="Shape 92"/>
          <p:cNvSpPr/>
          <p:nvPr/>
        </p:nvSpPr>
        <p:spPr>
          <a:xfrm>
            <a:off x="3607308" y="4521708"/>
            <a:ext cx="118872" cy="118872"/>
          </a:xfrm>
          <a:prstGeom prst="rect">
            <a:avLst/>
          </a:prstGeom>
          <a:solidFill>
            <a:srgbClr val="E9F4EF"/>
          </a:solidFill>
          <a:ln/>
        </p:spPr>
      </p:sp>
      <p:sp>
        <p:nvSpPr>
          <p:cNvPr id="96" name="Shape 93"/>
          <p:cNvSpPr/>
          <p:nvPr/>
        </p:nvSpPr>
        <p:spPr>
          <a:xfrm>
            <a:off x="566928" y="4681728"/>
            <a:ext cx="118872" cy="118872"/>
          </a:xfrm>
          <a:prstGeom prst="rect">
            <a:avLst/>
          </a:prstGeom>
          <a:solidFill>
            <a:srgbClr val="E9F4EF"/>
          </a:solidFill>
          <a:ln/>
        </p:spPr>
      </p:sp>
      <p:sp>
        <p:nvSpPr>
          <p:cNvPr id="97" name="Shape 94"/>
          <p:cNvSpPr/>
          <p:nvPr/>
        </p:nvSpPr>
        <p:spPr>
          <a:xfrm>
            <a:off x="726948" y="4681728"/>
            <a:ext cx="118872" cy="118872"/>
          </a:xfrm>
          <a:prstGeom prst="rect">
            <a:avLst/>
          </a:prstGeom>
          <a:solidFill>
            <a:srgbClr val="E9F4EF"/>
          </a:solidFill>
          <a:ln/>
        </p:spPr>
      </p:sp>
      <p:sp>
        <p:nvSpPr>
          <p:cNvPr id="98" name="Shape 95"/>
          <p:cNvSpPr/>
          <p:nvPr/>
        </p:nvSpPr>
        <p:spPr>
          <a:xfrm>
            <a:off x="886968" y="4681728"/>
            <a:ext cx="118872" cy="118872"/>
          </a:xfrm>
          <a:prstGeom prst="rect">
            <a:avLst/>
          </a:prstGeom>
          <a:solidFill>
            <a:srgbClr val="E9F4EF"/>
          </a:solidFill>
          <a:ln/>
        </p:spPr>
      </p:sp>
      <p:sp>
        <p:nvSpPr>
          <p:cNvPr id="99" name="Shape 96"/>
          <p:cNvSpPr/>
          <p:nvPr/>
        </p:nvSpPr>
        <p:spPr>
          <a:xfrm>
            <a:off x="1046988" y="4681728"/>
            <a:ext cx="118872" cy="118872"/>
          </a:xfrm>
          <a:prstGeom prst="rect">
            <a:avLst/>
          </a:prstGeom>
          <a:solidFill>
            <a:srgbClr val="E9F4EF"/>
          </a:solidFill>
          <a:ln/>
        </p:spPr>
      </p:sp>
      <p:sp>
        <p:nvSpPr>
          <p:cNvPr id="100" name="Shape 97"/>
          <p:cNvSpPr/>
          <p:nvPr/>
        </p:nvSpPr>
        <p:spPr>
          <a:xfrm>
            <a:off x="1207008" y="4681728"/>
            <a:ext cx="118872" cy="118872"/>
          </a:xfrm>
          <a:prstGeom prst="rect">
            <a:avLst/>
          </a:prstGeom>
          <a:solidFill>
            <a:srgbClr val="E9F4EF"/>
          </a:solidFill>
          <a:ln/>
        </p:spPr>
      </p:sp>
      <p:sp>
        <p:nvSpPr>
          <p:cNvPr id="101" name="Shape 98"/>
          <p:cNvSpPr/>
          <p:nvPr/>
        </p:nvSpPr>
        <p:spPr>
          <a:xfrm>
            <a:off x="1367028" y="4681728"/>
            <a:ext cx="118872" cy="118872"/>
          </a:xfrm>
          <a:prstGeom prst="rect">
            <a:avLst/>
          </a:prstGeom>
          <a:solidFill>
            <a:srgbClr val="E9F4EF"/>
          </a:solidFill>
          <a:ln/>
        </p:spPr>
      </p:sp>
      <p:sp>
        <p:nvSpPr>
          <p:cNvPr id="102" name="Shape 99"/>
          <p:cNvSpPr/>
          <p:nvPr/>
        </p:nvSpPr>
        <p:spPr>
          <a:xfrm>
            <a:off x="1527048" y="4681728"/>
            <a:ext cx="118872" cy="118872"/>
          </a:xfrm>
          <a:prstGeom prst="rect">
            <a:avLst/>
          </a:prstGeom>
          <a:solidFill>
            <a:srgbClr val="E9F4EF"/>
          </a:solidFill>
          <a:ln/>
        </p:spPr>
      </p:sp>
      <p:sp>
        <p:nvSpPr>
          <p:cNvPr id="103" name="Shape 100"/>
          <p:cNvSpPr/>
          <p:nvPr/>
        </p:nvSpPr>
        <p:spPr>
          <a:xfrm>
            <a:off x="1687068" y="4681728"/>
            <a:ext cx="118872" cy="118872"/>
          </a:xfrm>
          <a:prstGeom prst="rect">
            <a:avLst/>
          </a:prstGeom>
          <a:solidFill>
            <a:srgbClr val="E9F4EF"/>
          </a:solidFill>
          <a:ln/>
        </p:spPr>
      </p:sp>
      <p:sp>
        <p:nvSpPr>
          <p:cNvPr id="104" name="Shape 101"/>
          <p:cNvSpPr/>
          <p:nvPr/>
        </p:nvSpPr>
        <p:spPr>
          <a:xfrm>
            <a:off x="1847088" y="4681728"/>
            <a:ext cx="118872" cy="118872"/>
          </a:xfrm>
          <a:prstGeom prst="rect">
            <a:avLst/>
          </a:prstGeom>
          <a:solidFill>
            <a:srgbClr val="E9F4EF"/>
          </a:solidFill>
          <a:ln/>
        </p:spPr>
      </p:sp>
      <p:sp>
        <p:nvSpPr>
          <p:cNvPr id="105" name="Shape 102"/>
          <p:cNvSpPr/>
          <p:nvPr/>
        </p:nvSpPr>
        <p:spPr>
          <a:xfrm>
            <a:off x="2007108" y="4681728"/>
            <a:ext cx="118872" cy="118872"/>
          </a:xfrm>
          <a:prstGeom prst="rect">
            <a:avLst/>
          </a:prstGeom>
          <a:solidFill>
            <a:srgbClr val="E9F4EF"/>
          </a:solidFill>
          <a:ln/>
        </p:spPr>
      </p:sp>
      <p:sp>
        <p:nvSpPr>
          <p:cNvPr id="106" name="Shape 103"/>
          <p:cNvSpPr/>
          <p:nvPr/>
        </p:nvSpPr>
        <p:spPr>
          <a:xfrm>
            <a:off x="2167128" y="4681728"/>
            <a:ext cx="118872" cy="118872"/>
          </a:xfrm>
          <a:prstGeom prst="rect">
            <a:avLst/>
          </a:prstGeom>
          <a:solidFill>
            <a:srgbClr val="E9F4EF"/>
          </a:solidFill>
          <a:ln/>
        </p:spPr>
      </p:sp>
      <p:sp>
        <p:nvSpPr>
          <p:cNvPr id="107" name="Shape 104"/>
          <p:cNvSpPr/>
          <p:nvPr/>
        </p:nvSpPr>
        <p:spPr>
          <a:xfrm>
            <a:off x="2327148" y="4681728"/>
            <a:ext cx="118872" cy="118872"/>
          </a:xfrm>
          <a:prstGeom prst="rect">
            <a:avLst/>
          </a:prstGeom>
          <a:solidFill>
            <a:srgbClr val="E9F4EF"/>
          </a:solidFill>
          <a:ln/>
        </p:spPr>
      </p:sp>
      <p:sp>
        <p:nvSpPr>
          <p:cNvPr id="108" name="Shape 105"/>
          <p:cNvSpPr/>
          <p:nvPr/>
        </p:nvSpPr>
        <p:spPr>
          <a:xfrm>
            <a:off x="2487168" y="4681728"/>
            <a:ext cx="118872" cy="118872"/>
          </a:xfrm>
          <a:prstGeom prst="rect">
            <a:avLst/>
          </a:prstGeom>
          <a:solidFill>
            <a:srgbClr val="E9F4EF"/>
          </a:solidFill>
          <a:ln/>
        </p:spPr>
      </p:sp>
      <p:sp>
        <p:nvSpPr>
          <p:cNvPr id="109" name="Shape 106"/>
          <p:cNvSpPr/>
          <p:nvPr/>
        </p:nvSpPr>
        <p:spPr>
          <a:xfrm>
            <a:off x="2647188" y="4681728"/>
            <a:ext cx="118872" cy="118872"/>
          </a:xfrm>
          <a:prstGeom prst="rect">
            <a:avLst/>
          </a:prstGeom>
          <a:solidFill>
            <a:srgbClr val="E9F4EF"/>
          </a:solidFill>
          <a:ln/>
        </p:spPr>
      </p:sp>
      <p:sp>
        <p:nvSpPr>
          <p:cNvPr id="110" name="Shape 107"/>
          <p:cNvSpPr/>
          <p:nvPr/>
        </p:nvSpPr>
        <p:spPr>
          <a:xfrm>
            <a:off x="2807208" y="4681728"/>
            <a:ext cx="118872" cy="118872"/>
          </a:xfrm>
          <a:prstGeom prst="rect">
            <a:avLst/>
          </a:prstGeom>
          <a:solidFill>
            <a:srgbClr val="E9F4EF"/>
          </a:solidFill>
          <a:ln/>
        </p:spPr>
      </p:sp>
      <p:sp>
        <p:nvSpPr>
          <p:cNvPr id="111" name="Shape 108"/>
          <p:cNvSpPr/>
          <p:nvPr/>
        </p:nvSpPr>
        <p:spPr>
          <a:xfrm>
            <a:off x="2967228" y="4681728"/>
            <a:ext cx="118872" cy="118872"/>
          </a:xfrm>
          <a:prstGeom prst="rect">
            <a:avLst/>
          </a:prstGeom>
          <a:solidFill>
            <a:srgbClr val="E9F4EF"/>
          </a:solidFill>
          <a:ln/>
        </p:spPr>
      </p:sp>
      <p:sp>
        <p:nvSpPr>
          <p:cNvPr id="112" name="Shape 109"/>
          <p:cNvSpPr/>
          <p:nvPr/>
        </p:nvSpPr>
        <p:spPr>
          <a:xfrm>
            <a:off x="3127248" y="4681728"/>
            <a:ext cx="118872" cy="118872"/>
          </a:xfrm>
          <a:prstGeom prst="rect">
            <a:avLst/>
          </a:prstGeom>
          <a:solidFill>
            <a:srgbClr val="E9F4EF"/>
          </a:solidFill>
          <a:ln/>
        </p:spPr>
      </p:sp>
      <p:sp>
        <p:nvSpPr>
          <p:cNvPr id="113" name="Shape 110"/>
          <p:cNvSpPr/>
          <p:nvPr/>
        </p:nvSpPr>
        <p:spPr>
          <a:xfrm>
            <a:off x="3287268" y="4681728"/>
            <a:ext cx="118872" cy="118872"/>
          </a:xfrm>
          <a:prstGeom prst="rect">
            <a:avLst/>
          </a:prstGeom>
          <a:solidFill>
            <a:srgbClr val="E9F4EF"/>
          </a:solidFill>
          <a:ln/>
        </p:spPr>
      </p:sp>
      <p:sp>
        <p:nvSpPr>
          <p:cNvPr id="114" name="Shape 111"/>
          <p:cNvSpPr/>
          <p:nvPr/>
        </p:nvSpPr>
        <p:spPr>
          <a:xfrm>
            <a:off x="3447288" y="4681728"/>
            <a:ext cx="118872" cy="118872"/>
          </a:xfrm>
          <a:prstGeom prst="rect">
            <a:avLst/>
          </a:prstGeom>
          <a:solidFill>
            <a:srgbClr val="E9F4EF"/>
          </a:solidFill>
          <a:ln/>
        </p:spPr>
      </p:sp>
      <p:sp>
        <p:nvSpPr>
          <p:cNvPr id="115" name="Shape 112"/>
          <p:cNvSpPr/>
          <p:nvPr/>
        </p:nvSpPr>
        <p:spPr>
          <a:xfrm>
            <a:off x="3607308" y="4681728"/>
            <a:ext cx="118872" cy="11887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116" name="Text 113"/>
          <p:cNvSpPr/>
          <p:nvPr/>
        </p:nvSpPr>
        <p:spPr>
          <a:xfrm>
            <a:off x="4137660" y="4087368"/>
            <a:ext cx="74935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100 звернень</a:t>
            </a:r>
            <a:pPr indent="0" marL="0">
              <a:buNone/>
            </a:pPr>
            <a:r>
              <a:rPr lang="en-US" sz="12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 ·  один червоний квадрат — увесь ваш тижневий бюджет невдач</a:t>
            </a:r>
            <a:endParaRPr lang="en-US" sz="1250" dirty="0"/>
          </a:p>
        </p:txBody>
      </p:sp>
      <p:sp>
        <p:nvSpPr>
          <p:cNvPr id="117" name="Text 114"/>
          <p:cNvSpPr/>
          <p:nvPr/>
        </p:nvSpPr>
        <p:spPr>
          <a:xfrm>
            <a:off x="4137660" y="4480560"/>
            <a:ext cx="74935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9AA1A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 10 000 звернень на тиждень це 100 невдач — і вони закінчуються швидше, ніж здається</a:t>
            </a:r>
            <a:endParaRPr lang="en-US" sz="1150" dirty="0"/>
          </a:p>
        </p:txBody>
      </p:sp>
      <p:sp>
        <p:nvSpPr>
          <p:cNvPr id="118" name="Shape 115"/>
          <p:cNvSpPr/>
          <p:nvPr/>
        </p:nvSpPr>
        <p:spPr>
          <a:xfrm>
            <a:off x="566928" y="4983480"/>
            <a:ext cx="11064240" cy="685800"/>
          </a:xfrm>
          <a:prstGeom prst="roundRect">
            <a:avLst>
              <a:gd name="adj" fmla="val 16000"/>
            </a:avLst>
          </a:prstGeom>
          <a:solidFill>
            <a:srgbClr val="E9F4EF"/>
          </a:solidFill>
          <a:ln/>
        </p:spPr>
      </p:sp>
      <p:sp>
        <p:nvSpPr>
          <p:cNvPr id="119" name="Text 116"/>
          <p:cNvSpPr/>
          <p:nvPr/>
        </p:nvSpPr>
        <p:spPr>
          <a:xfrm>
            <a:off x="786384" y="511149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120" name="Text 117"/>
          <p:cNvSpPr/>
          <p:nvPr/>
        </p:nvSpPr>
        <p:spPr>
          <a:xfrm>
            <a:off x="786384" y="5367528"/>
            <a:ext cx="1062532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«Uptime 99.9%» — марна обіцянка. Робочий SLI — частка змістовних відповідей.</a:t>
            </a:r>
            <a:endParaRPr lang="en-US" sz="1300" dirty="0"/>
          </a:p>
        </p:txBody>
      </p:sp>
      <p:sp>
        <p:nvSpPr>
          <p:cNvPr id="121" name="Shape 118"/>
          <p:cNvSpPr/>
          <p:nvPr/>
        </p:nvSpPr>
        <p:spPr>
          <a:xfrm>
            <a:off x="566928" y="5742432"/>
            <a:ext cx="11064240" cy="411480"/>
          </a:xfrm>
          <a:prstGeom prst="roundRect">
            <a:avLst>
              <a:gd name="adj" fmla="val 26667"/>
            </a:avLst>
          </a:prstGeom>
          <a:solidFill>
            <a:srgbClr val="F8F0E2"/>
          </a:solidFill>
          <a:ln/>
        </p:spPr>
      </p:sp>
      <p:sp>
        <p:nvSpPr>
          <p:cNvPr id="122" name="Text 119"/>
          <p:cNvSpPr/>
          <p:nvPr/>
        </p:nvSpPr>
        <p:spPr>
          <a:xfrm>
            <a:off x="786384" y="5888736"/>
            <a:ext cx="10625328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Ваш лог його поки не порахує: заглушка пише той самий 503.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Алерт — це прохання прокинутися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3520440" cy="1783080"/>
          </a:xfrm>
          <a:prstGeom prst="roundRect">
            <a:avLst>
              <a:gd name="adj" fmla="val 6154"/>
            </a:avLst>
          </a:prstGeom>
          <a:solidFill>
            <a:srgbClr val="EFEAFE"/>
          </a:solidFill>
          <a:ln/>
        </p:spPr>
      </p:sp>
      <p:sp>
        <p:nvSpPr>
          <p:cNvPr id="8" name="Shape 5"/>
          <p:cNvSpPr/>
          <p:nvPr/>
        </p:nvSpPr>
        <p:spPr>
          <a:xfrm>
            <a:off x="76809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FEA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Симптом, не причина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2468880"/>
            <a:ext cx="3118104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«частка успішних упала» — будити завжди; «429 зросло» — причина, будити нечесно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270248" y="1783080"/>
            <a:ext cx="3520440" cy="1783080"/>
          </a:xfrm>
          <a:prstGeom prst="roundRect">
            <a:avLst>
              <a:gd name="adj" fmla="val 6154"/>
            </a:avLst>
          </a:prstGeom>
          <a:solidFill>
            <a:srgbClr val="EFEAFE"/>
          </a:solidFill>
          <a:ln/>
        </p:spPr>
      </p:sp>
      <p:sp>
        <p:nvSpPr>
          <p:cNvPr id="13" name="Shape 10"/>
          <p:cNvSpPr/>
          <p:nvPr/>
        </p:nvSpPr>
        <p:spPr>
          <a:xfrm>
            <a:off x="447141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447141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FEA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498348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«Прокинутися» ≠ «подивитися вранці»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4471416" y="2468880"/>
            <a:ext cx="3118104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будити — лише те, що шкодить зараз; решта — черга завдань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7973568" y="1783080"/>
            <a:ext cx="3520440" cy="1783080"/>
          </a:xfrm>
          <a:prstGeom prst="roundRect">
            <a:avLst>
              <a:gd name="adj" fmla="val 6154"/>
            </a:avLst>
          </a:prstGeom>
          <a:solidFill>
            <a:srgbClr val="EFEAFE"/>
          </a:solidFill>
          <a:ln/>
        </p:spPr>
      </p:sp>
      <p:sp>
        <p:nvSpPr>
          <p:cNvPr id="18" name="Shape 15"/>
          <p:cNvSpPr/>
          <p:nvPr/>
        </p:nvSpPr>
        <p:spPr>
          <a:xfrm>
            <a:off x="817473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817473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FEA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868680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Кожен алерт має інструкцію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8174736" y="2468880"/>
            <a:ext cx="3118104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спрацював — що робити першим? Це runbook останнього уроку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566928" y="393192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FBE9E9"/>
          </a:solidFill>
          <a:ln/>
        </p:spPr>
      </p:sp>
      <p:sp>
        <p:nvSpPr>
          <p:cNvPr id="23" name="Text 20"/>
          <p:cNvSpPr/>
          <p:nvPr/>
        </p:nvSpPr>
        <p:spPr>
          <a:xfrm>
            <a:off x="786384" y="40599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24" name="Text 21"/>
          <p:cNvSpPr/>
          <p:nvPr/>
        </p:nvSpPr>
        <p:spPr>
          <a:xfrm>
            <a:off x="786384" y="4315968"/>
            <a:ext cx="10625328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Окремі 5xx і таймаути — нормальний фон. Алерт — на відхилення в часі.</a:t>
            </a:r>
            <a:endParaRPr lang="en-US" sz="1300" dirty="0"/>
          </a:p>
        </p:txBody>
      </p:sp>
      <p:sp>
        <p:nvSpPr>
          <p:cNvPr id="25" name="Shape 22"/>
          <p:cNvSpPr/>
          <p:nvPr/>
        </p:nvSpPr>
        <p:spPr>
          <a:xfrm>
            <a:off x="566928" y="5303520"/>
            <a:ext cx="11064240" cy="5486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86384" y="5449824"/>
            <a:ext cx="106253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Мітки — тільки осяжні. User_id живе в лозі, не в метриках.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Таксономія помилок: категорія визначає дію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2167128" y="1193140"/>
            <a:ext cx="864108" cy="256032"/>
          </a:xfrm>
          <a:prstGeom prst="roundRect">
            <a:avLst>
              <a:gd name="adj" fmla="val 50000"/>
            </a:avLst>
          </a:prstGeom>
          <a:solidFill>
            <a:srgbClr val="F8F0E2"/>
          </a:solidFill>
          <a:ln/>
        </p:spPr>
      </p:sp>
      <p:sp>
        <p:nvSpPr>
          <p:cNvPr id="7" name="Text 5"/>
          <p:cNvSpPr/>
          <p:nvPr/>
        </p:nvSpPr>
        <p:spPr>
          <a:xfrm>
            <a:off x="2167128" y="1193140"/>
            <a:ext cx="8641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ОПЦІЙНО</a:t>
            </a:r>
            <a:endParaRPr lang="en-US" sz="9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920240"/>
          <a:ext cx="11064240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4023360"/>
                <a:gridCol w="3931920"/>
              </a:tblGrid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9AA1A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категорія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9AA1A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приклад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9AA1A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що робити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B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9A5B12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429 провайдера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0E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вичерпані ліміти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0E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розводити трафік, домовлятися про квоту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0E2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timeout інструмента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зовнішня система не відповіла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перевіряти інтеграцію, не модель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B8A5A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відмова guardrail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4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injection або заборонений вміст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4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це успіх захисту, а не збій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4EF"/>
                    </a:solidFill>
                  </a:tcPr>
                </a:tc>
              </a:tr>
            </a:tbl>
          </a:graphicData>
        </a:graphic>
      </p:graphicFrame>
      <p:sp>
        <p:nvSpPr>
          <p:cNvPr id="10" name="Shape 6"/>
          <p:cNvSpPr/>
          <p:nvPr/>
        </p:nvSpPr>
        <p:spPr>
          <a:xfrm>
            <a:off x="566928" y="416052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5A05F4"/>
          </a:solidFill>
          <a:ln/>
        </p:spPr>
      </p:sp>
      <p:sp>
        <p:nvSpPr>
          <p:cNvPr id="11" name="Text 7"/>
          <p:cNvSpPr/>
          <p:nvPr/>
        </p:nvSpPr>
        <p:spPr>
          <a:xfrm>
            <a:off x="786384" y="4306824"/>
            <a:ext cx="1062532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Один лічильник «помилки» змішує три різні світи. Окремі лічильники за причинами перетворюють цифру на маршрут дій.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Трейс і спани: коли одного request_id мало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874520"/>
            <a:ext cx="2423160" cy="713232"/>
          </a:xfrm>
          <a:prstGeom prst="roundRect">
            <a:avLst>
              <a:gd name="adj" fmla="val 12821"/>
            </a:avLst>
          </a:prstGeom>
          <a:solidFill>
            <a:srgbClr val="EFEAFE"/>
          </a:solidFill>
          <a:ln/>
        </p:spPr>
      </p:sp>
      <p:sp>
        <p:nvSpPr>
          <p:cNvPr id="8" name="Text 5"/>
          <p:cNvSpPr/>
          <p:nvPr/>
        </p:nvSpPr>
        <p:spPr>
          <a:xfrm>
            <a:off x="621792" y="1874520"/>
            <a:ext cx="23134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request_id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3081528" y="2231136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 rot="5400000">
            <a:off x="3209544" y="2162556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1" name="Shape 8"/>
          <p:cNvSpPr/>
          <p:nvPr/>
        </p:nvSpPr>
        <p:spPr>
          <a:xfrm>
            <a:off x="3447288" y="1874520"/>
            <a:ext cx="2423160" cy="713232"/>
          </a:xfrm>
          <a:prstGeom prst="roundRect">
            <a:avLst>
              <a:gd name="adj" fmla="val 12821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3502152" y="1874520"/>
            <a:ext cx="23134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113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 step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5961888" y="2231136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 rot="5400000">
            <a:off x="6089904" y="2162556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5" name="Shape 12"/>
          <p:cNvSpPr/>
          <p:nvPr/>
        </p:nvSpPr>
        <p:spPr>
          <a:xfrm>
            <a:off x="6327648" y="1874520"/>
            <a:ext cx="2423160" cy="713232"/>
          </a:xfrm>
          <a:prstGeom prst="roundRect">
            <a:avLst>
              <a:gd name="adj" fmla="val 12821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382512" y="1874520"/>
            <a:ext cx="23134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113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 attempt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8842248" y="2231136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 rot="5400000">
            <a:off x="8970264" y="2162556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9" name="Shape 16"/>
          <p:cNvSpPr/>
          <p:nvPr/>
        </p:nvSpPr>
        <p:spPr>
          <a:xfrm>
            <a:off x="9208008" y="1874520"/>
            <a:ext cx="2423160" cy="713232"/>
          </a:xfrm>
          <a:prstGeom prst="roundRect">
            <a:avLst>
              <a:gd name="adj" fmla="val 12821"/>
            </a:avLst>
          </a:prstGeom>
          <a:solidFill>
            <a:srgbClr val="E9F4EF"/>
          </a:solidFill>
          <a:ln/>
        </p:spPr>
      </p:sp>
      <p:sp>
        <p:nvSpPr>
          <p:cNvPr id="20" name="Text 17"/>
          <p:cNvSpPr/>
          <p:nvPr/>
        </p:nvSpPr>
        <p:spPr>
          <a:xfrm>
            <a:off x="9262872" y="1874520"/>
            <a:ext cx="23134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шлях запиту відновлено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566928" y="292608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768096" y="3108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3" name="Text 20"/>
          <p:cNvSpPr/>
          <p:nvPr/>
        </p:nvSpPr>
        <p:spPr>
          <a:xfrm>
            <a:off x="768096" y="3108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1280160" y="3081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Трейс</a:t>
            </a:r>
            <a:endParaRPr lang="en-US" sz="1450" dirty="0"/>
          </a:p>
        </p:txBody>
      </p:sp>
      <p:sp>
        <p:nvSpPr>
          <p:cNvPr id="25" name="Text 22"/>
          <p:cNvSpPr/>
          <p:nvPr/>
        </p:nvSpPr>
        <p:spPr>
          <a:xfrm>
            <a:off x="768096" y="3611880"/>
            <a:ext cx="31181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усе, що сталося в межах одного звернення користувача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4270248" y="292608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4471416" y="3108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8" name="Text 25"/>
          <p:cNvSpPr/>
          <p:nvPr/>
        </p:nvSpPr>
        <p:spPr>
          <a:xfrm>
            <a:off x="4471416" y="3108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29" name="Text 26"/>
          <p:cNvSpPr/>
          <p:nvPr/>
        </p:nvSpPr>
        <p:spPr>
          <a:xfrm>
            <a:off x="4983480" y="3081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Спан</a:t>
            </a:r>
            <a:endParaRPr lang="en-US" sz="1450" dirty="0"/>
          </a:p>
        </p:txBody>
      </p:sp>
      <p:sp>
        <p:nvSpPr>
          <p:cNvPr id="30" name="Text 27"/>
          <p:cNvSpPr/>
          <p:nvPr/>
        </p:nvSpPr>
        <p:spPr>
          <a:xfrm>
            <a:off x="4471416" y="3611880"/>
            <a:ext cx="31181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один крок усередині: виклик, інструмент, guardrail — зі своїм статусом</a:t>
            </a:r>
            <a:endParaRPr lang="en-US" sz="1200" dirty="0"/>
          </a:p>
        </p:txBody>
      </p:sp>
      <p:sp>
        <p:nvSpPr>
          <p:cNvPr id="31" name="Shape 28"/>
          <p:cNvSpPr/>
          <p:nvPr/>
        </p:nvSpPr>
        <p:spPr>
          <a:xfrm>
            <a:off x="7973568" y="292608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8174736" y="3108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3" name="Text 30"/>
          <p:cNvSpPr/>
          <p:nvPr/>
        </p:nvSpPr>
        <p:spPr>
          <a:xfrm>
            <a:off x="8174736" y="3108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34" name="Text 31"/>
          <p:cNvSpPr/>
          <p:nvPr/>
        </p:nvSpPr>
        <p:spPr>
          <a:xfrm>
            <a:off x="8686800" y="3081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Дерево спанів</a:t>
            </a:r>
            <a:endParaRPr lang="en-US" sz="1450" dirty="0"/>
          </a:p>
        </p:txBody>
      </p:sp>
      <p:sp>
        <p:nvSpPr>
          <p:cNvPr id="35" name="Text 32"/>
          <p:cNvSpPr/>
          <p:nvPr/>
        </p:nvSpPr>
        <p:spPr>
          <a:xfrm>
            <a:off x="8174736" y="3611880"/>
            <a:ext cx="31181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кожного є батько — видно не лише «що було», а й «що з чого виросло»</a:t>
            </a:r>
            <a:endParaRPr lang="en-US" sz="1200" dirty="0"/>
          </a:p>
        </p:txBody>
      </p:sp>
      <p:sp>
        <p:nvSpPr>
          <p:cNvPr id="36" name="Shape 33"/>
          <p:cNvSpPr/>
          <p:nvPr/>
        </p:nvSpPr>
        <p:spPr>
          <a:xfrm>
            <a:off x="566928" y="480060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E9F4EF"/>
          </a:solidFill>
          <a:ln/>
        </p:spPr>
      </p:sp>
      <p:sp>
        <p:nvSpPr>
          <p:cNvPr id="37" name="Text 34"/>
          <p:cNvSpPr/>
          <p:nvPr/>
        </p:nvSpPr>
        <p:spPr>
          <a:xfrm>
            <a:off x="786384" y="49286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ЗАКЛАДІТЬ ВІДРАЗУ</a:t>
            </a:r>
            <a:endParaRPr lang="en-US" sz="950" dirty="0"/>
          </a:p>
        </p:txBody>
      </p:sp>
      <p:sp>
        <p:nvSpPr>
          <p:cNvPr id="38" name="Text 35"/>
          <p:cNvSpPr/>
          <p:nvPr/>
        </p:nvSpPr>
        <p:spPr>
          <a:xfrm>
            <a:off x="786384" y="5184648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Ідентифікатор народжується на вході й стоїть у кожному рядку лога.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Стрімінг змінює самі метрики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1280160" y="1005840"/>
            <a:ext cx="6126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Знати заздалегідь дешевше, ніж переробляти лог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1280160" y="1271016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6" name="Text 4"/>
          <p:cNvSpPr/>
          <p:nvPr/>
        </p:nvSpPr>
        <p:spPr>
          <a:xfrm>
            <a:off x="1280160" y="127101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920240"/>
            <a:ext cx="3520440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68096" y="21031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2103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280160" y="20756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Один час стає трьома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2606040"/>
            <a:ext cx="3118104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час до першого токена, повна генерація, час до останнього байта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270248" y="1920240"/>
            <a:ext cx="3520440" cy="2103120"/>
          </a:xfrm>
          <a:prstGeom prst="roundRect">
            <a:avLst>
              <a:gd name="adj" fmla="val 5217"/>
            </a:avLst>
          </a:prstGeom>
          <a:solidFill>
            <a:srgbClr val="FBE9E9"/>
          </a:solidFill>
          <a:ln/>
        </p:spPr>
      </p:sp>
      <p:sp>
        <p:nvSpPr>
          <p:cNvPr id="14" name="Shape 11"/>
          <p:cNvSpPr/>
          <p:nvPr/>
        </p:nvSpPr>
        <p:spPr>
          <a:xfrm>
            <a:off x="4471416" y="2103120"/>
            <a:ext cx="384048" cy="384048"/>
          </a:xfrm>
          <a:prstGeom prst="ellipse">
            <a:avLst/>
          </a:prstGeom>
          <a:solidFill>
            <a:srgbClr val="C62A2A"/>
          </a:solidFill>
          <a:ln/>
        </p:spPr>
      </p:sp>
      <p:sp>
        <p:nvSpPr>
          <p:cNvPr id="15" name="Text 12"/>
          <p:cNvSpPr/>
          <p:nvPr/>
        </p:nvSpPr>
        <p:spPr>
          <a:xfrm>
            <a:off x="4471416" y="2103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BE9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983480" y="20756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Помилка посеред успіху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4471416" y="2606040"/>
            <a:ext cx="3118104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стрім почався з 200 і обірвався: для HTTP гаразд, для користувача — ні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7973568" y="1920240"/>
            <a:ext cx="3520440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8174736" y="21031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8174736" y="2103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8686800" y="20756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Кеш і guardrails складнішають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8174736" y="2606040"/>
            <a:ext cx="3118104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кешувати можна лише зібрану відповідь; вихідна перевірка мусить уміти обірвати потік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566928" y="4297680"/>
            <a:ext cx="11064240" cy="1600200"/>
          </a:xfrm>
          <a:prstGeom prst="roundRect">
            <a:avLst>
              <a:gd name="adj" fmla="val 6857"/>
            </a:avLst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786384" y="442569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ПРАКТИЧНИЙ ВИСНОВОК НА СЬОГОДНІ</a:t>
            </a:r>
            <a:endParaRPr lang="en-US" sz="950" dirty="0"/>
          </a:p>
        </p:txBody>
      </p:sp>
      <p:sp>
        <p:nvSpPr>
          <p:cNvPr id="25" name="Text 22"/>
          <p:cNvSpPr/>
          <p:nvPr/>
        </p:nvSpPr>
        <p:spPr>
          <a:xfrm>
            <a:off x="786384" y="4681728"/>
            <a:ext cx="10625328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latency_ms і status — характеристика завершення відповіді, а не код HTTP.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Чого не має бути в лозі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1280160" y="1005840"/>
            <a:ext cx="6126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Логувати все — найпростіший спосіб зробити з лога сховище персональних даних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1280160" y="1490472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6" name="Text 4"/>
          <p:cNvSpPr/>
          <p:nvPr/>
        </p:nvSpPr>
        <p:spPr>
          <a:xfrm>
            <a:off x="1280160" y="1490472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920240"/>
            <a:ext cx="3520440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68096" y="21031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2103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280160" y="20756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Повні тіла — не за замовчуванням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2606040"/>
            <a:ext cx="3118104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ознак досить: довжина, токени, finish_reason, guardrail, які інструменти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270248" y="1920240"/>
            <a:ext cx="3520440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4471416" y="21031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4471416" y="2103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983480" y="20756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Тіла — семпл із терміном життя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4471416" y="2606040"/>
            <a:ext cx="3118104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невелика частка, окреме сховище, автоматичне видалення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7973568" y="1920240"/>
            <a:ext cx="3520440" cy="2103120"/>
          </a:xfrm>
          <a:prstGeom prst="roundRect">
            <a:avLst>
              <a:gd name="adj" fmla="val 5217"/>
            </a:avLst>
          </a:prstGeom>
          <a:solidFill>
            <a:srgbClr val="FBE9E9"/>
          </a:solidFill>
          <a:ln/>
        </p:spPr>
      </p:sp>
      <p:sp>
        <p:nvSpPr>
          <p:cNvPr id="19" name="Shape 16"/>
          <p:cNvSpPr/>
          <p:nvPr/>
        </p:nvSpPr>
        <p:spPr>
          <a:xfrm>
            <a:off x="8174736" y="2103120"/>
            <a:ext cx="384048" cy="384048"/>
          </a:xfrm>
          <a:prstGeom prst="ellipse">
            <a:avLst/>
          </a:prstGeom>
          <a:solidFill>
            <a:srgbClr val="C62A2A"/>
          </a:solidFill>
          <a:ln/>
        </p:spPr>
      </p:sp>
      <p:sp>
        <p:nvSpPr>
          <p:cNvPr id="20" name="Text 17"/>
          <p:cNvSpPr/>
          <p:nvPr/>
        </p:nvSpPr>
        <p:spPr>
          <a:xfrm>
            <a:off x="8174736" y="2103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BE9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8686800" y="20756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Секрети й ключі — ніколи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8174736" y="2606040"/>
            <a:ext cx="3118104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потрапляють через дампи запитів «для дебагу», трейси помилок і повні заголовки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566928" y="4297680"/>
            <a:ext cx="11064240" cy="1600200"/>
          </a:xfrm>
          <a:prstGeom prst="roundRect">
            <a:avLst>
              <a:gd name="adj" fmla="val 6857"/>
            </a:avLst>
          </a:prstGeom>
          <a:solidFill>
            <a:srgbClr val="E9F4EF"/>
          </a:solidFill>
          <a:ln/>
        </p:spPr>
      </p:sp>
      <p:sp>
        <p:nvSpPr>
          <p:cNvPr id="24" name="Text 21"/>
          <p:cNvSpPr/>
          <p:nvPr/>
        </p:nvSpPr>
        <p:spPr>
          <a:xfrm>
            <a:off x="786384" y="442569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ПРАВИЛО ДЛЯ КОЖНОГО НОВОГО ПОЛЯ</a:t>
            </a:r>
            <a:endParaRPr lang="en-US" sz="950" dirty="0"/>
          </a:p>
        </p:txBody>
      </p:sp>
      <p:sp>
        <p:nvSpPr>
          <p:cNvPr id="25" name="Text 22"/>
          <p:cNvSpPr/>
          <p:nvPr/>
        </p:nvSpPr>
        <p:spPr>
          <a:xfrm>
            <a:off x="786384" y="4681728"/>
            <a:ext cx="10625328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Усе залоговане ви зобов'язані захищати: лог — база даних, не блокнот.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продукті чи індустріальний стек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828800"/>
            <a:ext cx="5349240" cy="1783080"/>
          </a:xfrm>
          <a:prstGeom prst="roundRect">
            <a:avLst>
              <a:gd name="adj" fmla="val 6154"/>
            </a:avLst>
          </a:prstGeom>
          <a:solidFill>
            <a:srgbClr val="EFEAFE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98424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Обов'язкова доріжка: у продукті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514600"/>
            <a:ext cx="4946904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метрики живуть усередині системи, поверх власного лога: жодної нової інфраструктури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281928" y="1828800"/>
            <a:ext cx="5349240" cy="1783080"/>
          </a:xfrm>
          <a:prstGeom prst="roundRect">
            <a:avLst>
              <a:gd name="adj" fmla="val 6154"/>
            </a:avLst>
          </a:prstGeom>
          <a:solidFill>
            <a:srgbClr val="F8F0E2"/>
          </a:solidFill>
          <a:ln/>
        </p:spPr>
      </p:sp>
      <p:sp>
        <p:nvSpPr>
          <p:cNvPr id="11" name="Text 8"/>
          <p:cNvSpPr/>
          <p:nvPr/>
        </p:nvSpPr>
        <p:spPr>
          <a:xfrm>
            <a:off x="6483096" y="198424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Індустріальний стек — надбудова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6483096" y="2514600"/>
            <a:ext cx="4946904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/metrics і зовнішні дашборди піднімаються поруч, коли питання виходять за межі системи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566928" y="388620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F8F0E2"/>
          </a:solidFill>
          <a:ln/>
        </p:spPr>
      </p:sp>
      <p:sp>
        <p:nvSpPr>
          <p:cNvPr id="14" name="Text 11"/>
          <p:cNvSpPr/>
          <p:nvPr/>
        </p:nvSpPr>
        <p:spPr>
          <a:xfrm>
            <a:off x="786384" y="40142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ЛАЙФХАК</a:t>
            </a:r>
            <a:endParaRPr lang="en-US" sz="950" dirty="0"/>
          </a:p>
        </p:txBody>
      </p:sp>
      <p:sp>
        <p:nvSpPr>
          <p:cNvPr id="15" name="Text 12"/>
          <p:cNvSpPr/>
          <p:nvPr/>
        </p:nvSpPr>
        <p:spPr>
          <a:xfrm>
            <a:off x="786384" y="4270248"/>
            <a:ext cx="1062532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Раз на тиждень звіряйте плитку з SQL руками. Розбіжність — це або баг агрегації, або зміна, про яку ви не знали.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566928" y="5120640"/>
            <a:ext cx="11064240" cy="73152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86384" y="5266944"/>
            <a:ext cx="1062532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Порядок правильний: спершу видимість у продукті, потім — стек, якщо він справді потрібен.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Зараз ви побачите — і навіщо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1B8A5A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73736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E9F4EF"/>
          </a:solidFill>
          <a:ln/>
        </p:spPr>
      </p:sp>
      <p:sp>
        <p:nvSpPr>
          <p:cNvPr id="7" name="Shape 4"/>
          <p:cNvSpPr/>
          <p:nvPr/>
        </p:nvSpPr>
        <p:spPr>
          <a:xfrm>
            <a:off x="768096" y="1920240"/>
            <a:ext cx="384048" cy="384048"/>
          </a:xfrm>
          <a:prstGeom prst="ellipse">
            <a:avLst/>
          </a:prstGeom>
          <a:solidFill>
            <a:srgbClr val="1B8A5A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4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1280160" y="189280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psql-агрегати руками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768096" y="242316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count, p95, error rate — одним запитом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81928" y="173736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E9F4EF"/>
          </a:solidFill>
          <a:ln/>
        </p:spPr>
      </p:sp>
      <p:sp>
        <p:nvSpPr>
          <p:cNvPr id="12" name="Shape 9"/>
          <p:cNvSpPr/>
          <p:nvPr/>
        </p:nvSpPr>
        <p:spPr>
          <a:xfrm>
            <a:off x="6483096" y="1920240"/>
            <a:ext cx="384048" cy="384048"/>
          </a:xfrm>
          <a:prstGeom prst="ellipse">
            <a:avLst/>
          </a:prstGeom>
          <a:solidFill>
            <a:srgbClr val="1B8A5A"/>
          </a:solidFill>
          <a:ln/>
        </p:spPr>
      </p:sp>
      <p:sp>
        <p:nvSpPr>
          <p:cNvPr id="13" name="Text 10"/>
          <p:cNvSpPr/>
          <p:nvPr/>
        </p:nvSpPr>
        <p:spPr>
          <a:xfrm>
            <a:off x="6483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4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6995160" y="189280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GET /observability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6483096" y="242316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ті самі цифри + cache-hit і fallback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566928" y="338328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E9F4EF"/>
          </a:solidFill>
          <a:ln/>
        </p:spPr>
      </p:sp>
      <p:sp>
        <p:nvSpPr>
          <p:cNvPr id="17" name="Shape 14"/>
          <p:cNvSpPr/>
          <p:nvPr/>
        </p:nvSpPr>
        <p:spPr>
          <a:xfrm>
            <a:off x="768096" y="3566160"/>
            <a:ext cx="384048" cy="384048"/>
          </a:xfrm>
          <a:prstGeom prst="ellipse">
            <a:avLst/>
          </a:prstGeom>
          <a:solidFill>
            <a:srgbClr val="1B8A5A"/>
          </a:solidFill>
          <a:ln/>
        </p:spPr>
      </p:sp>
      <p:sp>
        <p:nvSpPr>
          <p:cNvPr id="18" name="Text 15"/>
          <p:cNvSpPr/>
          <p:nvPr/>
        </p:nvSpPr>
        <p:spPr>
          <a:xfrm>
            <a:off x="768096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4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1280160" y="353872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консоль: усі шість плиток</a:t>
            </a:r>
            <a:endParaRPr lang="en-US" sz="1450" dirty="0"/>
          </a:p>
        </p:txBody>
      </p:sp>
      <p:sp>
        <p:nvSpPr>
          <p:cNvPr id="20" name="Text 17"/>
          <p:cNvSpPr/>
          <p:nvPr/>
        </p:nvSpPr>
        <p:spPr>
          <a:xfrm>
            <a:off x="768096" y="406908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живі, з числами замість «—»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6281928" y="338328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FBE9E9"/>
          </a:solidFill>
          <a:ln/>
        </p:spPr>
      </p:sp>
      <p:sp>
        <p:nvSpPr>
          <p:cNvPr id="22" name="Shape 19"/>
          <p:cNvSpPr/>
          <p:nvPr/>
        </p:nvSpPr>
        <p:spPr>
          <a:xfrm>
            <a:off x="6483096" y="3566160"/>
            <a:ext cx="384048" cy="384048"/>
          </a:xfrm>
          <a:prstGeom prst="ellipse">
            <a:avLst/>
          </a:prstGeom>
          <a:solidFill>
            <a:srgbClr val="C62A2A"/>
          </a:solidFill>
          <a:ln/>
        </p:spPr>
      </p:sp>
      <p:sp>
        <p:nvSpPr>
          <p:cNvPr id="23" name="Text 20"/>
          <p:cNvSpPr/>
          <p:nvPr/>
        </p:nvSpPr>
        <p:spPr>
          <a:xfrm>
            <a:off x="6483096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BE9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6995160" y="353872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«детектив»: серія __fail_503</a:t>
            </a:r>
            <a:endParaRPr lang="en-US" sz="1450" dirty="0"/>
          </a:p>
        </p:txBody>
      </p:sp>
      <p:sp>
        <p:nvSpPr>
          <p:cNvPr id="25" name="Text 22"/>
          <p:cNvSpPr/>
          <p:nvPr/>
        </p:nvSpPr>
        <p:spPr>
          <a:xfrm>
            <a:off x="6483096" y="406908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fallback і error rate ростуть, користувач не бачить 500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566928" y="507492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5A05F4"/>
          </a:solidFill>
          <a:ln/>
        </p:spPr>
      </p:sp>
      <p:sp>
        <p:nvSpPr>
          <p:cNvPr id="27" name="Text 24"/>
          <p:cNvSpPr/>
          <p:nvPr/>
        </p:nvSpPr>
        <p:spPr>
          <a:xfrm>
            <a:off x="786384" y="52029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</a:t>
            </a:r>
            <a:endParaRPr lang="en-US" sz="950" dirty="0"/>
          </a:p>
        </p:txBody>
      </p:sp>
      <p:sp>
        <p:nvSpPr>
          <p:cNvPr id="28" name="Text 25"/>
          <p:cNvSpPr/>
          <p:nvPr/>
        </p:nvSpPr>
        <p:spPr>
          <a:xfrm>
            <a:off x="786384" y="5458968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Побачити, що моніторинг LLM-системи — це SQL по власному лозі плюс кілька лічильників. І навчитися впізнавати тихий інцидент — той, якого не видно в жодному uptime.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Лабораторна: чотири кроки + опційний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1B8A5A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828800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7" name="Text 4"/>
          <p:cNvSpPr/>
          <p:nvPr/>
        </p:nvSpPr>
        <p:spPr>
          <a:xfrm>
            <a:off x="566928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1188720" y="182880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Порахувати руками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psql: count, p95, error rate по сьогоднішньому дню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566928" y="2670048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566928" y="26700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1188720" y="2670048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Оживити /observability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SQL-агрегати + лічильники в один ендпоінт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566928" y="3511296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0"/>
          <p:cNvSpPr/>
          <p:nvPr/>
        </p:nvSpPr>
        <p:spPr>
          <a:xfrm>
            <a:off x="566928" y="35112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1188720" y="3511296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Звірити плитки з SQL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шість плиток показують те саме, що запит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566928" y="4352544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6" name="Text 13"/>
          <p:cNvSpPr/>
          <p:nvPr/>
        </p:nvSpPr>
        <p:spPr>
          <a:xfrm>
            <a:off x="566928" y="43525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1188720" y="435254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Відтворити «детектива»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серія __fail_503 → метрики ростуть без 500 користувачу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566928" y="5193792"/>
            <a:ext cx="457200" cy="457200"/>
          </a:xfrm>
          <a:prstGeom prst="ellipse">
            <a:avLst/>
          </a:prstGeom>
          <a:solidFill>
            <a:srgbClr val="9A5B12"/>
          </a:solidFill>
          <a:ln/>
        </p:spPr>
      </p:sp>
      <p:sp>
        <p:nvSpPr>
          <p:cNvPr id="19" name="Text 16"/>
          <p:cNvSpPr/>
          <p:nvPr/>
        </p:nvSpPr>
        <p:spPr>
          <a:xfrm>
            <a:off x="566928" y="51937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1188720" y="519379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Таксономія помилок · опційно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окремі лічильники за причинами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це довело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9A5B12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E9F4EF"/>
          </a:solidFill>
          <a:ln/>
        </p:spPr>
      </p:sp>
      <p:sp>
        <p:nvSpPr>
          <p:cNvPr id="7" name="Text 4"/>
          <p:cNvSpPr/>
          <p:nvPr/>
        </p:nvSpPr>
        <p:spPr>
          <a:xfrm>
            <a:off x="76809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Моніторинг — це ваш лог</a:t>
            </a:r>
            <a:endParaRPr lang="en-US" sz="1450" dirty="0"/>
          </a:p>
        </p:txBody>
      </p:sp>
      <p:sp>
        <p:nvSpPr>
          <p:cNvPr id="8" name="Text 5"/>
          <p:cNvSpPr/>
          <p:nvPr/>
        </p:nvSpPr>
        <p:spPr>
          <a:xfrm>
            <a:off x="76809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SQL по таблиці, яку ви писали з першого уроку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431596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EFEAFE"/>
          </a:solidFill>
          <a:ln/>
        </p:spPr>
      </p:sp>
      <p:sp>
        <p:nvSpPr>
          <p:cNvPr id="10" name="Text 7"/>
          <p:cNvSpPr/>
          <p:nvPr/>
        </p:nvSpPr>
        <p:spPr>
          <a:xfrm>
            <a:off x="451713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Плитки відповідають на питання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451713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шість цифр, кожна з приводу, а не для краси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806500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FBE9E9"/>
          </a:solidFill>
          <a:ln/>
        </p:spPr>
      </p:sp>
      <p:sp>
        <p:nvSpPr>
          <p:cNvPr id="13" name="Text 10"/>
          <p:cNvSpPr/>
          <p:nvPr/>
        </p:nvSpPr>
        <p:spPr>
          <a:xfrm>
            <a:off x="826617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Тихий інцидент видно</a:t>
            </a:r>
            <a:endParaRPr lang="en-US" sz="1450" dirty="0"/>
          </a:p>
        </p:txBody>
      </p:sp>
      <p:sp>
        <p:nvSpPr>
          <p:cNvPr id="14" name="Text 11"/>
          <p:cNvSpPr/>
          <p:nvPr/>
        </p:nvSpPr>
        <p:spPr>
          <a:xfrm>
            <a:off x="826617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fallback і error rate ростуть, поки uptime зелений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566928" y="397764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786384" y="4123944"/>
            <a:ext cx="10625328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Видимість є. Наступного уроку до неї додається судження: не «скільки запитів», а «чи стали відповіді гіршими» — і це вже перевірки якості.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Перевір себе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9A5B12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783080"/>
            <a:ext cx="11064240" cy="1874520"/>
          </a:xfrm>
          <a:prstGeom prst="roundRect">
            <a:avLst>
              <a:gd name="adj" fmla="val 5854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978408" y="215798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FEAFE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 rot="2700000">
            <a:off x="1041227" y="229743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9" name="Shape 6"/>
          <p:cNvSpPr/>
          <p:nvPr/>
        </p:nvSpPr>
        <p:spPr>
          <a:xfrm rot="-3000000">
            <a:off x="1069025" y="227137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1362456" y="2103120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усі шість плиток живі й звірені з SQL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978408" y="2724912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FEAFE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 rot="2700000">
            <a:off x="1041227" y="2864358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3" name="Shape 10"/>
          <p:cNvSpPr/>
          <p:nvPr/>
        </p:nvSpPr>
        <p:spPr>
          <a:xfrm rot="-3000000">
            <a:off x="1069025" y="2838298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1362456" y="2670048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поясню, чому алерти на p95, а не на середнє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6144768" y="215798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FEAFE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 rot="2700000">
            <a:off x="6207587" y="229743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7" name="Shape 14"/>
          <p:cNvSpPr/>
          <p:nvPr/>
        </p:nvSpPr>
        <p:spPr>
          <a:xfrm rot="-3000000">
            <a:off x="6235385" y="227137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8" name="Text 15"/>
          <p:cNvSpPr/>
          <p:nvPr/>
        </p:nvSpPr>
        <p:spPr>
          <a:xfrm>
            <a:off x="6528816" y="2103120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відтворю тихий інцидент і покажу його в метриках</a:t>
            </a:r>
            <a:endParaRPr lang="en-US" sz="1250" dirty="0"/>
          </a:p>
        </p:txBody>
      </p:sp>
      <p:sp>
        <p:nvSpPr>
          <p:cNvPr id="19" name="Shape 16"/>
          <p:cNvSpPr/>
          <p:nvPr/>
        </p:nvSpPr>
        <p:spPr>
          <a:xfrm>
            <a:off x="6144768" y="2724912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FEAFE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 rot="2700000">
            <a:off x="6207587" y="2864358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1" name="Shape 18"/>
          <p:cNvSpPr/>
          <p:nvPr/>
        </p:nvSpPr>
        <p:spPr>
          <a:xfrm rot="-3000000">
            <a:off x="6235385" y="2838298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2" name="Text 19"/>
          <p:cNvSpPr/>
          <p:nvPr/>
        </p:nvSpPr>
        <p:spPr>
          <a:xfrm>
            <a:off x="6528816" y="2670048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назву, що додати в лог для зрізу по тенантах</a:t>
            </a:r>
            <a:endParaRPr lang="en-US" sz="1250" dirty="0"/>
          </a:p>
        </p:txBody>
      </p:sp>
      <p:sp>
        <p:nvSpPr>
          <p:cNvPr id="23" name="Text 20"/>
          <p:cNvSpPr/>
          <p:nvPr/>
        </p:nvSpPr>
        <p:spPr>
          <a:xfrm>
            <a:off x="566928" y="38862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9AA1A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 завагалися — туди і повертайтеся. Питання — у канал потоку або на Q&amp;A.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Антипатерни тижня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9A5B12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78308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68096" y="1956816"/>
            <a:ext cx="384048" cy="384048"/>
          </a:xfrm>
          <a:prstGeom prst="ellipse">
            <a:avLst/>
          </a:prstGeom>
          <a:solidFill>
            <a:srgbClr val="FBE9E9"/>
          </a:solidFill>
          <a:ln/>
        </p:spPr>
      </p:sp>
      <p:sp>
        <p:nvSpPr>
          <p:cNvPr id="8" name="Shape 5"/>
          <p:cNvSpPr/>
          <p:nvPr/>
        </p:nvSpPr>
        <p:spPr>
          <a:xfrm rot="2700000">
            <a:off x="871789" y="2133094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9" name="Shape 6"/>
          <p:cNvSpPr/>
          <p:nvPr/>
        </p:nvSpPr>
        <p:spPr>
          <a:xfrm rot="-2700000">
            <a:off x="871789" y="2133094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10" name="Text 7"/>
          <p:cNvSpPr/>
          <p:nvPr/>
        </p:nvSpPr>
        <p:spPr>
          <a:xfrm>
            <a:off x="1298448" y="178308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Алерт на середню latency   </a:t>
            </a:r>
            <a:pPr indent="0" marL="0"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згладить і сплеск таймаутів, і деградацію провайдера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566928" y="265176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768096" y="2825496"/>
            <a:ext cx="384048" cy="384048"/>
          </a:xfrm>
          <a:prstGeom prst="ellipse">
            <a:avLst/>
          </a:prstGeom>
          <a:solidFill>
            <a:srgbClr val="FBE9E9"/>
          </a:solidFill>
          <a:ln/>
        </p:spPr>
      </p:sp>
      <p:sp>
        <p:nvSpPr>
          <p:cNvPr id="13" name="Shape 10"/>
          <p:cNvSpPr/>
          <p:nvPr/>
        </p:nvSpPr>
        <p:spPr>
          <a:xfrm rot="2700000">
            <a:off x="871789" y="3001774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14" name="Shape 11"/>
          <p:cNvSpPr/>
          <p:nvPr/>
        </p:nvSpPr>
        <p:spPr>
          <a:xfrm rot="-2700000">
            <a:off x="871789" y="3001774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15" name="Text 12"/>
          <p:cNvSpPr/>
          <p:nvPr/>
        </p:nvSpPr>
        <p:spPr>
          <a:xfrm>
            <a:off x="1298448" y="265176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Алерт на кожну помилку   </a:t>
            </a:r>
            <a:pPr indent="0" marL="0"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десять повідомлень щодня і жодної реакції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566928" y="352044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768096" y="3694176"/>
            <a:ext cx="384048" cy="384048"/>
          </a:xfrm>
          <a:prstGeom prst="ellipse">
            <a:avLst/>
          </a:prstGeom>
          <a:solidFill>
            <a:srgbClr val="FBE9E9"/>
          </a:solidFill>
          <a:ln/>
        </p:spPr>
      </p:sp>
      <p:sp>
        <p:nvSpPr>
          <p:cNvPr id="18" name="Shape 15"/>
          <p:cNvSpPr/>
          <p:nvPr/>
        </p:nvSpPr>
        <p:spPr>
          <a:xfrm rot="2700000">
            <a:off x="871789" y="3870454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19" name="Shape 16"/>
          <p:cNvSpPr/>
          <p:nvPr/>
        </p:nvSpPr>
        <p:spPr>
          <a:xfrm rot="-2700000">
            <a:off x="871789" y="3870454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20" name="Text 17"/>
          <p:cNvSpPr/>
          <p:nvPr/>
        </p:nvSpPr>
        <p:spPr>
          <a:xfrm>
            <a:off x="1298448" y="352044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Плитка без питання   </a:t>
            </a:r>
            <a:pPr indent="0" marL="0"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прикраса, яку перестають помічати за тиждень</a:t>
            </a:r>
            <a:endParaRPr lang="en-US" sz="1300" dirty="0"/>
          </a:p>
        </p:txBody>
      </p:sp>
      <p:sp>
        <p:nvSpPr>
          <p:cNvPr id="21" name="Shape 18"/>
          <p:cNvSpPr/>
          <p:nvPr/>
        </p:nvSpPr>
        <p:spPr>
          <a:xfrm>
            <a:off x="566928" y="438912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768096" y="4562856"/>
            <a:ext cx="384048" cy="384048"/>
          </a:xfrm>
          <a:prstGeom prst="ellipse">
            <a:avLst/>
          </a:prstGeom>
          <a:solidFill>
            <a:srgbClr val="FBE9E9"/>
          </a:solidFill>
          <a:ln/>
        </p:spPr>
      </p:sp>
      <p:sp>
        <p:nvSpPr>
          <p:cNvPr id="23" name="Shape 20"/>
          <p:cNvSpPr/>
          <p:nvPr/>
        </p:nvSpPr>
        <p:spPr>
          <a:xfrm rot="2700000">
            <a:off x="871789" y="4739134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24" name="Shape 21"/>
          <p:cNvSpPr/>
          <p:nvPr/>
        </p:nvSpPr>
        <p:spPr>
          <a:xfrm rot="-2700000">
            <a:off x="871789" y="4739134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25" name="Text 22"/>
          <p:cNvSpPr/>
          <p:nvPr/>
        </p:nvSpPr>
        <p:spPr>
          <a:xfrm>
            <a:off x="1298448" y="438912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Статус провайдера прибитий до «ok»   </a:t>
            </a:r>
            <a:pPr indent="0" marL="0"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брехня рівно в момент, коли правда потрібна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566928" y="525780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768096" y="5431536"/>
            <a:ext cx="384048" cy="384048"/>
          </a:xfrm>
          <a:prstGeom prst="ellipse">
            <a:avLst/>
          </a:prstGeom>
          <a:solidFill>
            <a:srgbClr val="FBE9E9"/>
          </a:solidFill>
          <a:ln/>
        </p:spPr>
      </p:sp>
      <p:sp>
        <p:nvSpPr>
          <p:cNvPr id="28" name="Shape 25"/>
          <p:cNvSpPr/>
          <p:nvPr/>
        </p:nvSpPr>
        <p:spPr>
          <a:xfrm rot="2700000">
            <a:off x="871789" y="5607814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29" name="Shape 26"/>
          <p:cNvSpPr/>
          <p:nvPr/>
        </p:nvSpPr>
        <p:spPr>
          <a:xfrm rot="-2700000">
            <a:off x="871789" y="5607814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30" name="Text 27"/>
          <p:cNvSpPr/>
          <p:nvPr/>
        </p:nvSpPr>
        <p:spPr>
          <a:xfrm>
            <a:off x="1298448" y="525780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User_id у мітках метрик   </a:t>
            </a:r>
            <a:pPr indent="0" marL="0"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сховище метрик вибухає на кардинальності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Домашнє завдання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1B8A5A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737360"/>
            <a:ext cx="5349240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68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Обов'язково — без здачі</a:t>
            </a:r>
            <a:endParaRPr lang="en-US" sz="1450" dirty="0"/>
          </a:p>
        </p:txBody>
      </p:sp>
      <p:sp>
        <p:nvSpPr>
          <p:cNvPr id="8" name="Text 5"/>
          <p:cNvSpPr/>
          <p:nvPr/>
        </p:nvSpPr>
        <p:spPr>
          <a:xfrm>
            <a:off x="768096" y="2423160"/>
            <a:ext cx="4946904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закріпити лабу: всі шість плиток живі, звірені з SQL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відтворити «детектива»: інцидент видно в метриках, користувач не бачить 500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сформулювати по одному операційному питанню на кожну плитку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6281928" y="1737360"/>
            <a:ext cx="5349240" cy="2194560"/>
          </a:xfrm>
          <a:prstGeom prst="roundRect">
            <a:avLst>
              <a:gd name="adj" fmla="val 5000"/>
            </a:avLst>
          </a:prstGeom>
          <a:solidFill>
            <a:srgbClr val="F8F0E2"/>
          </a:solidFill>
          <a:ln/>
        </p:spPr>
      </p:sp>
      <p:sp>
        <p:nvSpPr>
          <p:cNvPr id="10" name="Text 7"/>
          <p:cNvSpPr/>
          <p:nvPr/>
        </p:nvSpPr>
        <p:spPr>
          <a:xfrm>
            <a:off x="6483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Опційно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6483096" y="2423160"/>
            <a:ext cx="4946904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таксономія помилок: окремі лічильники за причинами (429 провайдера, timeout інструмента, відмова guardrail)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566928" y="4206240"/>
            <a:ext cx="11064240" cy="1463040"/>
          </a:xfrm>
          <a:prstGeom prst="roundRect">
            <a:avLst>
              <a:gd name="adj" fmla="val 8750"/>
            </a:avLst>
          </a:prstGeom>
          <a:solidFill>
            <a:srgbClr val="FFFFFF"/>
          </a:solidFill>
          <a:ln w="19050">
            <a:solidFill>
              <a:srgbClr val="5A05F4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41248" y="43891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ДЗ тижня 5 — після наступного уроку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841248" y="480060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Воно об'єднує спостережуваність і evals: сьогоднішні ендпоінти вже у вас в руках; після наступного уроку додадуться власні eval-кейси в golden dataset — і тиждень здається одним PR.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1B09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ПІДСУМОК УРОКУ 9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66928" y="1463040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877824" y="137160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найдорожчі інциденти LLM-систем не дають жодної помилки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2121408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7" name="Text 5"/>
          <p:cNvSpPr/>
          <p:nvPr/>
        </p:nvSpPr>
        <p:spPr>
          <a:xfrm>
            <a:off x="877824" y="2029968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весь моніторинг ядра — SQL по власному лозі плюс кілька лічильників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66928" y="2779776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7"/>
          <p:cNvSpPr/>
          <p:nvPr/>
        </p:nvSpPr>
        <p:spPr>
          <a:xfrm>
            <a:off x="877824" y="2688336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p95, а не середнє; перцентилі не усереднюються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66928" y="3438144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9"/>
          <p:cNvSpPr/>
          <p:nvPr/>
        </p:nvSpPr>
        <p:spPr>
          <a:xfrm>
            <a:off x="877824" y="3346704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плитка існує, лише якщо відповідає на питання, яке хтось ставить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66928" y="4096512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1"/>
          <p:cNvSpPr/>
          <p:nvPr/>
        </p:nvSpPr>
        <p:spPr>
          <a:xfrm>
            <a:off x="877824" y="4005072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SLO — на те, що відчуває користувач, і має бюджет помилок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66928" y="4983480"/>
            <a:ext cx="11064240" cy="1234440"/>
          </a:xfrm>
          <a:prstGeom prst="roundRect">
            <a:avLst>
              <a:gd name="adj" fmla="val 10370"/>
            </a:avLst>
          </a:prstGeom>
          <a:solidFill>
            <a:srgbClr val="FFFFFF"/>
          </a:solidFill>
          <a:ln/>
        </p:spPr>
      </p:sp>
      <p:sp>
        <p:nvSpPr>
          <p:cNvPr id="15" name="Text 13"/>
          <p:cNvSpPr/>
          <p:nvPr/>
        </p:nvSpPr>
        <p:spPr>
          <a:xfrm>
            <a:off x="822960" y="5184648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Наступний крок → Урок 10 · Golden dataset і eval suite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22960" y="5550408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 бачите, що система робить. Але «відповіді стали гіршими» жодна з шести плиток не покаже. Наступний урок дає якості число: golden dataset, grader, поріг і exit code — той самий, що на тижні 6 стане гейтом у CI.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26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2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Урок 9 · Observability для LLM-систем</dc:title>
  <dc:subject>PptxGenJS Presentation</dc:subject>
  <dc:creator>LLMOps Bootcamp</dc:creator>
  <cp:lastModifiedBy>LLMOps Bootcamp</cp:lastModifiedBy>
  <cp:revision>1</cp:revision>
  <dcterms:created xsi:type="dcterms:W3CDTF">2026-08-16T11:29:47Z</dcterms:created>
  <dcterms:modified xsi:type="dcterms:W3CDTF">2026-08-16T11:29:47Z</dcterms:modified>
</cp:coreProperties>
</file>