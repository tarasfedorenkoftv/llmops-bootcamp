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9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Observability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LLM-систем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Uptime зелений, користувачі нещасні. Сьогодні консоль оживає повністю: p95 і error rate з власного лога, cache-hit і fallback з лічильників — і вміння бачити інциденти без жодної помилки.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p95 і error rate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SQL по власному логу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всі шість плиток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звірені з SQL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Пояснити, чому p95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середнє — і чому перцентилі не усереднюються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тихий інцидент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без жодного 500 користувачу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Сформулювати SLO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порахувати тижневий бюджет помилок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інциденти й чотири виміри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Лог-рядок = джерело всього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не середнє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/observability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/providers і шість плиток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Тренд важливіший за снапшот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SLI, SLO, бюджет помилок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Трейс, спани, PII в лозі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продукті чи індустріальний стек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«усе зелене» — до системи, у якій видно те, що не дає помилок.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час, у який вкладаються 95% запитів — досвід найневдаліших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 rate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завершилися не-200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 / fallback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лічильники з уроків 5 і 7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 / SLO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міряємо — і цільове значення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 помилок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невдач дозволено в межах SLO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тихий інцидент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без жодної помилки користувачу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інциденти: все зелене — все погано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просіла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зміни промпта — HTTP 200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×3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зламав ключ кешу — HTTP 200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поповз на слабшу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працює fallback — HTTP 200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2179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доступність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081528" y="3877056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3209544" y="3808476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6" name="Shape 23"/>
          <p:cNvSpPr/>
          <p:nvPr/>
        </p:nvSpPr>
        <p:spPr>
          <a:xfrm>
            <a:off x="344728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50215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961888" y="3877056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6089904" y="3808476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0" name="Shape 27"/>
          <p:cNvSpPr/>
          <p:nvPr/>
        </p:nvSpPr>
        <p:spPr>
          <a:xfrm>
            <a:off x="632764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1C1140"/>
          </a:solidFill>
          <a:ln/>
        </p:spPr>
      </p:sp>
      <p:sp>
        <p:nvSpPr>
          <p:cNvPr id="31" name="Text 28"/>
          <p:cNvSpPr/>
          <p:nvPr/>
        </p:nvSpPr>
        <p:spPr>
          <a:xfrm>
            <a:off x="638251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8842248" y="3877056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rot="5400000">
            <a:off x="8970264" y="3808476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4" name="Shape 31"/>
          <p:cNvSpPr/>
          <p:nvPr/>
        </p:nvSpPr>
        <p:spPr>
          <a:xfrm>
            <a:off x="920800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1C1140"/>
          </a:solidFill>
          <a:ln/>
        </p:spPr>
      </p:sp>
      <p:sp>
        <p:nvSpPr>
          <p:cNvPr id="35" name="Text 32"/>
          <p:cNvSpPr/>
          <p:nvPr/>
        </p:nvSpPr>
        <p:spPr>
          <a:xfrm>
            <a:off x="926287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якість / поведінка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566928" y="43434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два виміри знайомі з веб-сервісів; другі два — власне LLMOps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8" name="Text 35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чотирьох тижнів працюють — сьогодні вони стають видимими цифрами.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лог-рядок — джерело всього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requests: request_id · model · prompt_version · latency_ms · tokens · cost_usd · status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C114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301752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request_id відновлюється шлях: яка модель, яка версія, скільки тривало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C114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301752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по latency_ms, error rate як частка не-200, сума cost_usd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C114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301752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хто, коли, якою версією, з яким результатом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6177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02A20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76402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Ніякої магії: жодного окремого «стека спостережуваності» для ядра — SQL по таблиці, яку ви й так пишете. Лог, закладений заздалегідь, — різниця між «подивімось» і «даних немає».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зріз = нова колонка, не нова система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7665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зріз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груп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агрегувати?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одиниці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версії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десятки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8A857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тенанти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сотні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вже на межі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7B7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user_id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мільйони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 — лише для трейсів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635240" y="1737360"/>
            <a:ext cx="3995928" cy="2743200"/>
          </a:xfrm>
          <a:prstGeom prst="roundRect">
            <a:avLst>
              <a:gd name="adj" fmla="val 4000"/>
            </a:avLst>
          </a:prstGeom>
          <a:solidFill>
            <a:srgbClr val="5A05F4"/>
          </a:solidFill>
          <a:ln/>
        </p:spPr>
      </p:sp>
      <p:sp>
        <p:nvSpPr>
          <p:cNvPr id="9" name="Text 5"/>
          <p:cNvSpPr/>
          <p:nvPr/>
        </p:nvSpPr>
        <p:spPr>
          <a:xfrm>
            <a:off x="7854696" y="186537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54696" y="2121408"/>
            <a:ext cx="3557016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Колонка в момент події — безкоштовний GROUP BY. Через місяць — даних уже немає.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Зріз по тенантах — додайте tenant_id у лог-рядок у момент запиту.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не середнє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1.1 с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1323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середнє — «прийнятно»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446227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446227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досвід найневдаліших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2A2010"/>
          </a:solidFill>
          <a:ln/>
        </p:spPr>
      </p:sp>
      <p:sp>
        <p:nvSpPr>
          <p:cNvPr id="14" name="Text 11"/>
          <p:cNvSpPr/>
          <p:nvPr/>
        </p:nvSpPr>
        <p:spPr>
          <a:xfrm>
            <a:off x="821131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p99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821131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відсоток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58368" y="4090660"/>
            <a:ext cx="310896" cy="97292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1042416" y="3951671"/>
            <a:ext cx="310896" cy="236281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18" name="Shape 15"/>
          <p:cNvSpPr/>
          <p:nvPr/>
        </p:nvSpPr>
        <p:spPr>
          <a:xfrm>
            <a:off x="1426464" y="3770986"/>
            <a:ext cx="310896" cy="416966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1810512" y="3604199"/>
            <a:ext cx="310896" cy="583753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20" name="Shape 17"/>
          <p:cNvSpPr/>
          <p:nvPr/>
        </p:nvSpPr>
        <p:spPr>
          <a:xfrm>
            <a:off x="2194560" y="3493008"/>
            <a:ext cx="310896" cy="694944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21" name="Shape 18"/>
          <p:cNvSpPr/>
          <p:nvPr/>
        </p:nvSpPr>
        <p:spPr>
          <a:xfrm>
            <a:off x="2578608" y="3534705"/>
            <a:ext cx="310896" cy="653247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22" name="Shape 19"/>
          <p:cNvSpPr/>
          <p:nvPr/>
        </p:nvSpPr>
        <p:spPr>
          <a:xfrm>
            <a:off x="2962656" y="3631997"/>
            <a:ext cx="310896" cy="555955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3346704" y="3729289"/>
            <a:ext cx="310896" cy="458663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24" name="Shape 21"/>
          <p:cNvSpPr/>
          <p:nvPr/>
        </p:nvSpPr>
        <p:spPr>
          <a:xfrm>
            <a:off x="3730752" y="3812682"/>
            <a:ext cx="310896" cy="375270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25" name="Shape 22"/>
          <p:cNvSpPr/>
          <p:nvPr/>
        </p:nvSpPr>
        <p:spPr>
          <a:xfrm>
            <a:off x="4114800" y="3889126"/>
            <a:ext cx="310896" cy="298826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26" name="Shape 23"/>
          <p:cNvSpPr/>
          <p:nvPr/>
        </p:nvSpPr>
        <p:spPr>
          <a:xfrm>
            <a:off x="4498848" y="3944722"/>
            <a:ext cx="310896" cy="243230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27" name="Shape 24"/>
          <p:cNvSpPr/>
          <p:nvPr/>
        </p:nvSpPr>
        <p:spPr>
          <a:xfrm>
            <a:off x="4882896" y="3986418"/>
            <a:ext cx="310896" cy="201534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28" name="Shape 25"/>
          <p:cNvSpPr/>
          <p:nvPr/>
        </p:nvSpPr>
        <p:spPr>
          <a:xfrm>
            <a:off x="5266944" y="4021165"/>
            <a:ext cx="310896" cy="166787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29" name="Shape 26"/>
          <p:cNvSpPr/>
          <p:nvPr/>
        </p:nvSpPr>
        <p:spPr>
          <a:xfrm>
            <a:off x="5650992" y="4048963"/>
            <a:ext cx="310896" cy="138989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30" name="Shape 27"/>
          <p:cNvSpPr/>
          <p:nvPr/>
        </p:nvSpPr>
        <p:spPr>
          <a:xfrm>
            <a:off x="6035040" y="4069812"/>
            <a:ext cx="310896" cy="118140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31" name="Shape 28"/>
          <p:cNvSpPr/>
          <p:nvPr/>
        </p:nvSpPr>
        <p:spPr>
          <a:xfrm>
            <a:off x="6419088" y="4083710"/>
            <a:ext cx="310896" cy="104242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32" name="Shape 29"/>
          <p:cNvSpPr/>
          <p:nvPr/>
        </p:nvSpPr>
        <p:spPr>
          <a:xfrm>
            <a:off x="6803136" y="4097609"/>
            <a:ext cx="310896" cy="90343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33" name="Shape 30"/>
          <p:cNvSpPr/>
          <p:nvPr/>
        </p:nvSpPr>
        <p:spPr>
          <a:xfrm>
            <a:off x="7187184" y="4111508"/>
            <a:ext cx="310896" cy="76444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34" name="Shape 31"/>
          <p:cNvSpPr/>
          <p:nvPr/>
        </p:nvSpPr>
        <p:spPr>
          <a:xfrm>
            <a:off x="7571232" y="4118458"/>
            <a:ext cx="310896" cy="69494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35" name="Shape 32"/>
          <p:cNvSpPr/>
          <p:nvPr/>
        </p:nvSpPr>
        <p:spPr>
          <a:xfrm>
            <a:off x="7955280" y="4125407"/>
            <a:ext cx="310896" cy="62545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36" name="Shape 33"/>
          <p:cNvSpPr/>
          <p:nvPr/>
        </p:nvSpPr>
        <p:spPr>
          <a:xfrm>
            <a:off x="8339328" y="4132356"/>
            <a:ext cx="310896" cy="55596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37" name="Shape 34"/>
          <p:cNvSpPr/>
          <p:nvPr/>
        </p:nvSpPr>
        <p:spPr>
          <a:xfrm>
            <a:off x="8723376" y="4139306"/>
            <a:ext cx="310896" cy="48646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38" name="Shape 35"/>
          <p:cNvSpPr/>
          <p:nvPr/>
        </p:nvSpPr>
        <p:spPr>
          <a:xfrm>
            <a:off x="9107424" y="4146255"/>
            <a:ext cx="310896" cy="41697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39" name="Shape 36"/>
          <p:cNvSpPr/>
          <p:nvPr/>
        </p:nvSpPr>
        <p:spPr>
          <a:xfrm>
            <a:off x="9491472" y="4153205"/>
            <a:ext cx="310896" cy="34747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40" name="Shape 37"/>
          <p:cNvSpPr/>
          <p:nvPr/>
        </p:nvSpPr>
        <p:spPr>
          <a:xfrm>
            <a:off x="9875520" y="4153205"/>
            <a:ext cx="310896" cy="34747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41" name="Shape 38"/>
          <p:cNvSpPr/>
          <p:nvPr/>
        </p:nvSpPr>
        <p:spPr>
          <a:xfrm>
            <a:off x="10259568" y="4160154"/>
            <a:ext cx="310896" cy="27798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42" name="Shape 39"/>
          <p:cNvSpPr/>
          <p:nvPr/>
        </p:nvSpPr>
        <p:spPr>
          <a:xfrm>
            <a:off x="2350008" y="3346704"/>
            <a:ext cx="0" cy="841248"/>
          </a:xfrm>
          <a:prstGeom prst="line">
            <a:avLst/>
          </a:prstGeom>
          <a:noFill/>
          <a:ln w="19050">
            <a:solidFill>
              <a:srgbClr val="5FD6A0"/>
            </a:solidFill>
            <a:prstDash val="dash"/>
          </a:ln>
        </p:spPr>
      </p:sp>
      <p:sp>
        <p:nvSpPr>
          <p:cNvPr id="43" name="Text 40"/>
          <p:cNvSpPr/>
          <p:nvPr/>
        </p:nvSpPr>
        <p:spPr>
          <a:xfrm>
            <a:off x="161848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середнє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8110728" y="3346704"/>
            <a:ext cx="0" cy="841248"/>
          </a:xfrm>
          <a:prstGeom prst="line">
            <a:avLst/>
          </a:prstGeom>
          <a:noFill/>
          <a:ln w="19050">
            <a:solidFill>
              <a:srgbClr val="FF7B7B"/>
            </a:solidFill>
            <a:prstDash val="dash"/>
          </a:ln>
        </p:spPr>
      </p:sp>
      <p:sp>
        <p:nvSpPr>
          <p:cNvPr id="45" name="Text 42"/>
          <p:cNvSpPr/>
          <p:nvPr/>
        </p:nvSpPr>
        <p:spPr>
          <a:xfrm>
            <a:off x="737920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658368" y="424281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відповіді →</a:t>
            </a:r>
            <a:endParaRPr lang="en-US" sz="850" dirty="0"/>
          </a:p>
        </p:txBody>
      </p:sp>
      <p:sp>
        <p:nvSpPr>
          <p:cNvPr id="47" name="Shape 44"/>
          <p:cNvSpPr/>
          <p:nvPr/>
        </p:nvSpPr>
        <p:spPr>
          <a:xfrm>
            <a:off x="566928" y="4553712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2E1418"/>
          </a:solidFill>
          <a:ln/>
        </p:spPr>
      </p:sp>
      <p:sp>
        <p:nvSpPr>
          <p:cNvPr id="48" name="Text 45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49" name="Text 46"/>
          <p:cNvSpPr/>
          <p:nvPr/>
        </p:nvSpPr>
        <p:spPr>
          <a:xfrm>
            <a:off x="786384" y="4937760"/>
            <a:ext cx="10625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Середня latency згладить і сплеск, і деградацію. Алерти — на перцентилі.</a:t>
            </a:r>
            <a:endParaRPr lang="en-US" sz="1300" dirty="0"/>
          </a:p>
        </p:txBody>
      </p:sp>
      <p:sp>
        <p:nvSpPr>
          <p:cNvPr id="50" name="Shape 47"/>
          <p:cNvSpPr/>
          <p:nvPr/>
        </p:nvSpPr>
        <p:spPr>
          <a:xfrm>
            <a:off x="566928" y="539496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5A05F4"/>
          </a:solidFill>
          <a:ln/>
        </p:spPr>
      </p:sp>
      <p:sp>
        <p:nvSpPr>
          <p:cNvPr id="51" name="Text 48"/>
          <p:cNvSpPr/>
          <p:nvPr/>
        </p:nvSpPr>
        <p:spPr>
          <a:xfrm>
            <a:off x="786384" y="5541264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Перцентилі не усереднюються: середнє від двох p95 — не p95 за дві години.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GET /observability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965960"/>
          </a:xfrm>
          <a:prstGeom prst="roundRect">
            <a:avLst>
              <a:gd name="adj" fmla="val 5581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count(*),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COALESCE(percentile_cont(0.95) WITHIN GROUP (ORDER BY latency_ms), 0),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COALESCE(AVG(CASE WHEN status &lt;&gt; '200' THEN 1.0 ELSE 0 END) * 100, 0)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requests WHERE created_at::date = CURRENT_DATE;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102A20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бази: requests · p95 · error rate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переживають рестарт, історичні — по них видно тренд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2A2010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пам'яті: cache-hit · fallback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швидкі, але обнуляються з рестартом; кожен ребілд сервісу = рестарт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66928" y="5669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COALESCE — не косметика: на порожній таблиці агрегати дають NULL, і свіжий стек віддає 500 ще до першого запиту.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— це відповідь на питання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плитка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операційне 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звідки цифра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Requests today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яке навантаження зараз?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count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сьогодні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скільки палимо і чи в бюджеті?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сума cost_usd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p95 latency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бачать найневдаліші користувачі?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перцентиль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Error rate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частка запитів ламається?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не-200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окупається кеш?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живемо ми на плані Б?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 (урок 7)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3035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5431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568756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елемент вітрини відповідає на питання, яке хтось справді ставить. Плитка без питання — прикраса, яку перестають помічати.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/providers: статус не має права брехати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212848" y="1920240"/>
            <a:ext cx="960120" cy="960120"/>
          </a:xfrm>
          <a:prstGeom prst="ellipse">
            <a:avLst/>
          </a:prstGeom>
          <a:solidFill>
            <a:srgbClr val="102A20"/>
          </a:solidFill>
          <a:ln w="19050">
            <a:solidFill>
              <a:srgbClr val="5FD6A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21284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89280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успішний виклик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46120" y="2400300"/>
            <a:ext cx="1389888" cy="0"/>
          </a:xfrm>
          <a:prstGeom prst="line">
            <a:avLst/>
          </a:prstGeom>
          <a:noFill/>
          <a:ln w="15875">
            <a:solidFill>
              <a:srgbClr val="C9A6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4599432" y="2331720"/>
            <a:ext cx="146304" cy="137160"/>
          </a:xfrm>
          <a:prstGeom prst="triangle">
            <a:avLst/>
          </a:prstGeom>
          <a:solidFill>
            <a:srgbClr val="C9A6FF"/>
          </a:solidFill>
          <a:ln/>
        </p:spPr>
      </p:sp>
      <p:sp>
        <p:nvSpPr>
          <p:cNvPr id="12" name="Text 9"/>
          <p:cNvSpPr/>
          <p:nvPr/>
        </p:nvSpPr>
        <p:spPr>
          <a:xfrm>
            <a:off x="3172968" y="201625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збоїв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818888" y="1920240"/>
            <a:ext cx="960120" cy="960120"/>
          </a:xfrm>
          <a:prstGeom prst="ellipse">
            <a:avLst/>
          </a:prstGeom>
          <a:solidFill>
            <a:srgbClr val="2A2010"/>
          </a:solidFill>
          <a:ln w="19050">
            <a:solidFill>
              <a:srgbClr val="E8A85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1888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degraded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49884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поспіль збої в ланцюзі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66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17" name="Text 14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вже є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68096" y="461772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збоїв fallback-ланцюга з тижня 4; у кого є breaker — його готовий стан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81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20" name="Text 17"/>
          <p:cNvSpPr/>
          <p:nvPr/>
        </p:nvSpPr>
        <p:spPr>
          <a:xfrm>
            <a:off x="6501384" y="405993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КЕШУ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501384" y="431596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оновлюється лише на реальних викликах — «down» триває довше за проблему.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Статус, прибитий до «ok», — брехня рівно в момент, коли правда потрібна.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Тренд важливіший за снапшот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2A201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щогодини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основна модель деградує, а ви «не бачите» — відповіді ж ідуть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2A201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cache-hit падає тиждень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ключ правкою або змінився профіль трафіку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2A201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поїхав на strong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або ескалацій більше, або роутер зламаний — бюджет горить удвічі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49808" y="3993185"/>
            <a:ext cx="256032" cy="85039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23" name="Shape 20"/>
          <p:cNvSpPr/>
          <p:nvPr/>
        </p:nvSpPr>
        <p:spPr>
          <a:xfrm>
            <a:off x="1133856" y="3953500"/>
            <a:ext cx="256032" cy="124724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24" name="Shape 21"/>
          <p:cNvSpPr/>
          <p:nvPr/>
        </p:nvSpPr>
        <p:spPr>
          <a:xfrm>
            <a:off x="1517904" y="3908146"/>
            <a:ext cx="256032" cy="170078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25" name="Shape 22"/>
          <p:cNvSpPr/>
          <p:nvPr/>
        </p:nvSpPr>
        <p:spPr>
          <a:xfrm>
            <a:off x="1901952" y="3840114"/>
            <a:ext cx="256032" cy="238110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26" name="Shape 23"/>
          <p:cNvSpPr/>
          <p:nvPr/>
        </p:nvSpPr>
        <p:spPr>
          <a:xfrm>
            <a:off x="2286000" y="3766414"/>
            <a:ext cx="256032" cy="311810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27" name="Shape 24"/>
          <p:cNvSpPr/>
          <p:nvPr/>
        </p:nvSpPr>
        <p:spPr>
          <a:xfrm>
            <a:off x="2670048" y="3681374"/>
            <a:ext cx="256032" cy="396850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28" name="Shape 25"/>
          <p:cNvSpPr/>
          <p:nvPr/>
        </p:nvSpPr>
        <p:spPr>
          <a:xfrm>
            <a:off x="3054096" y="3590666"/>
            <a:ext cx="256032" cy="487558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29" name="Shape 26"/>
          <p:cNvSpPr/>
          <p:nvPr/>
        </p:nvSpPr>
        <p:spPr>
          <a:xfrm>
            <a:off x="3438144" y="3511296"/>
            <a:ext cx="256032" cy="566928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30" name="Shape 27"/>
          <p:cNvSpPr/>
          <p:nvPr/>
        </p:nvSpPr>
        <p:spPr>
          <a:xfrm>
            <a:off x="749808" y="4096512"/>
            <a:ext cx="2944368" cy="0"/>
          </a:xfrm>
          <a:prstGeom prst="line">
            <a:avLst/>
          </a:prstGeom>
          <a:noFill/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453128" y="3511296"/>
            <a:ext cx="256032" cy="566928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32" name="Shape 29"/>
          <p:cNvSpPr/>
          <p:nvPr/>
        </p:nvSpPr>
        <p:spPr>
          <a:xfrm>
            <a:off x="4837176" y="3556650"/>
            <a:ext cx="256032" cy="521574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33" name="Shape 30"/>
          <p:cNvSpPr/>
          <p:nvPr/>
        </p:nvSpPr>
        <p:spPr>
          <a:xfrm>
            <a:off x="5221224" y="3624682"/>
            <a:ext cx="256032" cy="453542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34" name="Shape 31"/>
          <p:cNvSpPr/>
          <p:nvPr/>
        </p:nvSpPr>
        <p:spPr>
          <a:xfrm>
            <a:off x="5605272" y="3704052"/>
            <a:ext cx="256032" cy="374172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35" name="Shape 32"/>
          <p:cNvSpPr/>
          <p:nvPr/>
        </p:nvSpPr>
        <p:spPr>
          <a:xfrm>
            <a:off x="5989320" y="3794760"/>
            <a:ext cx="256032" cy="283464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36" name="Shape 33"/>
          <p:cNvSpPr/>
          <p:nvPr/>
        </p:nvSpPr>
        <p:spPr>
          <a:xfrm>
            <a:off x="6373368" y="3862791"/>
            <a:ext cx="256032" cy="215433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37" name="Shape 34"/>
          <p:cNvSpPr/>
          <p:nvPr/>
        </p:nvSpPr>
        <p:spPr>
          <a:xfrm>
            <a:off x="6757416" y="3930823"/>
            <a:ext cx="256032" cy="147401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38" name="Shape 35"/>
          <p:cNvSpPr/>
          <p:nvPr/>
        </p:nvSpPr>
        <p:spPr>
          <a:xfrm>
            <a:off x="7141464" y="3987516"/>
            <a:ext cx="256032" cy="90708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39" name="Shape 36"/>
          <p:cNvSpPr/>
          <p:nvPr/>
        </p:nvSpPr>
        <p:spPr>
          <a:xfrm>
            <a:off x="4453128" y="4096512"/>
            <a:ext cx="2944368" cy="0"/>
          </a:xfrm>
          <a:prstGeom prst="line">
            <a:avLst/>
          </a:prstGeom>
          <a:noFill/>
          <a:ln w="12700">
            <a:solidFill>
              <a:srgbClr val="2E2A3A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8156448" y="3964838"/>
            <a:ext cx="256032" cy="113386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41" name="Shape 38"/>
          <p:cNvSpPr/>
          <p:nvPr/>
        </p:nvSpPr>
        <p:spPr>
          <a:xfrm>
            <a:off x="8540496" y="3908146"/>
            <a:ext cx="256032" cy="170078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42" name="Shape 39"/>
          <p:cNvSpPr/>
          <p:nvPr/>
        </p:nvSpPr>
        <p:spPr>
          <a:xfrm>
            <a:off x="8924544" y="3919484"/>
            <a:ext cx="256032" cy="158740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43" name="Shape 40"/>
          <p:cNvSpPr/>
          <p:nvPr/>
        </p:nvSpPr>
        <p:spPr>
          <a:xfrm>
            <a:off x="9308592" y="3823106"/>
            <a:ext cx="256032" cy="255118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44" name="Shape 41"/>
          <p:cNvSpPr/>
          <p:nvPr/>
        </p:nvSpPr>
        <p:spPr>
          <a:xfrm>
            <a:off x="9692640" y="3738067"/>
            <a:ext cx="256032" cy="340157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45" name="Shape 42"/>
          <p:cNvSpPr/>
          <p:nvPr/>
        </p:nvSpPr>
        <p:spPr>
          <a:xfrm>
            <a:off x="10076688" y="3670036"/>
            <a:ext cx="256032" cy="408188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46" name="Shape 43"/>
          <p:cNvSpPr/>
          <p:nvPr/>
        </p:nvSpPr>
        <p:spPr>
          <a:xfrm>
            <a:off x="10460736" y="3579327"/>
            <a:ext cx="256032" cy="498897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47" name="Shape 44"/>
          <p:cNvSpPr/>
          <p:nvPr/>
        </p:nvSpPr>
        <p:spPr>
          <a:xfrm>
            <a:off x="10844784" y="3511296"/>
            <a:ext cx="256032" cy="566928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48" name="Shape 45"/>
          <p:cNvSpPr/>
          <p:nvPr/>
        </p:nvSpPr>
        <p:spPr>
          <a:xfrm>
            <a:off x="8156448" y="4096512"/>
            <a:ext cx="2944368" cy="0"/>
          </a:xfrm>
          <a:prstGeom prst="line">
            <a:avLst/>
          </a:prstGeom>
          <a:noFill/>
          <a:ln w="12700">
            <a:solidFill>
              <a:srgbClr val="2E2A3A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66928" y="4151376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знімок «зараз» — три різні історії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566928" y="4443984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51" name="Text 48"/>
          <p:cNvSpPr/>
          <p:nvPr/>
        </p:nvSpPr>
        <p:spPr>
          <a:xfrm>
            <a:off x="786384" y="457200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АНАТОМІЯ АЛЕРТУ — ЧОТИРИ ОБОВ'ЯЗКОВІ ЧАСТИНИ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786384" y="4828032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(error rate) + поріг (понад 5%) + тривалість (протягом 15 хвилин) + адресат (хто прокидається). Тривалість пропускають найчастіше — і отримують сирену на кожен чих.</a:t>
            </a:r>
            <a:endParaRPr lang="en-US" sz="1300" dirty="0"/>
          </a:p>
        </p:txBody>
      </p:sp>
      <p:sp>
        <p:nvSpPr>
          <p:cNvPr id="53" name="Shape 50"/>
          <p:cNvSpPr/>
          <p:nvPr/>
        </p:nvSpPr>
        <p:spPr>
          <a:xfrm>
            <a:off x="566928" y="5632704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86384" y="5779008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 каже «зараз погано». Тренд каже «стає гірше» — і дає час.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— це нормально: SLI, SLO, бюджет помилок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ви міряєте: частка успішних відповідей, p95 latency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51460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1C1140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51460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51460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цільове значення, про яке домовилися: «99% успішних», «p95 ≤ 3 с»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4612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102A2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24612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помилок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24612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невдач дозволено: 10 000 звернень = 100 невдач на тиждень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7" name="Shape 14"/>
          <p:cNvSpPr/>
          <p:nvPr/>
        </p:nvSpPr>
        <p:spPr>
          <a:xfrm>
            <a:off x="72694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8" name="Shape 15"/>
          <p:cNvSpPr/>
          <p:nvPr/>
        </p:nvSpPr>
        <p:spPr>
          <a:xfrm>
            <a:off x="88696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9" name="Shape 16"/>
          <p:cNvSpPr/>
          <p:nvPr/>
        </p:nvSpPr>
        <p:spPr>
          <a:xfrm>
            <a:off x="104698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20" name="Shape 17"/>
          <p:cNvSpPr/>
          <p:nvPr/>
        </p:nvSpPr>
        <p:spPr>
          <a:xfrm>
            <a:off x="120700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21" name="Shape 18"/>
          <p:cNvSpPr/>
          <p:nvPr/>
        </p:nvSpPr>
        <p:spPr>
          <a:xfrm>
            <a:off x="136702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22" name="Shape 19"/>
          <p:cNvSpPr/>
          <p:nvPr/>
        </p:nvSpPr>
        <p:spPr>
          <a:xfrm>
            <a:off x="152704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23" name="Shape 20"/>
          <p:cNvSpPr/>
          <p:nvPr/>
        </p:nvSpPr>
        <p:spPr>
          <a:xfrm>
            <a:off x="168706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24" name="Shape 21"/>
          <p:cNvSpPr/>
          <p:nvPr/>
        </p:nvSpPr>
        <p:spPr>
          <a:xfrm>
            <a:off x="184708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25" name="Shape 22"/>
          <p:cNvSpPr/>
          <p:nvPr/>
        </p:nvSpPr>
        <p:spPr>
          <a:xfrm>
            <a:off x="200710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26" name="Shape 23"/>
          <p:cNvSpPr/>
          <p:nvPr/>
        </p:nvSpPr>
        <p:spPr>
          <a:xfrm>
            <a:off x="216712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27" name="Shape 24"/>
          <p:cNvSpPr/>
          <p:nvPr/>
        </p:nvSpPr>
        <p:spPr>
          <a:xfrm>
            <a:off x="232714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28" name="Shape 25"/>
          <p:cNvSpPr/>
          <p:nvPr/>
        </p:nvSpPr>
        <p:spPr>
          <a:xfrm>
            <a:off x="248716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29" name="Shape 26"/>
          <p:cNvSpPr/>
          <p:nvPr/>
        </p:nvSpPr>
        <p:spPr>
          <a:xfrm>
            <a:off x="264718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30" name="Shape 27"/>
          <p:cNvSpPr/>
          <p:nvPr/>
        </p:nvSpPr>
        <p:spPr>
          <a:xfrm>
            <a:off x="280720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31" name="Shape 28"/>
          <p:cNvSpPr/>
          <p:nvPr/>
        </p:nvSpPr>
        <p:spPr>
          <a:xfrm>
            <a:off x="296722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32" name="Shape 29"/>
          <p:cNvSpPr/>
          <p:nvPr/>
        </p:nvSpPr>
        <p:spPr>
          <a:xfrm>
            <a:off x="312724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8726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34" name="Shape 31"/>
          <p:cNvSpPr/>
          <p:nvPr/>
        </p:nvSpPr>
        <p:spPr>
          <a:xfrm>
            <a:off x="344728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35" name="Shape 32"/>
          <p:cNvSpPr/>
          <p:nvPr/>
        </p:nvSpPr>
        <p:spPr>
          <a:xfrm>
            <a:off x="360730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36" name="Shape 33"/>
          <p:cNvSpPr/>
          <p:nvPr/>
        </p:nvSpPr>
        <p:spPr>
          <a:xfrm>
            <a:off x="56692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37" name="Shape 34"/>
          <p:cNvSpPr/>
          <p:nvPr/>
        </p:nvSpPr>
        <p:spPr>
          <a:xfrm>
            <a:off x="72694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38" name="Shape 35"/>
          <p:cNvSpPr/>
          <p:nvPr/>
        </p:nvSpPr>
        <p:spPr>
          <a:xfrm>
            <a:off x="88696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39" name="Shape 36"/>
          <p:cNvSpPr/>
          <p:nvPr/>
        </p:nvSpPr>
        <p:spPr>
          <a:xfrm>
            <a:off x="104698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40" name="Shape 37"/>
          <p:cNvSpPr/>
          <p:nvPr/>
        </p:nvSpPr>
        <p:spPr>
          <a:xfrm>
            <a:off x="120700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41" name="Shape 38"/>
          <p:cNvSpPr/>
          <p:nvPr/>
        </p:nvSpPr>
        <p:spPr>
          <a:xfrm>
            <a:off x="136702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42" name="Shape 39"/>
          <p:cNvSpPr/>
          <p:nvPr/>
        </p:nvSpPr>
        <p:spPr>
          <a:xfrm>
            <a:off x="152704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43" name="Shape 40"/>
          <p:cNvSpPr/>
          <p:nvPr/>
        </p:nvSpPr>
        <p:spPr>
          <a:xfrm>
            <a:off x="168706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44" name="Shape 41"/>
          <p:cNvSpPr/>
          <p:nvPr/>
        </p:nvSpPr>
        <p:spPr>
          <a:xfrm>
            <a:off x="184708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45" name="Shape 42"/>
          <p:cNvSpPr/>
          <p:nvPr/>
        </p:nvSpPr>
        <p:spPr>
          <a:xfrm>
            <a:off x="200710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46" name="Shape 43"/>
          <p:cNvSpPr/>
          <p:nvPr/>
        </p:nvSpPr>
        <p:spPr>
          <a:xfrm>
            <a:off x="216712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47" name="Shape 44"/>
          <p:cNvSpPr/>
          <p:nvPr/>
        </p:nvSpPr>
        <p:spPr>
          <a:xfrm>
            <a:off x="232714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48" name="Shape 45"/>
          <p:cNvSpPr/>
          <p:nvPr/>
        </p:nvSpPr>
        <p:spPr>
          <a:xfrm>
            <a:off x="248716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49" name="Shape 46"/>
          <p:cNvSpPr/>
          <p:nvPr/>
        </p:nvSpPr>
        <p:spPr>
          <a:xfrm>
            <a:off x="264718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50" name="Shape 47"/>
          <p:cNvSpPr/>
          <p:nvPr/>
        </p:nvSpPr>
        <p:spPr>
          <a:xfrm>
            <a:off x="280720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51" name="Shape 48"/>
          <p:cNvSpPr/>
          <p:nvPr/>
        </p:nvSpPr>
        <p:spPr>
          <a:xfrm>
            <a:off x="296722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52" name="Shape 49"/>
          <p:cNvSpPr/>
          <p:nvPr/>
        </p:nvSpPr>
        <p:spPr>
          <a:xfrm>
            <a:off x="312724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53" name="Shape 50"/>
          <p:cNvSpPr/>
          <p:nvPr/>
        </p:nvSpPr>
        <p:spPr>
          <a:xfrm>
            <a:off x="328726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54" name="Shape 51"/>
          <p:cNvSpPr/>
          <p:nvPr/>
        </p:nvSpPr>
        <p:spPr>
          <a:xfrm>
            <a:off x="344728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55" name="Shape 52"/>
          <p:cNvSpPr/>
          <p:nvPr/>
        </p:nvSpPr>
        <p:spPr>
          <a:xfrm>
            <a:off x="360730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56" name="Shape 53"/>
          <p:cNvSpPr/>
          <p:nvPr/>
        </p:nvSpPr>
        <p:spPr>
          <a:xfrm>
            <a:off x="56692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57" name="Shape 54"/>
          <p:cNvSpPr/>
          <p:nvPr/>
        </p:nvSpPr>
        <p:spPr>
          <a:xfrm>
            <a:off x="72694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58" name="Shape 55"/>
          <p:cNvSpPr/>
          <p:nvPr/>
        </p:nvSpPr>
        <p:spPr>
          <a:xfrm>
            <a:off x="88696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59" name="Shape 56"/>
          <p:cNvSpPr/>
          <p:nvPr/>
        </p:nvSpPr>
        <p:spPr>
          <a:xfrm>
            <a:off x="104698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60" name="Shape 57"/>
          <p:cNvSpPr/>
          <p:nvPr/>
        </p:nvSpPr>
        <p:spPr>
          <a:xfrm>
            <a:off x="120700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61" name="Shape 58"/>
          <p:cNvSpPr/>
          <p:nvPr/>
        </p:nvSpPr>
        <p:spPr>
          <a:xfrm>
            <a:off x="136702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62" name="Shape 59"/>
          <p:cNvSpPr/>
          <p:nvPr/>
        </p:nvSpPr>
        <p:spPr>
          <a:xfrm>
            <a:off x="152704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63" name="Shape 60"/>
          <p:cNvSpPr/>
          <p:nvPr/>
        </p:nvSpPr>
        <p:spPr>
          <a:xfrm>
            <a:off x="168706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64" name="Shape 61"/>
          <p:cNvSpPr/>
          <p:nvPr/>
        </p:nvSpPr>
        <p:spPr>
          <a:xfrm>
            <a:off x="184708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65" name="Shape 62"/>
          <p:cNvSpPr/>
          <p:nvPr/>
        </p:nvSpPr>
        <p:spPr>
          <a:xfrm>
            <a:off x="200710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66" name="Shape 63"/>
          <p:cNvSpPr/>
          <p:nvPr/>
        </p:nvSpPr>
        <p:spPr>
          <a:xfrm>
            <a:off x="216712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67" name="Shape 64"/>
          <p:cNvSpPr/>
          <p:nvPr/>
        </p:nvSpPr>
        <p:spPr>
          <a:xfrm>
            <a:off x="232714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68" name="Shape 65"/>
          <p:cNvSpPr/>
          <p:nvPr/>
        </p:nvSpPr>
        <p:spPr>
          <a:xfrm>
            <a:off x="248716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69" name="Shape 66"/>
          <p:cNvSpPr/>
          <p:nvPr/>
        </p:nvSpPr>
        <p:spPr>
          <a:xfrm>
            <a:off x="264718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70" name="Shape 67"/>
          <p:cNvSpPr/>
          <p:nvPr/>
        </p:nvSpPr>
        <p:spPr>
          <a:xfrm>
            <a:off x="280720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71" name="Shape 68"/>
          <p:cNvSpPr/>
          <p:nvPr/>
        </p:nvSpPr>
        <p:spPr>
          <a:xfrm>
            <a:off x="296722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72" name="Shape 69"/>
          <p:cNvSpPr/>
          <p:nvPr/>
        </p:nvSpPr>
        <p:spPr>
          <a:xfrm>
            <a:off x="312724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73" name="Shape 70"/>
          <p:cNvSpPr/>
          <p:nvPr/>
        </p:nvSpPr>
        <p:spPr>
          <a:xfrm>
            <a:off x="328726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74" name="Shape 71"/>
          <p:cNvSpPr/>
          <p:nvPr/>
        </p:nvSpPr>
        <p:spPr>
          <a:xfrm>
            <a:off x="344728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75" name="Shape 72"/>
          <p:cNvSpPr/>
          <p:nvPr/>
        </p:nvSpPr>
        <p:spPr>
          <a:xfrm>
            <a:off x="360730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76" name="Shape 73"/>
          <p:cNvSpPr/>
          <p:nvPr/>
        </p:nvSpPr>
        <p:spPr>
          <a:xfrm>
            <a:off x="56692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77" name="Shape 74"/>
          <p:cNvSpPr/>
          <p:nvPr/>
        </p:nvSpPr>
        <p:spPr>
          <a:xfrm>
            <a:off x="72694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78" name="Shape 75"/>
          <p:cNvSpPr/>
          <p:nvPr/>
        </p:nvSpPr>
        <p:spPr>
          <a:xfrm>
            <a:off x="88696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79" name="Shape 76"/>
          <p:cNvSpPr/>
          <p:nvPr/>
        </p:nvSpPr>
        <p:spPr>
          <a:xfrm>
            <a:off x="104698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80" name="Shape 77"/>
          <p:cNvSpPr/>
          <p:nvPr/>
        </p:nvSpPr>
        <p:spPr>
          <a:xfrm>
            <a:off x="120700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81" name="Shape 78"/>
          <p:cNvSpPr/>
          <p:nvPr/>
        </p:nvSpPr>
        <p:spPr>
          <a:xfrm>
            <a:off x="136702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82" name="Shape 79"/>
          <p:cNvSpPr/>
          <p:nvPr/>
        </p:nvSpPr>
        <p:spPr>
          <a:xfrm>
            <a:off x="152704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83" name="Shape 80"/>
          <p:cNvSpPr/>
          <p:nvPr/>
        </p:nvSpPr>
        <p:spPr>
          <a:xfrm>
            <a:off x="168706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84" name="Shape 81"/>
          <p:cNvSpPr/>
          <p:nvPr/>
        </p:nvSpPr>
        <p:spPr>
          <a:xfrm>
            <a:off x="184708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85" name="Shape 82"/>
          <p:cNvSpPr/>
          <p:nvPr/>
        </p:nvSpPr>
        <p:spPr>
          <a:xfrm>
            <a:off x="200710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86" name="Shape 83"/>
          <p:cNvSpPr/>
          <p:nvPr/>
        </p:nvSpPr>
        <p:spPr>
          <a:xfrm>
            <a:off x="216712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87" name="Shape 84"/>
          <p:cNvSpPr/>
          <p:nvPr/>
        </p:nvSpPr>
        <p:spPr>
          <a:xfrm>
            <a:off x="232714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88" name="Shape 85"/>
          <p:cNvSpPr/>
          <p:nvPr/>
        </p:nvSpPr>
        <p:spPr>
          <a:xfrm>
            <a:off x="248716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89" name="Shape 86"/>
          <p:cNvSpPr/>
          <p:nvPr/>
        </p:nvSpPr>
        <p:spPr>
          <a:xfrm>
            <a:off x="264718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90" name="Shape 87"/>
          <p:cNvSpPr/>
          <p:nvPr/>
        </p:nvSpPr>
        <p:spPr>
          <a:xfrm>
            <a:off x="280720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91" name="Shape 88"/>
          <p:cNvSpPr/>
          <p:nvPr/>
        </p:nvSpPr>
        <p:spPr>
          <a:xfrm>
            <a:off x="296722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92" name="Shape 89"/>
          <p:cNvSpPr/>
          <p:nvPr/>
        </p:nvSpPr>
        <p:spPr>
          <a:xfrm>
            <a:off x="312724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93" name="Shape 90"/>
          <p:cNvSpPr/>
          <p:nvPr/>
        </p:nvSpPr>
        <p:spPr>
          <a:xfrm>
            <a:off x="328726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94" name="Shape 91"/>
          <p:cNvSpPr/>
          <p:nvPr/>
        </p:nvSpPr>
        <p:spPr>
          <a:xfrm>
            <a:off x="344728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95" name="Shape 92"/>
          <p:cNvSpPr/>
          <p:nvPr/>
        </p:nvSpPr>
        <p:spPr>
          <a:xfrm>
            <a:off x="360730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96" name="Shape 93"/>
          <p:cNvSpPr/>
          <p:nvPr/>
        </p:nvSpPr>
        <p:spPr>
          <a:xfrm>
            <a:off x="56692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97" name="Shape 94"/>
          <p:cNvSpPr/>
          <p:nvPr/>
        </p:nvSpPr>
        <p:spPr>
          <a:xfrm>
            <a:off x="72694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98" name="Shape 95"/>
          <p:cNvSpPr/>
          <p:nvPr/>
        </p:nvSpPr>
        <p:spPr>
          <a:xfrm>
            <a:off x="88696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99" name="Shape 96"/>
          <p:cNvSpPr/>
          <p:nvPr/>
        </p:nvSpPr>
        <p:spPr>
          <a:xfrm>
            <a:off x="104698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00" name="Shape 97"/>
          <p:cNvSpPr/>
          <p:nvPr/>
        </p:nvSpPr>
        <p:spPr>
          <a:xfrm>
            <a:off x="120700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01" name="Shape 98"/>
          <p:cNvSpPr/>
          <p:nvPr/>
        </p:nvSpPr>
        <p:spPr>
          <a:xfrm>
            <a:off x="136702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02" name="Shape 99"/>
          <p:cNvSpPr/>
          <p:nvPr/>
        </p:nvSpPr>
        <p:spPr>
          <a:xfrm>
            <a:off x="152704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03" name="Shape 100"/>
          <p:cNvSpPr/>
          <p:nvPr/>
        </p:nvSpPr>
        <p:spPr>
          <a:xfrm>
            <a:off x="168706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84708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05" name="Shape 102"/>
          <p:cNvSpPr/>
          <p:nvPr/>
        </p:nvSpPr>
        <p:spPr>
          <a:xfrm>
            <a:off x="200710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06" name="Shape 103"/>
          <p:cNvSpPr/>
          <p:nvPr/>
        </p:nvSpPr>
        <p:spPr>
          <a:xfrm>
            <a:off x="216712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07" name="Shape 104"/>
          <p:cNvSpPr/>
          <p:nvPr/>
        </p:nvSpPr>
        <p:spPr>
          <a:xfrm>
            <a:off x="232714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08" name="Shape 105"/>
          <p:cNvSpPr/>
          <p:nvPr/>
        </p:nvSpPr>
        <p:spPr>
          <a:xfrm>
            <a:off x="248716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09" name="Shape 106"/>
          <p:cNvSpPr/>
          <p:nvPr/>
        </p:nvSpPr>
        <p:spPr>
          <a:xfrm>
            <a:off x="264718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10" name="Shape 107"/>
          <p:cNvSpPr/>
          <p:nvPr/>
        </p:nvSpPr>
        <p:spPr>
          <a:xfrm>
            <a:off x="280720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11" name="Shape 108"/>
          <p:cNvSpPr/>
          <p:nvPr/>
        </p:nvSpPr>
        <p:spPr>
          <a:xfrm>
            <a:off x="296722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12" name="Shape 109"/>
          <p:cNvSpPr/>
          <p:nvPr/>
        </p:nvSpPr>
        <p:spPr>
          <a:xfrm>
            <a:off x="312724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13" name="Shape 110"/>
          <p:cNvSpPr/>
          <p:nvPr/>
        </p:nvSpPr>
        <p:spPr>
          <a:xfrm>
            <a:off x="328726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14" name="Shape 111"/>
          <p:cNvSpPr/>
          <p:nvPr/>
        </p:nvSpPr>
        <p:spPr>
          <a:xfrm>
            <a:off x="344728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15" name="Shape 112"/>
          <p:cNvSpPr/>
          <p:nvPr/>
        </p:nvSpPr>
        <p:spPr>
          <a:xfrm>
            <a:off x="3607308" y="4681728"/>
            <a:ext cx="118872" cy="11887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16" name="Text 113"/>
          <p:cNvSpPr/>
          <p:nvPr/>
        </p:nvSpPr>
        <p:spPr>
          <a:xfrm>
            <a:off x="4137660" y="4087368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звернень</a:t>
            </a:r>
            <a:pPr indent="0" marL="0">
              <a:buNone/>
            </a:pPr>
            <a:r>
              <a:rPr lang="en-US" sz="12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·  один червоний квадрат — увесь ваш тижневий бюджет невдач</a:t>
            </a:r>
            <a:endParaRPr lang="en-US" sz="1250" dirty="0"/>
          </a:p>
        </p:txBody>
      </p:sp>
      <p:sp>
        <p:nvSpPr>
          <p:cNvPr id="117" name="Text 114"/>
          <p:cNvSpPr/>
          <p:nvPr/>
        </p:nvSpPr>
        <p:spPr>
          <a:xfrm>
            <a:off x="4137660" y="4480560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10 000 звернень на тиждень це 100 невдач — і вони закінчуються швидше, ніж здається</a:t>
            </a:r>
            <a:endParaRPr lang="en-US" sz="1150" dirty="0"/>
          </a:p>
        </p:txBody>
      </p:sp>
      <p:sp>
        <p:nvSpPr>
          <p:cNvPr id="118" name="Shape 115"/>
          <p:cNvSpPr/>
          <p:nvPr/>
        </p:nvSpPr>
        <p:spPr>
          <a:xfrm>
            <a:off x="566928" y="49834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102A20"/>
          </a:solidFill>
          <a:ln/>
        </p:spPr>
      </p:sp>
      <p:sp>
        <p:nvSpPr>
          <p:cNvPr id="119" name="Text 116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20" name="Text 117"/>
          <p:cNvSpPr/>
          <p:nvPr/>
        </p:nvSpPr>
        <p:spPr>
          <a:xfrm>
            <a:off x="786384" y="5367528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«Uptime 99.9%» — марна обіцянка. Робочий SLI — частка змістовних відповідей.</a:t>
            </a:r>
            <a:endParaRPr lang="en-US" sz="1300" dirty="0"/>
          </a:p>
        </p:txBody>
      </p:sp>
      <p:sp>
        <p:nvSpPr>
          <p:cNvPr id="121" name="Shape 118"/>
          <p:cNvSpPr/>
          <p:nvPr/>
        </p:nvSpPr>
        <p:spPr>
          <a:xfrm>
            <a:off x="566928" y="5742432"/>
            <a:ext cx="11064240" cy="411480"/>
          </a:xfrm>
          <a:prstGeom prst="roundRect">
            <a:avLst>
              <a:gd name="adj" fmla="val 26667"/>
            </a:avLst>
          </a:prstGeom>
          <a:solidFill>
            <a:srgbClr val="2A2010"/>
          </a:solidFill>
          <a:ln/>
        </p:spPr>
      </p:sp>
      <p:sp>
        <p:nvSpPr>
          <p:cNvPr id="122" name="Text 119"/>
          <p:cNvSpPr/>
          <p:nvPr/>
        </p:nvSpPr>
        <p:spPr>
          <a:xfrm>
            <a:off x="786384" y="5888736"/>
            <a:ext cx="106253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лог його поки не порахує: заглушка пише той самий 503.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— це прохання прокинутися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C114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Симптом, не причина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«частка успішних упала» — будити завжди; «429 зросло» — причина, будити нечесно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C114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«Прокинутися» ≠ «подивитися вранці»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будити — лише те, що шкодить зараз; решта — черга завдань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C114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алерт має інструкцію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спрацював — що робити першим? Це runbook останнього уроку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31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2E1418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059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1596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5xx і таймаути — нормальний фон. Алерт — на відхилення в часі.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530352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44982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Мітки — тільки осяжні. User_id живе в лозі, не в метриках.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помилок: категорія визначає дію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023360"/>
                <a:gridCol w="39319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категорія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8A857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429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вичерпані ліміти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розводити трафік, домовлятися про квоту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timeout інструмента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зовнішня система не відповіла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перевіряти інтеграцію, не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відмова guardrail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injection або заборонений вміст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 успіх захисту, а не збій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41605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1" name="Text 7"/>
          <p:cNvSpPr/>
          <p:nvPr/>
        </p:nvSpPr>
        <p:spPr>
          <a:xfrm>
            <a:off x="786384" y="43068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лічильник «помилки» змішує три різні світи. Окремі лічильники за причинами перетворюють цифру на маршрут дій.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 і спани: коли одного request_id мало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231136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62556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0215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step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231136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62556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attempt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231136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62556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102A20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шлях запиту відновлено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сталося в межах одного звернення користувача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47141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Спан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крок усередині: виклик, інструмент, guardrail — зі своїм статусом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7356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17473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817473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68680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Дерево спанів</a:t>
            </a:r>
            <a:endParaRPr lang="en-US" sz="1450" dirty="0"/>
          </a:p>
        </p:txBody>
      </p:sp>
      <p:sp>
        <p:nvSpPr>
          <p:cNvPr id="35" name="Text 32"/>
          <p:cNvSpPr/>
          <p:nvPr/>
        </p:nvSpPr>
        <p:spPr>
          <a:xfrm>
            <a:off x="817473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кожного є батько — видно не лише «що було», а й «що з чого виросло»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02A20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ЗАКЛАДІТЬ ВІДРАЗУ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Ідентифікатор народжується на вході й стоїть у кожному рядку лога.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Стрімінг змінює самі метрики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заздалегідь дешевше, ніж переробляти лог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час стає трьома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першого токена, повна генерація, час до останнього байта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2E1418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Помилка посеред успіху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 почався з 200 і обірвався: для HTTP гаразд, для користувача — ні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guardrails складнішають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можна лише зібрану відповідь; вихідна перевірка мусить уміти обірвати потік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1481328" y="3913632"/>
            <a:ext cx="2377440" cy="310896"/>
          </a:xfrm>
          <a:prstGeom prst="roundRect">
            <a:avLst>
              <a:gd name="adj" fmla="val 17647"/>
            </a:avLst>
          </a:prstGeom>
          <a:solidFill>
            <a:srgbClr val="1C1140"/>
          </a:solidFill>
          <a:ln/>
        </p:spPr>
      </p:sp>
      <p:sp>
        <p:nvSpPr>
          <p:cNvPr id="24" name="Text 21"/>
          <p:cNvSpPr/>
          <p:nvPr/>
        </p:nvSpPr>
        <p:spPr>
          <a:xfrm>
            <a:off x="1481328" y="39136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до 1-го токена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3913632" y="3913632"/>
            <a:ext cx="6858000" cy="310896"/>
          </a:xfrm>
          <a:prstGeom prst="roundRect">
            <a:avLst>
              <a:gd name="adj" fmla="val 17647"/>
            </a:avLst>
          </a:prstGeom>
          <a:solidFill>
            <a:srgbClr val="102A20"/>
          </a:solidFill>
          <a:ln/>
        </p:spPr>
      </p:sp>
      <p:sp>
        <p:nvSpPr>
          <p:cNvPr id="26" name="Text 23"/>
          <p:cNvSpPr/>
          <p:nvPr/>
        </p:nvSpPr>
        <p:spPr>
          <a:xfrm>
            <a:off x="3913632" y="391363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генерація — токен за токеном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1435608" y="4023360"/>
            <a:ext cx="91440" cy="914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Text 25"/>
          <p:cNvSpPr/>
          <p:nvPr/>
        </p:nvSpPr>
        <p:spPr>
          <a:xfrm>
            <a:off x="47548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запит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3813048" y="4023360"/>
            <a:ext cx="91440" cy="914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7"/>
          <p:cNvSpPr/>
          <p:nvPr/>
        </p:nvSpPr>
        <p:spPr>
          <a:xfrm>
            <a:off x="285292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перший токен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10725912" y="4023360"/>
            <a:ext cx="91440" cy="914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2" name="Text 29"/>
          <p:cNvSpPr/>
          <p:nvPr/>
        </p:nvSpPr>
        <p:spPr>
          <a:xfrm>
            <a:off x="9765792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останній байт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566928" y="4681728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786384" y="48097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ПРАКТИЧНИЙ ВИСНОВОК НА СЬОГОДНІ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86384" y="5065776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latency_ms і status — характеристика завершення відповіді, а не код HTTP.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не має бути в лозі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Логувати все — найпростіший спосіб зробити з лога сховище персональних даних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Повні тіла — не за замовчуванням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ознак досить: довжина, токени, finish_reason, guardrail, які інструменти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Тіла — семпл із терміном життя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невелика частка, окреме сховище, автоматичне видалення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2E1418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Секрети й ключі — ніколи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потрапляють через дампи запитів «для дебагу», трейси помилок і повні заголовки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102A20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ДЛЯ КОЖНОГО НОВОГО ПОЛЯ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залоговане ви зобов'язані захищати: лог — база даних, не блокнот.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продукті чи індустріальний стек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Обов'язкова доріжка: у продукті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живуть усередині системи, поверх власного лога: жодної нової інфраструктури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2A201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Індустріальний стек — надбудова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і зовнішні дашборди піднімаються поруч, коли питання виходять за межі системи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8862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2A201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2702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 на тиждень звіряйте плитку з SQL руками. Розбіжність — це або баг агрегації, або зміна, про яку ви не знали.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видимість у продукті, потім — стек, якщо він справді потрібен.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psql-агрегати руками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count, p95, error rate — одним запитом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/observability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цифри + cache-hit і fallback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консоль: усі шість плиток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живі, з числами замість «—»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«детектив»: серія __fail_503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користувач не бачить 500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моніторинг LLM-системи — це SQL по власному лозі плюс кілька лічильників. І навчитися впізнавати тихий інцидент — той, якого не видно в жодному uptime.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руками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psql: count, p95, error rate по сьогоднішньому дню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/observability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SQL-агрегати + лічильники в один ендпоінт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Звірити плитки з SQL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плиток показують те саме, що запит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«детектива»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серія __fail_503 → метрики ростуть без 500 користувачу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лічильники за причинами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— це ваш лог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 по таблиці, яку ви писали з першого уроку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Плитки відповідають на питання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цифр, кожна з приводу, а не для краси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2E1418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Тихий інцидент видно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поки uptime зелений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 є. Наступного уроку до неї додається судження: не «скільки запитів», а «чи стали відповіді гіршими» — і це вже перевірки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живі й звірені з SQL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алерти на p95, а не на середнє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відтворю тихий інцидент і покажу його в метриках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додати в лог для зрізу по тенантах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середню latency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згладить і сплеск таймаутів, і деградацію провайдера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кожну помилку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десять повідомлень щодня і жодної реакції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без питання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прикраса, яку перестають помічати за тиждень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провайдера прибитий до «ok»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брехня рівно в момент, коли правда потрібна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User_id у мітках метрик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метрик вибухає на кардинальності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всі шість плиток живі, звірені з SQL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відтворити «детектива»: інцидент видно в метриках, користувач не бачить 500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по одному операційному питанню на кожну плитку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помилок: окремі лічильники за причинами (429 провайдера, timeout інструмента, відмова guardrail)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5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спостережуваність і evals: сьогоднішні ендпоінти вже у вас в руках; після наступного уроку додадуться власні eval-кейси в golden dataset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 інциденти LLM-систем не дають жодної помилки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весь моніторинг ядра — SQL по власному лозі плюс кілька лічильників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а не середнє; перцентилі не усереднюються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існує, лише якщо відповідає на питання, яке хтось ставить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 — на те, що відчуває користувач, і має бюджет помилок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10 · Golden dataset і eval suite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 бачите, що система робить. Але «відповіді стали гіршими» жодна з шести плиток не покаже. Наступний урок дає якості число: golden dataset, grader, поріг і exit code — той самий, що на тижні 6 стане гейтом у CI.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9 · Observability для LLM-систем</dc:title>
  <dc:subject>PptxGenJS Presentation</dc:subject>
  <dc:creator>LLMOps Bootcamp</dc:creator>
  <cp:lastModifiedBy>LLMOps Bootcamp</cp:lastModifiedBy>
  <cp:revision>1</cp:revision>
  <dcterms:created xsi:type="dcterms:W3CDTF">2026-08-16T15:39:52Z</dcterms:created>
  <dcterms:modified xsi:type="dcterms:W3CDTF">2026-08-16T15:39:52Z</dcterms:modified>
</cp:coreProperties>
</file>