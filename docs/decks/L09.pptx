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ТЕМА 9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Observability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LLM-систем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Uptime зелений, користувачі нещасні. Сьогодні консоль оживає повністю: p95 і error rate з власного лога, cache-hit і fallback з лічильників — і вміння бачити інциденти без жодної помилки.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p95 і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SQL по власному логу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всі шість плиток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звірені з SQL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Пояснити, чому p95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середнє — і чому перцентилі не усереднюються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тихий інцидент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без жодного 500 користувачу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Сформулювати SLO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порахувати тижневий бюджет помилок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інциденти й чотири виміри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Лог-рядок = джерело всього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не середнє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/observability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/providers і шість плиток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Тренд, а не поточне значення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SLI, SLO, бюджет помилок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Трейс, спани, PII в лозі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продукті чи індустріальний стек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«усе зелене» — до системи, у якій видно те, що не дає помилок.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час, у який вкладаються 95% запитів — досвід найневдаліших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 rate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завершилися не-200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 / fallback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лічильники з Тем 5 і 7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 / SLO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міряємо — і цільове значення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помилок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невдач дозволено в межах SLO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тихий інцидент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без жодної помилки користувачу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Тихі інциденти: все зелене — все погано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просіла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зміни промпта — HTTP 200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×3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зламав ключ кешу — HTTP 200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змістився на слабшу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працює fallback — HTTP 200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доступність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08152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320954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344728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350215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96188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608990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32764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38251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8842248" y="387705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8970264" y="380847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9208008" y="352044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9262872" y="352044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якість / поведінка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6928" y="43434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перші два виміри знайомі з веб-сервісів; другі два — власне LLMOps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1243584" y="49286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1243584" y="51846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чотирьох тижнів працюють — сьогодні вони стають видимими цифрами.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лог-рядок — джерело всього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requests: request_id · model · prompt_version · latency_ms · tokens · cost_usd · status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request_id відновлюється шлях: яка модель, яка версія, скільки тривало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 по latency_ms, error rate як частка не-200, сума cost_usd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28346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3017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2990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352044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хто, коли, якою версією, з яким результатом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76402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Ніякої магії: жодного окремого «стека спостережуваності» для ядра — SQL по таблиці, яку Ви й так пишете. Лог, закладений заздалегідь, — різниця між «подивімось» і «даних немає».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Новий зріз = нова колонка, не нова система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7665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зріз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груп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агрегувати?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одиниці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версії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десятки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06B41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тенанти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сотні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4FB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вже на межі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user_id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мільйони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 — лише для трейсів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635240" y="1737360"/>
            <a:ext cx="3995928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311896" y="1865376"/>
            <a:ext cx="3099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8311896" y="2121408"/>
            <a:ext cx="3099816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Колонка в момент події — безкоштовний GROUP BY. Через місяць — даних уже немає.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Зріз по тенантах — додайте tenant_id у лог-рядок у момент запиту.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p95, не середнє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1.1 с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середнє — «прийнятно»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46227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446227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досвід найневдаліших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65008" y="17373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847088"/>
            <a:ext cx="327355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211312" y="2453335"/>
            <a:ext cx="327355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відсоток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58368" y="4090660"/>
            <a:ext cx="310896" cy="9729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1042416" y="3951671"/>
            <a:ext cx="310896" cy="236281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1426464" y="3770986"/>
            <a:ext cx="310896" cy="41696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1810512" y="3604199"/>
            <a:ext cx="310896" cy="58375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194560" y="3493008"/>
            <a:ext cx="310896" cy="6949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2578608" y="3534705"/>
            <a:ext cx="310896" cy="6532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Shape 20"/>
          <p:cNvSpPr/>
          <p:nvPr/>
        </p:nvSpPr>
        <p:spPr>
          <a:xfrm>
            <a:off x="2962656" y="3631997"/>
            <a:ext cx="310896" cy="55595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3346704" y="3729289"/>
            <a:ext cx="310896" cy="45866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3730752" y="3812682"/>
            <a:ext cx="310896" cy="37527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4114800" y="3889126"/>
            <a:ext cx="310896" cy="29882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4498848" y="3944722"/>
            <a:ext cx="310896" cy="24323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882896" y="3986418"/>
            <a:ext cx="310896" cy="20153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5266944" y="4021165"/>
            <a:ext cx="310896" cy="16678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5650992" y="4048963"/>
            <a:ext cx="310896" cy="138989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6035040" y="4069812"/>
            <a:ext cx="310896" cy="118140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6419088" y="4083710"/>
            <a:ext cx="310896" cy="10424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803136" y="4097609"/>
            <a:ext cx="310896" cy="90343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187184" y="4111508"/>
            <a:ext cx="310896" cy="7644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7571232" y="4118458"/>
            <a:ext cx="310896" cy="69494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6" name="Shape 33"/>
          <p:cNvSpPr/>
          <p:nvPr/>
        </p:nvSpPr>
        <p:spPr>
          <a:xfrm>
            <a:off x="7955280" y="4125407"/>
            <a:ext cx="310896" cy="62545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8339328" y="4132356"/>
            <a:ext cx="310896" cy="5559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8723376" y="4139306"/>
            <a:ext cx="310896" cy="48646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9107424" y="4146255"/>
            <a:ext cx="310896" cy="4169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0" name="Shape 37"/>
          <p:cNvSpPr/>
          <p:nvPr/>
        </p:nvSpPr>
        <p:spPr>
          <a:xfrm>
            <a:off x="9491472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9875520" y="4153205"/>
            <a:ext cx="310896" cy="34747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2" name="Shape 39"/>
          <p:cNvSpPr/>
          <p:nvPr/>
        </p:nvSpPr>
        <p:spPr>
          <a:xfrm>
            <a:off x="10259568" y="4160154"/>
            <a:ext cx="310896" cy="27798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43" name="Shape 40"/>
          <p:cNvSpPr/>
          <p:nvPr/>
        </p:nvSpPr>
        <p:spPr>
          <a:xfrm>
            <a:off x="2350008" y="3346704"/>
            <a:ext cx="0" cy="841248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44" name="Text 41"/>
          <p:cNvSpPr/>
          <p:nvPr/>
        </p:nvSpPr>
        <p:spPr>
          <a:xfrm>
            <a:off x="161848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середнє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8110728" y="3346704"/>
            <a:ext cx="0" cy="841248"/>
          </a:xfrm>
          <a:prstGeom prst="line">
            <a:avLst/>
          </a:prstGeom>
          <a:noFill/>
          <a:ln w="19050">
            <a:solidFill>
              <a:srgbClr val="B3261E"/>
            </a:solidFill>
            <a:prstDash val="dash"/>
          </a:ln>
        </p:spPr>
      </p:sp>
      <p:sp>
        <p:nvSpPr>
          <p:cNvPr id="46" name="Text 43"/>
          <p:cNvSpPr/>
          <p:nvPr/>
        </p:nvSpPr>
        <p:spPr>
          <a:xfrm>
            <a:off x="7379208" y="31089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658368" y="424281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відповіді →</a:t>
            </a:r>
            <a:endParaRPr lang="en-US" sz="850" dirty="0"/>
          </a:p>
        </p:txBody>
      </p:sp>
      <p:sp>
        <p:nvSpPr>
          <p:cNvPr id="48" name="Shape 45"/>
          <p:cNvSpPr/>
          <p:nvPr/>
        </p:nvSpPr>
        <p:spPr>
          <a:xfrm>
            <a:off x="566928" y="455371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49808" y="4754880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50" name="Text 47"/>
          <p:cNvSpPr/>
          <p:nvPr/>
        </p:nvSpPr>
        <p:spPr>
          <a:xfrm>
            <a:off x="749808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1243584" y="468172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1243584" y="4937760"/>
            <a:ext cx="10168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Середня latency згладить і сплеск, і деградацію. Алерти — на перцентилі.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566928" y="5394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5A05F4"/>
          </a:solidFill>
          <a:ln/>
        </p:spPr>
      </p:sp>
      <p:sp>
        <p:nvSpPr>
          <p:cNvPr id="54" name="Text 51"/>
          <p:cNvSpPr/>
          <p:nvPr/>
        </p:nvSpPr>
        <p:spPr>
          <a:xfrm>
            <a:off x="786384" y="5541264"/>
            <a:ext cx="106253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Перцентилі не усереднюються: середнє від двох p95 — не p95 за дві години.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GET /observability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count(*),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COALESCE(percentile_cont(0.95) WITHIN GROUP (ORDER BY latency_ms), 0),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COALESCE(AVG(CASE WHEN status &lt;&gt; '200' THEN 1.0 ELSE 0 END) * 100, 0)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requests WHERE created_at::date = CURRENT_DATE;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бази: requests · p95 · error rate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переживають рестарт, історичні — по них видно тренд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9319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пам'яті: cache-hit · fallback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6177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швидкі, але обнуляються з рестартом; кожен ребілд сервісу = рестарт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56692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COALESCE — не косметика: на порожній таблиці агрегати дають NULL, і свіжий стек віддає 500 ще до першого запиту.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Плитка — це відповідь на питання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плитка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операційне 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звідки цифра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Requests today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яке навантаження зараз?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count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Вартість сьогодні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скільки палимо і чи в бюджеті?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сума cost_usd (Тема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p95 latency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бачать найневдаліші користувачі?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перцентиль по лозі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Error rate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частка запитів ламається?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не-200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Cache-hit %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окупається кеш?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(Тема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Fallback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 живемо ми на плані Б?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 (Тема 7)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53035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55595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1" name="Text 7"/>
          <p:cNvSpPr/>
          <p:nvPr/>
        </p:nvSpPr>
        <p:spPr>
          <a:xfrm>
            <a:off x="749808" y="5559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43584" y="5431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243584" y="5687568"/>
            <a:ext cx="10168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елемент вітрини відповідає на питання, яке хтось справді ставить. Плитка без питання — прикраса, яку перестають помічати.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/providers: статус не має права брехати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21284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221284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89280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успішний виклик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2400300"/>
            <a:ext cx="138988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599432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3172968" y="20162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збоїв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818888" y="192024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18888" y="192024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498848" y="293522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поспіль збої в ланцюзі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0873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вже є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461772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збоїв fallback-ланцюга з тижня 4; у кого є breaker — його готовий стан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393192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1384" y="405993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501384" y="431596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оновлюється лише на реальних викликах — «down» триває довше за проблему.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Статус, прибитий до «ok», — брехня рівно в момент, коли правда потрібна.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Тренд важливіший за поточне значення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росте щогодини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основна модель деградує, а Ви «не бачите» — відповіді ж ідуть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cache-hit падає тиждень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ключ правкою або змінився профіль трафіку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поїхав на strong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або ескалацій більше, або роутер зламаний — бюджет горить удвічі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49808" y="3993185"/>
            <a:ext cx="256032" cy="85039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4" name="Shape 21"/>
          <p:cNvSpPr/>
          <p:nvPr/>
        </p:nvSpPr>
        <p:spPr>
          <a:xfrm>
            <a:off x="1133856" y="3953500"/>
            <a:ext cx="256032" cy="12472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5" name="Shape 22"/>
          <p:cNvSpPr/>
          <p:nvPr/>
        </p:nvSpPr>
        <p:spPr>
          <a:xfrm>
            <a:off x="1517904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6" name="Shape 23"/>
          <p:cNvSpPr/>
          <p:nvPr/>
        </p:nvSpPr>
        <p:spPr>
          <a:xfrm>
            <a:off x="1901952" y="3840114"/>
            <a:ext cx="256032" cy="2381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7" name="Shape 24"/>
          <p:cNvSpPr/>
          <p:nvPr/>
        </p:nvSpPr>
        <p:spPr>
          <a:xfrm>
            <a:off x="2286000" y="3766414"/>
            <a:ext cx="256032" cy="31181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8" name="Shape 25"/>
          <p:cNvSpPr/>
          <p:nvPr/>
        </p:nvSpPr>
        <p:spPr>
          <a:xfrm>
            <a:off x="2670048" y="3681374"/>
            <a:ext cx="256032" cy="39685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9" name="Shape 26"/>
          <p:cNvSpPr/>
          <p:nvPr/>
        </p:nvSpPr>
        <p:spPr>
          <a:xfrm>
            <a:off x="3054096" y="3590666"/>
            <a:ext cx="256032" cy="48755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0" name="Shape 27"/>
          <p:cNvSpPr/>
          <p:nvPr/>
        </p:nvSpPr>
        <p:spPr>
          <a:xfrm>
            <a:off x="343814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53128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3" name="Shape 30"/>
          <p:cNvSpPr/>
          <p:nvPr/>
        </p:nvSpPr>
        <p:spPr>
          <a:xfrm>
            <a:off x="4837176" y="3556650"/>
            <a:ext cx="256032" cy="52157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4" name="Shape 31"/>
          <p:cNvSpPr/>
          <p:nvPr/>
        </p:nvSpPr>
        <p:spPr>
          <a:xfrm>
            <a:off x="5221224" y="3624682"/>
            <a:ext cx="256032" cy="45354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5" name="Shape 32"/>
          <p:cNvSpPr/>
          <p:nvPr/>
        </p:nvSpPr>
        <p:spPr>
          <a:xfrm>
            <a:off x="5605272" y="3704052"/>
            <a:ext cx="256032" cy="374172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6" name="Shape 33"/>
          <p:cNvSpPr/>
          <p:nvPr/>
        </p:nvSpPr>
        <p:spPr>
          <a:xfrm>
            <a:off x="5989320" y="3794760"/>
            <a:ext cx="256032" cy="283464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7" name="Shape 34"/>
          <p:cNvSpPr/>
          <p:nvPr/>
        </p:nvSpPr>
        <p:spPr>
          <a:xfrm>
            <a:off x="6373368" y="3862791"/>
            <a:ext cx="256032" cy="215433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57416" y="3930823"/>
            <a:ext cx="256032" cy="147401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39" name="Shape 36"/>
          <p:cNvSpPr/>
          <p:nvPr/>
        </p:nvSpPr>
        <p:spPr>
          <a:xfrm>
            <a:off x="7141464" y="3987516"/>
            <a:ext cx="256032" cy="9070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0" name="Shape 37"/>
          <p:cNvSpPr/>
          <p:nvPr/>
        </p:nvSpPr>
        <p:spPr>
          <a:xfrm>
            <a:off x="445312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156448" y="3964838"/>
            <a:ext cx="256032" cy="11338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2" name="Shape 39"/>
          <p:cNvSpPr/>
          <p:nvPr/>
        </p:nvSpPr>
        <p:spPr>
          <a:xfrm>
            <a:off x="8540496" y="3908146"/>
            <a:ext cx="256032" cy="17007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3" name="Shape 40"/>
          <p:cNvSpPr/>
          <p:nvPr/>
        </p:nvSpPr>
        <p:spPr>
          <a:xfrm>
            <a:off x="8924544" y="3919484"/>
            <a:ext cx="256032" cy="158740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4" name="Shape 41"/>
          <p:cNvSpPr/>
          <p:nvPr/>
        </p:nvSpPr>
        <p:spPr>
          <a:xfrm>
            <a:off x="9308592" y="3823106"/>
            <a:ext cx="256032" cy="25511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5" name="Shape 42"/>
          <p:cNvSpPr/>
          <p:nvPr/>
        </p:nvSpPr>
        <p:spPr>
          <a:xfrm>
            <a:off x="9692640" y="3738067"/>
            <a:ext cx="256032" cy="34015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6" name="Shape 43"/>
          <p:cNvSpPr/>
          <p:nvPr/>
        </p:nvSpPr>
        <p:spPr>
          <a:xfrm>
            <a:off x="10076688" y="3670036"/>
            <a:ext cx="256032" cy="40818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7" name="Shape 44"/>
          <p:cNvSpPr/>
          <p:nvPr/>
        </p:nvSpPr>
        <p:spPr>
          <a:xfrm>
            <a:off x="10460736" y="3579327"/>
            <a:ext cx="256032" cy="498897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8" name="Shape 45"/>
          <p:cNvSpPr/>
          <p:nvPr/>
        </p:nvSpPr>
        <p:spPr>
          <a:xfrm>
            <a:off x="10844784" y="3511296"/>
            <a:ext cx="256032" cy="566928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49" name="Shape 46"/>
          <p:cNvSpPr/>
          <p:nvPr/>
        </p:nvSpPr>
        <p:spPr>
          <a:xfrm>
            <a:off x="8156448" y="4096512"/>
            <a:ext cx="2944368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566928" y="4151376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знімок «зараз» — три різні історії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566928" y="4443984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786384" y="457200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АНАТОМІЯ АЛЕРТУ — ЧОТИРИ ОБОВ'ЯЗКОВІ ЧАСТИНИ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786384" y="4828032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(error rate) + поріг (понад 5%) + тривалість (протягом 15 хвилин) + адресат (хто прокидається). Тривалість пропускають найчастіше — і отримують сирену на кожен чих.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566928" y="5632704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779008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Поточне значення каже «зараз погано». Тренд каже «стає гірше» — і дає час.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— це нормально: SLI, SLO, бюджет помилок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показник, який Ви міряєте: частка успішних відповідей, p95 latency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1460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1460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1460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цільове значення, про яке домовилися: «99% успішних», «p95 ≤ 3 с»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11064240" cy="621792"/>
          </a:xfrm>
          <a:prstGeom prst="roundRect">
            <a:avLst>
              <a:gd name="adj" fmla="val 14706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46120"/>
            <a:ext cx="376184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помилок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46120"/>
            <a:ext cx="664037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1% невдач дозволено: 10 000 звернень = 100 невдач на тиждень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>
            <a:off x="7269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9" name="Shape 16"/>
          <p:cNvSpPr/>
          <p:nvPr/>
        </p:nvSpPr>
        <p:spPr>
          <a:xfrm>
            <a:off x="8869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0" name="Shape 17"/>
          <p:cNvSpPr/>
          <p:nvPr/>
        </p:nvSpPr>
        <p:spPr>
          <a:xfrm>
            <a:off x="10469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>
            <a:off x="12070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2" name="Shape 19"/>
          <p:cNvSpPr/>
          <p:nvPr/>
        </p:nvSpPr>
        <p:spPr>
          <a:xfrm>
            <a:off x="13670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3" name="Shape 20"/>
          <p:cNvSpPr/>
          <p:nvPr/>
        </p:nvSpPr>
        <p:spPr>
          <a:xfrm>
            <a:off x="15270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>
            <a:off x="16870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5" name="Shape 22"/>
          <p:cNvSpPr/>
          <p:nvPr/>
        </p:nvSpPr>
        <p:spPr>
          <a:xfrm>
            <a:off x="18470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71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>
            <a:off x="21671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8" name="Shape 25"/>
          <p:cNvSpPr/>
          <p:nvPr/>
        </p:nvSpPr>
        <p:spPr>
          <a:xfrm>
            <a:off x="23271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29" name="Shape 26"/>
          <p:cNvSpPr/>
          <p:nvPr/>
        </p:nvSpPr>
        <p:spPr>
          <a:xfrm>
            <a:off x="24871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>
            <a:off x="26471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1" name="Shape 28"/>
          <p:cNvSpPr/>
          <p:nvPr/>
        </p:nvSpPr>
        <p:spPr>
          <a:xfrm>
            <a:off x="28072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2" name="Shape 29"/>
          <p:cNvSpPr/>
          <p:nvPr/>
        </p:nvSpPr>
        <p:spPr>
          <a:xfrm>
            <a:off x="296722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3" name="Shape 30"/>
          <p:cNvSpPr/>
          <p:nvPr/>
        </p:nvSpPr>
        <p:spPr>
          <a:xfrm>
            <a:off x="312724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4" name="Shape 31"/>
          <p:cNvSpPr/>
          <p:nvPr/>
        </p:nvSpPr>
        <p:spPr>
          <a:xfrm>
            <a:off x="328726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5" name="Shape 32"/>
          <p:cNvSpPr/>
          <p:nvPr/>
        </p:nvSpPr>
        <p:spPr>
          <a:xfrm>
            <a:off x="344728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6" name="Shape 33"/>
          <p:cNvSpPr/>
          <p:nvPr/>
        </p:nvSpPr>
        <p:spPr>
          <a:xfrm>
            <a:off x="3607308" y="404164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7" name="Shape 34"/>
          <p:cNvSpPr/>
          <p:nvPr/>
        </p:nvSpPr>
        <p:spPr>
          <a:xfrm>
            <a:off x="5669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8" name="Shape 35"/>
          <p:cNvSpPr/>
          <p:nvPr/>
        </p:nvSpPr>
        <p:spPr>
          <a:xfrm>
            <a:off x="7269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39" name="Shape 36"/>
          <p:cNvSpPr/>
          <p:nvPr/>
        </p:nvSpPr>
        <p:spPr>
          <a:xfrm>
            <a:off x="8869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0" name="Shape 37"/>
          <p:cNvSpPr/>
          <p:nvPr/>
        </p:nvSpPr>
        <p:spPr>
          <a:xfrm>
            <a:off x="10469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1" name="Shape 38"/>
          <p:cNvSpPr/>
          <p:nvPr/>
        </p:nvSpPr>
        <p:spPr>
          <a:xfrm>
            <a:off x="12070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2" name="Shape 39"/>
          <p:cNvSpPr/>
          <p:nvPr/>
        </p:nvSpPr>
        <p:spPr>
          <a:xfrm>
            <a:off x="13670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3" name="Shape 40"/>
          <p:cNvSpPr/>
          <p:nvPr/>
        </p:nvSpPr>
        <p:spPr>
          <a:xfrm>
            <a:off x="15270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4" name="Shape 41"/>
          <p:cNvSpPr/>
          <p:nvPr/>
        </p:nvSpPr>
        <p:spPr>
          <a:xfrm>
            <a:off x="16870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5" name="Shape 42"/>
          <p:cNvSpPr/>
          <p:nvPr/>
        </p:nvSpPr>
        <p:spPr>
          <a:xfrm>
            <a:off x="18470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6" name="Shape 43"/>
          <p:cNvSpPr/>
          <p:nvPr/>
        </p:nvSpPr>
        <p:spPr>
          <a:xfrm>
            <a:off x="20071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7" name="Shape 44"/>
          <p:cNvSpPr/>
          <p:nvPr/>
        </p:nvSpPr>
        <p:spPr>
          <a:xfrm>
            <a:off x="21671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8" name="Shape 45"/>
          <p:cNvSpPr/>
          <p:nvPr/>
        </p:nvSpPr>
        <p:spPr>
          <a:xfrm>
            <a:off x="23271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49" name="Shape 46"/>
          <p:cNvSpPr/>
          <p:nvPr/>
        </p:nvSpPr>
        <p:spPr>
          <a:xfrm>
            <a:off x="24871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0" name="Shape 47"/>
          <p:cNvSpPr/>
          <p:nvPr/>
        </p:nvSpPr>
        <p:spPr>
          <a:xfrm>
            <a:off x="26471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1" name="Shape 48"/>
          <p:cNvSpPr/>
          <p:nvPr/>
        </p:nvSpPr>
        <p:spPr>
          <a:xfrm>
            <a:off x="28072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6722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3" name="Shape 50"/>
          <p:cNvSpPr/>
          <p:nvPr/>
        </p:nvSpPr>
        <p:spPr>
          <a:xfrm>
            <a:off x="312724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4" name="Shape 51"/>
          <p:cNvSpPr/>
          <p:nvPr/>
        </p:nvSpPr>
        <p:spPr>
          <a:xfrm>
            <a:off x="328726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5" name="Shape 52"/>
          <p:cNvSpPr/>
          <p:nvPr/>
        </p:nvSpPr>
        <p:spPr>
          <a:xfrm>
            <a:off x="344728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6" name="Shape 53"/>
          <p:cNvSpPr/>
          <p:nvPr/>
        </p:nvSpPr>
        <p:spPr>
          <a:xfrm>
            <a:off x="3607308" y="420166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7" name="Shape 54"/>
          <p:cNvSpPr/>
          <p:nvPr/>
        </p:nvSpPr>
        <p:spPr>
          <a:xfrm>
            <a:off x="5669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8" name="Shape 55"/>
          <p:cNvSpPr/>
          <p:nvPr/>
        </p:nvSpPr>
        <p:spPr>
          <a:xfrm>
            <a:off x="7269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59" name="Shape 56"/>
          <p:cNvSpPr/>
          <p:nvPr/>
        </p:nvSpPr>
        <p:spPr>
          <a:xfrm>
            <a:off x="8869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0" name="Shape 57"/>
          <p:cNvSpPr/>
          <p:nvPr/>
        </p:nvSpPr>
        <p:spPr>
          <a:xfrm>
            <a:off x="10469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1" name="Shape 58"/>
          <p:cNvSpPr/>
          <p:nvPr/>
        </p:nvSpPr>
        <p:spPr>
          <a:xfrm>
            <a:off x="12070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2" name="Shape 59"/>
          <p:cNvSpPr/>
          <p:nvPr/>
        </p:nvSpPr>
        <p:spPr>
          <a:xfrm>
            <a:off x="13670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3" name="Shape 60"/>
          <p:cNvSpPr/>
          <p:nvPr/>
        </p:nvSpPr>
        <p:spPr>
          <a:xfrm>
            <a:off x="15270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4" name="Shape 61"/>
          <p:cNvSpPr/>
          <p:nvPr/>
        </p:nvSpPr>
        <p:spPr>
          <a:xfrm>
            <a:off x="16870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5" name="Shape 62"/>
          <p:cNvSpPr/>
          <p:nvPr/>
        </p:nvSpPr>
        <p:spPr>
          <a:xfrm>
            <a:off x="18470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6" name="Shape 63"/>
          <p:cNvSpPr/>
          <p:nvPr/>
        </p:nvSpPr>
        <p:spPr>
          <a:xfrm>
            <a:off x="20071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7" name="Shape 64"/>
          <p:cNvSpPr/>
          <p:nvPr/>
        </p:nvSpPr>
        <p:spPr>
          <a:xfrm>
            <a:off x="21671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8" name="Shape 65"/>
          <p:cNvSpPr/>
          <p:nvPr/>
        </p:nvSpPr>
        <p:spPr>
          <a:xfrm>
            <a:off x="23271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69" name="Shape 66"/>
          <p:cNvSpPr/>
          <p:nvPr/>
        </p:nvSpPr>
        <p:spPr>
          <a:xfrm>
            <a:off x="24871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0" name="Shape 67"/>
          <p:cNvSpPr/>
          <p:nvPr/>
        </p:nvSpPr>
        <p:spPr>
          <a:xfrm>
            <a:off x="26471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1" name="Shape 68"/>
          <p:cNvSpPr/>
          <p:nvPr/>
        </p:nvSpPr>
        <p:spPr>
          <a:xfrm>
            <a:off x="28072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2" name="Shape 69"/>
          <p:cNvSpPr/>
          <p:nvPr/>
        </p:nvSpPr>
        <p:spPr>
          <a:xfrm>
            <a:off x="296722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3" name="Shape 70"/>
          <p:cNvSpPr/>
          <p:nvPr/>
        </p:nvSpPr>
        <p:spPr>
          <a:xfrm>
            <a:off x="312724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4" name="Shape 71"/>
          <p:cNvSpPr/>
          <p:nvPr/>
        </p:nvSpPr>
        <p:spPr>
          <a:xfrm>
            <a:off x="328726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5" name="Shape 72"/>
          <p:cNvSpPr/>
          <p:nvPr/>
        </p:nvSpPr>
        <p:spPr>
          <a:xfrm>
            <a:off x="344728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6" name="Shape 73"/>
          <p:cNvSpPr/>
          <p:nvPr/>
        </p:nvSpPr>
        <p:spPr>
          <a:xfrm>
            <a:off x="3607308" y="436168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7" name="Shape 74"/>
          <p:cNvSpPr/>
          <p:nvPr/>
        </p:nvSpPr>
        <p:spPr>
          <a:xfrm>
            <a:off x="5669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8" name="Shape 75"/>
          <p:cNvSpPr/>
          <p:nvPr/>
        </p:nvSpPr>
        <p:spPr>
          <a:xfrm>
            <a:off x="7269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79" name="Shape 76"/>
          <p:cNvSpPr/>
          <p:nvPr/>
        </p:nvSpPr>
        <p:spPr>
          <a:xfrm>
            <a:off x="8869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0" name="Shape 77"/>
          <p:cNvSpPr/>
          <p:nvPr/>
        </p:nvSpPr>
        <p:spPr>
          <a:xfrm>
            <a:off x="10469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1" name="Shape 78"/>
          <p:cNvSpPr/>
          <p:nvPr/>
        </p:nvSpPr>
        <p:spPr>
          <a:xfrm>
            <a:off x="12070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2" name="Shape 79"/>
          <p:cNvSpPr/>
          <p:nvPr/>
        </p:nvSpPr>
        <p:spPr>
          <a:xfrm>
            <a:off x="13670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3" name="Shape 80"/>
          <p:cNvSpPr/>
          <p:nvPr/>
        </p:nvSpPr>
        <p:spPr>
          <a:xfrm>
            <a:off x="15270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4" name="Shape 81"/>
          <p:cNvSpPr/>
          <p:nvPr/>
        </p:nvSpPr>
        <p:spPr>
          <a:xfrm>
            <a:off x="16870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5" name="Shape 82"/>
          <p:cNvSpPr/>
          <p:nvPr/>
        </p:nvSpPr>
        <p:spPr>
          <a:xfrm>
            <a:off x="18470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6" name="Shape 83"/>
          <p:cNvSpPr/>
          <p:nvPr/>
        </p:nvSpPr>
        <p:spPr>
          <a:xfrm>
            <a:off x="20071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7" name="Shape 84"/>
          <p:cNvSpPr/>
          <p:nvPr/>
        </p:nvSpPr>
        <p:spPr>
          <a:xfrm>
            <a:off x="21671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8" name="Shape 85"/>
          <p:cNvSpPr/>
          <p:nvPr/>
        </p:nvSpPr>
        <p:spPr>
          <a:xfrm>
            <a:off x="23271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89" name="Shape 86"/>
          <p:cNvSpPr/>
          <p:nvPr/>
        </p:nvSpPr>
        <p:spPr>
          <a:xfrm>
            <a:off x="24871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0" name="Shape 87"/>
          <p:cNvSpPr/>
          <p:nvPr/>
        </p:nvSpPr>
        <p:spPr>
          <a:xfrm>
            <a:off x="26471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1" name="Shape 88"/>
          <p:cNvSpPr/>
          <p:nvPr/>
        </p:nvSpPr>
        <p:spPr>
          <a:xfrm>
            <a:off x="28072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2" name="Shape 89"/>
          <p:cNvSpPr/>
          <p:nvPr/>
        </p:nvSpPr>
        <p:spPr>
          <a:xfrm>
            <a:off x="296722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3" name="Shape 90"/>
          <p:cNvSpPr/>
          <p:nvPr/>
        </p:nvSpPr>
        <p:spPr>
          <a:xfrm>
            <a:off x="312724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4" name="Shape 91"/>
          <p:cNvSpPr/>
          <p:nvPr/>
        </p:nvSpPr>
        <p:spPr>
          <a:xfrm>
            <a:off x="328726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5" name="Shape 92"/>
          <p:cNvSpPr/>
          <p:nvPr/>
        </p:nvSpPr>
        <p:spPr>
          <a:xfrm>
            <a:off x="344728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6" name="Shape 93"/>
          <p:cNvSpPr/>
          <p:nvPr/>
        </p:nvSpPr>
        <p:spPr>
          <a:xfrm>
            <a:off x="3607308" y="452170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7" name="Shape 94"/>
          <p:cNvSpPr/>
          <p:nvPr/>
        </p:nvSpPr>
        <p:spPr>
          <a:xfrm>
            <a:off x="5669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8" name="Shape 95"/>
          <p:cNvSpPr/>
          <p:nvPr/>
        </p:nvSpPr>
        <p:spPr>
          <a:xfrm>
            <a:off x="7269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99" name="Shape 96"/>
          <p:cNvSpPr/>
          <p:nvPr/>
        </p:nvSpPr>
        <p:spPr>
          <a:xfrm>
            <a:off x="8869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0" name="Shape 97"/>
          <p:cNvSpPr/>
          <p:nvPr/>
        </p:nvSpPr>
        <p:spPr>
          <a:xfrm>
            <a:off x="10469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1" name="Shape 98"/>
          <p:cNvSpPr/>
          <p:nvPr/>
        </p:nvSpPr>
        <p:spPr>
          <a:xfrm>
            <a:off x="12070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2" name="Shape 99"/>
          <p:cNvSpPr/>
          <p:nvPr/>
        </p:nvSpPr>
        <p:spPr>
          <a:xfrm>
            <a:off x="13670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5270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6870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8470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071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1671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3271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09" name="Shape 106"/>
          <p:cNvSpPr/>
          <p:nvPr/>
        </p:nvSpPr>
        <p:spPr>
          <a:xfrm>
            <a:off x="24871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6471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2" name="Shape 109"/>
          <p:cNvSpPr/>
          <p:nvPr/>
        </p:nvSpPr>
        <p:spPr>
          <a:xfrm>
            <a:off x="296722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12724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4" name="Shape 111"/>
          <p:cNvSpPr/>
          <p:nvPr/>
        </p:nvSpPr>
        <p:spPr>
          <a:xfrm>
            <a:off x="328726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5" name="Shape 112"/>
          <p:cNvSpPr/>
          <p:nvPr/>
        </p:nvSpPr>
        <p:spPr>
          <a:xfrm>
            <a:off x="3447288" y="4681728"/>
            <a:ext cx="118872" cy="118872"/>
          </a:xfrm>
          <a:prstGeom prst="rect">
            <a:avLst/>
          </a:prstGeom>
          <a:solidFill>
            <a:srgbClr val="F5F3FA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607308" y="4681728"/>
            <a:ext cx="118872" cy="11887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7" name="Text 114"/>
          <p:cNvSpPr/>
          <p:nvPr/>
        </p:nvSpPr>
        <p:spPr>
          <a:xfrm>
            <a:off x="4137660" y="4087368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звернень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·  один червоний квадрат — увесь Ваш тижневий бюджет невдач</a:t>
            </a:r>
            <a:endParaRPr lang="en-US" sz="1250" dirty="0"/>
          </a:p>
        </p:txBody>
      </p:sp>
      <p:sp>
        <p:nvSpPr>
          <p:cNvPr id="118" name="Text 115"/>
          <p:cNvSpPr/>
          <p:nvPr/>
        </p:nvSpPr>
        <p:spPr>
          <a:xfrm>
            <a:off x="4137660" y="4480560"/>
            <a:ext cx="7493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10 000 звернень на тиждень це 100 невдач — і вони закінчуються швидше, ніж здається</a:t>
            </a:r>
            <a:endParaRPr lang="en-US" sz="1150" dirty="0"/>
          </a:p>
        </p:txBody>
      </p:sp>
      <p:sp>
        <p:nvSpPr>
          <p:cNvPr id="119" name="Shape 116"/>
          <p:cNvSpPr/>
          <p:nvPr/>
        </p:nvSpPr>
        <p:spPr>
          <a:xfrm>
            <a:off x="566928" y="49834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749808" y="517093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21" name="Text 118"/>
          <p:cNvSpPr/>
          <p:nvPr/>
        </p:nvSpPr>
        <p:spPr>
          <a:xfrm>
            <a:off x="749808" y="51709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122" name="Text 119"/>
          <p:cNvSpPr/>
          <p:nvPr/>
        </p:nvSpPr>
        <p:spPr>
          <a:xfrm>
            <a:off x="1243584" y="511149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23" name="Text 120"/>
          <p:cNvSpPr/>
          <p:nvPr/>
        </p:nvSpPr>
        <p:spPr>
          <a:xfrm>
            <a:off x="1243584" y="5367528"/>
            <a:ext cx="10168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«Uptime 99.9%» — марна обіцянка. Робочий SLI — частка змістовних відповідей.</a:t>
            </a:r>
            <a:endParaRPr lang="en-US" sz="1300" dirty="0"/>
          </a:p>
        </p:txBody>
      </p:sp>
      <p:sp>
        <p:nvSpPr>
          <p:cNvPr id="124" name="Shape 121"/>
          <p:cNvSpPr/>
          <p:nvPr/>
        </p:nvSpPr>
        <p:spPr>
          <a:xfrm>
            <a:off x="566928" y="5742432"/>
            <a:ext cx="11064240" cy="41148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25" name="Text 122"/>
          <p:cNvSpPr/>
          <p:nvPr/>
        </p:nvSpPr>
        <p:spPr>
          <a:xfrm>
            <a:off x="786384" y="5888736"/>
            <a:ext cx="1062532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лог його поки не порахує: заглушка пише той самий 503.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Алерт — це прохання прокинутися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Симптом, не причина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«частка успішних упала» — будити завжди; «429 зросло» — причина, будити нечесно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«Прокинутися» ≠ «подивитися вранці»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будити — лише те, що шкодить зараз; решта — черга завдань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алерт має інструкцію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спрацював — що робити першим? Це runbook останньої теми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389888" y="4069080"/>
            <a:ext cx="941832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07592" y="3986784"/>
            <a:ext cx="164592" cy="164592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5" name="Text 22"/>
          <p:cNvSpPr/>
          <p:nvPr/>
        </p:nvSpPr>
        <p:spPr>
          <a:xfrm>
            <a:off x="704088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21208" y="4251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поодинокі 5xx — фон, не алерт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447032" y="398678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8" name="Text 25"/>
          <p:cNvSpPr/>
          <p:nvPr/>
        </p:nvSpPr>
        <p:spPr>
          <a:xfrm>
            <a:off x="3843528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10:10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3660648" y="4251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успішних падає 3 хв поспіль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6472" y="398678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6982968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10:11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800088" y="4251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алерт: симптом, не причина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10725912" y="398678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10122408" y="35021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10:12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9939528" y="42519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runbook: що робити першим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5xx і таймаути — нормальний фон. Алерт — на відхилення в часі. Мітки — тільки осяжні: user_id живе в лозі, не в метриках.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Таксономія помилок: категорія визначає дію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023360"/>
                <a:gridCol w="39319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категорія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робити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429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вичерпані ліміти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розводити трафік, домовлятися про квоту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timeout інструмента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зовнішня система не відповіла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перевіряти інтеграцію, не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відмова guardrail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injection або заборонений вміст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це успіх захисту, а не збій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лічильник «помилки» змішує три різні світи. Окремі лічильники за причинами перетворюють цифру на маршрут дій.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Трейс і спани: коли одного request_id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request_id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step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attempt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311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625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шлях запиту відновлено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Трейс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сталося в межах одного звернення користувача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Спан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крок усередині: виклик, інструмент, guardrail — зі своїм статусом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73568" y="292608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Shape 30"/>
          <p:cNvSpPr/>
          <p:nvPr/>
        </p:nvSpPr>
        <p:spPr>
          <a:xfrm>
            <a:off x="8174736" y="3108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17473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686800" y="3081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Дерево спанів</a:t>
            </a:r>
            <a:endParaRPr lang="en-US" sz="1450" dirty="0"/>
          </a:p>
        </p:txBody>
      </p:sp>
      <p:sp>
        <p:nvSpPr>
          <p:cNvPr id="36" name="Text 33"/>
          <p:cNvSpPr/>
          <p:nvPr/>
        </p:nvSpPr>
        <p:spPr>
          <a:xfrm>
            <a:off x="8174736" y="361188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кожного є батько — видно не лише «що було», а й «що з чого виросло»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ЗАКЛАДІТЬ ВІДРАЗУ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Ідентифікатор народжується на вході й стоїть у кожному рядку лога.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Стрімінг змінює самі метрики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заздалегідь дешевше, ніж переробляти лог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час стає трьома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до першого токена, повна генерація, час до останнього байта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Помилка посеред успіху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стрім почався з 200 і обірвався: для HTTP гаразд, для користувача — ні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guardrails складнішають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можна лише зібрану відповідь; вихідна перевірка мусить уміти обірвати потік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481328" y="3913632"/>
            <a:ext cx="2377440" cy="310896"/>
          </a:xfrm>
          <a:prstGeom prst="roundRect">
            <a:avLst>
              <a:gd name="adj" fmla="val 17647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481328" y="39136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до 1-го токена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913632" y="3913632"/>
            <a:ext cx="6858000" cy="310896"/>
          </a:xfrm>
          <a:prstGeom prst="roundRect">
            <a:avLst>
              <a:gd name="adj" fmla="val 17647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913632" y="391363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генерація — токен за токеном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43560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7548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813048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2852928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перший токен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10725912" y="4023360"/>
            <a:ext cx="91440" cy="9144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9765792" y="42793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останній байт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66928" y="4681728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35" name="Text 32"/>
          <p:cNvSpPr/>
          <p:nvPr/>
        </p:nvSpPr>
        <p:spPr>
          <a:xfrm>
            <a:off x="786384" y="48097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ПРАКТИЧНИЙ ВИСНОВОК НА СЬОГОДНІ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6384" y="5065776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latency_ms і status — характеристика завершення відповіді, а не код HTTP.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Чого не має бути в лозі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Логувати все — найпростіший спосіб зробити з лога сховище персональних даних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92024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Повні тіла — не за замовчуванням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60604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ознак досить: довжина, токени, finish_reason, guardrail, які інструменти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92024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Тіла — семпл із терміном життя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60604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невелика частка, окреме сховище, автоматичне видалення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92024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1031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756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Секрети й ключі — ніколи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60604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потрапляють через дампи запитів «для дебагу», трейси помилок і повні заголовки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388620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" y="388620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запит користувача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081528" y="41422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209544" y="40736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3447288" y="388620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3502152" y="388620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ознаки в лог ✓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344728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довжина · токени · finish_reason · guardrail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961888" y="41422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6089904" y="40736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327648" y="388620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382512" y="388620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тіло — семпл із TTL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32764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сховище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842248" y="41422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970264" y="40736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9208008" y="388620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9262872" y="388620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секрети · ключі ✕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920800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ніколи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ДЛЯ КОЖНОГО НОВОГО ПОЛЯ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залоговане Ви зобов'язані захищати: лог — база даних, не блокнот.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продукті чи індустріальний стек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Обов'язкова доріжка: у продукті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метрики живуть усередині системи, поверх власного лога: жодної нової інфраструктури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82880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Індустріальний стек — надбудова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51460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/metrics і зовнішні дашборди піднімаються поруч, коли питання виходять за межі системи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840480"/>
            <a:ext cx="1847088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8404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у Postgres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505456" y="4096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633472" y="4027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2871216" y="3840480"/>
            <a:ext cx="1847088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2926080" y="38404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SQL-агрегати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809744" y="4096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4937760" y="4027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5175504" y="3840480"/>
            <a:ext cx="1847088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5230368" y="38404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/observability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114032" y="4096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7242048" y="4027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7479792" y="3840480"/>
            <a:ext cx="1847088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534656" y="38404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плитки консолі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418320" y="40965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 rot="5400000">
            <a:off x="9546336" y="40279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9784080" y="3840480"/>
            <a:ext cx="1847088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9838944" y="38404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/metrics → Grafana · опційно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66928" y="46177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9808" y="4896612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48966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47457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001768"/>
            <a:ext cx="101681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 на тиждень звіряйте плитку з SQL руками. Розбіжність — це або баг агрегації, або зміна, про яку Ви не знали.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566928" y="5577840"/>
            <a:ext cx="1106424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6384" y="5724144"/>
            <a:ext cx="1062532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правильний: спершу видимість у продукті, потім — стек, якщо він справді потрібен.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psql-агрегати руками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count, p95, error rate — одним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/observability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 самі цифри + cache-hit і fallback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консоль: усі шість плиток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живі, з числами замість «—»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«детектив»: серія __fail_503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користувач не бачить 500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· всі плитки живі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66176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39328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requests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8339328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9387840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460992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</a:t>
            </a:r>
            <a:endParaRPr lang="en-US" sz="750" dirty="0"/>
          </a:p>
        </p:txBody>
      </p:sp>
      <p:sp>
        <p:nvSpPr>
          <p:cNvPr id="38" name="Text 35"/>
          <p:cNvSpPr/>
          <p:nvPr/>
        </p:nvSpPr>
        <p:spPr>
          <a:xfrm>
            <a:off x="9460992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$0.42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10509504" y="2139696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582656" y="2176272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p95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10582656" y="2568732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1.8 s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8266176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339328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</a:t>
            </a:r>
            <a:endParaRPr lang="en-US" sz="750" dirty="0"/>
          </a:p>
        </p:txBody>
      </p:sp>
      <p:sp>
        <p:nvSpPr>
          <p:cNvPr id="44" name="Text 41"/>
          <p:cNvSpPr/>
          <p:nvPr/>
        </p:nvSpPr>
        <p:spPr>
          <a:xfrm>
            <a:off x="8339328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1.4%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9387840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60992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cache-hit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60992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31%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10509504" y="3493008"/>
            <a:ext cx="1011936" cy="1261872"/>
          </a:xfrm>
          <a:prstGeom prst="roundRect">
            <a:avLst>
              <a:gd name="adj" fmla="val 4518"/>
            </a:avLst>
          </a:prstGeom>
          <a:solidFill>
            <a:srgbClr val="0A0810"/>
          </a:solidFill>
          <a:ln w="12700">
            <a:solidFill>
              <a:srgbClr val="2A243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10582656" y="3529584"/>
            <a:ext cx="865632" cy="328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750" dirty="0"/>
          </a:p>
        </p:txBody>
      </p:sp>
      <p:sp>
        <p:nvSpPr>
          <p:cNvPr id="50" name="Text 47"/>
          <p:cNvSpPr/>
          <p:nvPr/>
        </p:nvSpPr>
        <p:spPr>
          <a:xfrm>
            <a:off x="10582656" y="3922044"/>
            <a:ext cx="865632" cy="731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52" name="Shape 49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55" name="Text 52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моніторинг LLM-системи — це SQL по власному лозі плюс кілька лічильників. І навчитися впізнавати тихий інцидент — той, якого не видно в жодному uptime.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руками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psql: count, p95, error rate по сьогоднішньому дню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/observability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SQL-агрегати + лічильники в один ендпоінт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Звірити плитки з SQL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плиток показують те саме, що запит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«детектива»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серія __fail_503 → метрики ростуть без 500 користувачу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Таксономія помилок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окремі лічильники за причинами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— це Ваш лог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 по таблиці, яку Ви писали з першої теми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Плитки відповідають на питання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цифр, кожна з приводу, а не для краси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Тихий інцидент видно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і error rate ростуть, поки uptime зелений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Видимість є. У наступній темі до неї додається судження: не «скільки запитів», а «чи стали відповіді гіршими» — і це вже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живі й звірені з SQL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алерти на p95, а не на середнє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відтворю тихий інцидент і покажу його в метриках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додати в лог для зрізу по тенантах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середню latency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згладить і сплеск таймаутів, і деградацію провайдера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на кожну помилку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десять повідомлень щодня і жодної реакції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без питання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прикраса, яку перестають помічати за тиждень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провайдера прибитий до «ok»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брехня рівно в момент, коли правда потрібна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User_id у мітках метрик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метрик вибухає на кардинальності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всі шість плиток живі, звірені з SQL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відтворити «детектива»: інцидент видно в метриках, користувач не бачить 500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по одному операційному питанню на кожну плитку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помилок: окремі лічильники за причинами (429 провайдера, timeout інструмента, відмова guardrail)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5 — після наступної теми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спостережуваність і evals: сьогоднішні ендпоінти вже у Вас в руках; після наступної теми додадуться власні eval-кейси в golden dataset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 інциденти LLM-систем не дають жодної помилки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весь моніторинг ядра — SQL по власному лозі плюс кілька лічильників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p95, а не середнє; перцентилі не усереднюються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існує, лише якщо відповідає на питання, яке хтось ставить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SLO — на те, що відчуває користувач, і має бюджет помилок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10 · Golden dataset і eval suite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 бачите, що система робить. Але «відповіді стали гіршими» жодна з шести плиток не покаже. Наступна тема дає якості число: golden dataset, grader, поріг і exit code — той самий, що на тижні 6 стане гейтом у CI.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9 · Observability для LLM-систем</dc:title>
  <dc:subject>PptxGenJS Presentation</dc:subject>
  <dc:creator>LLMOps Bootcamp</dc:creator>
  <cp:lastModifiedBy>LLMOps Bootcamp</cp:lastModifiedBy>
  <cp:revision>1</cp:revision>
  <dcterms:created xsi:type="dcterms:W3CDTF">2026-09-08T09:13:58Z</dcterms:created>
  <dcterms:modified xsi:type="dcterms:W3CDTF">2026-09-08T09:13:58Z</dcterms:modified>
</cp:coreProperties>
</file>