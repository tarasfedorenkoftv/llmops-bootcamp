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038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15400" y="1417320"/>
            <a:ext cx="2834640" cy="2834640"/>
          </a:xfrm>
          <a:prstGeom prst="roundRect">
            <a:avLst>
              <a:gd name="adj" fmla="val 5161"/>
            </a:avLst>
          </a:prstGeom>
          <a:ln w="12700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299448" y="1801368"/>
            <a:ext cx="2066544" cy="2066544"/>
          </a:xfrm>
          <a:prstGeom prst="roundRect">
            <a:avLst>
              <a:gd name="adj" fmla="val 7080"/>
            </a:avLst>
          </a:prstGeom>
          <a:ln w="12700">
            <a:solidFill>
              <a:srgbClr val="FFFFFF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83496" y="2185416"/>
            <a:ext cx="1298448" cy="1298448"/>
          </a:xfrm>
          <a:prstGeom prst="roundRect">
            <a:avLst>
              <a:gd name="adj" fmla="val 11268"/>
            </a:avLst>
          </a:prstGeom>
          <a:ln w="1270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1417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6 · УРОК 12 З 12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41248" y="1828800"/>
            <a:ext cx="8138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Фінал: LLMOps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model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41248" y="3794760"/>
            <a:ext cx="7680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ED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Система зібрана. Останній крок — переконатися, що ви нею володієте: наскрізний прогін із чистого клону, інцидент за рунбуком і вміння говорити про це мовою, за яку дають бюджет.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41248" y="5440680"/>
            <a:ext cx="1646834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544068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597810" y="5440680"/>
            <a:ext cx="1502359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97810" y="544068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09898" y="5440680"/>
            <a:ext cx="1285646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09898" y="544068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605272" y="5440680"/>
            <a:ext cx="1935785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05272" y="544068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650785" y="5440680"/>
            <a:ext cx="2008022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650785" y="544068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9768535" y="5440680"/>
            <a:ext cx="1213409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9768535" y="544068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ви зможете після уроку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8881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12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9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Прогнати систему наскрізь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 чистого клону, без «тут ще одна змінна»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4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Відпрацювати інцидент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 рунбуком, із таймлайном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9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Зафіксувати постмортем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механізмами, а не прізвищами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4" name="Text 22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Перекласти плитки KPI-мовою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гроші, користувачі, ризик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9" name="Text 27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Скласти 30-day rollout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 → реєстр → evals → гейт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Маршрут на сьогодні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12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 трьох рядків до контуру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2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Точка Б: сценарій наскрізь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6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 як сценарій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0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Інцидент наживо: таймлайн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4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KPI-мова</a:t>
            </a:r>
            <a:endParaRPr lang="en-US" sz="1450" dirty="0"/>
          </a:p>
        </p:txBody>
      </p:sp>
      <p:sp>
        <p:nvSpPr>
          <p:cNvPr id="26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8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30-day rollout</a:t>
            </a:r>
            <a:endParaRPr lang="en-US" sz="1450" dirty="0"/>
          </a:p>
        </p:txBody>
      </p:sp>
      <p:sp>
        <p:nvSpPr>
          <p:cNvPr id="30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31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32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/metrics · опційно</a:t>
            </a:r>
            <a:endParaRPr lang="en-US" sz="1450" dirty="0"/>
          </a:p>
        </p:txBody>
      </p:sp>
      <p:sp>
        <p:nvSpPr>
          <p:cNvPr id="34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36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Наступний шар — за сигналом</a:t>
            </a:r>
            <a:endParaRPr lang="en-US" sz="1450" dirty="0"/>
          </a:p>
        </p:txBody>
      </p:sp>
      <p:sp>
        <p:nvSpPr>
          <p:cNvPr id="38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40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Куди поїде через рік</a:t>
            </a:r>
            <a:endParaRPr lang="en-US" sz="1450" dirty="0"/>
          </a:p>
        </p:txBody>
      </p:sp>
      <p:sp>
        <p:nvSpPr>
          <p:cNvPr id="42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44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 межами курсу</a:t>
            </a:r>
            <a:endParaRPr lang="en-US" sz="1450" dirty="0"/>
          </a:p>
        </p:txBody>
      </p:sp>
      <p:sp>
        <p:nvSpPr>
          <p:cNvPr id="46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48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0" name="Shape 48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52" name="Text 50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Антипатерни фіналу</a:t>
            </a:r>
            <a:endParaRPr lang="en-US" sz="1450" dirty="0"/>
          </a:p>
        </p:txBody>
      </p:sp>
      <p:sp>
        <p:nvSpPr>
          <p:cNvPr id="54" name="Shape 52"/>
          <p:cNvSpPr/>
          <p:nvPr/>
        </p:nvSpPr>
        <p:spPr>
          <a:xfrm>
            <a:off x="566928" y="585216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/>
        </p:spPr>
      </p:sp>
      <p:sp>
        <p:nvSpPr>
          <p:cNvPr id="55" name="Text 53"/>
          <p:cNvSpPr/>
          <p:nvPr/>
        </p:nvSpPr>
        <p:spPr>
          <a:xfrm>
            <a:off x="786384" y="599846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 зібраної системи — до впевненого володіння нею.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Терміни, якими користуватимемось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8881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12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operating model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 систему експлуатують: хто, що, коли і за яким сценарієм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runbook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симптом → підтвердити → дія → переконатися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постмортем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розбір після інциденту: механізми, не прізвища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KPI-мова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переклад у гроші, користувачів і ризик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rollout-план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порядок перенесення практик у свою команду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dry-run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повний цикл, але замість дій — звіт «що я б зробила»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Останній глосарій курсу — далі тільки практика.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 трьох рядків до контуру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12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F9E9E8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Тоді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68096" y="24231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рядки коду + чотири питання без відповідей: гроші, надійність, якість, видимість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81928" y="17373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E9F3EE"/>
          </a:solidFill>
          <a:ln/>
        </p:spPr>
      </p:sp>
      <p:sp>
        <p:nvSpPr>
          <p:cNvPr id="11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Тепер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483096" y="24231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 · cost · кеш · tools + HITL · fallback · guardrail · метрики · eval-гейт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3429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ECEBFB"/>
          </a:solidFill>
          <a:ln/>
        </p:spPr>
      </p:sp>
      <p:sp>
        <p:nvSpPr>
          <p:cNvPr id="14" name="Shape 12"/>
          <p:cNvSpPr/>
          <p:nvPr/>
        </p:nvSpPr>
        <p:spPr>
          <a:xfrm>
            <a:off x="768096" y="361188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5" name="Text 13"/>
          <p:cNvSpPr/>
          <p:nvPr/>
        </p:nvSpPr>
        <p:spPr>
          <a:xfrm>
            <a:off x="768096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280160" y="35844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Підняти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768096" y="4114800"/>
            <a:ext cx="31181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упевнено, відтворювано, з чистого клону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270248" y="3429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ECEBFB"/>
          </a:solidFill>
          <a:ln/>
        </p:spPr>
      </p:sp>
      <p:sp>
        <p:nvSpPr>
          <p:cNvPr id="19" name="Shape 17"/>
          <p:cNvSpPr/>
          <p:nvPr/>
        </p:nvSpPr>
        <p:spPr>
          <a:xfrm>
            <a:off x="4471416" y="361188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20" name="Text 18"/>
          <p:cNvSpPr/>
          <p:nvPr/>
        </p:nvSpPr>
        <p:spPr>
          <a:xfrm>
            <a:off x="4471416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983480" y="35844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Пережити інцидент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4471416" y="4114800"/>
            <a:ext cx="31181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виявити → деградувати → відновити → зафіксувати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973568" y="3429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ECEBFB"/>
          </a:solidFill>
          <a:ln/>
        </p:spPr>
      </p:sp>
      <p:sp>
        <p:nvSpPr>
          <p:cNvPr id="24" name="Shape 22"/>
          <p:cNvSpPr/>
          <p:nvPr/>
        </p:nvSpPr>
        <p:spPr>
          <a:xfrm>
            <a:off x="8174736" y="361188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25" name="Text 23"/>
          <p:cNvSpPr/>
          <p:nvPr/>
        </p:nvSpPr>
        <p:spPr>
          <a:xfrm>
            <a:off x="8174736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686800" y="35844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Пояснити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8174736" y="4114800"/>
            <a:ext cx="31181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через наслідки, а не через список технологій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66928" y="516636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</p:spPr>
      </p:sp>
      <p:sp>
        <p:nvSpPr>
          <p:cNvPr id="29" name="Text 27"/>
          <p:cNvSpPr/>
          <p:nvPr/>
        </p:nvSpPr>
        <p:spPr>
          <a:xfrm>
            <a:off x="786384" y="5312664"/>
            <a:ext cx="1062532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вміння, які відрізняють «зробив курсовий» від «володію системою».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Точка Б: один сценарій наскрізь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12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179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питання в чат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121408" y="217170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5400000">
            <a:off x="2249424" y="210312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1" name="Shape 9"/>
          <p:cNvSpPr/>
          <p:nvPr/>
        </p:nvSpPr>
        <p:spPr>
          <a:xfrm>
            <a:off x="248716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ECEBFB"/>
          </a:solidFill>
          <a:ln/>
        </p:spPr>
      </p:sp>
      <p:sp>
        <p:nvSpPr>
          <p:cNvPr id="12" name="Text 10"/>
          <p:cNvSpPr/>
          <p:nvPr/>
        </p:nvSpPr>
        <p:spPr>
          <a:xfrm>
            <a:off x="254203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routing → модель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041648" y="217170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rot="5400000">
            <a:off x="4169664" y="210312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5" name="Shape 13"/>
          <p:cNvSpPr/>
          <p:nvPr/>
        </p:nvSpPr>
        <p:spPr>
          <a:xfrm>
            <a:off x="440740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6227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кеш?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61888" y="217170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rot="5400000">
            <a:off x="6089904" y="210312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9" name="Shape 17"/>
          <p:cNvSpPr/>
          <p:nvPr/>
        </p:nvSpPr>
        <p:spPr>
          <a:xfrm>
            <a:off x="632764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8251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 + версія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882128" y="217170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5400000">
            <a:off x="8010144" y="210312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23" name="Shape 21"/>
          <p:cNvSpPr/>
          <p:nvPr/>
        </p:nvSpPr>
        <p:spPr>
          <a:xfrm>
            <a:off x="824788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30275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лог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9802368" y="217170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rot="5400000">
            <a:off x="9930384" y="210312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27" name="Shape 25"/>
          <p:cNvSpPr/>
          <p:nvPr/>
        </p:nvSpPr>
        <p:spPr>
          <a:xfrm>
            <a:off x="1016812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E9F3EE"/>
          </a:solidFill>
          <a:ln/>
        </p:spPr>
      </p:sp>
      <p:sp>
        <p:nvSpPr>
          <p:cNvPr id="28" name="Text 26"/>
          <p:cNvSpPr/>
          <p:nvPr/>
        </p:nvSpPr>
        <p:spPr>
          <a:xfrm>
            <a:off x="1022299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консоль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66928" y="269748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21792" y="269748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«поверніть гроші»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041648" y="304038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rot="5400000">
            <a:off x="4169664" y="297180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33" name="Shape 31"/>
          <p:cNvSpPr/>
          <p:nvPr/>
        </p:nvSpPr>
        <p:spPr>
          <a:xfrm>
            <a:off x="4407408" y="269748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F8F0E2"/>
          </a:solidFill>
          <a:ln/>
        </p:spPr>
      </p:sp>
      <p:sp>
        <p:nvSpPr>
          <p:cNvPr id="34" name="Text 32"/>
          <p:cNvSpPr/>
          <p:nvPr/>
        </p:nvSpPr>
        <p:spPr>
          <a:xfrm>
            <a:off x="4462272" y="269748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заявка в /approvals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882128" y="304038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rot="5400000">
            <a:off x="8010144" y="297180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37" name="Shape 35"/>
          <p:cNvSpPr/>
          <p:nvPr/>
        </p:nvSpPr>
        <p:spPr>
          <a:xfrm>
            <a:off x="8247888" y="269748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E9F3EE"/>
          </a:solidFill>
          <a:ln/>
        </p:spPr>
      </p:sp>
      <p:sp>
        <p:nvSpPr>
          <p:cNvPr id="38" name="Text 36"/>
          <p:cNvSpPr/>
          <p:nvPr/>
        </p:nvSpPr>
        <p:spPr>
          <a:xfrm>
            <a:off x="8302752" y="269748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approve → тікет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66928" y="356616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F9E9E8"/>
          </a:solidFill>
          <a:ln/>
        </p:spPr>
      </p:sp>
      <p:sp>
        <p:nvSpPr>
          <p:cNvPr id="40" name="Text 38"/>
          <p:cNvSpPr/>
          <p:nvPr/>
        </p:nvSpPr>
        <p:spPr>
          <a:xfrm>
            <a:off x="621792" y="356616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__fail_503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041648" y="390906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rot="5400000">
            <a:off x="4169664" y="384048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43" name="Shape 41"/>
          <p:cNvSpPr/>
          <p:nvPr/>
        </p:nvSpPr>
        <p:spPr>
          <a:xfrm>
            <a:off x="4407408" y="356616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F8F0E2"/>
          </a:solidFill>
          <a:ln/>
        </p:spPr>
      </p:sp>
      <p:sp>
        <p:nvSpPr>
          <p:cNvPr id="44" name="Text 42"/>
          <p:cNvSpPr/>
          <p:nvPr/>
        </p:nvSpPr>
        <p:spPr>
          <a:xfrm>
            <a:off x="4462272" y="356616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 → заглушка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7882128" y="390906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 rot="5400000">
            <a:off x="8010144" y="384048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47" name="Shape 45"/>
          <p:cNvSpPr/>
          <p:nvPr/>
        </p:nvSpPr>
        <p:spPr>
          <a:xfrm>
            <a:off x="8247888" y="356616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E9F3EE"/>
          </a:solidFill>
          <a:ln/>
        </p:spPr>
      </p:sp>
      <p:sp>
        <p:nvSpPr>
          <p:cNvPr id="48" name="Text 46"/>
          <p:cNvSpPr/>
          <p:nvPr/>
        </p:nvSpPr>
        <p:spPr>
          <a:xfrm>
            <a:off x="8302752" y="356616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відновлення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566928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CEBFB"/>
          </a:solidFill>
          <a:ln/>
        </p:spPr>
      </p:sp>
      <p:sp>
        <p:nvSpPr>
          <p:cNvPr id="50" name="Text 48"/>
          <p:cNvSpPr/>
          <p:nvPr/>
        </p:nvSpPr>
        <p:spPr>
          <a:xfrm>
            <a:off x="566928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registry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У2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1719072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CEBFB"/>
          </a:solidFill>
          <a:ln/>
        </p:spPr>
      </p:sp>
      <p:sp>
        <p:nvSpPr>
          <p:cNvPr id="52" name="Text 50"/>
          <p:cNvSpPr/>
          <p:nvPr/>
        </p:nvSpPr>
        <p:spPr>
          <a:xfrm>
            <a:off x="1719072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routing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У3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2871216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CEBFB"/>
          </a:solidFill>
          <a:ln/>
        </p:spPr>
      </p:sp>
      <p:sp>
        <p:nvSpPr>
          <p:cNvPr id="54" name="Text 52"/>
          <p:cNvSpPr/>
          <p:nvPr/>
        </p:nvSpPr>
        <p:spPr>
          <a:xfrm>
            <a:off x="2871216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вартість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У4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4023360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CEBFB"/>
          </a:solidFill>
          <a:ln/>
        </p:spPr>
      </p:sp>
      <p:sp>
        <p:nvSpPr>
          <p:cNvPr id="56" name="Text 54"/>
          <p:cNvSpPr/>
          <p:nvPr/>
        </p:nvSpPr>
        <p:spPr>
          <a:xfrm>
            <a:off x="4023360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кеш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У5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5175504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CEBFB"/>
          </a:solidFill>
          <a:ln/>
        </p:spPr>
      </p:sp>
      <p:sp>
        <p:nvSpPr>
          <p:cNvPr id="58" name="Text 56"/>
          <p:cNvSpPr/>
          <p:nvPr/>
        </p:nvSpPr>
        <p:spPr>
          <a:xfrm>
            <a:off x="5175504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tools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У6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6327648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CEBFB"/>
          </a:solidFill>
          <a:ln/>
        </p:spPr>
      </p:sp>
      <p:sp>
        <p:nvSpPr>
          <p:cNvPr id="60" name="Text 58"/>
          <p:cNvSpPr/>
          <p:nvPr/>
        </p:nvSpPr>
        <p:spPr>
          <a:xfrm>
            <a:off x="6327648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У7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7479792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CEBFB"/>
          </a:solidFill>
          <a:ln/>
        </p:spPr>
      </p:sp>
      <p:sp>
        <p:nvSpPr>
          <p:cNvPr id="62" name="Text 60"/>
          <p:cNvSpPr/>
          <p:nvPr/>
        </p:nvSpPr>
        <p:spPr>
          <a:xfrm>
            <a:off x="7479792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HITL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У8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8631936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CEBFB"/>
          </a:solidFill>
          <a:ln/>
        </p:spPr>
      </p:sp>
      <p:sp>
        <p:nvSpPr>
          <p:cNvPr id="64" name="Text 62"/>
          <p:cNvSpPr/>
          <p:nvPr/>
        </p:nvSpPr>
        <p:spPr>
          <a:xfrm>
            <a:off x="8631936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метрики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У9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9784080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CEBFB"/>
          </a:solidFill>
          <a:ln/>
        </p:spPr>
      </p:sp>
      <p:sp>
        <p:nvSpPr>
          <p:cNvPr id="66" name="Text 64"/>
          <p:cNvSpPr/>
          <p:nvPr/>
        </p:nvSpPr>
        <p:spPr>
          <a:xfrm>
            <a:off x="9784080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гейт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У11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566928" y="525780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/>
        </p:spPr>
      </p:sp>
      <p:sp>
        <p:nvSpPr>
          <p:cNvPr id="68" name="Text 66"/>
          <p:cNvSpPr/>
          <p:nvPr/>
        </p:nvSpPr>
        <p:spPr>
          <a:xfrm>
            <a:off x="786384" y="5404104"/>
            <a:ext cx="10625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Кожна ланка — конкретний урок: де спіткнулися, туди й повертаєтесь.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 — сценарій, а не есе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12 з 12</a:t>
            </a:r>
            <a:endParaRPr lang="en-US" sz="8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108960"/>
                <a:gridCol w="576072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такт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питання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у нашому інциденті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Симптом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що видно?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скарги «бот вибачається», error rate росте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4038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Підтвердити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B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яка плитка / який лог?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B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fallback_events росте; статуси 503 у лозі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BF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772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Дія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що робити?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нічого руками: fallback і деградація вже працюють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4038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Переконатися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B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як зрозуміти, що відпустило?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B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нове питання (не з кешу) відповідає; fallback не росте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BFB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" y="443484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E9F3EE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4581144"/>
            <a:ext cx="1062532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Найчастіша «дія» у добре збудованій системі — не робити нічого руками: механізми вже відпрацювали, лишається стежити.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6928" y="548640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8F0E2"/>
          </a:solidFill>
          <a:ln/>
        </p:spPr>
      </p:sp>
      <p:sp>
        <p:nvSpPr>
          <p:cNvPr id="11" name="Text 8"/>
          <p:cNvSpPr/>
          <p:nvPr/>
        </p:nvSpPr>
        <p:spPr>
          <a:xfrm>
            <a:off x="786384" y="5632704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Такт «Переконатися» перевіряють новим питанням: старе вже в кеші й «зеленіє» навіть під час збою.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Інцидент наживо: таймлайн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12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1481328" y="2651760"/>
            <a:ext cx="9235440" cy="0"/>
          </a:xfrm>
          <a:prstGeom prst="line">
            <a:avLst/>
          </a:prstGeom>
          <a:noFill/>
          <a:ln w="25400">
            <a:solidFill>
              <a:srgbClr val="E4E6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399032" y="2569464"/>
            <a:ext cx="164592" cy="164592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9" name="Text 7"/>
          <p:cNvSpPr/>
          <p:nvPr/>
        </p:nvSpPr>
        <p:spPr>
          <a:xfrm>
            <a:off x="795528" y="2084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10:00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12648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норма: питання → відповідь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477512" y="2569464"/>
            <a:ext cx="164592" cy="164592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2" name="Text 10"/>
          <p:cNvSpPr/>
          <p:nvPr/>
        </p:nvSpPr>
        <p:spPr>
          <a:xfrm>
            <a:off x="3874008" y="2084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10:03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691128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__fail_503: спроби падають, користувач бачить заглушку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555992" y="2569464"/>
            <a:ext cx="164592" cy="164592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5" name="Text 13"/>
          <p:cNvSpPr/>
          <p:nvPr/>
        </p:nvSpPr>
        <p:spPr>
          <a:xfrm>
            <a:off x="6952488" y="2084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10:05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769608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метрики: fallback↑, error rate↑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10634472" y="2569464"/>
            <a:ext cx="164592" cy="164592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18" name="Text 16"/>
          <p:cNvSpPr/>
          <p:nvPr/>
        </p:nvSpPr>
        <p:spPr>
          <a:xfrm>
            <a:off x="10030968" y="2084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10:09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9848088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нове питання відповідає — відновлення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66928" y="434340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F9E9E8"/>
          </a:solidFill>
          <a:ln/>
        </p:spPr>
      </p:sp>
      <p:sp>
        <p:nvSpPr>
          <p:cNvPr id="21" name="Text 19"/>
          <p:cNvSpPr/>
          <p:nvPr/>
        </p:nvSpPr>
        <p:spPr>
          <a:xfrm>
            <a:off x="786384" y="44714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86384" y="4727448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Постмортем, який шукає винного. Питання постмортема два: що спрацювало як задумано — і який механізм додати, щоб наступного разу було ще спокійніше.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66928" y="557784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786384" y="5724144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Гігієна після: прогін evals лишає pending-заявку — чистий стан перед наступним демо.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KPI-мова: за що дають бюджет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12 з 12</a:t>
            </a:r>
            <a:endParaRPr lang="en-US" sz="8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64922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інженерне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KPI-мовою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772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fallback + degradation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падіння провайдера користувач не помічає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cache-hit 30%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третина запитів — безкоштовні й миттєві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4038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routing mini/strong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B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дорога модель — тільки складним; вартість запиту керована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B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772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eval-гейт у CI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регресія якості фізично не потрапляє в прод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4038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HITL-черга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B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жодна незворотна дія не виконується без людини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B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вартість на консолі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витрати видно сьогодні, а не в рахунку через місяць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" y="525780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F8F0E2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5385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786384" y="5641848"/>
            <a:ext cx="106253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Кожне твердження підкріплюйте артефактом: скріншотом плитки, рядком лога або посиланням на прогін.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30-day rollout для своєї команди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12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11064240" cy="749808"/>
          </a:xfrm>
          <a:prstGeom prst="roundRect">
            <a:avLst>
              <a:gd name="adj" fmla="val 12195"/>
            </a:avLst>
          </a:prstGeom>
          <a:solidFill>
            <a:srgbClr val="ECEBFB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83080"/>
            <a:ext cx="376184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Тиждень 1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548226" y="1783080"/>
            <a:ext cx="6640373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logging + вартість · зроблено = питання про гроші закривається SQL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660904"/>
            <a:ext cx="11064240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6384" y="2660904"/>
            <a:ext cx="376184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Тиждень 2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548226" y="2660904"/>
            <a:ext cx="6640373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промпти з коду в реєстр · зроблено = відкат за секунди зі слідом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538728"/>
            <a:ext cx="11064240" cy="749808"/>
          </a:xfrm>
          <a:prstGeom prst="roundRect">
            <a:avLst>
              <a:gd name="adj" fmla="val 12195"/>
            </a:avLst>
          </a:prstGeom>
          <a:solidFill>
            <a:srgbClr val="ECEBFB"/>
          </a:solidFill>
          <a:ln/>
        </p:spPr>
      </p:sp>
      <p:sp>
        <p:nvSpPr>
          <p:cNvPr id="14" name="Text 12"/>
          <p:cNvSpPr/>
          <p:nvPr/>
        </p:nvSpPr>
        <p:spPr>
          <a:xfrm>
            <a:off x="786384" y="3538728"/>
            <a:ext cx="376184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Тиждень 3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48226" y="3538728"/>
            <a:ext cx="6640373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evals на критичні сценарії · зроблено = регресія ловиться командою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4416552"/>
            <a:ext cx="11064240" cy="749808"/>
          </a:xfrm>
          <a:prstGeom prst="roundRect">
            <a:avLst>
              <a:gd name="adj" fmla="val 12195"/>
            </a:avLst>
          </a:prstGeom>
          <a:solidFill>
            <a:srgbClr val="E9F3EE"/>
          </a:solidFill>
          <a:ln/>
        </p:spPr>
      </p:sp>
      <p:sp>
        <p:nvSpPr>
          <p:cNvPr id="17" name="Text 15"/>
          <p:cNvSpPr/>
          <p:nvPr/>
        </p:nvSpPr>
        <p:spPr>
          <a:xfrm>
            <a:off x="786384" y="4416552"/>
            <a:ext cx="376184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Тиждень 4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4548226" y="4416552"/>
            <a:ext cx="6640373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гейт у CI · зроблено = червоний прогін блокує merge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5413248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E9F3EE"/>
          </a:solidFill>
          <a:ln/>
        </p:spPr>
      </p:sp>
      <p:sp>
        <p:nvSpPr>
          <p:cNvPr id="20" name="Text 18"/>
          <p:cNvSpPr/>
          <p:nvPr/>
        </p:nvSpPr>
        <p:spPr>
          <a:xfrm>
            <a:off x="786384" y="554126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ЧОМУ САМЕ ЦЕЙ ПОРЯДОК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86384" y="5797296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Кожен шар спирається на попередній: без лога нема вартості, без реєстру нема чистого відкату, без evals нема гейта.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/metrics і зовнішні дашборди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9411919" y="530352"/>
            <a:ext cx="96012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7" name="Text 5"/>
          <p:cNvSpPr/>
          <p:nvPr/>
        </p:nvSpPr>
        <p:spPr>
          <a:xfrm>
            <a:off x="9411919" y="53035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12 з 12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664208" y="2194560"/>
            <a:ext cx="2651760" cy="777240"/>
          </a:xfrm>
          <a:prstGeom prst="roundRect">
            <a:avLst>
              <a:gd name="adj" fmla="val 11765"/>
            </a:avLst>
          </a:prstGeom>
          <a:solidFill>
            <a:srgbClr val="ECEBFB"/>
          </a:solidFill>
          <a:ln/>
        </p:spPr>
      </p:sp>
      <p:sp>
        <p:nvSpPr>
          <p:cNvPr id="10" name="Text 8"/>
          <p:cNvSpPr/>
          <p:nvPr/>
        </p:nvSpPr>
        <p:spPr>
          <a:xfrm>
            <a:off x="1719072" y="2194560"/>
            <a:ext cx="2542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ваш лог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407408" y="258318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5400000">
            <a:off x="4535424" y="251460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3" name="Shape 11"/>
          <p:cNvSpPr/>
          <p:nvPr/>
        </p:nvSpPr>
        <p:spPr>
          <a:xfrm>
            <a:off x="4773168" y="2194560"/>
            <a:ext cx="26517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28032" y="2194560"/>
            <a:ext cx="2542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/metrics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516368" y="258318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rot="5400000">
            <a:off x="7644384" y="251460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7" name="Shape 15"/>
          <p:cNvSpPr/>
          <p:nvPr/>
        </p:nvSpPr>
        <p:spPr>
          <a:xfrm>
            <a:off x="7882128" y="2194560"/>
            <a:ext cx="2651760" cy="777240"/>
          </a:xfrm>
          <a:prstGeom prst="roundRect">
            <a:avLst>
              <a:gd name="adj" fmla="val 11765"/>
            </a:avLst>
          </a:prstGeom>
          <a:solidFill>
            <a:srgbClr val="F8F0E2"/>
          </a:solidFill>
          <a:ln/>
        </p:spPr>
      </p:sp>
      <p:sp>
        <p:nvSpPr>
          <p:cNvPr id="18" name="Text 16"/>
          <p:cNvSpPr/>
          <p:nvPr/>
        </p:nvSpPr>
        <p:spPr>
          <a:xfrm>
            <a:off x="7936992" y="2194560"/>
            <a:ext cx="2542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зовнішній дашборд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33832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68096" y="35387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дає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768096" y="40690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історія за місяці, кореляція з інфраструктурою, алерти зі спільним каналом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81928" y="33832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F8F0E2"/>
          </a:solidFill>
          <a:ln/>
        </p:spPr>
      </p:sp>
      <p:sp>
        <p:nvSpPr>
          <p:cNvPr id="23" name="Text 21"/>
          <p:cNvSpPr/>
          <p:nvPr/>
        </p:nvSpPr>
        <p:spPr>
          <a:xfrm>
            <a:off x="6483096" y="35387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Чого коштує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6483096" y="40690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ще один компонент, який теж треба експлуатувати й оновлювати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Порядок правильний: спершу метрики в продукті, потім стек — коли питання вийшли за межі системи.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Наступний шар — за сигналом, а не за модою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12 з 12</a:t>
            </a:r>
            <a:endParaRPr lang="en-US" sz="8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480560"/>
                <a:gridCol w="384048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наступний шар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сигнал, що час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чого не робити раніше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Semantic cache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низький hit ratio; різні формулювання того самого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ставити «бо звучить розумно»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Circuit breaker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збої тривають хвилинами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вводити при поодиноких 5xx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LLM-as-judge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rule-based не ловить «по суті погано»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починати з judge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Класифікатор у роутері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словник маркерів розповзся по мовах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заводити на двох класах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772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Черга approvals у базі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чекайте сигналу — робиться відразу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сигналом буде другий інстанс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" y="516636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E9F3EE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5294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786384" y="555040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Механізм додається під виміряну проблему. Не можете назвати метрику, яка мусить змінитися, — не знаєте, чого хочете.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Куди поїде система через рік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12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82880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ECEBFB"/>
          </a:solidFill>
          <a:ln/>
        </p:spPr>
      </p:sp>
      <p:sp>
        <p:nvSpPr>
          <p:cNvPr id="8" name="Shape 6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9" name="Text 7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Більше автономності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68096" y="251460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агентні сценарії — і та сама межа: незворотне через людину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70248" y="182880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ECEBFB"/>
          </a:solidFill>
          <a:ln/>
        </p:spPr>
      </p:sp>
      <p:sp>
        <p:nvSpPr>
          <p:cNvPr id="13" name="Shape 11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4" name="Text 12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Більше провайдерів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471416" y="251460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той самий контур; змінюється лише список імен у конфізі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973568" y="182880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ECEBFB"/>
          </a:solidFill>
          <a:ln/>
        </p:spPr>
      </p:sp>
      <p:sp>
        <p:nvSpPr>
          <p:cNvPr id="18" name="Shape 16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9" name="Text 17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Більше вимог ззовні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174736" y="251460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аудит, регуляції — і ваш лог уже містить те, що спитають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3977640"/>
            <a:ext cx="11064240" cy="1325880"/>
          </a:xfrm>
          <a:prstGeom prst="roundRect">
            <a:avLst>
              <a:gd name="adj" fmla="val 8276"/>
            </a:avLst>
          </a:prstGeom>
          <a:solidFill>
            <a:srgbClr val="E9F3EE"/>
          </a:solidFill>
          <a:ln/>
        </p:spPr>
      </p:sp>
      <p:sp>
        <p:nvSpPr>
          <p:cNvPr id="23" name="Text 21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 ПЕРЕДАЧІ СИСТЕМИ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86384" y="4361688"/>
            <a:ext cx="1062532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Система, яку не можна передати іншій людині, не готова. Новий інженер за пів дня піднімає, ламає навмисно і бачить червоний гейт — контур переданий.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 межами курсу — надбудови, які не ламають контур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12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9202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04088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і робота зі знаннями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383280" y="19202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20440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мультиагентні сценарії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199632" y="19202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36792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донавчання під домен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015984" y="19202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53144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стрімінг і голос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28346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04088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мультимодальність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383280" y="28346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520440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own-hosted моделі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199632" y="28346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36792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розширений FinOps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9015984" y="28346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53144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командні платформи промптів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40233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ECEBFB"/>
          </a:solidFill>
          <a:ln/>
        </p:spPr>
      </p:sp>
      <p:sp>
        <p:nvSpPr>
          <p:cNvPr id="24" name="Text 22"/>
          <p:cNvSpPr/>
          <p:nvPr/>
        </p:nvSpPr>
        <p:spPr>
          <a:xfrm>
            <a:off x="786384" y="416966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Жоден із цих напрямків не скасовує того, що ви збудували: усі вони додаються поверх контуру керування — і всі потребують лога, версій, перевірок і гейта.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Зараз ви побачите — і навіщо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12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3EE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чистий клон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 up --build з нуля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3EE"/>
          </a:solidFill>
          <a:ln/>
        </p:spPr>
      </p:sp>
      <p:sp>
        <p:nvSpPr>
          <p:cNvPr id="12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13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наскрізний сценарій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питання → routing → кеш → лог → консоль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F9E9E8"/>
          </a:solidFill>
          <a:ln/>
        </p:spPr>
      </p:sp>
      <p:sp>
        <p:nvSpPr>
          <p:cNvPr id="17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8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E9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інцидент за рунбуком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__fail_503 → деградація → відновлення з таймлайном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3EE"/>
          </a:solidFill>
          <a:ln/>
        </p:spPr>
      </p:sp>
      <p:sp>
        <p:nvSpPr>
          <p:cNvPr id="22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23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KPI-проходка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кожна плитка — одним реченням для керівництва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ECEBFB"/>
          </a:solidFill>
          <a:ln/>
        </p:spPr>
      </p:sp>
      <p:sp>
        <p:nvSpPr>
          <p:cNvPr id="27" name="Text 25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Переконатися, що система працює не «на моїй машині», а з чистого клону — і що ви можете провести її через інцидент, не імпровізуючи.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Лабораторна: чотири кроки + опційний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12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Прогін із чистого клону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нова тека, docker compose up --build, наскрізний сценарій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0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Інцидент за рунбуком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__fail_503 → чотири такти → таймлайн у файл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3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KPI-проходка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кожна плитка — одне речення мовою наслідків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Свій 30-day rollout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чотири кроки з критеріями «зроблено» для своєї команди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/metrics · опційно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ендпоінт + зовнішній дашборд поверх advanced-профілю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це довело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12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9F3EE"/>
          </a:solidFill>
          <a:ln/>
        </p:spPr>
      </p:sp>
      <p:sp>
        <p:nvSpPr>
          <p:cNvPr id="7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Система відтворювана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 чистого клону, без прихованих кроків і локальних змінних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CEBFB"/>
          </a:solidFill>
          <a:ln/>
        </p:spPr>
      </p:sp>
      <p:sp>
        <p:nvSpPr>
          <p:cNvPr id="10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Інцидент керований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деградація, метрики, відновлення — за сценарієм, не імпровізацією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Робота пояснювана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кожна плитка перекладається мовою грошей і ризику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Порівняйте з точкою А з уроку 1: та сама консоль, ті самі плитки — і жодного «—». Це і є різниця, яку ви зробили за шість тижнів.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Перевір себе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12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система піднімається з чистого клону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7840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проведу інцидент за рунбуком без імпровізації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4476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поясню кожну плитку мовою наслідків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4476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мій 30-day план записаний із критеріями «зроблено»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Антипатерни фіналу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12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20208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«Працює на моїй машині» 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система, яку не підняти з чистого клону, не передається нікому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12" name="Text 10"/>
          <p:cNvSpPr/>
          <p:nvPr/>
        </p:nvSpPr>
        <p:spPr>
          <a:xfrm>
            <a:off x="768096" y="2935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Постмортем із винними 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механізми лагодять інциденти; прізвища — ні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16" name="Text 14"/>
          <p:cNvSpPr/>
          <p:nvPr/>
        </p:nvSpPr>
        <p:spPr>
          <a:xfrm>
            <a:off x="768096" y="38496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Демо без артефактів 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твердження без скріншота плитки чи рядка лога — просто слова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20" name="Text 18"/>
          <p:cNvSpPr/>
          <p:nvPr/>
        </p:nvSpPr>
        <p:spPr>
          <a:xfrm>
            <a:off x="768096" y="47640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Наступний шар «бо модно» 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механізм без виміряної проблеми стає тягарем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Домашнє завдання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12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691640"/>
            <a:ext cx="11064240" cy="2697480"/>
          </a:xfrm>
          <a:prstGeom prst="roundRect">
            <a:avLst>
              <a:gd name="adj" fmla="val 4746"/>
            </a:avLst>
          </a:prstGeom>
          <a:solidFill>
            <a:srgbClr val="FFFFFF"/>
          </a:solidFill>
          <a:ln w="19050">
            <a:solidFill>
              <a:srgbClr val="4038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ДЗ тижня 6: CI-гейт + інцидент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Останнє ДЗ, і воно ж ваш зібраний капстоун.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841248" y="306324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CI-гейт увімкнений; в історії Actions — червоний прогін (регресія) і зелений (фікс)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41248" y="3374136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інцидент-демо з командами відтворення — в INCIDENT_RUNBOOK.md, з посиланням із README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41248" y="368503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README-розділ «30-day rollout» — чотири конкретні кроки перенесення практик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41248" y="3995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система збирається docker compose up --build з чистого клону, всі плитки консолі живі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66928" y="46177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8F0E2"/>
          </a:solidFill>
          <a:ln/>
        </p:spPr>
      </p:sp>
      <p:sp>
        <p:nvSpPr>
          <p:cNvPr id="15" name="Text 13"/>
          <p:cNvSpPr/>
          <p:nvPr/>
        </p:nvSpPr>
        <p:spPr>
          <a:xfrm>
            <a:off x="768096" y="477316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768096" y="5303520"/>
            <a:ext cx="10661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canary-план: розподіл 90/10 між версіями промпта і метрики для promote/rollback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/metrics + зовнішній дашборд поверх advanced-профілю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4038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" y="777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12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41248" y="1371600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1133856" y="128016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шість тижнів тому були три рядки коду і чотири питання без відповідей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41248" y="2029968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1133856" y="193852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тепер — контур керування: гроші, надійність, якість і видимість під контролем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41248" y="2688336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1133856" y="259689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 перетворює інцидент на процедуру з чотирьох тактів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41248" y="3346704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1133856" y="325526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кожен інженерний факт перекладається мовою грошей, користувачів і ризику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41248" y="4005072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1133856" y="391363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наступний шар додається під виміряний сигнал, а не під моду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41248" y="4892040"/>
            <a:ext cx="1069848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1069848" y="5093208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Наступний крок → ваша система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69848" y="5458968"/>
            <a:ext cx="10241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Здайте ДЗ тижня 6 — ваш зібраний капстоун. Далі: додавайте реальний ключ, підключайте справжніх провайдерів, тягніть практики в робочі проєкти — по шару на тиждень, як у rollout-плані. Контур, який ви збудували, — не навчальний макет, а зменшена копія того, як LLM-системи експлуатують у проді; різниця тільки в масштабі.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41248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4AE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12 з 12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12 · Фінал: LLMOps operating model</dc:title>
  <dc:subject>PptxGenJS Presentation</dc:subject>
  <dc:creator>LLMOps Bootcamp</dc:creator>
  <cp:lastModifiedBy>LLMOps Bootcamp</cp:lastModifiedBy>
  <cp:revision>1</cp:revision>
  <dcterms:created xsi:type="dcterms:W3CDTF">2026-08-10T19:56:48Z</dcterms:created>
  <dcterms:modified xsi:type="dcterms:W3CDTF">2026-08-10T19:56:48Z</dcterms:modified>
</cp:coreProperties>
</file>