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_COV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ТИЖДЕНЬ 6 · ТЕМА 12 З 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Фінал: LLMOps</a:t>
            </a:r>
            <a:endParaRPr lang="en-US" sz="3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operating model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66928" y="41148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4B3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Система зібрана. Останній крок — переконатися, що Ви нею володієте: наскрізний прогін із чистого клону, інцидент за рунбуком і вміння говорити про це мовою, за яку дають бюджет.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5806440"/>
            <a:ext cx="1646834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5806440"/>
            <a:ext cx="16468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 Основа + промпти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23490" y="5806440"/>
            <a:ext cx="1502359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23490" y="5806440"/>
            <a:ext cx="15023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 Routing + cost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935578" y="5806440"/>
            <a:ext cx="1285646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5578" y="5806440"/>
            <a:ext cx="12856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 Кеш + tools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30952" y="5806440"/>
            <a:ext cx="1935785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30952" y="5806440"/>
            <a:ext cx="19357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W4 Надійність + безпека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76465" y="5806440"/>
            <a:ext cx="2008022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76465" y="5806440"/>
            <a:ext cx="20080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W5 Observability + evals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494215" y="5806440"/>
            <a:ext cx="1213409" cy="310896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17" name="Text 15"/>
          <p:cNvSpPr/>
          <p:nvPr/>
        </p:nvSpPr>
        <p:spPr>
          <a:xfrm>
            <a:off x="9494215" y="5806440"/>
            <a:ext cx="12134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W6 CI + фінал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Що Ви зможете після теми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005840"/>
            <a:ext cx="6839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П'ять дій, які перевірите руками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271016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7101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9" name="Shape 6"/>
          <p:cNvSpPr/>
          <p:nvPr/>
        </p:nvSpPr>
        <p:spPr>
          <a:xfrm>
            <a:off x="768096" y="1965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80160" y="1938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Прогнати систему наскрізь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68096" y="246888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 чистого клону, без «тут ще одна змінна»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70248" y="17830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14" name="Shape 11"/>
          <p:cNvSpPr/>
          <p:nvPr/>
        </p:nvSpPr>
        <p:spPr>
          <a:xfrm>
            <a:off x="4471416" y="1965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5" name="Text 12"/>
          <p:cNvSpPr/>
          <p:nvPr/>
        </p:nvSpPr>
        <p:spPr>
          <a:xfrm>
            <a:off x="447141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83480" y="1938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Відпрацювати інцидент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4471416" y="246888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 рунбуком, із таймлайном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973568" y="17830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19" name="Shape 16"/>
          <p:cNvSpPr/>
          <p:nvPr/>
        </p:nvSpPr>
        <p:spPr>
          <a:xfrm>
            <a:off x="8174736" y="1965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0" name="Text 17"/>
          <p:cNvSpPr/>
          <p:nvPr/>
        </p:nvSpPr>
        <p:spPr>
          <a:xfrm>
            <a:off x="817473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686800" y="1938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Зафіксувати постмортем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8174736" y="246888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механізмами, а не прізвищами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66928" y="38862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24" name="Shape 21"/>
          <p:cNvSpPr/>
          <p:nvPr/>
        </p:nvSpPr>
        <p:spPr>
          <a:xfrm>
            <a:off x="768096" y="40690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5" name="Text 22"/>
          <p:cNvSpPr/>
          <p:nvPr/>
        </p:nvSpPr>
        <p:spPr>
          <a:xfrm>
            <a:off x="768096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280160" y="40416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Перекласти плитки KPI-мовою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768096" y="457200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гроші, користувачі, ризик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270248" y="38862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29" name="Shape 26"/>
          <p:cNvSpPr/>
          <p:nvPr/>
        </p:nvSpPr>
        <p:spPr>
          <a:xfrm>
            <a:off x="4471416" y="40690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30" name="Text 27"/>
          <p:cNvSpPr/>
          <p:nvPr/>
        </p:nvSpPr>
        <p:spPr>
          <a:xfrm>
            <a:off x="4471416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983480" y="40416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Скласти 30-day rollout</a:t>
            </a:r>
            <a:endParaRPr lang="en-US" sz="1450" dirty="0"/>
          </a:p>
        </p:txBody>
      </p:sp>
      <p:sp>
        <p:nvSpPr>
          <p:cNvPr id="32" name="Text 29"/>
          <p:cNvSpPr/>
          <p:nvPr/>
        </p:nvSpPr>
        <p:spPr>
          <a:xfrm>
            <a:off x="4471416" y="457200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лог → реєстр → evals → гейт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Маршрут на сьогодні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64592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8" name="Shape 5"/>
          <p:cNvSpPr/>
          <p:nvPr/>
        </p:nvSpPr>
        <p:spPr>
          <a:xfrm>
            <a:off x="768096" y="18288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80160" y="18013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Від трьох рядків до контуру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270248" y="164592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4471416" y="18288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3" name="Text 10"/>
          <p:cNvSpPr/>
          <p:nvPr/>
        </p:nvSpPr>
        <p:spPr>
          <a:xfrm>
            <a:off x="447141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83480" y="18013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Точка Б: сценарій наскрізь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7973568" y="164592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16" name="Shape 13"/>
          <p:cNvSpPr/>
          <p:nvPr/>
        </p:nvSpPr>
        <p:spPr>
          <a:xfrm>
            <a:off x="8174736" y="18288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7" name="Text 14"/>
          <p:cNvSpPr/>
          <p:nvPr/>
        </p:nvSpPr>
        <p:spPr>
          <a:xfrm>
            <a:off x="817473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686800" y="18013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Runbook як сценарій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566928" y="269748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20" name="Shape 17"/>
          <p:cNvSpPr/>
          <p:nvPr/>
        </p:nvSpPr>
        <p:spPr>
          <a:xfrm>
            <a:off x="768096" y="28803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1" name="Text 18"/>
          <p:cNvSpPr/>
          <p:nvPr/>
        </p:nvSpPr>
        <p:spPr>
          <a:xfrm>
            <a:off x="768096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280160" y="28529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Інцидент наживо: таймлайн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4270248" y="269748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24" name="Shape 21"/>
          <p:cNvSpPr/>
          <p:nvPr/>
        </p:nvSpPr>
        <p:spPr>
          <a:xfrm>
            <a:off x="4471416" y="28803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5" name="Text 22"/>
          <p:cNvSpPr/>
          <p:nvPr/>
        </p:nvSpPr>
        <p:spPr>
          <a:xfrm>
            <a:off x="4471416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983480" y="28529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KPI-мова</a:t>
            </a:r>
            <a:endParaRPr lang="en-US" sz="1450" dirty="0"/>
          </a:p>
        </p:txBody>
      </p:sp>
      <p:sp>
        <p:nvSpPr>
          <p:cNvPr id="27" name="Shape 24"/>
          <p:cNvSpPr/>
          <p:nvPr/>
        </p:nvSpPr>
        <p:spPr>
          <a:xfrm>
            <a:off x="7973568" y="269748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28" name="Shape 25"/>
          <p:cNvSpPr/>
          <p:nvPr/>
        </p:nvSpPr>
        <p:spPr>
          <a:xfrm>
            <a:off x="8174736" y="28803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9" name="Text 26"/>
          <p:cNvSpPr/>
          <p:nvPr/>
        </p:nvSpPr>
        <p:spPr>
          <a:xfrm>
            <a:off x="8174736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686800" y="28529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30-day rollout</a:t>
            </a:r>
            <a:endParaRPr lang="en-US" sz="1450" dirty="0"/>
          </a:p>
        </p:txBody>
      </p:sp>
      <p:sp>
        <p:nvSpPr>
          <p:cNvPr id="31" name="Shape 28"/>
          <p:cNvSpPr/>
          <p:nvPr/>
        </p:nvSpPr>
        <p:spPr>
          <a:xfrm>
            <a:off x="566928" y="374904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32" name="Shape 29"/>
          <p:cNvSpPr/>
          <p:nvPr/>
        </p:nvSpPr>
        <p:spPr>
          <a:xfrm>
            <a:off x="768096" y="39319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33" name="Text 30"/>
          <p:cNvSpPr/>
          <p:nvPr/>
        </p:nvSpPr>
        <p:spPr>
          <a:xfrm>
            <a:off x="768096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280160" y="39044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/metrics · опційно</a:t>
            </a:r>
            <a:endParaRPr lang="en-US" sz="1450" dirty="0"/>
          </a:p>
        </p:txBody>
      </p:sp>
      <p:sp>
        <p:nvSpPr>
          <p:cNvPr id="35" name="Shape 32"/>
          <p:cNvSpPr/>
          <p:nvPr/>
        </p:nvSpPr>
        <p:spPr>
          <a:xfrm>
            <a:off x="4270248" y="374904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36" name="Shape 33"/>
          <p:cNvSpPr/>
          <p:nvPr/>
        </p:nvSpPr>
        <p:spPr>
          <a:xfrm>
            <a:off x="4471416" y="39319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37" name="Text 34"/>
          <p:cNvSpPr/>
          <p:nvPr/>
        </p:nvSpPr>
        <p:spPr>
          <a:xfrm>
            <a:off x="4471416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4983480" y="39044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Наступний шар — за сигналом</a:t>
            </a:r>
            <a:endParaRPr lang="en-US" sz="1450" dirty="0"/>
          </a:p>
        </p:txBody>
      </p:sp>
      <p:sp>
        <p:nvSpPr>
          <p:cNvPr id="39" name="Shape 36"/>
          <p:cNvSpPr/>
          <p:nvPr/>
        </p:nvSpPr>
        <p:spPr>
          <a:xfrm>
            <a:off x="7973568" y="374904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40" name="Shape 37"/>
          <p:cNvSpPr/>
          <p:nvPr/>
        </p:nvSpPr>
        <p:spPr>
          <a:xfrm>
            <a:off x="8174736" y="39319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41" name="Text 38"/>
          <p:cNvSpPr/>
          <p:nvPr/>
        </p:nvSpPr>
        <p:spPr>
          <a:xfrm>
            <a:off x="8174736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8686800" y="39044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Куди поїде через рік</a:t>
            </a:r>
            <a:endParaRPr lang="en-US" sz="1450" dirty="0"/>
          </a:p>
        </p:txBody>
      </p:sp>
      <p:sp>
        <p:nvSpPr>
          <p:cNvPr id="43" name="Shape 40"/>
          <p:cNvSpPr/>
          <p:nvPr/>
        </p:nvSpPr>
        <p:spPr>
          <a:xfrm>
            <a:off x="566928" y="480060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44" name="Shape 41"/>
          <p:cNvSpPr/>
          <p:nvPr/>
        </p:nvSpPr>
        <p:spPr>
          <a:xfrm>
            <a:off x="768096" y="49834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45" name="Text 42"/>
          <p:cNvSpPr/>
          <p:nvPr/>
        </p:nvSpPr>
        <p:spPr>
          <a:xfrm>
            <a:off x="768096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1280160" y="49560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 межами курсу</a:t>
            </a:r>
            <a:endParaRPr lang="en-US" sz="1450" dirty="0"/>
          </a:p>
        </p:txBody>
      </p:sp>
      <p:sp>
        <p:nvSpPr>
          <p:cNvPr id="47" name="Shape 44"/>
          <p:cNvSpPr/>
          <p:nvPr/>
        </p:nvSpPr>
        <p:spPr>
          <a:xfrm>
            <a:off x="4270248" y="480060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48" name="Shape 45"/>
          <p:cNvSpPr/>
          <p:nvPr/>
        </p:nvSpPr>
        <p:spPr>
          <a:xfrm>
            <a:off x="4471416" y="49834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49" name="Text 46"/>
          <p:cNvSpPr/>
          <p:nvPr/>
        </p:nvSpPr>
        <p:spPr>
          <a:xfrm>
            <a:off x="4471416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4983480" y="49560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Лабораторна</a:t>
            </a:r>
            <a:endParaRPr lang="en-US" sz="1450" dirty="0"/>
          </a:p>
        </p:txBody>
      </p:sp>
      <p:sp>
        <p:nvSpPr>
          <p:cNvPr id="51" name="Shape 48"/>
          <p:cNvSpPr/>
          <p:nvPr/>
        </p:nvSpPr>
        <p:spPr>
          <a:xfrm>
            <a:off x="7973568" y="480060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52" name="Shape 49"/>
          <p:cNvSpPr/>
          <p:nvPr/>
        </p:nvSpPr>
        <p:spPr>
          <a:xfrm>
            <a:off x="8174736" y="49834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53" name="Text 50"/>
          <p:cNvSpPr/>
          <p:nvPr/>
        </p:nvSpPr>
        <p:spPr>
          <a:xfrm>
            <a:off x="8174736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8686800" y="49560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Антипатерни фіналу</a:t>
            </a:r>
            <a:endParaRPr lang="en-US" sz="1450" dirty="0"/>
          </a:p>
        </p:txBody>
      </p:sp>
      <p:sp>
        <p:nvSpPr>
          <p:cNvPr id="55" name="Shape 52"/>
          <p:cNvSpPr/>
          <p:nvPr/>
        </p:nvSpPr>
        <p:spPr>
          <a:xfrm>
            <a:off x="566928" y="5779008"/>
            <a:ext cx="1106424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86384" y="5925312"/>
            <a:ext cx="10625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Від зібраної системи — до впевненого володіння нею.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Терміни, якими користуватимемось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200607"/>
            <a:ext cx="6839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Шість слів сьогоднішньої теми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465783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65783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1892808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operating model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49808" y="2203704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як систему експлуатують: хто, що, коли і за яким сценарієм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22064" y="1783080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04944" y="1892808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runbook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04944" y="2203704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симптом → підтвердити → дія → переконатися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077200" y="1783080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60080" y="1892808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постмортем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260080" y="2203704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розбір після інциденту: механізми, не прізвища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66928" y="3465576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" y="3575304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KPI-мова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49808" y="3886200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переклад у гроші, користувачів і ризик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322064" y="3465576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04944" y="3575304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rollout-план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04944" y="3886200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порядок перенесення практик у свою команду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077200" y="3465576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60080" y="3575304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dry-run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260080" y="3886200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повний цикл, але замість дій — звіт «що я б зробила»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66928" y="5138928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86384" y="5285232"/>
            <a:ext cx="106253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Останній глосарій курсу — далі тільки практика.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ТЕОРІЯ</a:t>
            </a:r>
            <a:endParaRPr lang="en-US" sz="6500" dirty="0"/>
          </a:p>
        </p:txBody>
      </p:sp>
      <p:sp>
        <p:nvSpPr>
          <p:cNvPr id="4" name="Text 2"/>
          <p:cNvSpPr/>
          <p:nvPr/>
        </p:nvSpPr>
        <p:spPr>
          <a:xfrm>
            <a:off x="566928" y="402336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B3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блоків — дивимось і розбираємось, руками поки не робимо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Від трьох рядків до контуру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389888" y="2240280"/>
            <a:ext cx="9418320" cy="0"/>
          </a:xfrm>
          <a:prstGeom prst="line">
            <a:avLst/>
          </a:prstGeom>
          <a:noFill/>
          <a:ln w="25400">
            <a:solidFill>
              <a:srgbClr val="5A05F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307592" y="2157984"/>
            <a:ext cx="164592" cy="164592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16733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тоді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21208" y="2423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три рядки коду + 4 питання без відповідей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877312" y="2157984"/>
            <a:ext cx="164592" cy="164592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3" name="Text 10"/>
          <p:cNvSpPr/>
          <p:nvPr/>
        </p:nvSpPr>
        <p:spPr>
          <a:xfrm>
            <a:off x="2273808" y="16733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090928" y="2423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unified log · реєстр промптів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447032" y="2157984"/>
            <a:ext cx="164592" cy="164592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6" name="Text 13"/>
          <p:cNvSpPr/>
          <p:nvPr/>
        </p:nvSpPr>
        <p:spPr>
          <a:xfrm>
            <a:off x="3843528" y="16733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660648" y="2423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routing · cost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016752" y="2157984"/>
            <a:ext cx="164592" cy="164592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9" name="Text 16"/>
          <p:cNvSpPr/>
          <p:nvPr/>
        </p:nvSpPr>
        <p:spPr>
          <a:xfrm>
            <a:off x="5413248" y="16733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230368" y="2423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кеш · tools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586472" y="2157984"/>
            <a:ext cx="164592" cy="164592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2" name="Text 19"/>
          <p:cNvSpPr/>
          <p:nvPr/>
        </p:nvSpPr>
        <p:spPr>
          <a:xfrm>
            <a:off x="6982968" y="16733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W4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800088" y="2423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fallback · guardrail · HITL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9156192" y="2157984"/>
            <a:ext cx="164592" cy="164592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5" name="Text 22"/>
          <p:cNvSpPr/>
          <p:nvPr/>
        </p:nvSpPr>
        <p:spPr>
          <a:xfrm>
            <a:off x="8552688" y="16733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W5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8369808" y="2423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метрики · evals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0725912" y="2157984"/>
            <a:ext cx="164592" cy="164592"/>
          </a:xfrm>
          <a:prstGeom prst="ellipse">
            <a:avLst/>
          </a:prstGeom>
          <a:solidFill>
            <a:srgbClr val="106B41"/>
          </a:solidFill>
          <a:ln/>
        </p:spPr>
      </p:sp>
      <p:sp>
        <p:nvSpPr>
          <p:cNvPr id="28" name="Text 25"/>
          <p:cNvSpPr/>
          <p:nvPr/>
        </p:nvSpPr>
        <p:spPr>
          <a:xfrm>
            <a:off x="10122408" y="16733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W6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9939528" y="2423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CI-гейт → контур керування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66928" y="342900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000000"/>
          </a:solidFill>
          <a:ln/>
        </p:spPr>
      </p:sp>
      <p:sp>
        <p:nvSpPr>
          <p:cNvPr id="31" name="Shape 28"/>
          <p:cNvSpPr/>
          <p:nvPr/>
        </p:nvSpPr>
        <p:spPr>
          <a:xfrm>
            <a:off x="768096" y="36118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32" name="Text 29"/>
          <p:cNvSpPr/>
          <p:nvPr/>
        </p:nvSpPr>
        <p:spPr>
          <a:xfrm>
            <a:off x="768096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280160" y="35844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Підняти</a:t>
            </a:r>
            <a:endParaRPr lang="en-US" sz="1450" dirty="0"/>
          </a:p>
        </p:txBody>
      </p:sp>
      <p:sp>
        <p:nvSpPr>
          <p:cNvPr id="34" name="Text 31"/>
          <p:cNvSpPr/>
          <p:nvPr/>
        </p:nvSpPr>
        <p:spPr>
          <a:xfrm>
            <a:off x="768096" y="4114800"/>
            <a:ext cx="31181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упевнено, відтворювано, з чистого клону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4270248" y="342900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000000"/>
          </a:solidFill>
          <a:ln/>
        </p:spPr>
      </p:sp>
      <p:sp>
        <p:nvSpPr>
          <p:cNvPr id="36" name="Shape 33"/>
          <p:cNvSpPr/>
          <p:nvPr/>
        </p:nvSpPr>
        <p:spPr>
          <a:xfrm>
            <a:off x="4471416" y="36118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37" name="Text 34"/>
          <p:cNvSpPr/>
          <p:nvPr/>
        </p:nvSpPr>
        <p:spPr>
          <a:xfrm>
            <a:off x="4471416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4983480" y="35844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Пережити інцидент</a:t>
            </a:r>
            <a:endParaRPr lang="en-US" sz="1450" dirty="0"/>
          </a:p>
        </p:txBody>
      </p:sp>
      <p:sp>
        <p:nvSpPr>
          <p:cNvPr id="39" name="Text 36"/>
          <p:cNvSpPr/>
          <p:nvPr/>
        </p:nvSpPr>
        <p:spPr>
          <a:xfrm>
            <a:off x="4471416" y="4114800"/>
            <a:ext cx="31181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виявити → деградувати → відновити → зафіксувати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7973568" y="342900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000000"/>
          </a:solidFill>
          <a:ln/>
        </p:spPr>
      </p:sp>
      <p:sp>
        <p:nvSpPr>
          <p:cNvPr id="41" name="Shape 38"/>
          <p:cNvSpPr/>
          <p:nvPr/>
        </p:nvSpPr>
        <p:spPr>
          <a:xfrm>
            <a:off x="8174736" y="36118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42" name="Text 39"/>
          <p:cNvSpPr/>
          <p:nvPr/>
        </p:nvSpPr>
        <p:spPr>
          <a:xfrm>
            <a:off x="8174736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8686800" y="35844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Пояснити</a:t>
            </a:r>
            <a:endParaRPr lang="en-US" sz="1450" dirty="0"/>
          </a:p>
        </p:txBody>
      </p:sp>
      <p:sp>
        <p:nvSpPr>
          <p:cNvPr id="44" name="Text 41"/>
          <p:cNvSpPr/>
          <p:nvPr/>
        </p:nvSpPr>
        <p:spPr>
          <a:xfrm>
            <a:off x="8174736" y="4114800"/>
            <a:ext cx="31181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через наслідки, а не через список технологій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566928" y="516636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86384" y="5312664"/>
            <a:ext cx="106253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Три вміння, які відрізняють «зробив курсовий» від «володію системою».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Точка Б: один сценарій наскрізь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828800"/>
            <a:ext cx="1463040" cy="68580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" y="1828800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питання в чат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121408" y="217170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5400000">
            <a:off x="2249424" y="210312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2" name="Shape 9"/>
          <p:cNvSpPr/>
          <p:nvPr/>
        </p:nvSpPr>
        <p:spPr>
          <a:xfrm>
            <a:off x="2487168" y="1828800"/>
            <a:ext cx="1463040" cy="68580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2542032" y="1828800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routing → модель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041648" y="217170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5400000">
            <a:off x="4169664" y="210312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6" name="Shape 13"/>
          <p:cNvSpPr/>
          <p:nvPr/>
        </p:nvSpPr>
        <p:spPr>
          <a:xfrm>
            <a:off x="4407408" y="1828800"/>
            <a:ext cx="1463040" cy="68580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4462272" y="1828800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кеш?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961888" y="217170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rot="5400000">
            <a:off x="6089904" y="210312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0" name="Shape 17"/>
          <p:cNvSpPr/>
          <p:nvPr/>
        </p:nvSpPr>
        <p:spPr>
          <a:xfrm>
            <a:off x="6327648" y="1828800"/>
            <a:ext cx="1463040" cy="68580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/>
          <p:nvPr/>
        </p:nvSpPr>
        <p:spPr>
          <a:xfrm>
            <a:off x="6382512" y="1828800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відповідь + версія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882128" y="217170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rot="5400000">
            <a:off x="8010144" y="210312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4" name="Shape 21"/>
          <p:cNvSpPr/>
          <p:nvPr/>
        </p:nvSpPr>
        <p:spPr>
          <a:xfrm>
            <a:off x="8247888" y="1828800"/>
            <a:ext cx="1463040" cy="68580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/>
        </p:spPr>
      </p:sp>
      <p:sp>
        <p:nvSpPr>
          <p:cNvPr id="25" name="Text 22"/>
          <p:cNvSpPr/>
          <p:nvPr/>
        </p:nvSpPr>
        <p:spPr>
          <a:xfrm>
            <a:off x="8302752" y="1828800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лог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9802368" y="217170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 rot="5400000">
            <a:off x="9930384" y="210312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8" name="Shape 25"/>
          <p:cNvSpPr/>
          <p:nvPr/>
        </p:nvSpPr>
        <p:spPr>
          <a:xfrm>
            <a:off x="10168128" y="1828800"/>
            <a:ext cx="1463040" cy="68580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/>
        </p:spPr>
      </p:sp>
      <p:sp>
        <p:nvSpPr>
          <p:cNvPr id="29" name="Text 26"/>
          <p:cNvSpPr/>
          <p:nvPr/>
        </p:nvSpPr>
        <p:spPr>
          <a:xfrm>
            <a:off x="10222992" y="1828800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консоль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66928" y="2697480"/>
            <a:ext cx="3383280" cy="68580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/>
        </p:spPr>
      </p:sp>
      <p:sp>
        <p:nvSpPr>
          <p:cNvPr id="31" name="Text 28"/>
          <p:cNvSpPr/>
          <p:nvPr/>
        </p:nvSpPr>
        <p:spPr>
          <a:xfrm>
            <a:off x="621792" y="2697480"/>
            <a:ext cx="3273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«поверніть гроші»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041648" y="304038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 rot="5400000">
            <a:off x="4169664" y="297180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34" name="Shape 31"/>
          <p:cNvSpPr/>
          <p:nvPr/>
        </p:nvSpPr>
        <p:spPr>
          <a:xfrm>
            <a:off x="4407408" y="2697480"/>
            <a:ext cx="3383280" cy="68580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/>
        </p:spPr>
      </p:sp>
      <p:sp>
        <p:nvSpPr>
          <p:cNvPr id="35" name="Text 32"/>
          <p:cNvSpPr/>
          <p:nvPr/>
        </p:nvSpPr>
        <p:spPr>
          <a:xfrm>
            <a:off x="4462272" y="2697480"/>
            <a:ext cx="3273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заявка в /approvals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7882128" y="304038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 rot="5400000">
            <a:off x="8010144" y="297180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38" name="Shape 35"/>
          <p:cNvSpPr/>
          <p:nvPr/>
        </p:nvSpPr>
        <p:spPr>
          <a:xfrm>
            <a:off x="8247888" y="2697480"/>
            <a:ext cx="3383280" cy="68580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/>
        </p:spPr>
      </p:sp>
      <p:sp>
        <p:nvSpPr>
          <p:cNvPr id="39" name="Text 36"/>
          <p:cNvSpPr/>
          <p:nvPr/>
        </p:nvSpPr>
        <p:spPr>
          <a:xfrm>
            <a:off x="8302752" y="2697480"/>
            <a:ext cx="3273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 → тікет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566928" y="3566160"/>
            <a:ext cx="3383280" cy="68580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/>
        </p:spPr>
      </p:sp>
      <p:sp>
        <p:nvSpPr>
          <p:cNvPr id="41" name="Text 38"/>
          <p:cNvSpPr/>
          <p:nvPr/>
        </p:nvSpPr>
        <p:spPr>
          <a:xfrm>
            <a:off x="621792" y="3566160"/>
            <a:ext cx="3273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__fail_503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041648" y="390906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 rot="5400000">
            <a:off x="4169664" y="384048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44" name="Shape 41"/>
          <p:cNvSpPr/>
          <p:nvPr/>
        </p:nvSpPr>
        <p:spPr>
          <a:xfrm>
            <a:off x="4407408" y="3566160"/>
            <a:ext cx="3383280" cy="68580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/>
        </p:spPr>
      </p:sp>
      <p:sp>
        <p:nvSpPr>
          <p:cNvPr id="45" name="Text 42"/>
          <p:cNvSpPr/>
          <p:nvPr/>
        </p:nvSpPr>
        <p:spPr>
          <a:xfrm>
            <a:off x="4462272" y="3566160"/>
            <a:ext cx="3273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fallback → заглушка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7882128" y="390906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 rot="5400000">
            <a:off x="8010144" y="384048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48" name="Shape 45"/>
          <p:cNvSpPr/>
          <p:nvPr/>
        </p:nvSpPr>
        <p:spPr>
          <a:xfrm>
            <a:off x="8247888" y="3566160"/>
            <a:ext cx="3383280" cy="68580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/>
        </p:spPr>
      </p:sp>
      <p:sp>
        <p:nvSpPr>
          <p:cNvPr id="49" name="Text 46"/>
          <p:cNvSpPr/>
          <p:nvPr/>
        </p:nvSpPr>
        <p:spPr>
          <a:xfrm>
            <a:off x="8302752" y="3566160"/>
            <a:ext cx="3273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відновлення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566928" y="452628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DE7FD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66928" y="45262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registry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У2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1719072" y="452628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DE7FD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719072" y="45262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У3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2871216" y="452628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DE7FD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2871216" y="45262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вартість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У4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4023360" y="452628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DE7FD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4023360" y="45262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кеш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У5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5175504" y="452628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DE7FD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5175504" y="45262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У6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6327648" y="452628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DE7FD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6327648" y="45262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fallback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У7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7479792" y="452628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DE7FD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7479792" y="45262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HITL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У8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8631936" y="452628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DE7FD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8631936" y="45262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метрики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У9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9784080" y="452628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DE7FD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9784080" y="45262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гейт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У11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566928" y="5257800"/>
            <a:ext cx="1106424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786384" y="5404104"/>
            <a:ext cx="10625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Кожна ланка — конкретна тема: де спіткнулися, туди й повертаєтесь.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Runbook — сценарій, а не есе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108960"/>
                <a:gridCol w="576072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такт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питання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у нашому інциденті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Симптом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що видно?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скарги «бот вибачається», error rate росте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Підтвердити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яка плитка / який лог?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fallback_events росте; статуси 503 у лозі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Дія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що робити?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нічого руками: fallback і деградація вже працюють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Переконатися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як зрозуміти, що відпустило?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нове питання (не з кешу) відповідає; fallback не росте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66928" y="443484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86384" y="4581144"/>
            <a:ext cx="1062532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Найчастіша «дія» у добре збудованій системі — не робити нічого руками.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66928" y="548640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86384" y="5632704"/>
            <a:ext cx="10625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Такт «Переконатися» перевіряють новим питанням: старе вже в кеші.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Інцидент наживо: таймлайн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481328" y="2651760"/>
            <a:ext cx="9235440" cy="0"/>
          </a:xfrm>
          <a:prstGeom prst="line">
            <a:avLst/>
          </a:prstGeom>
          <a:noFill/>
          <a:ln w="25400">
            <a:solidFill>
              <a:srgbClr val="5A05F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399032" y="2569464"/>
            <a:ext cx="164592" cy="164592"/>
          </a:xfrm>
          <a:prstGeom prst="ellipse">
            <a:avLst/>
          </a:prstGeom>
          <a:solidFill>
            <a:srgbClr val="106B41"/>
          </a:solidFill>
          <a:ln/>
        </p:spPr>
      </p:sp>
      <p:sp>
        <p:nvSpPr>
          <p:cNvPr id="10" name="Text 7"/>
          <p:cNvSpPr/>
          <p:nvPr/>
        </p:nvSpPr>
        <p:spPr>
          <a:xfrm>
            <a:off x="795528" y="2084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10:00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12648" y="2834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норма: питання → відповідь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477512" y="2569464"/>
            <a:ext cx="164592" cy="164592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13" name="Text 10"/>
          <p:cNvSpPr/>
          <p:nvPr/>
        </p:nvSpPr>
        <p:spPr>
          <a:xfrm>
            <a:off x="3874008" y="2084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10:03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691128" y="2834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__fail_503: спроби падають, користувач бачить заглушку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555992" y="2569464"/>
            <a:ext cx="164592" cy="164592"/>
          </a:xfrm>
          <a:prstGeom prst="ellipse">
            <a:avLst/>
          </a:prstGeom>
          <a:solidFill>
            <a:srgbClr val="1A4FBF"/>
          </a:solidFill>
          <a:ln/>
        </p:spPr>
      </p:sp>
      <p:sp>
        <p:nvSpPr>
          <p:cNvPr id="16" name="Text 13"/>
          <p:cNvSpPr/>
          <p:nvPr/>
        </p:nvSpPr>
        <p:spPr>
          <a:xfrm>
            <a:off x="6952488" y="2084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10:05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769608" y="2834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метрики: fallback↑, error rate↑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0634472" y="2569464"/>
            <a:ext cx="164592" cy="164592"/>
          </a:xfrm>
          <a:prstGeom prst="ellipse">
            <a:avLst/>
          </a:prstGeom>
          <a:solidFill>
            <a:srgbClr val="106B41"/>
          </a:solidFill>
          <a:ln/>
        </p:spPr>
      </p:sp>
      <p:sp>
        <p:nvSpPr>
          <p:cNvPr id="19" name="Text 16"/>
          <p:cNvSpPr/>
          <p:nvPr/>
        </p:nvSpPr>
        <p:spPr>
          <a:xfrm>
            <a:off x="10030968" y="2084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10:09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9848088" y="2834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нове питання відповідає — відновлення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" y="434340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49808" y="4759452"/>
            <a:ext cx="310896" cy="310896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23" name="Text 20"/>
          <p:cNvSpPr/>
          <p:nvPr/>
        </p:nvSpPr>
        <p:spPr>
          <a:xfrm>
            <a:off x="749808" y="47594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243584" y="447141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ТИПОВА ПОМИЛКА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1243584" y="4727448"/>
            <a:ext cx="1016812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Постмортем, який шукає винного. Питання постмортема два: що спрацювало як задумано — і який механізм додати, щоб наступного разу було ще спокійніше.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66928" y="557784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86384" y="5724144"/>
            <a:ext cx="10625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Гігієна після: прогін evals лишає pending-заявку — чистий стан перед наступним демо.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KPI-мова: за що дають бюджет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інженерне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KPI-мовою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fallback + degradation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падіння провайдера користувач не помічає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cache-hit 30%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третина запитів — безкоштовні й миттєві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routing mini/strong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дорога модель — тільки складним; вартість запиту керована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eval-гейт у CI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регресія якості фізично не потрапляє в прод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HITL-черга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жодна незворотна дія не виконується без людини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вартість на консолі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витрати видно сьогодні, а не в рахунку через місяць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66928" y="525780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9808" y="5445252"/>
            <a:ext cx="310896" cy="310896"/>
          </a:xfrm>
          <a:prstGeom prst="ellipse">
            <a:avLst/>
          </a:prstGeom>
          <a:solidFill>
            <a:srgbClr val="1A4FBF"/>
          </a:solidFill>
          <a:ln/>
        </p:spPr>
      </p:sp>
      <p:sp>
        <p:nvSpPr>
          <p:cNvPr id="11" name="Text 7"/>
          <p:cNvSpPr/>
          <p:nvPr/>
        </p:nvSpPr>
        <p:spPr>
          <a:xfrm>
            <a:off x="749808" y="54452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243584" y="538581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ПОРАДА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1243584" y="5641848"/>
            <a:ext cx="101681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Кожне твердження підкріплюйте артефактом: скріншотом плитки, рядком лога або посиланням на прогін.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30-day rollout для своєї команди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" y="1783080"/>
            <a:ext cx="37618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Тиждень 1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548226" y="1783080"/>
            <a:ext cx="664037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unified logging + вартість · зроблено = питання про гроші закривається SQL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66928" y="2478024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786384" y="2478024"/>
            <a:ext cx="37618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Тиждень 2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548226" y="2478024"/>
            <a:ext cx="664037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промпти з коду в реєстр · зроблено = відкат за секунди зі слідом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6928" y="3172968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786384" y="3172968"/>
            <a:ext cx="37618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Тиждень 3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548226" y="3172968"/>
            <a:ext cx="664037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evals на критичні сценарії · зроблено = регресія ловиться командою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66928" y="3867912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000000"/>
          </a:solidFill>
          <a:ln/>
        </p:spPr>
      </p:sp>
      <p:sp>
        <p:nvSpPr>
          <p:cNvPr id="18" name="Text 15"/>
          <p:cNvSpPr/>
          <p:nvPr/>
        </p:nvSpPr>
        <p:spPr>
          <a:xfrm>
            <a:off x="786384" y="3867912"/>
            <a:ext cx="37618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Тиждень 4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548226" y="3867912"/>
            <a:ext cx="664037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гейт у CI · зроблено = червоний прогін блокує merge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66928" y="4590288"/>
            <a:ext cx="2423160" cy="45720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/>
          <p:nvPr/>
        </p:nvSpPr>
        <p:spPr>
          <a:xfrm>
            <a:off x="621792" y="45902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Т1 · лог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081528" y="4818888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rot="5400000">
            <a:off x="3209544" y="4750308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4" name="Shape 21"/>
          <p:cNvSpPr/>
          <p:nvPr/>
        </p:nvSpPr>
        <p:spPr>
          <a:xfrm>
            <a:off x="3447288" y="4590288"/>
            <a:ext cx="2423160" cy="45720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/>
        </p:spPr>
      </p:sp>
      <p:sp>
        <p:nvSpPr>
          <p:cNvPr id="25" name="Text 22"/>
          <p:cNvSpPr/>
          <p:nvPr/>
        </p:nvSpPr>
        <p:spPr>
          <a:xfrm>
            <a:off x="3502152" y="45902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Т2 · реєстр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961888" y="4818888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 rot="5400000">
            <a:off x="6089904" y="4750308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8" name="Shape 25"/>
          <p:cNvSpPr/>
          <p:nvPr/>
        </p:nvSpPr>
        <p:spPr>
          <a:xfrm>
            <a:off x="6327648" y="4590288"/>
            <a:ext cx="2423160" cy="45720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/>
        </p:spPr>
      </p:sp>
      <p:sp>
        <p:nvSpPr>
          <p:cNvPr id="29" name="Text 26"/>
          <p:cNvSpPr/>
          <p:nvPr/>
        </p:nvSpPr>
        <p:spPr>
          <a:xfrm>
            <a:off x="6382512" y="45902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Т3 · evals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8842248" y="4818888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 rot="5400000">
            <a:off x="8970264" y="4750308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32" name="Shape 29"/>
          <p:cNvSpPr/>
          <p:nvPr/>
        </p:nvSpPr>
        <p:spPr>
          <a:xfrm>
            <a:off x="9208008" y="4590288"/>
            <a:ext cx="2423160" cy="45720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/>
        </p:spPr>
      </p:sp>
      <p:sp>
        <p:nvSpPr>
          <p:cNvPr id="33" name="Text 30"/>
          <p:cNvSpPr/>
          <p:nvPr/>
        </p:nvSpPr>
        <p:spPr>
          <a:xfrm>
            <a:off x="9262872" y="45902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Т4 · гейт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566928" y="5376672"/>
            <a:ext cx="11064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86384" y="5504688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ЧОМУ САМЕ ЦЕЙ ПОРЯДОК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786384" y="5760720"/>
            <a:ext cx="10625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Кожен шар спирається на попередній: без лога нема вартості, без реєстру нема чистого відкату, без evals нема гейта.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/metrics і зовнішні дашборди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67128" y="1024128"/>
            <a:ext cx="8641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67128" y="1024128"/>
            <a:ext cx="8641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34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ОПЦІЙНО</a:t>
            </a:r>
            <a:endParaRPr lang="en-US" sz="9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664208" y="219456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1719072" y="2194560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Ваш лог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407408" y="258318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5400000">
            <a:off x="4535424" y="251460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4" name="Shape 11"/>
          <p:cNvSpPr/>
          <p:nvPr/>
        </p:nvSpPr>
        <p:spPr>
          <a:xfrm>
            <a:off x="4773168" y="219456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4828032" y="2194560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/metrics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516368" y="258318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5400000">
            <a:off x="7644384" y="251460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8" name="Shape 15"/>
          <p:cNvSpPr/>
          <p:nvPr/>
        </p:nvSpPr>
        <p:spPr>
          <a:xfrm>
            <a:off x="7882128" y="219456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36992" y="2194560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зовнішній дашборд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66928" y="3383280"/>
            <a:ext cx="5349240" cy="1554480"/>
          </a:xfrm>
          <a:prstGeom prst="roundRect">
            <a:avLst>
              <a:gd name="adj" fmla="val 7059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/>
          <p:nvPr/>
        </p:nvSpPr>
        <p:spPr>
          <a:xfrm>
            <a:off x="768096" y="353872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Що дає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768096" y="4069080"/>
            <a:ext cx="4946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історія за місяці, кореляція з інфраструктурою, алерти зі спільним каналом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281928" y="3383280"/>
            <a:ext cx="5349240" cy="1554480"/>
          </a:xfrm>
          <a:prstGeom prst="roundRect">
            <a:avLst>
              <a:gd name="adj" fmla="val 7059"/>
            </a:avLst>
          </a:prstGeom>
          <a:solidFill>
            <a:srgbClr val="000000"/>
          </a:solidFill>
          <a:ln/>
        </p:spPr>
      </p:sp>
      <p:sp>
        <p:nvSpPr>
          <p:cNvPr id="24" name="Text 21"/>
          <p:cNvSpPr/>
          <p:nvPr/>
        </p:nvSpPr>
        <p:spPr>
          <a:xfrm>
            <a:off x="6483096" y="353872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Чого коштує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6483096" y="4069080"/>
            <a:ext cx="4946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ще один компонент, який теж треба експлуатувати й оновлювати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66928" y="512064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86384" y="5266944"/>
            <a:ext cx="10625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Порядок правильний: спершу метрики в продукті, потім стек — коли питання вийшли за межі системи.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Наступний шар — за сигналом, а не за модою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480560"/>
                <a:gridCol w="38404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наступний шар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сигнал, що час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чого не робити раніше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Semantic cache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низький hit ratio; різні формулювання того самого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ставити «бо звучить розумно»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Circuit breaker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збої тривають хвилинами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вводити при поодиноких 5xx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LLM-as-judge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rule-based не ловить «по суті погано»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починати з judge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Класифікатор у роутері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словник маркерів розповзся по мовах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заводити на двох класах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6B4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Черга approvals у базі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6B4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не чекайте сигналу — робиться відразу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6B4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сигналом буде другий інстанс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66928" y="516636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9808" y="5376672"/>
            <a:ext cx="310896" cy="310896"/>
          </a:xfrm>
          <a:prstGeom prst="ellipse">
            <a:avLst/>
          </a:prstGeom>
          <a:solidFill>
            <a:srgbClr val="106B41"/>
          </a:solidFill>
          <a:ln/>
        </p:spPr>
      </p:sp>
      <p:sp>
        <p:nvSpPr>
          <p:cNvPr id="11" name="Text 7"/>
          <p:cNvSpPr/>
          <p:nvPr/>
        </p:nvSpPr>
        <p:spPr>
          <a:xfrm>
            <a:off x="749808" y="5376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243584" y="529437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1243584" y="5550408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Механізм додається під виміряну проблему. Не можете назвати метрику, яка мусить змінитися, — не знаєте, чого хочете.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Куди поїде система через рік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828800"/>
            <a:ext cx="3520440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9" name="Shape 6"/>
          <p:cNvSpPr/>
          <p:nvPr/>
        </p:nvSpPr>
        <p:spPr>
          <a:xfrm>
            <a:off x="768096" y="20116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80160" y="19842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Модель зміниться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68096" y="2514600"/>
            <a:ext cx="31181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снапшот запінений — зміна не приїде сама; перехід на нову — PR через eval-гейт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70248" y="1828800"/>
            <a:ext cx="3520440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4" name="Shape 11"/>
          <p:cNvSpPr/>
          <p:nvPr/>
        </p:nvSpPr>
        <p:spPr>
          <a:xfrm>
            <a:off x="4471416" y="20116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5" name="Text 12"/>
          <p:cNvSpPr/>
          <p:nvPr/>
        </p:nvSpPr>
        <p:spPr>
          <a:xfrm>
            <a:off x="4471416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83480" y="19842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Промптів стане більше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4471416" y="2514600"/>
            <a:ext cx="31181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усе, що впливає на поведінку, — у реєстрі з версіями, одним релізом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973568" y="1828800"/>
            <a:ext cx="3520440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6"/>
          <p:cNvSpPr/>
          <p:nvPr/>
        </p:nvSpPr>
        <p:spPr>
          <a:xfrm>
            <a:off x="8174736" y="20116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0" name="Text 17"/>
          <p:cNvSpPr/>
          <p:nvPr/>
        </p:nvSpPr>
        <p:spPr>
          <a:xfrm>
            <a:off x="8174736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686800" y="19842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Вартість виросте нелінійно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8174736" y="2514600"/>
            <a:ext cx="31181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контексти довшають — облік по зверненню, бюджет з алертом, кеш із метрикою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66928" y="3703320"/>
            <a:ext cx="2423160" cy="512064"/>
          </a:xfrm>
          <a:prstGeom prst="roundRect">
            <a:avLst>
              <a:gd name="adj" fmla="val 17857"/>
            </a:avLst>
          </a:prstGeom>
          <a:solidFill>
            <a:srgbClr val="000000"/>
          </a:solidFill>
          <a:ln/>
        </p:spPr>
      </p:sp>
      <p:sp>
        <p:nvSpPr>
          <p:cNvPr id="24" name="Text 21"/>
          <p:cNvSpPr/>
          <p:nvPr/>
        </p:nvSpPr>
        <p:spPr>
          <a:xfrm>
            <a:off x="621792" y="3703320"/>
            <a:ext cx="2313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провайдер оновив снапшот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081528" y="3959352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 rot="5400000">
            <a:off x="3209544" y="3890772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7" name="Shape 24"/>
          <p:cNvSpPr/>
          <p:nvPr/>
        </p:nvSpPr>
        <p:spPr>
          <a:xfrm>
            <a:off x="3447288" y="3703320"/>
            <a:ext cx="2423160" cy="512064"/>
          </a:xfrm>
          <a:prstGeom prst="roundRect">
            <a:avLst>
              <a:gd name="adj" fmla="val 17857"/>
            </a:avLst>
          </a:prstGeom>
          <a:solidFill>
            <a:srgbClr val="000000"/>
          </a:solidFill>
          <a:ln/>
        </p:spPr>
      </p:sp>
      <p:sp>
        <p:nvSpPr>
          <p:cNvPr id="28" name="Text 25"/>
          <p:cNvSpPr/>
          <p:nvPr/>
        </p:nvSpPr>
        <p:spPr>
          <a:xfrm>
            <a:off x="3502152" y="3703320"/>
            <a:ext cx="2313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PR: нова версія моделі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3447288" y="42519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зміна не приїде сама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961888" y="3959352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 rot="5400000">
            <a:off x="6089904" y="3890772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32" name="Shape 29"/>
          <p:cNvSpPr/>
          <p:nvPr/>
        </p:nvSpPr>
        <p:spPr>
          <a:xfrm>
            <a:off x="6327648" y="3703320"/>
            <a:ext cx="2423160" cy="512064"/>
          </a:xfrm>
          <a:prstGeom prst="roundRect">
            <a:avLst>
              <a:gd name="adj" fmla="val 17857"/>
            </a:avLst>
          </a:prstGeom>
          <a:solidFill>
            <a:srgbClr val="000000"/>
          </a:solidFill>
          <a:ln/>
        </p:spPr>
      </p:sp>
      <p:sp>
        <p:nvSpPr>
          <p:cNvPr id="33" name="Text 30"/>
          <p:cNvSpPr/>
          <p:nvPr/>
        </p:nvSpPr>
        <p:spPr>
          <a:xfrm>
            <a:off x="6382512" y="3703320"/>
            <a:ext cx="2313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eval-гейт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327648" y="42519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червоний → не мержиться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8842248" y="3959352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 rot="5400000">
            <a:off x="8970264" y="3890772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37" name="Shape 34"/>
          <p:cNvSpPr/>
          <p:nvPr/>
        </p:nvSpPr>
        <p:spPr>
          <a:xfrm>
            <a:off x="9208008" y="3703320"/>
            <a:ext cx="2423160" cy="512064"/>
          </a:xfrm>
          <a:prstGeom prst="roundRect">
            <a:avLst>
              <a:gd name="adj" fmla="val 17857"/>
            </a:avLst>
          </a:prstGeom>
          <a:solidFill>
            <a:srgbClr val="000000"/>
          </a:solidFill>
          <a:ln/>
        </p:spPr>
      </p:sp>
      <p:sp>
        <p:nvSpPr>
          <p:cNvPr id="38" name="Text 35"/>
          <p:cNvSpPr/>
          <p:nvPr/>
        </p:nvSpPr>
        <p:spPr>
          <a:xfrm>
            <a:off x="9262872" y="3703320"/>
            <a:ext cx="2313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деплой без сюрпризу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566928" y="475488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49808" y="5170932"/>
            <a:ext cx="310896" cy="310896"/>
          </a:xfrm>
          <a:prstGeom prst="ellipse">
            <a:avLst/>
          </a:prstGeom>
          <a:solidFill>
            <a:srgbClr val="106B41"/>
          </a:solidFill>
          <a:ln/>
        </p:spPr>
      </p:sp>
      <p:sp>
        <p:nvSpPr>
          <p:cNvPr id="41" name="Text 38"/>
          <p:cNvSpPr/>
          <p:nvPr/>
        </p:nvSpPr>
        <p:spPr>
          <a:xfrm>
            <a:off x="749808" y="51709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1243584" y="488289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 ПЕРЕДАЧІ СИСТЕМИ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1243584" y="5138928"/>
            <a:ext cx="1016812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Система, яку не можна передати іншій людині, не готова. Новий інженер за пів дня піднімає, ламає навмисно і бачить червоний гейт — контур переданий.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За межами курсу — надбудови, які не ламають контур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920240"/>
            <a:ext cx="26517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04088" y="19202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RAG і робота зі знаннями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1920240"/>
            <a:ext cx="26517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20440" y="19202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мультиагентні сценарії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99632" y="1920240"/>
            <a:ext cx="26517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36792" y="19202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донавчання під домен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9015984" y="1920240"/>
            <a:ext cx="26517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53144" y="19202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стрімінг і голос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66928" y="2834640"/>
            <a:ext cx="26517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4088" y="28346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мультимодальність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383280" y="2834640"/>
            <a:ext cx="26517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520440" y="28346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own-hosted моделі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199632" y="2834640"/>
            <a:ext cx="26517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36792" y="28346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розширений FinOps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15984" y="2834640"/>
            <a:ext cx="26517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53144" y="28346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командні платформи промптів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66928" y="402336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5A05F4"/>
          </a:solidFill>
          <a:ln/>
        </p:spPr>
      </p:sp>
      <p:sp>
        <p:nvSpPr>
          <p:cNvPr id="25" name="Text 22"/>
          <p:cNvSpPr/>
          <p:nvPr/>
        </p:nvSpPr>
        <p:spPr>
          <a:xfrm>
            <a:off x="786384" y="4169664"/>
            <a:ext cx="1062532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Жоден із цих напрямків не скасовує того, що Ви збудували: усі вони додаються поверх контуру керування — і всі потребують лога, версій, перевірок і гейта.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ПРАКТИКА</a:t>
            </a:r>
            <a:endParaRPr lang="en-US" sz="6500" dirty="0"/>
          </a:p>
        </p:txBody>
      </p:sp>
      <p:sp>
        <p:nvSpPr>
          <p:cNvPr id="4" name="Text 2"/>
          <p:cNvSpPr/>
          <p:nvPr/>
        </p:nvSpPr>
        <p:spPr>
          <a:xfrm>
            <a:off x="566928" y="402336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B3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стенд наживо — і чесна межа того, що він доводить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4773168"/>
            <a:ext cx="4134917" cy="475488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4773168"/>
            <a:ext cx="413491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Лабораторна: чотири кроки + опційний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Зараз Ви побачите — і навіщо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950976" cy="256032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024128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ПРАКТИКА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737360"/>
            <a:ext cx="553212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8" name="Shape 5"/>
          <p:cNvSpPr/>
          <p:nvPr/>
        </p:nvSpPr>
        <p:spPr>
          <a:xfrm>
            <a:off x="768096" y="192024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80160" y="1892808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чистий клон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68096" y="2423160"/>
            <a:ext cx="5129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docker compose up --build з нуля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81928" y="1737360"/>
            <a:ext cx="553212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83096" y="192024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4" name="Text 11"/>
          <p:cNvSpPr/>
          <p:nvPr/>
        </p:nvSpPr>
        <p:spPr>
          <a:xfrm>
            <a:off x="648309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995160" y="1892808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наскрізний сценарій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483096" y="2423160"/>
            <a:ext cx="5129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питання → routing → кеш → лог → консоль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66928" y="3383280"/>
            <a:ext cx="553212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18" name="Shape 15"/>
          <p:cNvSpPr/>
          <p:nvPr/>
        </p:nvSpPr>
        <p:spPr>
          <a:xfrm>
            <a:off x="768096" y="35661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9" name="Text 16"/>
          <p:cNvSpPr/>
          <p:nvPr/>
        </p:nvSpPr>
        <p:spPr>
          <a:xfrm>
            <a:off x="768096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280160" y="3538728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інцидент за рунбуком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768096" y="4069080"/>
            <a:ext cx="5129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__fail_503 → деградація → відновлення з таймлайном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81928" y="3383280"/>
            <a:ext cx="553212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23" name="Shape 20"/>
          <p:cNvSpPr/>
          <p:nvPr/>
        </p:nvSpPr>
        <p:spPr>
          <a:xfrm>
            <a:off x="6483096" y="35661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4" name="Text 21"/>
          <p:cNvSpPr/>
          <p:nvPr/>
        </p:nvSpPr>
        <p:spPr>
          <a:xfrm>
            <a:off x="6483096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995160" y="3538728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KPI-проходка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6483096" y="4069080"/>
            <a:ext cx="5129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кожна плитка — одним реченням для керівництва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66928" y="507492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5A05F4"/>
          </a:solidFill>
          <a:ln/>
        </p:spPr>
      </p:sp>
      <p:sp>
        <p:nvSpPr>
          <p:cNvPr id="28" name="Shape 25"/>
          <p:cNvSpPr/>
          <p:nvPr/>
        </p:nvSpPr>
        <p:spPr>
          <a:xfrm>
            <a:off x="749808" y="544525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6"/>
          <p:cNvSpPr/>
          <p:nvPr/>
        </p:nvSpPr>
        <p:spPr>
          <a:xfrm>
            <a:off x="749808" y="54452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0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243584" y="520293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НАВІЩО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1243584" y="5458968"/>
            <a:ext cx="101681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Переконатися, що система працює не «на моїй машині», а з чистого клону — і що Ви можете провести її через інцидент, не імпровізуючи.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Лабораторна: чотири кроки + опційний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18895"/>
            <a:ext cx="950976" cy="256032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218895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ПРАКТИКА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828800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7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88720" y="18288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Прогін із чистого клону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нова тека, docker compose up --build, наскрізний сценарій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2670048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7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88720" y="26700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Інцидент за рунбуком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__fail_503 → чотири такти → таймлайн у файл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66928" y="3511296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4" name="Text 11"/>
          <p:cNvSpPr/>
          <p:nvPr/>
        </p:nvSpPr>
        <p:spPr>
          <a:xfrm>
            <a:off x="566928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7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88720" y="35112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KPI-проходка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кожна плитка — одне речення мовою наслідків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66928" y="4352544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7" name="Text 14"/>
          <p:cNvSpPr/>
          <p:nvPr/>
        </p:nvSpPr>
        <p:spPr>
          <a:xfrm>
            <a:off x="566928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7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88720" y="435254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Свій 30-day rollout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чотири кроки з критеріями «зроблено» для своєї команди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66928" y="5193792"/>
            <a:ext cx="457200" cy="457200"/>
          </a:xfrm>
          <a:prstGeom prst="ellipse">
            <a:avLst/>
          </a:prstGeom>
          <a:solidFill>
            <a:srgbClr val="1A4FBF"/>
          </a:solidFill>
          <a:ln/>
        </p:spPr>
      </p:sp>
      <p:sp>
        <p:nvSpPr>
          <p:cNvPr id="20" name="Text 17"/>
          <p:cNvSpPr/>
          <p:nvPr/>
        </p:nvSpPr>
        <p:spPr>
          <a:xfrm>
            <a:off x="566928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88720" y="51937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/metrics · опційно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ендпоінт + зовнішній дашборд поверх advanced-профілю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РЕФЛЕКСІЯ</a:t>
            </a:r>
            <a:endParaRPr lang="en-US" sz="6500" dirty="0"/>
          </a:p>
        </p:txBody>
      </p:sp>
      <p:sp>
        <p:nvSpPr>
          <p:cNvPr id="4" name="Text 2"/>
          <p:cNvSpPr/>
          <p:nvPr/>
        </p:nvSpPr>
        <p:spPr>
          <a:xfrm>
            <a:off x="566928" y="402336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B3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що це довело · перевір себе · антипатерни фіналу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Що це довело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03784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24128"/>
            <a:ext cx="10378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РЕФЛЕКСІЯ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73736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" y="1892808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Система відтворювана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68096" y="2423160"/>
            <a:ext cx="316382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 чистого клону, без прихованих кроків і локальних змінних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15968" y="173736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4517136" y="1892808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Інцидент керований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4517136" y="2423160"/>
            <a:ext cx="316382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деградація, метрики, відновлення — за сценарієм, не імпровізацією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65008" y="173736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00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8266176" y="1892808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Робота пояснювана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8266176" y="2423160"/>
            <a:ext cx="316382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кожна плитка перекладається мовою грошей і ризику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66928" y="4114800"/>
            <a:ext cx="4892040" cy="1828800"/>
          </a:xfrm>
          <a:prstGeom prst="roundRect">
            <a:avLst>
              <a:gd name="adj" fmla="val 4000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94944" y="4233672"/>
            <a:ext cx="73152" cy="7315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8" name="Shape 15"/>
          <p:cNvSpPr/>
          <p:nvPr/>
        </p:nvSpPr>
        <p:spPr>
          <a:xfrm>
            <a:off x="841248" y="4233672"/>
            <a:ext cx="73152" cy="73152"/>
          </a:xfrm>
          <a:prstGeom prst="ellipse">
            <a:avLst/>
          </a:prstGeom>
          <a:solidFill>
            <a:srgbClr val="6BA0F8"/>
          </a:solidFill>
          <a:ln/>
        </p:spPr>
      </p:sp>
      <p:sp>
        <p:nvSpPr>
          <p:cNvPr id="19" name="Shape 16"/>
          <p:cNvSpPr/>
          <p:nvPr/>
        </p:nvSpPr>
        <p:spPr>
          <a:xfrm>
            <a:off x="987552" y="4233672"/>
            <a:ext cx="73152" cy="73152"/>
          </a:xfrm>
          <a:prstGeom prst="ellipse">
            <a:avLst/>
          </a:prstGeom>
          <a:solidFill>
            <a:srgbClr val="3FCF8E"/>
          </a:solidFill>
          <a:ln/>
        </p:spPr>
      </p:sp>
      <p:sp>
        <p:nvSpPr>
          <p:cNvPr id="20" name="Text 17"/>
          <p:cNvSpPr/>
          <p:nvPr/>
        </p:nvSpPr>
        <p:spPr>
          <a:xfrm>
            <a:off x="1170432" y="4114800"/>
            <a:ext cx="4178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точка А · Тема 1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66928" y="4425696"/>
            <a:ext cx="4892040" cy="0"/>
          </a:xfrm>
          <a:prstGeom prst="line">
            <a:avLst/>
          </a:prstGeom>
          <a:noFill/>
          <a:ln w="9525">
            <a:solidFill>
              <a:srgbClr val="2A243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76656" y="4517136"/>
            <a:ext cx="1484376" cy="621792"/>
          </a:xfrm>
          <a:prstGeom prst="roundRect">
            <a:avLst>
              <a:gd name="adj" fmla="val 7353"/>
            </a:avLst>
          </a:prstGeom>
          <a:solidFill>
            <a:srgbClr val="0A0810"/>
          </a:solidFill>
          <a:ln w="12700">
            <a:solidFill>
              <a:srgbClr val="2A243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9808" y="4553712"/>
            <a:ext cx="1338072" cy="161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requests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749808" y="4728545"/>
            <a:ext cx="1338072" cy="360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2270760" y="4517136"/>
            <a:ext cx="1484376" cy="621792"/>
          </a:xfrm>
          <a:prstGeom prst="roundRect">
            <a:avLst>
              <a:gd name="adj" fmla="val 7353"/>
            </a:avLst>
          </a:prstGeom>
          <a:solidFill>
            <a:srgbClr val="0A0810"/>
          </a:solidFill>
          <a:ln w="12700">
            <a:solidFill>
              <a:srgbClr val="2A243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343912" y="4553712"/>
            <a:ext cx="1338072" cy="161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2343912" y="4728545"/>
            <a:ext cx="1338072" cy="360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3864864" y="4517136"/>
            <a:ext cx="1484376" cy="621792"/>
          </a:xfrm>
          <a:prstGeom prst="roundRect">
            <a:avLst>
              <a:gd name="adj" fmla="val 7353"/>
            </a:avLst>
          </a:prstGeom>
          <a:solidFill>
            <a:srgbClr val="0A0810"/>
          </a:solidFill>
          <a:ln w="12700">
            <a:solidFill>
              <a:srgbClr val="2A243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938016" y="4553712"/>
            <a:ext cx="1338072" cy="161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p95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3938016" y="4728545"/>
            <a:ext cx="1338072" cy="360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676656" y="5230368"/>
            <a:ext cx="1484376" cy="621792"/>
          </a:xfrm>
          <a:prstGeom prst="roundRect">
            <a:avLst>
              <a:gd name="adj" fmla="val 7353"/>
            </a:avLst>
          </a:prstGeom>
          <a:solidFill>
            <a:srgbClr val="0A0810"/>
          </a:solidFill>
          <a:ln w="12700">
            <a:solidFill>
              <a:srgbClr val="2A243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49808" y="5266944"/>
            <a:ext cx="1338072" cy="161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749808" y="5441777"/>
            <a:ext cx="1338072" cy="360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2270760" y="5230368"/>
            <a:ext cx="1484376" cy="621792"/>
          </a:xfrm>
          <a:prstGeom prst="roundRect">
            <a:avLst>
              <a:gd name="adj" fmla="val 7353"/>
            </a:avLst>
          </a:prstGeom>
          <a:solidFill>
            <a:srgbClr val="0A0810"/>
          </a:solidFill>
          <a:ln w="12700">
            <a:solidFill>
              <a:srgbClr val="2A243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343912" y="5266944"/>
            <a:ext cx="1338072" cy="161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cache-hit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2343912" y="5441777"/>
            <a:ext cx="1338072" cy="360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3864864" y="5230368"/>
            <a:ext cx="1484376" cy="621792"/>
          </a:xfrm>
          <a:prstGeom prst="roundRect">
            <a:avLst>
              <a:gd name="adj" fmla="val 7353"/>
            </a:avLst>
          </a:prstGeom>
          <a:solidFill>
            <a:srgbClr val="0A0810"/>
          </a:solidFill>
          <a:ln w="12700">
            <a:solidFill>
              <a:srgbClr val="2A243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938016" y="5266944"/>
            <a:ext cx="1338072" cy="161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fallback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3938016" y="5441777"/>
            <a:ext cx="1338072" cy="360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5532120" y="4114800"/>
            <a:ext cx="1097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2600" dirty="0"/>
          </a:p>
        </p:txBody>
      </p:sp>
      <p:sp>
        <p:nvSpPr>
          <p:cNvPr id="41" name="Shape 38"/>
          <p:cNvSpPr/>
          <p:nvPr/>
        </p:nvSpPr>
        <p:spPr>
          <a:xfrm>
            <a:off x="6739128" y="4114800"/>
            <a:ext cx="4892040" cy="1828800"/>
          </a:xfrm>
          <a:prstGeom prst="roundRect">
            <a:avLst>
              <a:gd name="adj" fmla="val 4000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867144" y="4233672"/>
            <a:ext cx="73152" cy="7315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43" name="Shape 40"/>
          <p:cNvSpPr/>
          <p:nvPr/>
        </p:nvSpPr>
        <p:spPr>
          <a:xfrm>
            <a:off x="7013448" y="4233672"/>
            <a:ext cx="73152" cy="73152"/>
          </a:xfrm>
          <a:prstGeom prst="ellipse">
            <a:avLst/>
          </a:prstGeom>
          <a:solidFill>
            <a:srgbClr val="6BA0F8"/>
          </a:solidFill>
          <a:ln/>
        </p:spPr>
      </p:sp>
      <p:sp>
        <p:nvSpPr>
          <p:cNvPr id="44" name="Shape 41"/>
          <p:cNvSpPr/>
          <p:nvPr/>
        </p:nvSpPr>
        <p:spPr>
          <a:xfrm>
            <a:off x="7159752" y="4233672"/>
            <a:ext cx="73152" cy="73152"/>
          </a:xfrm>
          <a:prstGeom prst="ellipse">
            <a:avLst/>
          </a:prstGeom>
          <a:solidFill>
            <a:srgbClr val="3FCF8E"/>
          </a:solidFill>
          <a:ln/>
        </p:spPr>
      </p:sp>
      <p:sp>
        <p:nvSpPr>
          <p:cNvPr id="45" name="Text 42"/>
          <p:cNvSpPr/>
          <p:nvPr/>
        </p:nvSpPr>
        <p:spPr>
          <a:xfrm>
            <a:off x="7342632" y="4114800"/>
            <a:ext cx="4178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точка Б · Тема 12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6739128" y="4425696"/>
            <a:ext cx="4892040" cy="0"/>
          </a:xfrm>
          <a:prstGeom prst="line">
            <a:avLst/>
          </a:prstGeom>
          <a:noFill/>
          <a:ln w="9525">
            <a:solidFill>
              <a:srgbClr val="2A2438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848856" y="4517136"/>
            <a:ext cx="1484376" cy="621792"/>
          </a:xfrm>
          <a:prstGeom prst="roundRect">
            <a:avLst>
              <a:gd name="adj" fmla="val 7353"/>
            </a:avLst>
          </a:prstGeom>
          <a:solidFill>
            <a:srgbClr val="0A0810"/>
          </a:solidFill>
          <a:ln w="12700">
            <a:solidFill>
              <a:srgbClr val="2A2438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922008" y="4553712"/>
            <a:ext cx="1338072" cy="161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requests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6922008" y="4728545"/>
            <a:ext cx="1338072" cy="360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</a:t>
            </a:r>
            <a:endParaRPr lang="en-US" sz="1300" dirty="0"/>
          </a:p>
        </p:txBody>
      </p:sp>
      <p:sp>
        <p:nvSpPr>
          <p:cNvPr id="50" name="Shape 47"/>
          <p:cNvSpPr/>
          <p:nvPr/>
        </p:nvSpPr>
        <p:spPr>
          <a:xfrm>
            <a:off x="8442960" y="4517136"/>
            <a:ext cx="1484376" cy="621792"/>
          </a:xfrm>
          <a:prstGeom prst="roundRect">
            <a:avLst>
              <a:gd name="adj" fmla="val 7353"/>
            </a:avLst>
          </a:prstGeom>
          <a:solidFill>
            <a:srgbClr val="0A0810"/>
          </a:solidFill>
          <a:ln w="12700">
            <a:solidFill>
              <a:srgbClr val="2A2438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516112" y="4553712"/>
            <a:ext cx="1338072" cy="161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</a:t>
            </a:r>
            <a:endParaRPr lang="en-US" sz="750" dirty="0"/>
          </a:p>
        </p:txBody>
      </p:sp>
      <p:sp>
        <p:nvSpPr>
          <p:cNvPr id="52" name="Text 49"/>
          <p:cNvSpPr/>
          <p:nvPr/>
        </p:nvSpPr>
        <p:spPr>
          <a:xfrm>
            <a:off x="8516112" y="4728545"/>
            <a:ext cx="1338072" cy="360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$0.42</a:t>
            </a:r>
            <a:endParaRPr lang="en-US" sz="1300" dirty="0"/>
          </a:p>
        </p:txBody>
      </p:sp>
      <p:sp>
        <p:nvSpPr>
          <p:cNvPr id="53" name="Shape 50"/>
          <p:cNvSpPr/>
          <p:nvPr/>
        </p:nvSpPr>
        <p:spPr>
          <a:xfrm>
            <a:off x="10037064" y="4517136"/>
            <a:ext cx="1484376" cy="621792"/>
          </a:xfrm>
          <a:prstGeom prst="roundRect">
            <a:avLst>
              <a:gd name="adj" fmla="val 7353"/>
            </a:avLst>
          </a:prstGeom>
          <a:solidFill>
            <a:srgbClr val="0A0810"/>
          </a:solidFill>
          <a:ln w="12700">
            <a:solidFill>
              <a:srgbClr val="2A2438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10110216" y="4553712"/>
            <a:ext cx="1338072" cy="161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p95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10110216" y="4728545"/>
            <a:ext cx="1338072" cy="360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1.8 s</a:t>
            </a:r>
            <a:endParaRPr lang="en-US" sz="1300" dirty="0"/>
          </a:p>
        </p:txBody>
      </p:sp>
      <p:sp>
        <p:nvSpPr>
          <p:cNvPr id="56" name="Shape 53"/>
          <p:cNvSpPr/>
          <p:nvPr/>
        </p:nvSpPr>
        <p:spPr>
          <a:xfrm>
            <a:off x="6848856" y="5230368"/>
            <a:ext cx="1484376" cy="621792"/>
          </a:xfrm>
          <a:prstGeom prst="roundRect">
            <a:avLst>
              <a:gd name="adj" fmla="val 7353"/>
            </a:avLst>
          </a:prstGeom>
          <a:solidFill>
            <a:srgbClr val="0A0810"/>
          </a:solidFill>
          <a:ln w="12700">
            <a:solidFill>
              <a:srgbClr val="2A2438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922008" y="5266944"/>
            <a:ext cx="1338072" cy="161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endParaRPr lang="en-US" sz="750" dirty="0"/>
          </a:p>
        </p:txBody>
      </p:sp>
      <p:sp>
        <p:nvSpPr>
          <p:cNvPr id="58" name="Text 55"/>
          <p:cNvSpPr/>
          <p:nvPr/>
        </p:nvSpPr>
        <p:spPr>
          <a:xfrm>
            <a:off x="6922008" y="5441777"/>
            <a:ext cx="1338072" cy="360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1.4%</a:t>
            </a:r>
            <a:endParaRPr lang="en-US" sz="1300" dirty="0"/>
          </a:p>
        </p:txBody>
      </p:sp>
      <p:sp>
        <p:nvSpPr>
          <p:cNvPr id="59" name="Shape 56"/>
          <p:cNvSpPr/>
          <p:nvPr/>
        </p:nvSpPr>
        <p:spPr>
          <a:xfrm>
            <a:off x="8442960" y="5230368"/>
            <a:ext cx="1484376" cy="621792"/>
          </a:xfrm>
          <a:prstGeom prst="roundRect">
            <a:avLst>
              <a:gd name="adj" fmla="val 7353"/>
            </a:avLst>
          </a:prstGeom>
          <a:solidFill>
            <a:srgbClr val="0A0810"/>
          </a:solidFill>
          <a:ln w="12700">
            <a:solidFill>
              <a:srgbClr val="2A2438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516112" y="5266944"/>
            <a:ext cx="1338072" cy="161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cache-hit</a:t>
            </a:r>
            <a:endParaRPr lang="en-US" sz="750" dirty="0"/>
          </a:p>
        </p:txBody>
      </p:sp>
      <p:sp>
        <p:nvSpPr>
          <p:cNvPr id="61" name="Text 58"/>
          <p:cNvSpPr/>
          <p:nvPr/>
        </p:nvSpPr>
        <p:spPr>
          <a:xfrm>
            <a:off x="8516112" y="5441777"/>
            <a:ext cx="1338072" cy="360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31%</a:t>
            </a:r>
            <a:endParaRPr lang="en-US" sz="1300" dirty="0"/>
          </a:p>
        </p:txBody>
      </p:sp>
      <p:sp>
        <p:nvSpPr>
          <p:cNvPr id="62" name="Shape 59"/>
          <p:cNvSpPr/>
          <p:nvPr/>
        </p:nvSpPr>
        <p:spPr>
          <a:xfrm>
            <a:off x="10037064" y="5230368"/>
            <a:ext cx="1484376" cy="621792"/>
          </a:xfrm>
          <a:prstGeom prst="roundRect">
            <a:avLst>
              <a:gd name="adj" fmla="val 7353"/>
            </a:avLst>
          </a:prstGeom>
          <a:solidFill>
            <a:srgbClr val="0A0810"/>
          </a:solidFill>
          <a:ln w="12700">
            <a:solidFill>
              <a:srgbClr val="2A2438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10110216" y="5266944"/>
            <a:ext cx="1338072" cy="161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fallback</a:t>
            </a:r>
            <a:endParaRPr lang="en-US" sz="750" dirty="0"/>
          </a:p>
        </p:txBody>
      </p:sp>
      <p:sp>
        <p:nvSpPr>
          <p:cNvPr id="64" name="Text 61"/>
          <p:cNvSpPr/>
          <p:nvPr/>
        </p:nvSpPr>
        <p:spPr>
          <a:xfrm>
            <a:off x="10110216" y="5441777"/>
            <a:ext cx="1338072" cy="360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65" name="Text 62"/>
          <p:cNvSpPr/>
          <p:nvPr/>
        </p:nvSpPr>
        <p:spPr>
          <a:xfrm>
            <a:off x="566928" y="60167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 сама консоль, ті самі плитки — і жодного «—». Це і є різниця, яку Ви зробили за шість тижнів.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Перевір себе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03784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24128"/>
            <a:ext cx="10378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РЕФЛЕКСІЯ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783080"/>
            <a:ext cx="1106424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78408" y="270662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2700000">
            <a:off x="1041227" y="284607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0" name="Shape 7"/>
          <p:cNvSpPr/>
          <p:nvPr/>
        </p:nvSpPr>
        <p:spPr>
          <a:xfrm rot="-3000000">
            <a:off x="1069025" y="282001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1" name="Text 8"/>
          <p:cNvSpPr/>
          <p:nvPr/>
        </p:nvSpPr>
        <p:spPr>
          <a:xfrm>
            <a:off x="1362456" y="250545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система піднімається з чистого клону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78408" y="416966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2700000">
            <a:off x="1041227" y="430911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4" name="Shape 11"/>
          <p:cNvSpPr/>
          <p:nvPr/>
        </p:nvSpPr>
        <p:spPr>
          <a:xfrm rot="-3000000">
            <a:off x="1069025" y="428305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5" name="Text 12"/>
          <p:cNvSpPr/>
          <p:nvPr/>
        </p:nvSpPr>
        <p:spPr>
          <a:xfrm>
            <a:off x="1362456" y="396849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проведу інцидент за рунбуком без імпровізації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144768" y="270662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2700000">
            <a:off x="6207587" y="284607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8" name="Shape 15"/>
          <p:cNvSpPr/>
          <p:nvPr/>
        </p:nvSpPr>
        <p:spPr>
          <a:xfrm rot="-3000000">
            <a:off x="6235385" y="282001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9" name="Text 16"/>
          <p:cNvSpPr/>
          <p:nvPr/>
        </p:nvSpPr>
        <p:spPr>
          <a:xfrm>
            <a:off x="6528816" y="250545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поясню кожну плитку мовою наслідків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144768" y="416966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rot="2700000">
            <a:off x="6207587" y="430911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22" name="Shape 19"/>
          <p:cNvSpPr/>
          <p:nvPr/>
        </p:nvSpPr>
        <p:spPr>
          <a:xfrm rot="-3000000">
            <a:off x="6235385" y="428305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23" name="Text 20"/>
          <p:cNvSpPr/>
          <p:nvPr/>
        </p:nvSpPr>
        <p:spPr>
          <a:xfrm>
            <a:off x="6528816" y="396849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мій 30-day план записаний із критеріями «зроблено»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66928" y="5669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 завагалися — туди і повертайтеся. Питання — у канал потоку або на Q&amp;A.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Антипатерни фіналу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03784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24128"/>
            <a:ext cx="10378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РЕФЛЕКСІЯ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8288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8096" y="2020824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2700000">
            <a:off x="871789" y="2197102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0" name="Shape 7"/>
          <p:cNvSpPr/>
          <p:nvPr/>
        </p:nvSpPr>
        <p:spPr>
          <a:xfrm rot="-2700000">
            <a:off x="871789" y="2197102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1" name="Text 8"/>
          <p:cNvSpPr/>
          <p:nvPr/>
        </p:nvSpPr>
        <p:spPr>
          <a:xfrm>
            <a:off x="1298448" y="182880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«Працює на моїй машині» 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система, яку не підняти з чистого клону, не передається нікому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27432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68096" y="2935224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rot="2700000">
            <a:off x="871789" y="3111502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5" name="Shape 12"/>
          <p:cNvSpPr/>
          <p:nvPr/>
        </p:nvSpPr>
        <p:spPr>
          <a:xfrm rot="-2700000">
            <a:off x="871789" y="3111502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6" name="Text 13"/>
          <p:cNvSpPr/>
          <p:nvPr/>
        </p:nvSpPr>
        <p:spPr>
          <a:xfrm>
            <a:off x="1298448" y="274320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Постмортем із винними 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механізми лагодять інциденти; прізвища — ні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66928" y="36576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68096" y="3849624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rot="2700000">
            <a:off x="871789" y="4025902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0" name="Shape 17"/>
          <p:cNvSpPr/>
          <p:nvPr/>
        </p:nvSpPr>
        <p:spPr>
          <a:xfrm rot="-2700000">
            <a:off x="871789" y="4025902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1" name="Text 18"/>
          <p:cNvSpPr/>
          <p:nvPr/>
        </p:nvSpPr>
        <p:spPr>
          <a:xfrm>
            <a:off x="1298448" y="365760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Демо без артефактів 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твердження без скріншота плитки чи рядка лога — просто слова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66928" y="45720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68096" y="4764024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rot="2700000">
            <a:off x="871789" y="4940302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5" name="Shape 22"/>
          <p:cNvSpPr/>
          <p:nvPr/>
        </p:nvSpPr>
        <p:spPr>
          <a:xfrm rot="-2700000">
            <a:off x="871789" y="4940302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6" name="Text 23"/>
          <p:cNvSpPr/>
          <p:nvPr/>
        </p:nvSpPr>
        <p:spPr>
          <a:xfrm>
            <a:off x="1298448" y="457200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Наступний шар «бо модно» 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механізм без виміряної проблеми стає тягарем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Домашнє завдання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950976" cy="256032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024128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ПРАКТИКА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691640"/>
            <a:ext cx="11064240" cy="269748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9050">
            <a:solidFill>
              <a:srgbClr val="5A05F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" y="1874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A05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ДЗ тижня 6: CI-гейт + інцидент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41248" y="2286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Останнє ДЗ, і воно ж Ваш зібраний капстоун.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41248" y="274320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КРИТЕРІЇ ПРИЙМАННЯ КОРОТКО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41248" y="30632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CI-гейт увімкнений; в історії Actions — червоний прогін (регресія) і зелений (фікс)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41248" y="337413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інцидент-демо з командами відтворення — в INCIDENT_RUNBOOK.md, з посиланням із README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41248" y="368503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README-розділ «30-day rollout» — чотири конкретні кроки перенесення практик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41248" y="39959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система збирається docker compose up --build з чистого клону, всі плитки консолі живі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66928" y="461772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/>
          <p:nvPr/>
        </p:nvSpPr>
        <p:spPr>
          <a:xfrm>
            <a:off x="768096" y="4773168"/>
            <a:ext cx="10661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Опційно (не оцінюється)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768096" y="5303520"/>
            <a:ext cx="10661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canary-план: розподіл 90/10 між версіями промпта і метрики для promote/rollback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/metrics + зовнішній дашборд поверх advanced-профілю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ПІДСУМОК ТЕМИ 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" y="13716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шість тижнів тому були три рядки коду і чотири питання без відповідей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121408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20299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тепер — контур керування: гроші, надійність, якість і видимість під контролем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779776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" y="268833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runbook перетворює інцидент на процедуру з чотирьох тактів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3438144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334670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кожен інженерний факт перекладається мовою грошей, користувачів і ризику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" y="4096512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" y="400507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наступний шар додається під виміряний сигнал, а не під моду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4983480"/>
            <a:ext cx="11064240" cy="1234440"/>
          </a:xfrm>
          <a:prstGeom prst="roundRect">
            <a:avLst>
              <a:gd name="adj" fmla="val 10370"/>
            </a:avLst>
          </a:prstGeom>
          <a:solidFill>
            <a:srgbClr val="000000"/>
          </a:solidFill>
          <a:ln w="12700">
            <a:solidFill>
              <a:srgbClr val="5E4F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1846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Наступний крок → Ваша система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55504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Здайте ДЗ тижня 6 — Ваш зібраний капстоун. Далі: додавайте реальний ключ, підключайте справжніх провайдерів, тягніть практики в робочі проєкти — по шару на тиждень, як у rollout-плані. Контур, який Ви збудували, — не навчальний макет, а зменшена копія того, як LLM-системи експлуатують у проді; різниця тільки в масштабі.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83464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ДЯКУЮ</a:t>
            </a:r>
            <a:endParaRPr lang="en-US" sz="7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Урок 12 · Фінал: LLMOps operating model</dc:title>
  <dc:subject>PptxGenJS Presentation</dc:subject>
  <dc:creator>LLMOps Bootcamp</dc:creator>
  <cp:lastModifiedBy>LLMOps Bootcamp</cp:lastModifiedBy>
  <cp:revision>1</cp:revision>
  <dcterms:created xsi:type="dcterms:W3CDTF">2026-09-08T09:13:59Z</dcterms:created>
  <dcterms:modified xsi:type="dcterms:W3CDTF">2026-09-08T09:13:59Z</dcterms:modified>
</cp:coreProperties>
</file>