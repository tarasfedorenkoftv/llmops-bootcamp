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12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Фінал: LLMOps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operating model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зібрана. Останній крок — переконатися, що ви нею володієте: наскрізний прогін із чистого клону, інцидент за рунбуком і вміння говорити про це мовою, за яку дають бюджет.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систему наскрізь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«тут ще одна змінна»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Відпрацювати інцидент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рунбуком, із таймлайном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постмортем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механізмами, а не прізвищами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Перекласти плитки KPI-мовою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гроші, користувачі, ризик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Скласти 30-day rollout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→ реєстр → evals → гейт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трьох рядків до контуру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Б: сценарій наскрізь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як сценарій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наживо: таймлайн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KPI-мова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rollout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— за сигналом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поїде через рік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межами курсу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фіналу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зібраної системи — до впевненого володіння нею.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model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систему експлуатують: хто, що, коли і за яким сценарієм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runbook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 → підтвердити → дія → переконатися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постмортем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розбір після інциденту: механізми, не прізвища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KPI-мова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переклад у гроші, користувачів і ризик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rollout-план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перенесення практик у свою команду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dry-run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повний цикл, але замість дій — звіт «що я б зробила»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Останній глосарій курсу — далі тільки практика.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трьох рядків до контуру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коду + чотири питання без відповідей: гроші, надійність, якість, видимість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· cost · кеш · tools + HITL · fallback · guardrail · метрики · eval-гейт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28016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упевнено, відтворювано, з чистого клону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27024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19" name="Shape 16"/>
          <p:cNvSpPr/>
          <p:nvPr/>
        </p:nvSpPr>
        <p:spPr>
          <a:xfrm>
            <a:off x="447141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447141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98348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Пережити інцидент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447141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виявити → деградувати → відновити → зафіксувати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97356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24" name="Shape 21"/>
          <p:cNvSpPr/>
          <p:nvPr/>
        </p:nvSpPr>
        <p:spPr>
          <a:xfrm>
            <a:off x="817473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817473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68680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817473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наслідки, а не через список технологій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вміння, які відрізняють «зробив курсовий» від «володію системою».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Б: один сценарій наскрізь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в чат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121408" y="21717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249424" y="21031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48716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EFEAFE"/>
          </a:solidFill>
          <a:ln/>
        </p:spPr>
      </p:sp>
      <p:sp>
        <p:nvSpPr>
          <p:cNvPr id="12" name="Text 9"/>
          <p:cNvSpPr/>
          <p:nvPr/>
        </p:nvSpPr>
        <p:spPr>
          <a:xfrm>
            <a:off x="254203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→ модель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041648" y="21717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169664" y="21031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440740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46227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кеш?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961888" y="21717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6089904" y="21031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632764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8251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+ версія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882128" y="21717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8010144" y="21031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824788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30275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9802368" y="21717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9930384" y="21031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7" name="Shape 24"/>
          <p:cNvSpPr/>
          <p:nvPr/>
        </p:nvSpPr>
        <p:spPr>
          <a:xfrm>
            <a:off x="101681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28" name="Text 25"/>
          <p:cNvSpPr/>
          <p:nvPr/>
        </p:nvSpPr>
        <p:spPr>
          <a:xfrm>
            <a:off x="102229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6692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2179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«поверніть гроші»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4041648" y="30403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rot="5400000">
            <a:off x="4169664" y="29718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3" name="Shape 30"/>
          <p:cNvSpPr/>
          <p:nvPr/>
        </p:nvSpPr>
        <p:spPr>
          <a:xfrm>
            <a:off x="440740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8F0E2"/>
          </a:solidFill>
          <a:ln/>
        </p:spPr>
      </p:sp>
      <p:sp>
        <p:nvSpPr>
          <p:cNvPr id="34" name="Text 31"/>
          <p:cNvSpPr/>
          <p:nvPr/>
        </p:nvSpPr>
        <p:spPr>
          <a:xfrm>
            <a:off x="446227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882128" y="30403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8010144" y="29718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7" name="Shape 34"/>
          <p:cNvSpPr/>
          <p:nvPr/>
        </p:nvSpPr>
        <p:spPr>
          <a:xfrm>
            <a:off x="824788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38" name="Text 35"/>
          <p:cNvSpPr/>
          <p:nvPr/>
        </p:nvSpPr>
        <p:spPr>
          <a:xfrm>
            <a:off x="830275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 → тікет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6692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BE9E9"/>
          </a:solidFill>
          <a:ln/>
        </p:spPr>
      </p:sp>
      <p:sp>
        <p:nvSpPr>
          <p:cNvPr id="40" name="Text 37"/>
          <p:cNvSpPr/>
          <p:nvPr/>
        </p:nvSpPr>
        <p:spPr>
          <a:xfrm>
            <a:off x="62179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4041648" y="39090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rot="5400000">
            <a:off x="4169664" y="38404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43" name="Shape 40"/>
          <p:cNvSpPr/>
          <p:nvPr/>
        </p:nvSpPr>
        <p:spPr>
          <a:xfrm>
            <a:off x="440740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8F0E2"/>
          </a:solidFill>
          <a:ln/>
        </p:spPr>
      </p:sp>
      <p:sp>
        <p:nvSpPr>
          <p:cNvPr id="44" name="Text 41"/>
          <p:cNvSpPr/>
          <p:nvPr/>
        </p:nvSpPr>
        <p:spPr>
          <a:xfrm>
            <a:off x="446227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→ заглушка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7882128" y="39090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rot="5400000">
            <a:off x="8010144" y="38404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47" name="Shape 44"/>
          <p:cNvSpPr/>
          <p:nvPr/>
        </p:nvSpPr>
        <p:spPr>
          <a:xfrm>
            <a:off x="824788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48" name="Text 45"/>
          <p:cNvSpPr/>
          <p:nvPr/>
        </p:nvSpPr>
        <p:spPr>
          <a:xfrm>
            <a:off x="830275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відновлення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56692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50" name="Text 47"/>
          <p:cNvSpPr/>
          <p:nvPr/>
        </p:nvSpPr>
        <p:spPr>
          <a:xfrm>
            <a:off x="56692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У2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171907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52" name="Text 49"/>
          <p:cNvSpPr/>
          <p:nvPr/>
        </p:nvSpPr>
        <p:spPr>
          <a:xfrm>
            <a:off x="171907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У3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287121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54" name="Text 51"/>
          <p:cNvSpPr/>
          <p:nvPr/>
        </p:nvSpPr>
        <p:spPr>
          <a:xfrm>
            <a:off x="287121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У4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402336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56" name="Text 53"/>
          <p:cNvSpPr/>
          <p:nvPr/>
        </p:nvSpPr>
        <p:spPr>
          <a:xfrm>
            <a:off x="402336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У5</a:t>
            </a:r>
            <a:endParaRPr lang="en-US" sz="850" dirty="0"/>
          </a:p>
        </p:txBody>
      </p:sp>
      <p:sp>
        <p:nvSpPr>
          <p:cNvPr id="57" name="Shape 54"/>
          <p:cNvSpPr/>
          <p:nvPr/>
        </p:nvSpPr>
        <p:spPr>
          <a:xfrm>
            <a:off x="5175504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58" name="Text 55"/>
          <p:cNvSpPr/>
          <p:nvPr/>
        </p:nvSpPr>
        <p:spPr>
          <a:xfrm>
            <a:off x="5175504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У6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632764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60" name="Text 57"/>
          <p:cNvSpPr/>
          <p:nvPr/>
        </p:nvSpPr>
        <p:spPr>
          <a:xfrm>
            <a:off x="632764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У7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747979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62" name="Text 59"/>
          <p:cNvSpPr/>
          <p:nvPr/>
        </p:nvSpPr>
        <p:spPr>
          <a:xfrm>
            <a:off x="747979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У8</a:t>
            </a:r>
            <a:endParaRPr lang="en-US" sz="850" dirty="0"/>
          </a:p>
        </p:txBody>
      </p:sp>
      <p:sp>
        <p:nvSpPr>
          <p:cNvPr id="63" name="Shape 60"/>
          <p:cNvSpPr/>
          <p:nvPr/>
        </p:nvSpPr>
        <p:spPr>
          <a:xfrm>
            <a:off x="863193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64" name="Text 61"/>
          <p:cNvSpPr/>
          <p:nvPr/>
        </p:nvSpPr>
        <p:spPr>
          <a:xfrm>
            <a:off x="863193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метрики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У9</a:t>
            </a:r>
            <a:endParaRPr lang="en-US" sz="850" dirty="0"/>
          </a:p>
        </p:txBody>
      </p:sp>
      <p:sp>
        <p:nvSpPr>
          <p:cNvPr id="65" name="Shape 62"/>
          <p:cNvSpPr/>
          <p:nvPr/>
        </p:nvSpPr>
        <p:spPr>
          <a:xfrm>
            <a:off x="978408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66" name="Text 63"/>
          <p:cNvSpPr/>
          <p:nvPr/>
        </p:nvSpPr>
        <p:spPr>
          <a:xfrm>
            <a:off x="978408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У11</a:t>
            </a:r>
            <a:endParaRPr lang="en-US" sz="850" dirty="0"/>
          </a:p>
        </p:txBody>
      </p:sp>
      <p:sp>
        <p:nvSpPr>
          <p:cNvPr id="67" name="Shape 64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ланка — конкретний урок: де спіткнулися, туди й повертаєтесь.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— сценарій, а не есе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57607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такт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 нашому інциденті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Симптом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видно?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скарги «бот вибачається», error rate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Підтвердити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плитка / який лог?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fallback_events росте; статуси 503 у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робити?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 руками: fallback і деградація вже працюють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Переконатися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зрозуміти, що відпустило?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нове питання (не з кешу) відповідає; fallback не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4348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5811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Найчастіша «дія» у добре збудованій системі — не робити нічого руками.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66928" y="54864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8F0E2"/>
          </a:solidFill>
          <a:ln/>
        </p:spPr>
      </p:sp>
      <p:sp>
        <p:nvSpPr>
          <p:cNvPr id="11" name="Text 7"/>
          <p:cNvSpPr/>
          <p:nvPr/>
        </p:nvSpPr>
        <p:spPr>
          <a:xfrm>
            <a:off x="786384" y="563270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Такт «Переконатися» перевіряють новим питанням: старе вже в кеші.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наживо: таймлайн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481328" y="2651760"/>
            <a:ext cx="9235440" cy="0"/>
          </a:xfrm>
          <a:prstGeom prst="line">
            <a:avLst/>
          </a:prstGeom>
          <a:noFill/>
          <a:ln w="25400">
            <a:solidFill>
              <a:srgbClr val="C9B8F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99032" y="2569464"/>
            <a:ext cx="164592" cy="164592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6"/>
          <p:cNvSpPr/>
          <p:nvPr/>
        </p:nvSpPr>
        <p:spPr>
          <a:xfrm>
            <a:off x="79552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1264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норма: питання → відповідь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477512" y="2569464"/>
            <a:ext cx="164592" cy="164592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2" name="Text 9"/>
          <p:cNvSpPr/>
          <p:nvPr/>
        </p:nvSpPr>
        <p:spPr>
          <a:xfrm>
            <a:off x="387400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10:03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369112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__fail_503: спроби падають, користувач бачить заглушку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555992" y="2569464"/>
            <a:ext cx="164592" cy="164592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5" name="Text 12"/>
          <p:cNvSpPr/>
          <p:nvPr/>
        </p:nvSpPr>
        <p:spPr>
          <a:xfrm>
            <a:off x="695248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10:05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76960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метрики: fallback↑, error rate↑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0634472" y="2569464"/>
            <a:ext cx="164592" cy="164592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1003096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10:09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984808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нове питання відповідає — відновлення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43434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BE9E9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4714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72744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Постмортем, який шукає винного. Питання постмортема два: що спрацювало як задумано — і який механізм додати, щоб наступного разу було ще спокійніше.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778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72414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Гігієна після: прогін evals лишає pending-заявку — чистий стан перед наступним демо.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KPI-мова: за що дають бюджет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інженерне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KPI-мовою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 + degradation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падіння провайдера користувач не помічає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30%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третина запитів — безкоштовні й миттєві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routing mini/strong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дорога модель — тільки складним; вартість запиту керована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eval-гейт у CI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регресія якості фізично не потрапляє в прод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HITL-черга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жодна незворотна дія не виконується без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на консолі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витрати видно сьогодні, а не в рахунку через місяць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25780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8F0E2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64184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твердження підкріплюйте артефактом: скріншотом плитки, рядком лога або посиланням на прогін.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rollout для своєї команди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1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logging + вартість · зроблено = питання про гроші закривається SQL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478024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478024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2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478024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промпти з коду в реєстр · зроблено = відкат за секунди зі слідом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172968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172968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3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172968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на критичні сценарії · зроблено = регресія ловиться командою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867912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867912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4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3867912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 · зроблено = червоний прогін блокує merge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EFEAFE"/>
          </a:solidFill>
          <a:ln/>
        </p:spPr>
      </p:sp>
      <p:sp>
        <p:nvSpPr>
          <p:cNvPr id="20" name="Text 17"/>
          <p:cNvSpPr/>
          <p:nvPr/>
        </p:nvSpPr>
        <p:spPr>
          <a:xfrm>
            <a:off x="62179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Т1 · лог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081528" y="4818888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3209544" y="4750308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344728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50215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Т2 · реєстр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961888" y="4818888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6089904" y="4750308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7" name="Shape 24"/>
          <p:cNvSpPr/>
          <p:nvPr/>
        </p:nvSpPr>
        <p:spPr>
          <a:xfrm>
            <a:off x="632764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EFEAFE"/>
          </a:solidFill>
          <a:ln/>
        </p:spPr>
      </p:sp>
      <p:sp>
        <p:nvSpPr>
          <p:cNvPr id="28" name="Text 25"/>
          <p:cNvSpPr/>
          <p:nvPr/>
        </p:nvSpPr>
        <p:spPr>
          <a:xfrm>
            <a:off x="638251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Т3 · evals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8842248" y="4818888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970264" y="4750308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1" name="Shape 28"/>
          <p:cNvSpPr/>
          <p:nvPr/>
        </p:nvSpPr>
        <p:spPr>
          <a:xfrm>
            <a:off x="920800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E9F4EF"/>
          </a:solidFill>
          <a:ln/>
        </p:spPr>
      </p:sp>
      <p:sp>
        <p:nvSpPr>
          <p:cNvPr id="32" name="Text 29"/>
          <p:cNvSpPr/>
          <p:nvPr/>
        </p:nvSpPr>
        <p:spPr>
          <a:xfrm>
            <a:off x="926287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Т4 · гейт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66928" y="537667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E9F4EF"/>
          </a:solidFill>
          <a:ln/>
        </p:spPr>
      </p:sp>
      <p:sp>
        <p:nvSpPr>
          <p:cNvPr id="34" name="Text 31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САМЕ ЦЕЙ ПОРЯДОК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576072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шар спирається на попередній: без лога нема вартості, без реєстру нема чистого відкату, без evals нема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66420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171907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лог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407408" y="25831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35424" y="25146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77316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2803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516368" y="25831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7644384" y="25146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788212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8" name="Text 15"/>
          <p:cNvSpPr/>
          <p:nvPr/>
        </p:nvSpPr>
        <p:spPr>
          <a:xfrm>
            <a:off x="793699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зовнішній дашборд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дає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за місяці, кореляція з інфраструктурою, алерти зі спільним каналом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коштує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6483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один компонент, який теж треба експлуатувати й оновлювати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метрики в продукті, потім стек — коли питання вийшли за межі системи.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— за сигналом, а не за модою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480560"/>
                <a:gridCol w="38404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наступний шар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сигнал, що час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чого не робити раніше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Semantic cache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низький hit ratio; різні формулювання того самого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ставити «бо звучить розумно»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Circuit breaker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збої тривають хвилинами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вводити при поодиноких 5xx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LLM-as-judge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rule-based не ловить «по суті погано»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починати з 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Класифікатор у роутері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 маркерів розповзся по мовах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заводити на двох класах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Черга approvals у базі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 чекайте сигналу — робиться відразу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сигналом буде другий інстанс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5504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додається під виміряну проблему. Не можете назвати метрику, яка мусить змінитися, — не знаєте, чого хочете.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поїде система через рік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автономності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агентні сценарії — і та сама межа: незворотне через людину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провайдерів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контур; змінюється лише список імен у конфізі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вимог ззовні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аудит, регуляції — і ваш лог уже містить те, що спитають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ПЕРЕДАЧІ СИСТЕМИ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616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можна передати іншій людині, не готова. Новий інженер за пів дня піднімає, ламає навмисно і бачить червоний гейт — контур переданий.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межами курсу — надбудови, які не ламають контур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04088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RAG і робота зі знаннями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83280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52044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мультиагентні сценарії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199632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36792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донавчання під домен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9015984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53144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і голос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4088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мультимодальність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383280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52044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own-hosted моделі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199632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36792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FinOps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9015984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53144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командні платформи промптів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69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цих напрямків не скасовує того, що ви збудували: усі вони додаються поверх контуру керування — і всі потребують лога, версій, перевірок і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чистий клон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з нуля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наскрізний сценарій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→ routing → кеш → лог → консоль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деградація → відновлення з таймлайном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одним реченням для керівництва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Переконатися, що система працює не «на моїй машині», а з чистого клону — і що ви можете провести її через інцидент, не імпровізуючи.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чистого клону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нова тека, docker compose up --build, наскрізний сценарій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чотири такти → таймлайн у файл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одне речення мовою наслідків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Свій 30-day rollout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кроки з критеріями «зроблено» для своєї команди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ендпоінт + зовнішній дашборд поверх advanced-профілю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відтворювана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прихованих кроків і локальних змінних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керований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деградація, метрики, відновлення — за сценарієм, не імпровізацією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Робота пояснювана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перекладається мовою грошей і ризику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Порівняйте з точкою А з уроку 1: та сама консоль, ті самі плитки — і жодного «—». Це і є різниця, яку ви зробили за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піднімається з чистого клону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проведу інцидент за рунбуком без імпровізації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кожну плитку мовою наслідків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30-day план записаний із критеріями «зроблено»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фіналу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«Працює на моїй машині»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підняти з чистого клону, не передається нікому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 із винними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лагодять інциденти; прізвища — ні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без артефактів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твердження без скріншота плитки чи рядка лога — просто слова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«бо модно»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без виміряної проблеми стає тягарем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6: CI-гейт + інцидент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Останнє ДЗ, і воно ж ваш зібраний капстоун.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CI-гейт увімкнений; в історії Actions — червоний прогін (регресія) і зелений (фікс)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7413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інцидент-демо з командами відтворення — в INCIDENT_RUNBOOK.md, з посиланням із README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850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README-розділ «30-day rollout» — чотири конкретні кроки перенесення практик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995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збирається docker compose up --build з чистого клону, всі плитки консолі живі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між версіями промпта і метрики для promote/rollback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/metrics + зовнішній дашборд поверх advanced-профілю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тижнів тому були три рядки коду і чотири питання без відповідей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 — контур керування: гроші, надійність, якість і видимість під контролем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перетворює інцидент на процедуру з чотирьох тактів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інженерний факт перекладається мовою грошей, користувачів і ризику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додається під виміряний сигнал, а не під моду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ваша система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Здайте ДЗ тижня 6 — ваш зібраний капстоун. Далі: додавайте реальний ключ, підключайте справжніх провайдерів, тягніть практики в робочі проєкти — по шару на тиждень, як у rollout-плані. Контур, який ви збудували, — не навчальний макет, а зменшена копія того, як LLM-системи експлуатують у проді; різниця тільки в масштабі.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12 · Фінал: LLMOps operating model</dc:title>
  <dc:subject>PptxGenJS Presentation</dc:subject>
  <dc:creator>LLMOps Bootcamp</dc:creator>
  <cp:lastModifiedBy>LLMOps Bootcamp</cp:lastModifiedBy>
  <cp:revision>1</cp:revision>
  <dcterms:created xsi:type="dcterms:W3CDTF">2026-08-16T12:13:47Z</dcterms:created>
  <dcterms:modified xsi:type="dcterms:W3CDTF">2026-08-16T12:13:47Z</dcterms:modified>
</cp:coreProperties>
</file>