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098280" y="1234440"/>
            <a:ext cx="2743200" cy="2743200"/>
          </a:xfrm>
          <a:prstGeom prst="roundRect">
            <a:avLst>
              <a:gd name="adj" fmla="val 5333"/>
            </a:avLst>
          </a:prstGeom>
          <a:ln w="12700">
            <a:solidFill>
              <a:srgbClr val="9B7BE8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82328" y="1618488"/>
            <a:ext cx="1975104" cy="1975104"/>
          </a:xfrm>
          <a:prstGeom prst="roundRect">
            <a:avLst>
              <a:gd name="adj" fmla="val 7407"/>
            </a:avLst>
          </a:prstGeom>
          <a:ln w="12700">
            <a:solidFill>
              <a:srgbClr val="9B7BE8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66376" y="2002536"/>
            <a:ext cx="1207008" cy="1207008"/>
          </a:xfrm>
          <a:prstGeom prst="roundRect">
            <a:avLst>
              <a:gd name="adj" fmla="val 12121"/>
            </a:avLst>
          </a:prstGeom>
          <a:ln w="12700">
            <a:solidFill>
              <a:srgbClr val="9B7BE8">
                <a:alpha val="6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3 · УРОК 6 З 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 calls: коли модель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починає діяти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9B8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Слово можна перечитати. Дію — не завжди можна відкотити. Сьогодні бот уперше щось робить: анатомія tool-виклику, таймаут, ідемпотентність — і чесна «дірка», яку закриємо на тижні безпеки.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4" name="Text 12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tool_calls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пояснити, чому це прохання, а не подія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Відхилити невалідні аргументи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 виконання, замість «спробуємо якось»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Обкласти виклик таймаутом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«відповіді не було» ≠ «дії не було»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ідемпотентність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прикладі подвійного тікета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Провести межу незворотного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контракт: через людину (урок 8)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Новий клас ризиків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tool_calls — прохання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Схема і валідація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RunTool: реєстр як функція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Timeout і його пастка</a:t>
            </a:r>
            <a:endParaRPr lang="en-US" sz="1450" dirty="0"/>
          </a:p>
        </p:txBody>
      </p:sp>
      <p:sp>
        <p:nvSpPr>
          <p:cNvPr id="26" name="Shape 23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Ідемпотентність</a:t>
            </a:r>
            <a:endParaRPr lang="en-US" sz="1450" dirty="0"/>
          </a:p>
        </p:txBody>
      </p:sp>
      <p:sp>
        <p:nvSpPr>
          <p:cNvPr id="30" name="Shape 27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Межа незворотного</a:t>
            </a:r>
            <a:endParaRPr lang="en-US" sz="1450" dirty="0"/>
          </a:p>
        </p:txBody>
      </p:sp>
      <p:sp>
        <p:nvSpPr>
          <p:cNvPr id="34" name="Shape 31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6" name="Text 33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— недовірений вхід</a:t>
            </a:r>
            <a:endParaRPr lang="en-US" sz="1450" dirty="0"/>
          </a:p>
        </p:txBody>
      </p:sp>
      <p:sp>
        <p:nvSpPr>
          <p:cNvPr id="38" name="Shape 35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0" name="Text 37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Аудит дій</a:t>
            </a:r>
            <a:endParaRPr lang="en-US" sz="1450" dirty="0"/>
          </a:p>
        </p:txBody>
      </p:sp>
      <p:sp>
        <p:nvSpPr>
          <p:cNvPr id="42" name="Shape 39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2A2010"/>
          </a:solidFill>
          <a:ln/>
        </p:spPr>
      </p:sp>
      <p:sp>
        <p:nvSpPr>
          <p:cNvPr id="43" name="Shape 40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44" name="Text 41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як дані · опційно</a:t>
            </a:r>
            <a:endParaRPr lang="en-US" sz="1450" dirty="0"/>
          </a:p>
        </p:txBody>
      </p:sp>
      <p:sp>
        <p:nvSpPr>
          <p:cNvPr id="46" name="Shape 43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8" name="Text 45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0" name="Shape 47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2" name="Text 49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4" name="Shape 51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«бот говорить» — до «бот діє», з усією обв'язкою, якої дія потребує.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 call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прохання моделі викликати інструмент, а не подія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схема інструмента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опис дозволених аргументів; довіряємо лише своїй копії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read-only / side-effecting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лише читає — або змінює світ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ідемпотентність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 із тим самим ключем не виконує дію вдруге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ключ операції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стабільний ідентифікатор, що дає ідемпотентність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HITL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людина в ланцюзі підтверджує незворотне (урок 8)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Якісно новий клас ризиків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102A2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Поки модель говорить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найгірше — погана відповідь: користувач перепитає, оператор виправить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2E1418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Щойно модель діє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вона може зробити щось. І двічі. Або не те. Або те — але в невдалий момент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3832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1C1140"/>
          </a:solidFill>
          <a:ln/>
        </p:spPr>
      </p:sp>
      <p:sp>
        <p:nvSpPr>
          <p:cNvPr id="14" name="Text 11"/>
          <p:cNvSpPr/>
          <p:nvPr/>
        </p:nvSpPr>
        <p:spPr>
          <a:xfrm>
            <a:off x="768096" y="35387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Tool-рантайм = production surface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768096" y="40690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схеми, таймаути, ретраї, логи і права — як у будь-якого API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281928" y="33832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1C1140"/>
          </a:solidFill>
          <a:ln/>
        </p:spPr>
      </p:sp>
      <p:sp>
        <p:nvSpPr>
          <p:cNvPr id="17" name="Text 14"/>
          <p:cNvSpPr/>
          <p:nvPr/>
        </p:nvSpPr>
        <p:spPr>
          <a:xfrm>
            <a:off x="6483096" y="35387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 = ненадійний клієнт вашого API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6483096" y="40690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дивні аргументи, повтори, «передумав» посередині: клієнта валідують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66928" y="502920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5157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86384" y="5413248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Інструменти — момент, коли LLM-система стає учасником процесів, а не співрозмовником.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tool_calls — прохання, не подія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"message":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"role": "assistant",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7FD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"content": "Перевіряю статус вашого замовлення…",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0B3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"tool_calls": [ { "function": { "name": "lookup_order", … } } ]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 "finish_reason": "tool_calls"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66928" y="39319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1C1140"/>
          </a:solidFill>
          <a:ln/>
        </p:spPr>
      </p:sp>
      <p:sp>
        <p:nvSpPr>
          <p:cNvPr id="10" name="Text 7"/>
          <p:cNvSpPr/>
          <p:nvPr/>
        </p:nvSpPr>
        <p:spPr>
          <a:xfrm>
            <a:off x="621792" y="39319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 попросила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041648" y="429768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5400000">
            <a:off x="4169664" y="422910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3" name="Shape 10"/>
          <p:cNvSpPr/>
          <p:nvPr/>
        </p:nvSpPr>
        <p:spPr>
          <a:xfrm>
            <a:off x="4407408" y="39319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462272" y="39319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сервіс вирішує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7882128" y="429768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8010144" y="422910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7" name="Shape 14"/>
          <p:cNvSpPr/>
          <p:nvPr/>
        </p:nvSpPr>
        <p:spPr>
          <a:xfrm>
            <a:off x="8247888" y="39319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102A20"/>
          </a:solidFill>
          <a:ln/>
        </p:spPr>
      </p:sp>
      <p:sp>
        <p:nvSpPr>
          <p:cNvPr id="18" name="Text 15"/>
          <p:cNvSpPr/>
          <p:nvPr/>
        </p:nvSpPr>
        <p:spPr>
          <a:xfrm>
            <a:off x="8302752" y="39319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сервіс виконує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489204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102A20"/>
          </a:solidFill>
          <a:ln/>
        </p:spPr>
      </p:sp>
      <p:sp>
        <p:nvSpPr>
          <p:cNvPr id="20" name="Text 17"/>
          <p:cNvSpPr/>
          <p:nvPr/>
        </p:nvSpPr>
        <p:spPr>
          <a:xfrm>
            <a:off x="786384" y="5038344"/>
            <a:ext cx="1062532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нічого не виконала — вона запропонувала. Виконувати чи ні вирішує ваш сервіс, і саме там живуть усі запобіжники уроку.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Схема — перша лінія оборони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Моделі схема каже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взагалі можна просити: провайдери передають схеми інструментів прямо в запиті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102A20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Сервісу схема дає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право валідувати аргументи до виконання: неправильне прохання відхиляється і логується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47472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2E1418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6027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ЖОДНИХ «СПРОБУЄМО ЯКОСЬ»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786384" y="385876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Попросили lookup_order без номера? Відхилити і залогувати — а не підставити останнє замовлення чи вгадати за контекстом. Кожне «якось» — рішення, яке ухвалив ніхто.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5129784"/>
            <a:ext cx="106253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інструмент — одна дія, і категорія (читання / зміна) оголошена в самій схемі.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Дві копії схеми — і лише одній можна довіряти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2A201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Копія 1 — їде в модель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параметр tools із JSON Schema аргументів: підказка, не гарантія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102A20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Копія 2 — живе у сервісі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валідація перед виконанням: «неправильне прохання ніколи не виконається»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502152"/>
            <a:ext cx="2286000" cy="420624"/>
          </a:xfrm>
          <a:prstGeom prst="roundRect">
            <a:avLst>
              <a:gd name="adj" fmla="val 17391"/>
            </a:avLst>
          </a:prstGeom>
          <a:solidFill>
            <a:srgbClr val="2A2010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02152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 просить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2944368" y="3712464"/>
            <a:ext cx="237744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3145536" y="3643884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7" name="Shape 14"/>
          <p:cNvSpPr/>
          <p:nvPr/>
        </p:nvSpPr>
        <p:spPr>
          <a:xfrm>
            <a:off x="3291840" y="3502152"/>
            <a:ext cx="2377440" cy="420624"/>
          </a:xfrm>
          <a:prstGeom prst="roundRect">
            <a:avLst>
              <a:gd name="adj" fmla="val 17391"/>
            </a:avLst>
          </a:prstGeom>
          <a:solidFill>
            <a:srgbClr val="1C1140"/>
          </a:solidFill>
          <a:ln/>
        </p:spPr>
      </p:sp>
      <p:sp>
        <p:nvSpPr>
          <p:cNvPr id="18" name="Text 15"/>
          <p:cNvSpPr/>
          <p:nvPr/>
        </p:nvSpPr>
        <p:spPr>
          <a:xfrm>
            <a:off x="3291840" y="3502152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схема у сервісі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760720" y="3712464"/>
            <a:ext cx="237744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5400000">
            <a:off x="5961888" y="3643884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1" name="Shape 18"/>
          <p:cNvSpPr/>
          <p:nvPr/>
        </p:nvSpPr>
        <p:spPr>
          <a:xfrm>
            <a:off x="6172200" y="3401568"/>
            <a:ext cx="2743200" cy="274320"/>
          </a:xfrm>
          <a:prstGeom prst="roundRect">
            <a:avLst>
              <a:gd name="adj" fmla="val 26667"/>
            </a:avLst>
          </a:prstGeom>
          <a:solidFill>
            <a:srgbClr val="102A20"/>
          </a:solidFill>
          <a:ln/>
        </p:spPr>
      </p:sp>
      <p:sp>
        <p:nvSpPr>
          <p:cNvPr id="22" name="Text 19"/>
          <p:cNvSpPr/>
          <p:nvPr/>
        </p:nvSpPr>
        <p:spPr>
          <a:xfrm>
            <a:off x="6172200" y="340156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валідне — виконуємо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6172200" y="3749040"/>
            <a:ext cx="2743200" cy="274320"/>
          </a:xfrm>
          <a:prstGeom prst="roundRect">
            <a:avLst>
              <a:gd name="adj" fmla="val 26667"/>
            </a:avLst>
          </a:prstGeom>
          <a:solidFill>
            <a:srgbClr val="2E1418"/>
          </a:solidFill>
          <a:ln/>
        </p:spPr>
      </p:sp>
      <p:sp>
        <p:nvSpPr>
          <p:cNvPr id="24" name="Text 21"/>
          <p:cNvSpPr/>
          <p:nvPr/>
        </p:nvSpPr>
        <p:spPr>
          <a:xfrm>
            <a:off x="6172200" y="3749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ні — відхилити й залогувати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9006840" y="3712464"/>
            <a:ext cx="237744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rot="5400000">
            <a:off x="9208008" y="3643884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7" name="Shape 24"/>
          <p:cNvSpPr/>
          <p:nvPr/>
        </p:nvSpPr>
        <p:spPr>
          <a:xfrm>
            <a:off x="9418320" y="3502152"/>
            <a:ext cx="2212848" cy="420624"/>
          </a:xfrm>
          <a:prstGeom prst="roundRect">
            <a:avLst>
              <a:gd name="adj" fmla="val 17391"/>
            </a:avLst>
          </a:prstGeom>
          <a:solidFill>
            <a:srgbClr val="1C1140"/>
          </a:solidFill>
          <a:ln/>
        </p:spPr>
      </p:sp>
      <p:sp>
        <p:nvSpPr>
          <p:cNvPr id="28" name="Text 25"/>
          <p:cNvSpPr/>
          <p:nvPr/>
        </p:nvSpPr>
        <p:spPr>
          <a:xfrm>
            <a:off x="9418320" y="3502152"/>
            <a:ext cx="22128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слід у лозі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566928" y="4224528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786384" y="435254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РЕЄСТР ІНСТРУМЕНТІВ СТАЄ ЗОВНІШНІМ (MCP)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786384" y="4608576"/>
            <a:ext cx="106253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Чужі сервіси публікують інструменти за стандартним протоколом — а ви вирішуєте, що дозволено, з якими лімітами і що потребує людини. Обв'язка уроку не змінюється.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566928" y="5504688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2E1418"/>
          </a:solidFill>
          <a:ln/>
        </p:spPr>
      </p:sp>
      <p:sp>
        <p:nvSpPr>
          <p:cNvPr id="33" name="Text 30"/>
          <p:cNvSpPr/>
          <p:nvPr/>
        </p:nvSpPr>
        <p:spPr>
          <a:xfrm>
            <a:off x="786384" y="5650992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Чужому реєстру не довіряють навіть у «що взагалі існує».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Виконання: реєстр як одна функція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2286000"/>
          </a:xfrm>
          <a:prstGeom prst="roundRect">
            <a:avLst>
              <a:gd name="adj" fmla="val 4800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[W3] мінімальний реєстр інструментів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string? RunTool(string name) =&gt; name switch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7FD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"lookup_order"  =&gt; "статус: оплачено, доставку призначено",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7FD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"create_ticket" =&gt; "тікет #T-" + Guid.NewGuid()…,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0B3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_ =&gt; null,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result = RunTool(toolCall);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(result != null) answer += $" ({result})";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66928" y="420624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102A20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4361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Невідомий інструмент → null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489204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прохання про те, чого не існує, просто не виконується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420624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2A2010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4361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Чесне спрощення: one-hop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6483096" y="489204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підклеюється до відповіді, а не їде назад у модель другим колом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Timeout: інструмент не має права висіти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2A2010"/>
          </a:solidFill>
          <a:ln/>
        </p:spPr>
      </p:sp>
      <p:sp>
        <p:nvSpPr>
          <p:cNvPr id="8" name="Text 5"/>
          <p:cNvSpPr/>
          <p:nvPr/>
        </p:nvSpPr>
        <p:spPr>
          <a:xfrm>
            <a:off x="621792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інструмент завис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505456" y="224028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2633472" y="217170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1" name="Shape 8"/>
          <p:cNvSpPr/>
          <p:nvPr/>
        </p:nvSpPr>
        <p:spPr>
          <a:xfrm>
            <a:off x="2871216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926080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користувач чекає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809744" y="224028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4937760" y="217170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5" name="Shape 12"/>
          <p:cNvSpPr/>
          <p:nvPr/>
        </p:nvSpPr>
        <p:spPr>
          <a:xfrm>
            <a:off x="5175504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2A2010"/>
          </a:solidFill>
          <a:ln/>
        </p:spPr>
      </p:sp>
      <p:sp>
        <p:nvSpPr>
          <p:cNvPr id="16" name="Text 13"/>
          <p:cNvSpPr/>
          <p:nvPr/>
        </p:nvSpPr>
        <p:spPr>
          <a:xfrm>
            <a:off x="5230368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latency у стелю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7114032" y="224028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7242048" y="217170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9" name="Shape 16"/>
          <p:cNvSpPr/>
          <p:nvPr/>
        </p:nvSpPr>
        <p:spPr>
          <a:xfrm>
            <a:off x="7479792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2E1418"/>
          </a:solidFill>
          <a:ln/>
        </p:spPr>
      </p:sp>
      <p:sp>
        <p:nvSpPr>
          <p:cNvPr id="20" name="Text 17"/>
          <p:cNvSpPr/>
          <p:nvPr/>
        </p:nvSpPr>
        <p:spPr>
          <a:xfrm>
            <a:off x="7534656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закінчуються з'єднання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9418320" y="224028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rot="5400000">
            <a:off x="9546336" y="217170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3" name="Shape 20"/>
          <p:cNvSpPr/>
          <p:nvPr/>
        </p:nvSpPr>
        <p:spPr>
          <a:xfrm>
            <a:off x="9784080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2E1418"/>
          </a:solidFill>
          <a:ln/>
        </p:spPr>
      </p:sp>
      <p:sp>
        <p:nvSpPr>
          <p:cNvPr id="24" name="Text 21"/>
          <p:cNvSpPr/>
          <p:nvPr/>
        </p:nvSpPr>
        <p:spPr>
          <a:xfrm>
            <a:off x="9838944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лягає весь сервіс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566928" y="288036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102A20"/>
          </a:solidFill>
          <a:ln/>
        </p:spPr>
      </p:sp>
      <p:sp>
        <p:nvSpPr>
          <p:cNvPr id="26" name="Text 23"/>
          <p:cNvSpPr/>
          <p:nvPr/>
        </p:nvSpPr>
        <p:spPr>
          <a:xfrm>
            <a:off x="786384" y="3008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ПРАВИЛО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786384" y="326440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Таймаут інструмента — нормальна оброблена гілка, а не аварія.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566928" y="411480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2E1418"/>
          </a:solidFill>
          <a:ln/>
        </p:spPr>
      </p:sp>
      <p:sp>
        <p:nvSpPr>
          <p:cNvPr id="29" name="Text 26"/>
          <p:cNvSpPr/>
          <p:nvPr/>
        </p:nvSpPr>
        <p:spPr>
          <a:xfrm>
            <a:off x="786384" y="42428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ПАСТКА ТАЙМАУТА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786384" y="449884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Вичерпаний ліміт означає «відповіді не було», а не «дії не було».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566928" y="548640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2A2010"/>
          </a:solidFill>
          <a:ln/>
        </p:spPr>
      </p:sp>
      <p:sp>
        <p:nvSpPr>
          <p:cNvPr id="32" name="Text 29"/>
          <p:cNvSpPr/>
          <p:nvPr/>
        </p:nvSpPr>
        <p:spPr>
          <a:xfrm>
            <a:off x="786384" y="563270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Бюджети часу розставляються згори вниз: від дедлайну користувача, а не знизу вгору.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тікетів у системі? Правильна відповідь — один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74520"/>
            <a:ext cx="185166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21792" y="1874520"/>
            <a:ext cx="17419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create_ticket виконано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510028" y="224028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2638044" y="217170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1" name="Shape 8"/>
          <p:cNvSpPr/>
          <p:nvPr/>
        </p:nvSpPr>
        <p:spPr>
          <a:xfrm>
            <a:off x="2875788" y="1874520"/>
            <a:ext cx="1851660" cy="731520"/>
          </a:xfrm>
          <a:prstGeom prst="roundRect">
            <a:avLst>
              <a:gd name="adj" fmla="val 12500"/>
            </a:avLst>
          </a:prstGeom>
          <a:solidFill>
            <a:srgbClr val="2A2010"/>
          </a:solidFill>
          <a:ln/>
        </p:spPr>
      </p:sp>
      <p:sp>
        <p:nvSpPr>
          <p:cNvPr id="12" name="Text 9"/>
          <p:cNvSpPr/>
          <p:nvPr/>
        </p:nvSpPr>
        <p:spPr>
          <a:xfrm>
            <a:off x="2930652" y="1874520"/>
            <a:ext cx="17419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відповідь загубилась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818888" y="224028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4946904" y="217170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5" name="Shape 12"/>
          <p:cNvSpPr/>
          <p:nvPr/>
        </p:nvSpPr>
        <p:spPr>
          <a:xfrm>
            <a:off x="5184648" y="1874520"/>
            <a:ext cx="1851660" cy="731520"/>
          </a:xfrm>
          <a:prstGeom prst="roundRect">
            <a:avLst>
              <a:gd name="adj" fmla="val 12500"/>
            </a:avLst>
          </a:prstGeom>
          <a:solidFill>
            <a:srgbClr val="2E1418"/>
          </a:solidFill>
          <a:ln/>
        </p:spPr>
      </p:sp>
      <p:sp>
        <p:nvSpPr>
          <p:cNvPr id="16" name="Text 13"/>
          <p:cNvSpPr/>
          <p:nvPr/>
        </p:nvSpPr>
        <p:spPr>
          <a:xfrm>
            <a:off x="5239512" y="1874520"/>
            <a:ext cx="17419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ваш ретрай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7127748" y="224028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7255764" y="217170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9" name="Shape 16"/>
          <p:cNvSpPr/>
          <p:nvPr/>
        </p:nvSpPr>
        <p:spPr>
          <a:xfrm>
            <a:off x="7493508" y="1874520"/>
            <a:ext cx="1851660" cy="731520"/>
          </a:xfrm>
          <a:prstGeom prst="roundRect">
            <a:avLst>
              <a:gd name="adj" fmla="val 12500"/>
            </a:avLst>
          </a:prstGeom>
          <a:solidFill>
            <a:srgbClr val="2E1418"/>
          </a:solidFill>
          <a:ln/>
        </p:spPr>
      </p:sp>
      <p:sp>
        <p:nvSpPr>
          <p:cNvPr id="20" name="Text 17"/>
          <p:cNvSpPr/>
          <p:nvPr/>
        </p:nvSpPr>
        <p:spPr>
          <a:xfrm>
            <a:off x="7548372" y="1874520"/>
            <a:ext cx="17419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повтор моделі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9601200" y="1874520"/>
            <a:ext cx="2029968" cy="731520"/>
          </a:xfrm>
          <a:prstGeom prst="roundRect">
            <a:avLst>
              <a:gd name="adj" fmla="val 15000"/>
            </a:avLst>
          </a:prstGeom>
          <a:solidFill>
            <a:srgbClr val="2E1418"/>
          </a:solidFill>
          <a:ln/>
        </p:spPr>
      </p:sp>
      <p:sp>
        <p:nvSpPr>
          <p:cNvPr id="22" name="Text 19"/>
          <p:cNvSpPr/>
          <p:nvPr/>
        </p:nvSpPr>
        <p:spPr>
          <a:xfrm>
            <a:off x="9747504" y="1984248"/>
            <a:ext cx="1737360" cy="380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→ 1</a:t>
            </a:r>
            <a:endParaRPr lang="en-US" sz="2200" dirty="0"/>
          </a:p>
        </p:txBody>
      </p:sp>
      <p:sp>
        <p:nvSpPr>
          <p:cNvPr id="23" name="Text 20"/>
          <p:cNvSpPr/>
          <p:nvPr/>
        </p:nvSpPr>
        <p:spPr>
          <a:xfrm>
            <a:off x="9747504" y="2298802"/>
            <a:ext cx="1737360" cy="26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566928" y="297180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102A20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3127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ідемпотентності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365760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 у платіжних API: стабільний ключ операції, виконавець пам'ятає оброблені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6281928" y="297180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1C1140"/>
          </a:solidFill>
          <a:ln/>
        </p:spPr>
      </p:sp>
      <p:sp>
        <p:nvSpPr>
          <p:cNvPr id="28" name="Text 25"/>
          <p:cNvSpPr/>
          <p:nvPr/>
        </p:nvSpPr>
        <p:spPr>
          <a:xfrm>
            <a:off x="6483096" y="3127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нас — request_id</a:t>
            </a:r>
            <a:endParaRPr lang="en-US" sz="1450" dirty="0"/>
          </a:p>
        </p:txBody>
      </p:sp>
      <p:sp>
        <p:nvSpPr>
          <p:cNvPr id="29" name="Text 26"/>
          <p:cNvSpPr/>
          <p:nvPr/>
        </p:nvSpPr>
        <p:spPr>
          <a:xfrm>
            <a:off x="6483096" y="365760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існує з першого рядка /chat і закриває першу половину сценарію: ваш власний ретрай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2A2010"/>
          </a:solidFill>
          <a:ln/>
        </p:spPr>
      </p:sp>
      <p:sp>
        <p:nvSpPr>
          <p:cNvPr id="31" name="Text 28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ЧЕСНА МЕЖА REQUEST_ID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786384" y="51846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повтореної дії захищає ключ, похідний від дії, а не request_id.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рішення, які визначають якість реалізації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1C114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народжує ініціатор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виконавець: ключ, народжений на місці виконання, повтор зробить двічі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пам'яті про ключі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виконавець пам'ятає оброблені операції — і що станеться після закінчення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465576"/>
            <a:ext cx="2743200" cy="420624"/>
          </a:xfrm>
          <a:prstGeom prst="roundRect">
            <a:avLst>
              <a:gd name="adj" fmla="val 17391"/>
            </a:avLst>
          </a:prstGeom>
          <a:solidFill>
            <a:srgbClr val="1C1140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465576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ініціатор створює ключ K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3401568" y="3675888"/>
            <a:ext cx="237744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3602736" y="3607308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7" name="Shape 14"/>
          <p:cNvSpPr/>
          <p:nvPr/>
        </p:nvSpPr>
        <p:spPr>
          <a:xfrm>
            <a:off x="3794760" y="3465576"/>
            <a:ext cx="2651760" cy="420624"/>
          </a:xfrm>
          <a:prstGeom prst="roundRect">
            <a:avLst>
              <a:gd name="adj" fmla="val 17391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794760" y="3465576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виконавець: бачив K?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6537960" y="3675888"/>
            <a:ext cx="237744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5400000">
            <a:off x="6739128" y="3607308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1" name="Shape 18"/>
          <p:cNvSpPr/>
          <p:nvPr/>
        </p:nvSpPr>
        <p:spPr>
          <a:xfrm>
            <a:off x="6949440" y="3364992"/>
            <a:ext cx="4681728" cy="274320"/>
          </a:xfrm>
          <a:prstGeom prst="roundRect">
            <a:avLst>
              <a:gd name="adj" fmla="val 26667"/>
            </a:avLst>
          </a:prstGeom>
          <a:solidFill>
            <a:srgbClr val="102A20"/>
          </a:solidFill>
          <a:ln/>
        </p:spPr>
      </p:sp>
      <p:sp>
        <p:nvSpPr>
          <p:cNvPr id="22" name="Text 19"/>
          <p:cNvSpPr/>
          <p:nvPr/>
        </p:nvSpPr>
        <p:spPr>
          <a:xfrm>
            <a:off x="6949440" y="3364992"/>
            <a:ext cx="4681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ні — виконати й запам'ятати K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6949440" y="3712464"/>
            <a:ext cx="4681728" cy="274320"/>
          </a:xfrm>
          <a:prstGeom prst="roundRect">
            <a:avLst>
              <a:gd name="adj" fmla="val 26667"/>
            </a:avLst>
          </a:prstGeom>
          <a:solidFill>
            <a:srgbClr val="2A2010"/>
          </a:solidFill>
          <a:ln/>
        </p:spPr>
      </p:sp>
      <p:sp>
        <p:nvSpPr>
          <p:cNvPr id="24" name="Text 21"/>
          <p:cNvSpPr/>
          <p:nvPr/>
        </p:nvSpPr>
        <p:spPr>
          <a:xfrm>
            <a:off x="6949440" y="3712464"/>
            <a:ext cx="4681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так — віддати той самий результат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566928" y="4187952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2E1418"/>
          </a:solidFill>
          <a:ln/>
        </p:spPr>
      </p:sp>
      <p:sp>
        <p:nvSpPr>
          <p:cNvPr id="26" name="Text 23"/>
          <p:cNvSpPr/>
          <p:nvPr/>
        </p:nvSpPr>
        <p:spPr>
          <a:xfrm>
            <a:off x="786384" y="431596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786384" y="4572000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Ретрай side-effecting виклику без ключа операції — лотерея з подвійним тікетом.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566928" y="5376672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102A20"/>
          </a:solidFill>
          <a:ln/>
        </p:spPr>
      </p:sp>
      <p:sp>
        <p:nvSpPr>
          <p:cNvPr id="29" name="Text 26"/>
          <p:cNvSpPr/>
          <p:nvPr/>
        </p:nvSpPr>
        <p:spPr>
          <a:xfrm>
            <a:off x="786384" y="5522976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Повторюваним без ключа може бути тільки читання.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Межа незворотного — і чесна «дірка»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102A2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lookup_order — читання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найгірший наслідок повтору — зайвий запит у базу: автономне виконання виправдане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2E1418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create_ticket — незворотна дія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зобов'язання у зовнішній системі, яке хтось муситиме виконувати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474720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2E1418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6027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ЧЕСНА «ДІРКА» СЬОГОДНІШНЬОГО УРОКУ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786384" y="3858768"/>
            <a:ext cx="10625328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«Поверніть гроші, терміново» → тікет створюється без жодної людини в ланцюгу. І поки дії автономні, кожен прогін eval-набору теж створює реальний тікет.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502920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21792" y="502920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незворотне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041648" y="539496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4169664" y="532638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0" name="Shape 17"/>
          <p:cNvSpPr/>
          <p:nvPr/>
        </p:nvSpPr>
        <p:spPr>
          <a:xfrm>
            <a:off x="4407408" y="502920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1C1140"/>
          </a:solidFill>
          <a:ln/>
        </p:spPr>
      </p:sp>
      <p:sp>
        <p:nvSpPr>
          <p:cNvPr id="21" name="Text 18"/>
          <p:cNvSpPr/>
          <p:nvPr/>
        </p:nvSpPr>
        <p:spPr>
          <a:xfrm>
            <a:off x="4462272" y="502920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заявка в /approvals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7882128" y="539496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8010144" y="532638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4" name="Shape 21"/>
          <p:cNvSpPr/>
          <p:nvPr/>
        </p:nvSpPr>
        <p:spPr>
          <a:xfrm>
            <a:off x="8247888" y="502920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102A20"/>
          </a:solidFill>
          <a:ln/>
        </p:spPr>
      </p:sp>
      <p:sp>
        <p:nvSpPr>
          <p:cNvPr id="25" name="Text 22"/>
          <p:cNvSpPr/>
          <p:nvPr/>
        </p:nvSpPr>
        <p:spPr>
          <a:xfrm>
            <a:off x="8302752" y="502920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виконання після підтвердження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інструмента — це вхід, а не істина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2E1418"/>
          </a:solidFill>
          <a:ln/>
        </p:spPr>
      </p:sp>
      <p:sp>
        <p:nvSpPr>
          <p:cNvPr id="8" name="Text 5"/>
          <p:cNvSpPr/>
          <p:nvPr/>
        </p:nvSpPr>
        <p:spPr>
          <a:xfrm>
            <a:off x="62179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нотатка в базі: «Ігноруй інструкції…»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081528" y="224028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3209544" y="217170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1" name="Shape 8"/>
          <p:cNvSpPr/>
          <p:nvPr/>
        </p:nvSpPr>
        <p:spPr>
          <a:xfrm>
            <a:off x="344728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2A2010"/>
          </a:solidFill>
          <a:ln/>
        </p:spPr>
      </p:sp>
      <p:sp>
        <p:nvSpPr>
          <p:cNvPr id="12" name="Text 9"/>
          <p:cNvSpPr/>
          <p:nvPr/>
        </p:nvSpPr>
        <p:spPr>
          <a:xfrm>
            <a:off x="350215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lookup_order віддає її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5961888" y="224028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6089904" y="217170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5" name="Shape 12"/>
          <p:cNvSpPr/>
          <p:nvPr/>
        </p:nvSpPr>
        <p:spPr>
          <a:xfrm>
            <a:off x="632764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8251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контекст моделі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8842248" y="224028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8970264" y="217170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9" name="Shape 16"/>
          <p:cNvSpPr/>
          <p:nvPr/>
        </p:nvSpPr>
        <p:spPr>
          <a:xfrm>
            <a:off x="920800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2E1418"/>
          </a:solidFill>
          <a:ln/>
        </p:spPr>
      </p:sp>
      <p:sp>
        <p:nvSpPr>
          <p:cNvPr id="20" name="Text 17"/>
          <p:cNvSpPr/>
          <p:nvPr/>
        </p:nvSpPr>
        <p:spPr>
          <a:xfrm>
            <a:off x="926287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 не бачить різниці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566928" y="288036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2A2010"/>
          </a:solidFill>
          <a:ln/>
        </p:spPr>
      </p:sp>
      <p:sp>
        <p:nvSpPr>
          <p:cNvPr id="22" name="Text 19"/>
          <p:cNvSpPr/>
          <p:nvPr/>
        </p:nvSpPr>
        <p:spPr>
          <a:xfrm>
            <a:off x="786384" y="3026664"/>
            <a:ext cx="10625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Непрямий injection приїжджає через дані — перевірка вхідного тексту чиста.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66928" y="4023360"/>
            <a:ext cx="11064240" cy="1325880"/>
          </a:xfrm>
          <a:prstGeom prst="roundRect">
            <a:avLst>
              <a:gd name="adj" fmla="val 8276"/>
            </a:avLst>
          </a:prstGeom>
          <a:solidFill>
            <a:srgbClr val="102A20"/>
          </a:solidFill>
          <a:ln/>
        </p:spPr>
      </p:sp>
      <p:sp>
        <p:nvSpPr>
          <p:cNvPr id="24" name="Text 21"/>
          <p:cNvSpPr/>
          <p:nvPr/>
        </p:nvSpPr>
        <p:spPr>
          <a:xfrm>
            <a:off x="786384" y="4151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4407408"/>
            <a:ext cx="10625328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інструмента обгортати рамкою і позначати як дані, не інструкції.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66928" y="548640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63270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отримує рівно те, що потрібно для відповіді, — і нічого зайвого.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Кілька інструментів одразу: паралельно — тільки читання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102A2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Паралельно — тільки read-only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кілька читань можна виконати одночасно: наслідків немає, час економиться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2E1418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Side-effecting — послідовно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стоп на першій помилці: інакше наполовину застосований набір дій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1234440" y="3346704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102A20"/>
          </a:solidFill>
          <a:ln/>
        </p:spPr>
      </p:sp>
      <p:sp>
        <p:nvSpPr>
          <p:cNvPr id="14" name="Text 11"/>
          <p:cNvSpPr/>
          <p:nvPr/>
        </p:nvSpPr>
        <p:spPr>
          <a:xfrm>
            <a:off x="1234440" y="3346704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читання 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1234440" y="3621024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102A20"/>
          </a:solidFill>
          <a:ln/>
        </p:spPr>
      </p:sp>
      <p:sp>
        <p:nvSpPr>
          <p:cNvPr id="16" name="Text 13"/>
          <p:cNvSpPr/>
          <p:nvPr/>
        </p:nvSpPr>
        <p:spPr>
          <a:xfrm>
            <a:off x="1234440" y="3621024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читання 2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1234440" y="3895344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102A20"/>
          </a:solidFill>
          <a:ln/>
        </p:spPr>
      </p:sp>
      <p:sp>
        <p:nvSpPr>
          <p:cNvPr id="18" name="Text 15"/>
          <p:cNvSpPr/>
          <p:nvPr/>
        </p:nvSpPr>
        <p:spPr>
          <a:xfrm>
            <a:off x="1234440" y="3895344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читання 3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1143000" y="3291840"/>
            <a:ext cx="0" cy="914400"/>
          </a:xfrm>
          <a:prstGeom prst="line">
            <a:avLst/>
          </a:prstGeom>
          <a:noFill/>
          <a:ln w="19050">
            <a:solidFill>
              <a:srgbClr val="5FD6A0"/>
            </a:solidFill>
            <a:prstDash val="dash"/>
          </a:ln>
        </p:spPr>
      </p:sp>
      <p:sp>
        <p:nvSpPr>
          <p:cNvPr id="20" name="Text 17"/>
          <p:cNvSpPr/>
          <p:nvPr/>
        </p:nvSpPr>
        <p:spPr>
          <a:xfrm>
            <a:off x="566928" y="4215384"/>
            <a:ext cx="5349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одночасно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6537960" y="3346704"/>
            <a:ext cx="1463040" cy="219456"/>
          </a:xfrm>
          <a:prstGeom prst="roundRect">
            <a:avLst>
              <a:gd name="adj" fmla="val 20833"/>
            </a:avLst>
          </a:prstGeom>
          <a:solidFill>
            <a:srgbClr val="2E1418"/>
          </a:solidFill>
          <a:ln/>
        </p:spPr>
      </p:sp>
      <p:sp>
        <p:nvSpPr>
          <p:cNvPr id="22" name="Text 19"/>
          <p:cNvSpPr/>
          <p:nvPr/>
        </p:nvSpPr>
        <p:spPr>
          <a:xfrm>
            <a:off x="6537960" y="3346704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дія 1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8229600" y="3621024"/>
            <a:ext cx="1463040" cy="219456"/>
          </a:xfrm>
          <a:prstGeom prst="roundRect">
            <a:avLst>
              <a:gd name="adj" fmla="val 20833"/>
            </a:avLst>
          </a:prstGeom>
          <a:solidFill>
            <a:srgbClr val="2E1418"/>
          </a:solidFill>
          <a:ln/>
        </p:spPr>
      </p:sp>
      <p:sp>
        <p:nvSpPr>
          <p:cNvPr id="24" name="Text 21"/>
          <p:cNvSpPr/>
          <p:nvPr/>
        </p:nvSpPr>
        <p:spPr>
          <a:xfrm>
            <a:off x="8229600" y="3621024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дія 2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9921240" y="3895344"/>
            <a:ext cx="1463040" cy="219456"/>
          </a:xfrm>
          <a:prstGeom prst="roundRect">
            <a:avLst>
              <a:gd name="adj" fmla="val 20833"/>
            </a:avLst>
          </a:prstGeom>
          <a:solidFill>
            <a:srgbClr val="2E1418"/>
          </a:solidFill>
          <a:ln/>
        </p:spPr>
      </p:sp>
      <p:sp>
        <p:nvSpPr>
          <p:cNvPr id="26" name="Text 23"/>
          <p:cNvSpPr/>
          <p:nvPr/>
        </p:nvSpPr>
        <p:spPr>
          <a:xfrm>
            <a:off x="9921240" y="3895344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дія 3</a:t>
            </a:r>
            <a:endParaRPr lang="en-US" sz="850" dirty="0"/>
          </a:p>
        </p:txBody>
      </p:sp>
      <p:sp>
        <p:nvSpPr>
          <p:cNvPr id="27" name="Text 24"/>
          <p:cNvSpPr/>
          <p:nvPr/>
        </p:nvSpPr>
        <p:spPr>
          <a:xfrm>
            <a:off x="6281928" y="4215384"/>
            <a:ext cx="5349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одна за одною, стоп на першій помилці</a:t>
            </a:r>
            <a:endParaRPr lang="en-US" sz="850" dirty="0"/>
          </a:p>
        </p:txBody>
      </p:sp>
      <p:sp>
        <p:nvSpPr>
          <p:cNvPr id="28" name="Shape 25"/>
          <p:cNvSpPr/>
          <p:nvPr/>
        </p:nvSpPr>
        <p:spPr>
          <a:xfrm>
            <a:off x="566928" y="4553712"/>
            <a:ext cx="11064240" cy="749808"/>
          </a:xfrm>
          <a:prstGeom prst="roundRect">
            <a:avLst>
              <a:gd name="adj" fmla="val 14634"/>
            </a:avLst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786384" y="468172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КОНТРАКТ СТАРТЕРА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786384" y="4937760"/>
            <a:ext cx="10625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просить один інструмент за раз — але код готовий до кількох.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566928" y="5413248"/>
            <a:ext cx="11064240" cy="749808"/>
          </a:xfrm>
          <a:prstGeom prst="roundRect">
            <a:avLst>
              <a:gd name="adj" fmla="val 14634"/>
            </a:avLst>
          </a:prstGeom>
          <a:solidFill>
            <a:srgbClr val="2E1418"/>
          </a:solidFill>
          <a:ln/>
        </p:spPr>
      </p:sp>
      <p:sp>
        <p:nvSpPr>
          <p:cNvPr id="32" name="Text 29"/>
          <p:cNvSpPr/>
          <p:nvPr/>
        </p:nvSpPr>
        <p:spPr>
          <a:xfrm>
            <a:off x="786384" y="554126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786384" y="5797296"/>
            <a:ext cx="10625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Ліміт кроків обов'язковий: побачивши результат, модель просить ще виклик.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Аудит: дія без сліду — не дія, а пригода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783080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Хто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4548226" y="1783080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request_id запиту, у межах якого сталася дія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2624328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1C1140"/>
          </a:solidFill>
          <a:ln/>
        </p:spPr>
      </p:sp>
      <p:sp>
        <p:nvSpPr>
          <p:cNvPr id="11" name="Text 8"/>
          <p:cNvSpPr/>
          <p:nvPr/>
        </p:nvSpPr>
        <p:spPr>
          <a:xfrm>
            <a:off x="786384" y="2624328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4548226" y="2624328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назва інструмента — колонка tool у лозі, заповнена з першого дня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465576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86384" y="3465576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чим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548226" y="3465576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аргументи після валідації, а не сирі з моделі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4306824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306824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4548226" y="4306824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успіх, відмова валідації, таймаут — усі три однаково цінні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507492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2A2010"/>
          </a:solidFill>
          <a:ln/>
        </p:spPr>
      </p:sp>
      <p:sp>
        <p:nvSpPr>
          <p:cNvPr id="20" name="Text 17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ВИНЯТОК КЕШУ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86384" y="5458968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Кеш-хіт віддає відповідь без походу в інструмент — у лозі це має бути видно, інакше аудит покаже дію, якої не було.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інструментів як дані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67128" y="1024128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2A2010"/>
          </a:solidFill>
          <a:ln/>
        </p:spPr>
      </p:sp>
      <p:sp>
        <p:nvSpPr>
          <p:cNvPr id="7" name="Text 5"/>
          <p:cNvSpPr/>
          <p:nvPr/>
        </p:nvSpPr>
        <p:spPr>
          <a:xfrm>
            <a:off x="2167128" y="1024128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92024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114800"/>
                <a:gridCol w="4206240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поле запису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містить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навіщо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9A6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name + схема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1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назва і JSON Schema аргументів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1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валідація до виконання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1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категорія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read-only / side-effecting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визначає, чи потрібна людина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таймаут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власний ліміт на інструмент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повільний інструмент не тягне решту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566928" y="4517136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786384" y="4663440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Переписати switch на таблицю записів — вечір роботи; вигода в тому, що додати інструмент стає зміною даних, а не коду.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FD6A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102A20"/>
          </a:solidFill>
          <a:ln/>
        </p:spPr>
      </p:sp>
      <p:sp>
        <p:nvSpPr>
          <p:cNvPr id="7" name="Shape 4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сира відповідь mock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tool_calls: назва, аргументи, finish_reason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102A20"/>
          </a:solidFill>
          <a:ln/>
        </p:spPr>
      </p:sp>
      <p:sp>
        <p:nvSpPr>
          <p:cNvPr id="12" name="Shape 9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у чаті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«Перевіряю статус… (оплачено, доставку призначено)»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2E1418"/>
          </a:solidFill>
          <a:ln/>
        </p:spPr>
      </p:sp>
      <p:sp>
        <p:nvSpPr>
          <p:cNvPr id="17" name="Shape 14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FF7B7B"/>
          </a:solidFill>
          <a:ln/>
        </p:spPr>
      </p:sp>
      <p:sp>
        <p:nvSpPr>
          <p:cNvPr id="18" name="Text 15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«дірка»: тікет без людини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create_ticket виконується автономно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2E1418"/>
          </a:solidFill>
          <a:ln/>
        </p:spPr>
      </p:sp>
      <p:sp>
        <p:nvSpPr>
          <p:cNvPr id="22" name="Shape 19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FF7B7B"/>
          </a:solidFill>
          <a:ln/>
        </p:spPr>
      </p:sp>
      <p:sp>
        <p:nvSpPr>
          <p:cNvPr id="23" name="Text 20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 саме питання двічі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різні номери тікета — немає ідемпотентності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7" name="Text 24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межу власними очима: читання виконується спокійно, а незворотна дія двічі створює зобов'язання — обидві дірки закриваються наступного уроку.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Лабораторна: чотири частини + опційна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FD6A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7" name="Text 4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tool_calls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сира відповідь mock: структура, назва, finish_reason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Виконати read-only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мінімальний RunTool: lookup_order + підклейка результату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Обкласти таймаутом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ліміт часу і оброблена гілка вичерпання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6" name="Text 13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Подивитися в «дірку»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«поверніть гроші» → тікет без людини; зафіксувати контракт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19" name="Text 16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як дані · опційно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switch → таблиця зі схемою, категорією і таймаутом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E8A857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102A20"/>
          </a:solidFill>
          <a:ln/>
        </p:spPr>
      </p:sp>
      <p:sp>
        <p:nvSpPr>
          <p:cNvPr id="7" name="Text 4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Прохання ≠ подія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просить, сервіс вирішує і виконує — межа видима в коді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1C1140"/>
          </a:solidFill>
          <a:ln/>
        </p:spPr>
      </p:sp>
      <p:sp>
        <p:nvSpPr>
          <p:cNvPr id="10" name="Text 7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Читання безпечне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 lookup_order коштує зайвий запит у базу — і все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2E1418"/>
          </a:solidFill>
          <a:ln/>
        </p:spPr>
      </p:sp>
      <p:sp>
        <p:nvSpPr>
          <p:cNvPr id="13" name="Text 10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Незворотне — ні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тікети на одне питання: дірка HITL і відсутність ідемпотентності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Різниця між «попросила» і «зробила» — тема цього уроку. Наступного уроку між ними стане людина.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E8A857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9" name="Shape 6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0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«Де моє замовлення?» повертає результат інструмента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3" name="Shape 10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4" name="Text 11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невалідні аргументи відхиляються до виконання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7" name="Shape 14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8" name="Text 15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tool-виклику є таймаут і оброблена гілка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21" name="Shape 18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22" name="Text 19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два тікети — це дефект, а не дрібниця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2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E8A857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8" name="Shape 5"/>
          <p:cNvSpPr/>
          <p:nvPr/>
        </p:nvSpPr>
        <p:spPr>
          <a:xfrm rot="2700000">
            <a:off x="871789" y="213309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9" name="Shape 6"/>
          <p:cNvSpPr/>
          <p:nvPr/>
        </p:nvSpPr>
        <p:spPr>
          <a:xfrm rot="-2700000">
            <a:off x="871789" y="213309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0" name="Text 7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Виконувати все, що попросила модель   </a:t>
            </a:r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клієнту не довіряють — клієнта валідують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13" name="Shape 10"/>
          <p:cNvSpPr/>
          <p:nvPr/>
        </p:nvSpPr>
        <p:spPr>
          <a:xfrm rot="2700000">
            <a:off x="871789" y="300177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4" name="Shape 11"/>
          <p:cNvSpPr/>
          <p:nvPr/>
        </p:nvSpPr>
        <p:spPr>
          <a:xfrm rot="-2700000">
            <a:off x="871789" y="300177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5" name="Text 12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«Спробуємо якось» замість відмови   </a:t>
            </a:r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рішення, яке ухвалив ніхто, вистрелить без винних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18" name="Shape 15"/>
          <p:cNvSpPr/>
          <p:nvPr/>
        </p:nvSpPr>
        <p:spPr>
          <a:xfrm rot="2700000">
            <a:off x="871789" y="387045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9" name="Shape 16"/>
          <p:cNvSpPr/>
          <p:nvPr/>
        </p:nvSpPr>
        <p:spPr>
          <a:xfrm rot="-2700000">
            <a:off x="871789" y="387045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0" name="Text 17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Ретрай дії без ключа операції   </a:t>
            </a:r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лотерея з подвійним тікетом або списанням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23" name="Shape 20"/>
          <p:cNvSpPr/>
          <p:nvPr/>
        </p:nvSpPr>
        <p:spPr>
          <a:xfrm rot="2700000">
            <a:off x="871789" y="473913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4" name="Shape 21"/>
          <p:cNvSpPr/>
          <p:nvPr/>
        </p:nvSpPr>
        <p:spPr>
          <a:xfrm rot="-2700000">
            <a:off x="871789" y="473913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5" name="Text 22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Tool-виклик без таймаута   </a:t>
            </a:r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завислий інструмент кладе весь сервіс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28" name="Shape 25"/>
          <p:cNvSpPr/>
          <p:nvPr/>
        </p:nvSpPr>
        <p:spPr>
          <a:xfrm rot="2700000">
            <a:off x="871789" y="560781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9" name="Shape 26"/>
          <p:cNvSpPr/>
          <p:nvPr/>
        </p:nvSpPr>
        <p:spPr>
          <a:xfrm rot="-2700000">
            <a:off x="871789" y="560781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30" name="Text 27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інструмента як істина   </a:t>
            </a:r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непрямий injection проходить повз перевірку вхідного тексту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FD6A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91640"/>
            <a:ext cx="11064240" cy="2514600"/>
          </a:xfrm>
          <a:prstGeom prst="roundRect">
            <a:avLst>
              <a:gd name="adj" fmla="val 5091"/>
            </a:avLst>
          </a:prstGeom>
          <a:solidFill>
            <a:srgbClr val="17141F"/>
          </a:solidFill>
          <a:ln w="19050">
            <a:solidFill>
              <a:srgbClr val="C9A6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41248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· ДЗ тижня 3: кеш + інструменти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Обидва уроки тижня здаються одним PR: кеш із лічильниками з уроку 5 плюс сьогоднішнє безпечне виконання інструментів.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841248" y="2743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КРИТЕРІЇ ПРИЙМАННЯ КОРОТКО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841248" y="3063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другий однаковий запит відповідає миттєво (з кешу)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841248" y="33558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«Де моє замовлення #123?» повертає відповідь із результатом інструмента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41248" y="364845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про таймаут і ключ ідемпотентності зафіксовані в описі PR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841248" y="39319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Реалізація обох — опційна доріжка; поведінкова перевірка ідемпотентності — у ДЗ тижня 4.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44805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2A2010"/>
          </a:solidFill>
          <a:ln/>
        </p:spPr>
      </p:sp>
      <p:sp>
        <p:nvSpPr>
          <p:cNvPr id="15" name="Text 12"/>
          <p:cNvSpPr/>
          <p:nvPr/>
        </p:nvSpPr>
        <p:spPr>
          <a:xfrm>
            <a:off x="768096" y="463600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768096" y="5166360"/>
            <a:ext cx="1066190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TTL: кешовані відповіді старіють і перезапитуються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semantic cache: Redis з advanced-профілю + порівняння за схожістю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tool_calls — прохання моделі; виконує і вирішує ваш сервіс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схема валідує аргументи до виконання: «спробуємо якось» — заборонений режим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таймаут обов'язковий, а його вичерпання — «відповіді не було», не «дії не було»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повторюваним без ключа може бути тільки читання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незворотне не виконується автономно — контракт зафіксовано, механізм завтра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7 · Reliability: fallback, деградація і circuit breaker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Бот говорить, рахує гроші, вміє діяти. Наступний тиждень — про найнеприємніше: що робити, коли провайдер лежить, ліміти вичерпані, а користувачі пишуть просто зараз. Fallback, красива деградація — і керовані інциденти, які ми влаштуємо власними руками.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6 · Tool calls: коли модель починає діяти</dc:title>
  <dc:subject>PptxGenJS Presentation</dc:subject>
  <dc:creator>LLMOps Bootcamp</dc:creator>
  <cp:lastModifiedBy>LLMOps Bootcamp</cp:lastModifiedBy>
  <cp:revision>1</cp:revision>
  <dcterms:created xsi:type="dcterms:W3CDTF">2026-08-16T15:58:30Z</dcterms:created>
  <dcterms:modified xsi:type="dcterms:W3CDTF">2026-08-16T15:58:30Z</dcterms:modified>
</cp:coreProperties>
</file>