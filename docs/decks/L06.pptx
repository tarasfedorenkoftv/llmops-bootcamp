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3 · ТЕМА 6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Tool calls: коли модель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починає діяти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Слово можна перечитати. Дію — не завжди можна відкотити. Сьогодні бот уперше щось робить: анатомія tool-виклику, таймаут, ідемпотентність — і чесна «дірка», яку закриємо на тижні безпеки.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Прочитати tool_calls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пояснити, чому це прохання, а не подія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Відхилити невалідні аргументи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виконання, замість «спробуємо якось»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Обкласти виклик таймаутом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«відповіді не було» ≠ «дії не було»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 ідемпотентність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прикладі подвійного тікета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межу незворотного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контракт: через людину (Тема 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Новий клас ризиків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tool_calls — прохання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Схема і валідація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RunTool: реєстр як функція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Timeout і його пастка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Ідемпотентність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Межа незворотного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— недовірений вхід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 дій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як дані · опційно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97356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817473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3" name="Text 50"/>
          <p:cNvSpPr/>
          <p:nvPr/>
        </p:nvSpPr>
        <p:spPr>
          <a:xfrm>
            <a:off x="81747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8680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«бот говорить» — до «бот діє», з усією обв'язкою, якої дія потребує.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call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прохання моделі викликати інструмент, а не подія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схема інструмента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 дозволених аргументів; довіряємо лише своїй копії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/ side-effecting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лише читає — або змінює світ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ідемпотентність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 із тим самим ключем не виконує дію вдруге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 операції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стабільний ідентифікатор, що дає ідемпотентність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людина в ланцюзі підтверджує незворотне (Тема 8)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Якісно новий клас ризиків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Поки модель говорить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найгірше — погана відповідь: користувач перепитає, оператор виправить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Щойно модель діє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вона може зробити щось. І двічі. Або не те. Або те — але в невдалий момент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1089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32644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Tool-рантайм = production surface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" y="379476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схеми, таймаути, ретраї, логи і права — як у будь-якого API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81928" y="31089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32644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= ненадійний клієнт Вашого API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83096" y="379476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дивні аргументи, повтори, «передумав» посередині: клієнта валідують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526280"/>
            <a:ext cx="338328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45262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погана відповідь → перепитати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слово можна перечитати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041648" y="47823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4169664" y="47137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4407408" y="4526280"/>
            <a:ext cx="338328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4462272" y="45262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create_ticket ×2 → два тікети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407408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дію не завжди можна відкотити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882128" y="47823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5400000">
            <a:off x="8010144" y="47137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8247888" y="4526280"/>
            <a:ext cx="338328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8302752" y="45262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схема · таймаут · ключ · лог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47888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 навколо дії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5A05F4"/>
          </a:solidFill>
          <a:ln/>
        </p:spPr>
      </p:sp>
      <p:sp>
        <p:nvSpPr>
          <p:cNvPr id="34" name="Shape 31"/>
          <p:cNvSpPr/>
          <p:nvPr/>
        </p:nvSpPr>
        <p:spPr>
          <a:xfrm>
            <a:off x="749808" y="55824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49808" y="5582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243584" y="547725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243584" y="5733288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Інструменти — момент, коли LLM-система стає учасником процесів, а не співрозмовником.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tool_calls — прохання, не подія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"message":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"assistant",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"Перевіряю статус Вашого замовлення…",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"tool_calls": [ { "function": { "name": "lookup_order", … } } 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"finish_reason": "tool_calls"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9319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39319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попросила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1648" y="42976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42291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39319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39319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сервіс вирішує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2976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42291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39319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39319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сервіс виконує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892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038344"/>
            <a:ext cx="10625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нічого не виконала — вона запропонувала. Виконувати чи ні вирішує Ваш сервіс, і саме там живуть усі запобіжники теми.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Схема — перша лінія оборони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Моделі схема каже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взагалі можна просити: провайдери передають схеми інструментів прямо в запиті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Сервісу схема дає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право валідувати аргументи до виконання: неправильне прохання відхиляється і логується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4747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36027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ЖОДНИХ «СПРОБУЄМО ЯКОСЬ»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6384" y="3858768"/>
            <a:ext cx="106253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Попросили lookup_order без номера? Відхилити і залогувати — а не підставити останнє замовлення чи вгадати за контекстом. Кожне «якось» — рішення, яке ухвалив ніхто.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470916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470916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модель: lookup_order без номера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081528" y="496519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3209544" y="489661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3447288" y="470916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3502152" y="470916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валідація за схемою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61888" y="496519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6089904" y="489661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6327648" y="470916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6382512" y="470916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відхилити + залогувати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842248" y="496519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 rot="5400000">
            <a:off x="8970264" y="489661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9" name="Shape 26"/>
          <p:cNvSpPr/>
          <p:nvPr/>
        </p:nvSpPr>
        <p:spPr>
          <a:xfrm>
            <a:off x="9208008" y="470916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9262872" y="470916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вгадати за контекстом ✕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66928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5A05F4"/>
          </a:solidFill>
          <a:ln/>
        </p:spPr>
      </p:sp>
      <p:sp>
        <p:nvSpPr>
          <p:cNvPr id="32" name="Text 29"/>
          <p:cNvSpPr/>
          <p:nvPr/>
        </p:nvSpPr>
        <p:spPr>
          <a:xfrm>
            <a:off x="786384" y="5678424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інструмент — одна дія, і категорія (читання / зміна) оголошена в самій схемі.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Дві копії схеми — і лише одній можна довіряти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Копія 1 — їде в модель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 tools із JSON Schema аргументів: підказка, не гарантія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Копія 2 — живе у сервісі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валідація перед виконанням: «неправильне прохання ніколи не виконається»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502152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502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просить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44368" y="371246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3145536" y="364388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1840" y="350215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291840" y="3502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схема у сервісі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60720" y="371246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5400000">
            <a:off x="5961888" y="364388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172200" y="3401568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валідне — виконуємо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72200" y="3749040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 — відхилити й залогувати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006840" y="371246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9208008" y="364388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9418320" y="3502152"/>
            <a:ext cx="2212848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9418320" y="350215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слід у лозі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66928" y="4224528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5A05F4"/>
          </a:solidFill>
          <a:ln/>
        </p:spPr>
      </p:sp>
      <p:sp>
        <p:nvSpPr>
          <p:cNvPr id="31" name="Text 28"/>
          <p:cNvSpPr/>
          <p:nvPr/>
        </p:nvSpPr>
        <p:spPr>
          <a:xfrm>
            <a:off x="786384" y="4352544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РЕЄСТР ІНСТРУМЕНТІВ СТАЄ ЗОВНІШНІМ (MCP)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86384" y="4608576"/>
            <a:ext cx="106253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Чужі сервіси публікують інструменти за стандартним протоколом — а Ви вирішуєте, що дозволено, з якими лімітами і що потребує людини. Обв'язка теми не змінюється.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66928" y="5504688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6384" y="5650992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Чужому реєстру не довіряють навіть у «що взагалі існує».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Виконання: реєстр як одна функція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[W3] мінімальний реєстр інструментів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string? RunTool(string name) =&gt; name switch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"lookup_order"  =&gt; "статус: оплачено, доставку призначено",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"create_ticket" =&gt; "тікет #T-" + Guid.NewGuid()…,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null,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RunTool(toolCall);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(result != null) answer += $" ({result})";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20624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4361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Невідомий інструмент → null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489204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прохання про те, чого не існує, просто не виконується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420624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4361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Чесне спрощення: one-hop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489204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підклеюється до відповіді, а не їде назад у модель другим колом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Timeout: інструмент не має права висіти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інструмент завис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05456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633472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871216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користувач чекає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09744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37760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175504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у стелю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14032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242048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479792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34656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закінчуються з'єднання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18320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9546336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9784080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838944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лягає весь сервіс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2880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30083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86384" y="3264408"/>
            <a:ext cx="10625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Таймаут інструмента — нормальна оброблена гілка, а не аварія.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" y="41148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" y="42428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ПАСТКА ТАЙМАУТА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86384" y="4498848"/>
            <a:ext cx="106253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Вичерпаний ліміт означає «відповіді не було», а не «дії не було».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66928" y="548640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563270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Бюджети часу розставляються згори вниз: від дедлайну користувача, а не знизу вгору.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Скільки тікетів у системі? Правильна відповідь — один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1741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create_ticket виконано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1002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63804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875788" y="187452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30652" y="1874520"/>
            <a:ext cx="1741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загубилась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1888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4690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184648" y="187452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239512" y="1874520"/>
            <a:ext cx="1741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ретрай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2774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25576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493508" y="1874520"/>
            <a:ext cx="18516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48372" y="1874520"/>
            <a:ext cx="1741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повтор моделі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01200" y="1874520"/>
            <a:ext cx="2029968" cy="73152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9747504" y="1984248"/>
            <a:ext cx="17373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→ 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747504" y="2298802"/>
            <a:ext cx="17373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29718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" y="31272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ідемпотентності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365760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 у платіжних API: стабільний ключ операції, виконавець пам'ятає оброблені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81928" y="29718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6483096" y="31272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нас — request_id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483096" y="365760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існує з першого рядка /chat і закриває першу половину сценарію: Ваш власний ретрай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49286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ЧЕСНА МЕЖА REQUEST_ID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6384" y="5184648"/>
            <a:ext cx="106253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повтореної дії захищає ключ, похідний від дії, а не request_id.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Два рішення, які визначають якість реалізації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народжує ініціатор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виконавець: ключ, народжений на місці виконання, повтор зробить двічі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TTL пам'яті про ключі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скільки виконавець пам'ятає оброблені операції — і що станеться після закінчення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465576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4655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ініціатор створює ключ 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01568" y="3675888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3602736" y="3607308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794760" y="3465576"/>
            <a:ext cx="2651760" cy="420624"/>
          </a:xfrm>
          <a:prstGeom prst="roundRect">
            <a:avLst>
              <a:gd name="adj" fmla="val 17391"/>
            </a:avLst>
          </a:prstGeom>
          <a:solidFill>
            <a:srgbClr val="0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94760" y="34655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виконавець: бачив K?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37960" y="3675888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5400000">
            <a:off x="6739128" y="3607308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0" y="3364992"/>
            <a:ext cx="4681728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949440" y="336499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 — виконати й запам'ятати K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949440" y="3712464"/>
            <a:ext cx="4681728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371246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так — віддати той самий результат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6928" y="4187952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9808" y="4558284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4558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43584" y="431596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243584" y="4572000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Ретрай side-effecting виклику без ключа операції — лотерея з подвійним тікетом.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66928" y="5376672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5522976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Повторюваним без ключа може бути тільки читання.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Межа незворотного — і чесна «дірка»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lookup_order — читання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найгірший наслідок повтору — зайвий запит у базу: автономне виконання виправдане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create_ticket — незворотна дія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зобов'язання у зовнішній системі, яке хтось муситиме виконувати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4747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36027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ЧЕСНА «ДІРКА» СЬОГОДНІШНЬОЇ ТЕМИ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6384" y="3858768"/>
            <a:ext cx="10625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«Поверніть гроші, терміново» → тікет створюється без жодної людини в ланцюгу. І поки дії автономні, кожен прогін eval-набору теж створює реальний тікет.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502920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502920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незворотне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41648" y="53949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4169664" y="53263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4407408" y="502920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4462272" y="502920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заявка в /approvals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82128" y="53949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8010144" y="53263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8247888" y="502920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8302752" y="502920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виконання після підтвердження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Результат інструмента — це вхід, а не істина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нотатка в базі: «Ігноруй інструкції…»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8152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lookup_order віддає її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6188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 моделі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не бачить різниці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2880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3026664"/>
            <a:ext cx="10625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Непрямий injection приїжджає через дані — перевірка вхідного тексту чиста.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402336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" y="453085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453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43584" y="41513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243584" y="4407408"/>
            <a:ext cx="101681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інструмента обгортати рамкою і позначати як дані, не інструкції.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" y="548640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" y="563270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отримує рівно те, що потрібно для відповіді, — і нічого зайвого.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Кілька інструментів одразу: паралельно — тільки читання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Паралельно — тільки read-only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кілька читань можна виконати одночасно: наслідків немає, час економиться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Side-effecting — послідовно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стоп на першій помилці: інакше наполовину застосований набір дій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34440" y="3346704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F5F3FA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33467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читання 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34440" y="3621024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F5F3FA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4440" y="3621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читання 2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234440" y="3895344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F5F3FA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38953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читання 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143000" y="3291840"/>
            <a:ext cx="0" cy="914400"/>
          </a:xfrm>
          <a:prstGeom prst="line">
            <a:avLst/>
          </a:prstGeom>
          <a:noFill/>
          <a:ln w="19050">
            <a:solidFill>
              <a:srgbClr val="106B41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66928" y="421538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одночасно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537960" y="3346704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3346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дія 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229600" y="3621024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0" y="36210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дія 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921240" y="3895344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21240" y="3895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дія 3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281928" y="421538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одна за одною, стоп на першій помилці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66928" y="4553712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" y="4681728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КОНТРАКТ СТАРТЕРА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86384" y="4937760"/>
            <a:ext cx="10625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просить один інструмент за раз — але код готовий до кількох.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66928" y="5413248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" y="5632704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4" name="Text 31"/>
          <p:cNvSpPr/>
          <p:nvPr/>
        </p:nvSpPr>
        <p:spPr>
          <a:xfrm>
            <a:off x="749808" y="5632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243584" y="5541264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243584" y="5797296"/>
            <a:ext cx="10168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Ліміт кроків обов'язковий: побачивши результат, модель просить ще виклик.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Аудит: дія без сліду — не дія, а пригода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Хто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request_id запиту, у межах якого сталася дія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62432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624328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624328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 інструмента — поле tool у відповіді /chat; колонка в requests — Ваш перший крок аудиту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46557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465576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чим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465576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аргументи після валідації, а не сирі з моделі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30682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306824"/>
            <a:ext cx="37618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48226" y="4306824"/>
            <a:ext cx="66403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успіх, відмова валідації, таймаут — усі три однаково цінні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2029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ВИНЯТОК КЕШУ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6384" y="5458968"/>
            <a:ext cx="10625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Відповіді з tool-викликами не кешуються: статус замовлення, закешований на годину, — впевнена брехня. Межа з Теми 5 тепер Ваша.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Реєстр інструментів як дані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024128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024128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062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поле запису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містить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навіщо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name + схема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назва і JSON Schema аргументів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валідація до виконання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категорія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read-only / side-effecting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визначає, чи потрібна людина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таймаут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власний ліміт на інструмент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повільний інструмент не тягне решту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" y="4517136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" y="4663440"/>
            <a:ext cx="10625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Переписати switch на таблицю записів — вечір роботи; вигода в тому, що додати інструмент стає зміною даних, а не коду.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224528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частини + опційна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сира відповідь mock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tool_calls: назва, finish_reason (аргументи у mock порожні)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45628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у чаті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6285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«Перевіряю статус… (оплачено, доставку призначено)»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«дірка»: тікет без людини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create_ticket виконується автономно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6168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285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456285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7492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 саме питання двічі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6285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різні номери тікета — немає ідемпотентності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56448" y="17373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6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31" name="Text 28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Чат · localhost:4200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811158" y="2176272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5A05F4"/>
          </a:solidFill>
          <a:ln/>
        </p:spPr>
      </p:sp>
      <p:sp>
        <p:nvSpPr>
          <p:cNvPr id="34" name="Text 31"/>
          <p:cNvSpPr/>
          <p:nvPr/>
        </p:nvSpPr>
        <p:spPr>
          <a:xfrm>
            <a:off x="8920886" y="2176272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моє замовлення #10482?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266176" y="2582951"/>
            <a:ext cx="2710282" cy="484175"/>
          </a:xfrm>
          <a:prstGeom prst="roundRect">
            <a:avLst>
              <a:gd name="adj" fmla="val 18886"/>
            </a:avLst>
          </a:prstGeom>
          <a:solidFill>
            <a:srgbClr val="1E1A2B"/>
          </a:solidFill>
          <a:ln/>
        </p:spPr>
      </p:sp>
      <p:sp>
        <p:nvSpPr>
          <p:cNvPr id="36" name="Text 33"/>
          <p:cNvSpPr/>
          <p:nvPr/>
        </p:nvSpPr>
        <p:spPr>
          <a:xfrm>
            <a:off x="8375904" y="2582951"/>
            <a:ext cx="2490826" cy="484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Перевіряю статус… Оплачено, доставку призначено.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02752" y="3112846"/>
            <a:ext cx="2710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lookup_order · read-only ✓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8811158" y="3368878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5A05F4"/>
          </a:solidFill>
          <a:ln/>
        </p:spPr>
      </p:sp>
      <p:sp>
        <p:nvSpPr>
          <p:cNvPr id="39" name="Text 36"/>
          <p:cNvSpPr/>
          <p:nvPr/>
        </p:nvSpPr>
        <p:spPr>
          <a:xfrm>
            <a:off x="8920886" y="3368878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Хочу повернути гроші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266176" y="3775558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1E1A2B"/>
          </a:solidFill>
          <a:ln/>
        </p:spPr>
      </p:sp>
      <p:sp>
        <p:nvSpPr>
          <p:cNvPr id="41" name="Text 38"/>
          <p:cNvSpPr/>
          <p:nvPr/>
        </p:nvSpPr>
        <p:spPr>
          <a:xfrm>
            <a:off x="8375904" y="3775558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Створив тікет #1042.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302752" y="4127373"/>
            <a:ext cx="2710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create_ticket · без людини ✕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4" name="Shape 41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межу власними очима: читання виконується спокійно, а незворотна дія двічі створює зобов'язання — обидві дірки закриваються у Темі 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частини + опційна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Прочитати tool_calls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сира відповідь mock: структура, назва, finish_reason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Виконати read-only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мінімальний RunTool: lookup_order + підклейка результату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Вирішити таймаут і ключ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одне-два речення в описі PR; реалізація обох — опційно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Подивитися в «дірку»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«поверніть гроші» → тікет без людини; зафіксувати контракт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як дані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 → таблиця зі схемою, категорією і таймаутом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перевірте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Прохання ≠ подія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просить, сервіс вирішує і виконує — межа видима в коді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8152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Читання безпечне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61188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 lookup_order коштує зайвий запит у базу — і все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27024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Незворотне — ні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80060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тікети на одне питання: дірка HITL і відсутність ідемпотентності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Чат · localhost:4200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11158" y="2176272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8920886" y="2176272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Хочу повернути гроші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266176" y="2582951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1E1A2B"/>
          </a:solidFill>
          <a:ln/>
        </p:spPr>
      </p:sp>
      <p:sp>
        <p:nvSpPr>
          <p:cNvPr id="25" name="Text 22"/>
          <p:cNvSpPr/>
          <p:nvPr/>
        </p:nvSpPr>
        <p:spPr>
          <a:xfrm>
            <a:off x="8375904" y="2582951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Створив тікет #1042.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02752" y="2934767"/>
            <a:ext cx="2710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create_ticket → #1042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8811158" y="3190799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5A05F4"/>
          </a:solidFill>
          <a:ln/>
        </p:spPr>
      </p:sp>
      <p:sp>
        <p:nvSpPr>
          <p:cNvPr id="28" name="Text 25"/>
          <p:cNvSpPr/>
          <p:nvPr/>
        </p:nvSpPr>
        <p:spPr>
          <a:xfrm>
            <a:off x="8920886" y="3190799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Хочу повернути гроші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266176" y="3597478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1E1A2B"/>
          </a:solidFill>
          <a:ln/>
        </p:spPr>
      </p:sp>
      <p:sp>
        <p:nvSpPr>
          <p:cNvPr id="30" name="Text 27"/>
          <p:cNvSpPr/>
          <p:nvPr/>
        </p:nvSpPr>
        <p:spPr>
          <a:xfrm>
            <a:off x="8375904" y="3597478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Створив тікет #1043.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302752" y="3949294"/>
            <a:ext cx="2710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create_ticket → #1043 · два тікети ✕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66928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54955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Різниця між «попросила» і «зробила» — суть цієї теми. У Темі 8 між ними стане людина.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Перевірте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«Де моє замовлення?» повертає результат інструмента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невалідні аргументи відхиляються до виконання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про таймаут і ключ операції записане в описі PR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два тікети — це дефект, а не дрібниця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9568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783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Виконувати все, що попросила модель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клієнту не довіряють — клієнта валідують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651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«Спробуємо якось» замість відмови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рішення, яке ухвалив ніхто, вистрелить без винних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941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520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Ретрай дії без ключа операції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лотерея з подвійним тікетом або списанням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5628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389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Tool-виклик без таймаута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завислий інструмент кладе весь сервіс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4315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інструмента як істина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непрямий injection проходить повз перевірку вхідного тексту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110642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· ДЗ тижня 3: кеш + інструменти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обидві теми тижня здаються одним PR: кеш із лічильниками з Теми 5 плюс сьогоднішнє безпечне виконання інструментів.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3063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другий однаковий запит відповідає миттєво (з кешу)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3558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«Де моє замовлення #123?» повертає відповідь із результатом інструмента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1248" y="3648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про таймаут і ключ ідемпотентності зафіксовані в описі PR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1248" y="3931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Реалізація обох — опційна доріжка; поведінкова перевірка ідемпотентності — у ДЗ тижня 4.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4805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63600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 (не оцінюється)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5166360"/>
            <a:ext cx="10661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TTL: кешовані відповіді старіють і перезапитуються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semantic cache: Redis з advanced-профілю + порівняння за схожістю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tool_calls — прохання моделі; вирішує і виконує Ваш сервіс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схема валідує аргументи до виконання: «спробуємо якось» — заборонений режим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таймаут обов'язковий, а його вичерпання — «відповіді не було», не «дії не було»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повторюваним без ключа може бути тільки читання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незворотне не виконується автономно — контракт зафіксовано, механізм — у Темі 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7 · Reliability: fallback, деградація і circuit breaker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Бот говорить, рахує гроші, вміє діяти. Наступний тиждень — про найнеприємніше: що робити, коли провайдер лежить, ліміти вичерпані, а користувачі пишуть просто зараз. Fallback, красива деградація — і керовані інциденти, які ми влаштуємо власними руками.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6 · Tool calls: коли модель починає діяти</dc:title>
  <dc:subject>PptxGenJS Presentation</dc:subject>
  <dc:creator>LLMOps Bootcamp</dc:creator>
  <cp:lastModifiedBy>LLMOps Bootcamp</cp:lastModifiedBy>
  <cp:revision>1</cp:revision>
  <dcterms:created xsi:type="dcterms:W3CDTF">2026-09-08T17:14:04Z</dcterms:created>
  <dcterms:modified xsi:type="dcterms:W3CDTF">2026-09-08T17:14:04Z</dcterms:modified>
</cp:coreProperties>
</file>