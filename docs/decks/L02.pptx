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15400" y="1417320"/>
            <a:ext cx="2834640" cy="2834640"/>
          </a:xfrm>
          <a:prstGeom prst="roundRect">
            <a:avLst>
              <a:gd name="adj" fmla="val 5161"/>
            </a:avLst>
          </a:prstGeom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99448" y="1801368"/>
            <a:ext cx="2066544" cy="2066544"/>
          </a:xfrm>
          <a:prstGeom prst="roundRect">
            <a:avLst>
              <a:gd name="adj" fmla="val 7080"/>
            </a:avLst>
          </a:prstGeom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83496" y="2185416"/>
            <a:ext cx="1298448" cy="1298448"/>
          </a:xfrm>
          <a:prstGeom prst="roundRect">
            <a:avLst>
              <a:gd name="adj" fmla="val 11268"/>
            </a:avLst>
          </a:prstGeom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417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1 · УРОК 2 З 12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41248" y="1828800"/>
            <a:ext cx="8138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lifecycle: промпт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 production-артефакт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41248" y="3794760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ED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Одне речення в промпті може зробити більше шкоди, ніж поганий деплой, — бо деплой хоча б лишає слід. Сьогодні промпт переїжджає з коду в реєстр із версіями, promote і rollback.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41248" y="544068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544068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597810" y="544068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97810" y="544068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09898" y="544068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9898" y="544068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605272" y="544068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05272" y="544068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650785" y="544068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50785" y="544068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768535" y="544068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68535" y="544068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ви зможете після уроку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Перенести промпт у реєстр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із хардкоду в базу, дві версії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Розділити інструкції й дані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відкрити вектор injection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Зробити activate атомарним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 і rollback — одна операція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4" name="Text 22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Заповнити prompt_version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знайти регресію SQL-запитом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9" name="Text 27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Відтворити регресію наживо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→ «не знаю» → повернути v2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 на сьогодні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Регресія без коміта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1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2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Промпт — не «просто текст»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5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6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Анатомія промпта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9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Змінні й підстановка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23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4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Реєстр у базі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8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Сервіс читає активну версію</a:t>
            </a:r>
            <a:endParaRPr lang="en-US" sz="1450" dirty="0"/>
          </a:p>
        </p:txBody>
      </p:sp>
      <p:sp>
        <p:nvSpPr>
          <p:cNvPr id="30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32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 і rollback</a:t>
            </a:r>
            <a:endParaRPr lang="en-US" sz="1450" dirty="0"/>
          </a:p>
        </p:txBody>
      </p:sp>
      <p:sp>
        <p:nvSpPr>
          <p:cNvPr id="34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36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Чому mock відчуває промпт</a:t>
            </a:r>
            <a:endParaRPr lang="en-US" sz="1450" dirty="0"/>
          </a:p>
        </p:txBody>
      </p:sp>
      <p:sp>
        <p:nvSpPr>
          <p:cNvPr id="38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0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Дисципліна версій</a:t>
            </a:r>
            <a:endParaRPr lang="en-US" sz="1450" dirty="0"/>
          </a:p>
        </p:txBody>
      </p:sp>
      <p:sp>
        <p:nvSpPr>
          <p:cNvPr id="42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43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44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 · опційно</a:t>
            </a:r>
            <a:endParaRPr lang="en-US" sz="1450" dirty="0"/>
          </a:p>
        </p:txBody>
      </p:sp>
      <p:sp>
        <p:nvSpPr>
          <p:cNvPr id="46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8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52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4" name="Shape 52"/>
          <p:cNvSpPr/>
          <p:nvPr/>
        </p:nvSpPr>
        <p:spPr>
          <a:xfrm>
            <a:off x="566928" y="585216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/>
        </p:spPr>
      </p:sp>
      <p:sp>
        <p:nvSpPr>
          <p:cNvPr id="55" name="Text 53"/>
          <p:cNvSpPr/>
          <p:nvPr/>
        </p:nvSpPr>
        <p:spPr>
          <a:xfrm>
            <a:off x="786384" y="599846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 «git чистий, система зламана» — до реєстру, у якому відкат займає секунду.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Терміни, якими користуватимемось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Шість слів сьогоднішнього уроку — щоб вони не відволікали по ходу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реєстр промптів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таблиця в базі: кожна версія — рядок, активна одна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версія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незмінний текст промпта; активну не редагуємо ніколи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promote / rollback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зробити версію активною; у нас це одна операція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поле лога: котра версія відповідала користувачу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few-shot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1–5 показових пар просто в промпті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 injection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дані, які модель прочитала як інструкцію (урок 8)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Кожне розберемо на місці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Регресія без коміта: git чистий, система зламана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664208" y="2423160"/>
            <a:ext cx="8869680" cy="0"/>
          </a:xfrm>
          <a:prstGeom prst="line">
            <a:avLst/>
          </a:prstGeom>
          <a:noFill/>
          <a:ln w="25400">
            <a:solidFill>
              <a:srgbClr val="E4E6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81912" y="2340864"/>
            <a:ext cx="164592" cy="164592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9" name="Text 7"/>
          <p:cNvSpPr/>
          <p:nvPr/>
        </p:nvSpPr>
        <p:spPr>
          <a:xfrm>
            <a:off x="97840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П'ятниця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9552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хтось «трохи уточнив формулювання»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016752" y="2340864"/>
            <a:ext cx="164592" cy="164592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2" name="Text 10"/>
          <p:cNvSpPr/>
          <p:nvPr/>
        </p:nvSpPr>
        <p:spPr>
          <a:xfrm>
            <a:off x="541324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Понеділок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23036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підтримка тоне у скаргах: бот відповідає не по темі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0451592" y="2340864"/>
            <a:ext cx="164592" cy="164592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5" name="Text 13"/>
          <p:cNvSpPr/>
          <p:nvPr/>
        </p:nvSpPr>
        <p:spPr>
          <a:xfrm>
            <a:off x="984808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Розслідування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966520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чистий, деплой тиждень тому — що змінилося?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41605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ECEBFB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4288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86384" y="454456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Проти регресії без коміта безсилі і git, і HTTP-моніторинг: метрики зелені, помилок немає — просто відповіді стали гіршими. Захист із двох частин: реєстр версій і слід у лозі.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 живе код — і як живе типовий промпт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108960"/>
                <a:gridCol w="50292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код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промпт у типовій команді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Хто і коли міняв?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 blame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ніхто не знає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9E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Що саме змінилося?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 у PR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«та я трохи переформулював»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9E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Яка версія в проді?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тег релізу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та, що зараз у коді… мабуть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9E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Як відкотити?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revert + деплой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згадати, як було, і вписати назад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9E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E9F3EE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історія версій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041648" y="5038344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4169664" y="4969764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2" name="Shape 9"/>
          <p:cNvSpPr/>
          <p:nvPr/>
        </p:nvSpPr>
        <p:spPr>
          <a:xfrm>
            <a:off x="440740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E9F3EE"/>
          </a:solidFill>
          <a:ln/>
        </p:spPr>
      </p:sp>
      <p:sp>
        <p:nvSpPr>
          <p:cNvPr id="13" name="Text 10"/>
          <p:cNvSpPr/>
          <p:nvPr/>
        </p:nvSpPr>
        <p:spPr>
          <a:xfrm>
            <a:off x="446227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атомарний promote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882128" y="5038344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8010144" y="4969764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6" name="Shape 13"/>
          <p:cNvSpPr/>
          <p:nvPr/>
        </p:nvSpPr>
        <p:spPr>
          <a:xfrm>
            <a:off x="824788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E9F3EE"/>
          </a:solidFill>
          <a:ln/>
        </p:spPr>
      </p:sp>
      <p:sp>
        <p:nvSpPr>
          <p:cNvPr id="17" name="Text 14"/>
          <p:cNvSpPr/>
          <p:nvPr/>
        </p:nvSpPr>
        <p:spPr>
          <a:xfrm>
            <a:off x="830275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слід у лозі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66928" y="56235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19" name="Text 16"/>
          <p:cNvSpPr/>
          <p:nvPr/>
        </p:nvSpPr>
        <p:spPr>
          <a:xfrm>
            <a:off x="786384" y="57698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Реєстр закриває всі чотири рядки трьома механізмами.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Анатомія промпта: що саме ви версіонуєте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1225296" y="1005840"/>
            <a:ext cx="82231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Чотири частини — і те, як кожна ламається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6" name="Text 4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66928" y="169164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ECEBFB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1691640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Роль і межа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4548226" y="1691640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ким модель себе вважає · без межі консультує з будь-чого вашим голосом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59689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86384" y="259689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548226" y="259689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тон, довжина, коли ескалювати · побажання не змінюють нічого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502152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6384" y="3502152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Формат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548226" y="3502152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структура відповіді · «як вийде» перетворює парсинг на лотерею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4407408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6384" y="4407408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Приклади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548226" y="4407408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1–5 показових пар · їдуть у кожному запиті й коштують грошей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544068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E9F3EE"/>
          </a:solidFill>
          <a:ln/>
        </p:spPr>
      </p:sp>
      <p:sp>
        <p:nvSpPr>
          <p:cNvPr id="21" name="Text 19"/>
          <p:cNvSpPr/>
          <p:nvPr/>
        </p:nvSpPr>
        <p:spPr>
          <a:xfrm>
            <a:off x="786384" y="5568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86384" y="5824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Разом ці чотири частини — одна незмінна версія. Змінили будь-яку — це нова версія, а не «трохи підправив».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Правила, які працюють, і ціна прикладів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Побажання — не інструкція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68096" y="237744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«будь точним», «не вигадуй» — немає нічого, що модель могла б порушити перевірюваним чином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81928" y="169164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9F3EE"/>
          </a:solidFill>
          <a:ln/>
        </p:spPr>
      </p:sp>
      <p:sp>
        <p:nvSpPr>
          <p:cNvPr id="11" name="Text 9"/>
          <p:cNvSpPr/>
          <p:nvPr/>
        </p:nvSpPr>
        <p:spPr>
          <a:xfrm>
            <a:off x="6483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Перевірювана вимога — дія і межа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83096" y="237744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«немає відповіді — скажи, що не знаєш, і запропонуй заявку»; «не більше трьох речень»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566160"/>
            <a:ext cx="53492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8096" y="37216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Few-shot: 1–5 показових пар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768096" y="4251960"/>
            <a:ext cx="49469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приклад має демонструвати саме те, що модель робить неправильно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81928" y="3566160"/>
            <a:ext cx="5349240" cy="1417320"/>
          </a:xfrm>
          <a:prstGeom prst="roundRect">
            <a:avLst>
              <a:gd name="adj" fmla="val 7742"/>
            </a:avLst>
          </a:prstGeom>
          <a:solidFill>
            <a:srgbClr val="F8F0E2"/>
          </a:solidFill>
          <a:ln/>
        </p:spPr>
      </p:sp>
      <p:sp>
        <p:nvSpPr>
          <p:cNvPr id="17" name="Text 15"/>
          <p:cNvSpPr/>
          <p:nvPr/>
        </p:nvSpPr>
        <p:spPr>
          <a:xfrm>
            <a:off x="6483096" y="37216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Ціна прикладів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483096" y="4251960"/>
            <a:ext cx="49469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їдуть у кожному запиті — множаться на весь трафік (урок 4)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52120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53400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86384" y="559612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Стабільне (роль, правила, формат) — на початку, змінне (контекст користувача) — у кінці: провайдери кешують стабільний префікс дешевше.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Шов підстановки: тут народжується injection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106253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так робити не треба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systemPrompt = template +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"\n\nДані клієнта: 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customerNotes;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6692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ваші правила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041648" y="374904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5400000">
            <a:off x="4169664" y="368046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3" name="Shape 11"/>
          <p:cNvSpPr/>
          <p:nvPr/>
        </p:nvSpPr>
        <p:spPr>
          <a:xfrm>
            <a:off x="440740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9E9E8"/>
          </a:solidFill>
          <a:ln/>
        </p:spPr>
      </p:sp>
      <p:sp>
        <p:nvSpPr>
          <p:cNvPr id="14" name="Text 12"/>
          <p:cNvSpPr/>
          <p:nvPr/>
        </p:nvSpPr>
        <p:spPr>
          <a:xfrm>
            <a:off x="446227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дані клієнта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882128" y="374904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5400000">
            <a:off x="8010144" y="368046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7" name="Shape 15"/>
          <p:cNvSpPr/>
          <p:nvPr/>
        </p:nvSpPr>
        <p:spPr>
          <a:xfrm>
            <a:off x="824788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9E9E8"/>
          </a:solidFill>
          <a:ln/>
        </p:spPr>
      </p:sp>
      <p:sp>
        <p:nvSpPr>
          <p:cNvPr id="18" name="Text 16"/>
          <p:cNvSpPr/>
          <p:nvPr/>
        </p:nvSpPr>
        <p:spPr>
          <a:xfrm>
            <a:off x="830275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один потік тексту для моделі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44348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E9F3EE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4562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86384" y="481888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Інструкції та дані живуть у різних місцях: усе від користувача чи з бази їде окремим user-повідомленням. Текст міг потрапити туди без зловмисника — коментар оператора, поле форми, підтягнутий лист.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Підстановка — в одному місці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шаблон із реєстру: "Ти асистент підтримки {service}. Відповідай {lang}."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systemPrompt = template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.Replace("{service}", "SupportGW")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.Replace("{lang}", "українською");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дані користувача сюди НЕ підставляються — вони йдуть окремим user-повідомленням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388620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9E9E8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4014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86384" y="427024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Складати промпт із трьох джерел «по дорозі»: щось із реєстру, щось із конфіга, щось дописано в коді. У лозі — версія v3, а в модель летять два різні промпти.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Реєстр у базі: розтин таблиці prompts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6035040" cy="2651760"/>
          </a:xfrm>
          <a:prstGeom prst="roundRect">
            <a:avLst>
              <a:gd name="adj" fmla="val 4138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37944"/>
            <a:ext cx="559612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TABLE IF NOT EXISTS prompts (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   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version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body   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active      BOOLEAN NOT NULL DEFAULT false,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created_at  TIMESTAMPTZ NOT NULL DEFAULT now(),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PRIMARY KEY (name, version)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949440" y="1691640"/>
            <a:ext cx="4681728" cy="1280160"/>
          </a:xfrm>
          <a:prstGeom prst="roundRect">
            <a:avLst>
              <a:gd name="adj" fmla="val 8571"/>
            </a:avLst>
          </a:prstGeom>
          <a:solidFill>
            <a:srgbClr val="F8F0E2"/>
          </a:solidFill>
          <a:ln/>
        </p:spPr>
      </p:sp>
      <p:sp>
        <p:nvSpPr>
          <p:cNvPr id="10" name="Text 8"/>
          <p:cNvSpPr/>
          <p:nvPr/>
        </p:nvSpPr>
        <p:spPr>
          <a:xfrm>
            <a:off x="7150608" y="1847088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стартері таблиця порожня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150608" y="2377440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навмисно: наповнюєте ви — v1 і v2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949440" y="3108960"/>
            <a:ext cx="468172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50608" y="3264408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 (name, version)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7150608" y="3794760"/>
            <a:ext cx="42793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 назва — багато версій, кожна незмінна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ECEBFB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476402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Сьогодні покладете туди v1 «You are an assistant.» (зумисне погану) і v2 «You are a support assistant. Be concise and helpful.» — активною зробите v2.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Сервіс читає реєстр — і пише версію в лог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6583680" cy="1691640"/>
          </a:xfrm>
          <a:prstGeom prst="roundRect">
            <a:avLst>
              <a:gd name="adj" fmla="val 6486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37944"/>
            <a:ext cx="6144768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[W1] промпт беремо з реєстру — активну версію, а не хардкод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version, body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prompts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active = true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created_at DESC LIMIT 1;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498080" y="1691640"/>
            <a:ext cx="4133088" cy="1691640"/>
          </a:xfrm>
          <a:prstGeom prst="roundRect">
            <a:avLst>
              <a:gd name="adj" fmla="val 6486"/>
            </a:avLst>
          </a:prstGeom>
          <a:solidFill>
            <a:srgbClr val="F9E9E8"/>
          </a:solidFill>
          <a:ln/>
        </p:spPr>
      </p:sp>
      <p:sp>
        <p:nvSpPr>
          <p:cNvPr id="10" name="Text 8"/>
          <p:cNvSpPr/>
          <p:nvPr/>
        </p:nvSpPr>
        <p:spPr>
          <a:xfrm>
            <a:off x="7699248" y="1847088"/>
            <a:ext cx="3730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Fail-visible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99248" y="2377440"/>
            <a:ext cx="373075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реєстр порожній → версія «none» і дефолт без «support»: поломка помітна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ECEBFB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081528" y="416052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rot="5400000">
            <a:off x="3209544" y="409194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6" name="Shape 14"/>
          <p:cNvSpPr/>
          <p:nvPr/>
        </p:nvSpPr>
        <p:spPr>
          <a:xfrm>
            <a:off x="344728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0215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активна версія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961888" y="416052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5400000">
            <a:off x="6089904" y="409194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0" name="Shape 18"/>
          <p:cNvSpPr/>
          <p:nvPr/>
        </p:nvSpPr>
        <p:spPr>
          <a:xfrm>
            <a:off x="632764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8251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виклик моделі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842248" y="416052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5400000">
            <a:off x="8970264" y="409194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4" name="Shape 22"/>
          <p:cNvSpPr/>
          <p:nvPr/>
        </p:nvSpPr>
        <p:spPr>
          <a:xfrm>
            <a:off x="920800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E9F3EE"/>
          </a:solidFill>
          <a:ln/>
        </p:spPr>
      </p:sp>
      <p:sp>
        <p:nvSpPr>
          <p:cNvPr id="25" name="Text 23"/>
          <p:cNvSpPr/>
          <p:nvPr/>
        </p:nvSpPr>
        <p:spPr>
          <a:xfrm>
            <a:off x="926287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 у лозі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E9F3EE"/>
          </a:solidFill>
          <a:ln/>
        </p:spPr>
      </p:sp>
      <p:sp>
        <p:nvSpPr>
          <p:cNvPr id="27" name="Text 25"/>
          <p:cNvSpPr/>
          <p:nvPr/>
        </p:nvSpPr>
        <p:spPr>
          <a:xfrm>
            <a:off x="786384" y="50383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Поле prompt_version, яке з уроку 1 стояло порожнім, від сьогодні заповнене — розслідування якості стає SQL-запитом.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 і rollback — одна операція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5852160" cy="1325880"/>
          </a:xfrm>
          <a:prstGeom prst="roundRect">
            <a:avLst>
              <a:gd name="adj" fmla="val 8276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37944"/>
            <a:ext cx="54132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prompts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SET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active = (version = @v)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WHERE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name = 'support-system';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720840" y="1691640"/>
            <a:ext cx="4910328" cy="1325880"/>
          </a:xfrm>
          <a:prstGeom prst="roundRect">
            <a:avLst>
              <a:gd name="adj" fmla="val 8276"/>
            </a:avLst>
          </a:prstGeom>
          <a:solidFill>
            <a:srgbClr val="E9F3EE"/>
          </a:solidFill>
          <a:ln/>
        </p:spPr>
      </p:sp>
      <p:sp>
        <p:nvSpPr>
          <p:cNvPr id="10" name="Text 8"/>
          <p:cNvSpPr/>
          <p:nvPr/>
        </p:nvSpPr>
        <p:spPr>
          <a:xfrm>
            <a:off x="6922008" y="1847088"/>
            <a:ext cx="45079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Атомарно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922008" y="2377440"/>
            <a:ext cx="450799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існує моменту, коли активні дві версії або жодної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4" name="Text 12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Невідома версія → 404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76809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чесна відмова, не тихе «ок»: одруківка не деактивує все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27024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342900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9" name="Text 17"/>
          <p:cNvSpPr/>
          <p:nvPr/>
        </p:nvSpPr>
        <p:spPr>
          <a:xfrm>
            <a:off x="447141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8348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Подія з міткою часу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447141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розслідування «що змінилося о 19:42» має за що зачепитися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97356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4" name="Text 22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68680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 і rollback — те саме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17473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відкат не потребує окремого механізму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ECEBFB"/>
          </a:solidFill>
          <a:ln/>
        </p:spPr>
      </p:sp>
      <p:sp>
        <p:nvSpPr>
          <p:cNvPr id="28" name="Text 26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Відкат за секунди замість розкопок «а як там було вчора».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 якщо порівняти дві версії на живому трафіку?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ECEBFB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Ділити за користувачем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за запитом: інакше одна людина отримає дві манери — поміряєте плутанину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ECEBFB"/>
          </a:solidFill>
          <a:ln/>
        </p:spPr>
      </p:sp>
      <p:sp>
        <p:nvSpPr>
          <p:cNvPr id="13" name="Shape 11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Метрика — заздалегідь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назвати метрику й тривалість: інакше експеримент вічний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ECEBFB"/>
          </a:solidFill>
          <a:ln/>
        </p:spPr>
      </p:sp>
      <p:sp>
        <p:nvSpPr>
          <p:cNvPr id="18" name="Shape 16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Відкат — одна операція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 сама активація; експеримент без виходу — не експеримент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023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786384" y="416966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Активні дві версії; «кому яку» вирішує той самий шар, що обирає модель (урок 3). У курсі це не обов'язкова доріжка — але механізм у вас уже буде.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Чому mock відчуває промпт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3794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«розумні» відповіді — тільки коли промпт правильний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promptOk = system.Contains(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"support"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StringComparison.OrdinalIgnoreCase);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9E9E8"/>
          </a:solidFill>
          <a:ln/>
        </p:spPr>
      </p:sp>
      <p:sp>
        <p:nvSpPr>
          <p:cNvPr id="10" name="Text 8"/>
          <p:cNvSpPr/>
          <p:nvPr/>
        </p:nvSpPr>
        <p:spPr>
          <a:xfrm>
            <a:off x="62179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 «You are an assistant.»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041648" y="336042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5400000">
            <a:off x="4169664" y="329184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3" name="Shape 11"/>
          <p:cNvSpPr/>
          <p:nvPr/>
        </p:nvSpPr>
        <p:spPr>
          <a:xfrm>
            <a:off x="440740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6227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маркера немає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882128" y="336042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5400000">
            <a:off x="8010144" y="329184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7" name="Shape 15"/>
          <p:cNvSpPr/>
          <p:nvPr/>
        </p:nvSpPr>
        <p:spPr>
          <a:xfrm>
            <a:off x="824788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9E9E8"/>
          </a:solidFill>
          <a:ln/>
        </p:spPr>
      </p:sp>
      <p:sp>
        <p:nvSpPr>
          <p:cNvPr id="18" name="Text 16"/>
          <p:cNvSpPr/>
          <p:nvPr/>
        </p:nvSpPr>
        <p:spPr>
          <a:xfrm>
            <a:off x="830275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«не знаю»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E9F3EE"/>
          </a:solidFill>
          <a:ln/>
        </p:spPr>
      </p:sp>
      <p:sp>
        <p:nvSpPr>
          <p:cNvPr id="20" name="Text 18"/>
          <p:cNvSpPr/>
          <p:nvPr/>
        </p:nvSpPr>
        <p:spPr>
          <a:xfrm>
            <a:off x="62179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 «You are a support assistant…»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041648" y="427482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5400000">
            <a:off x="4169664" y="420624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3" name="Shape 21"/>
          <p:cNvSpPr/>
          <p:nvPr/>
        </p:nvSpPr>
        <p:spPr>
          <a:xfrm>
            <a:off x="440740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46227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 є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882128" y="427482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5400000">
            <a:off x="8010144" y="420624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7" name="Shape 25"/>
          <p:cNvSpPr/>
          <p:nvPr/>
        </p:nvSpPr>
        <p:spPr>
          <a:xfrm>
            <a:off x="824788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E9F3EE"/>
          </a:solidFill>
          <a:ln/>
        </p:spPr>
      </p:sp>
      <p:sp>
        <p:nvSpPr>
          <p:cNvPr id="28" name="Text 26"/>
          <p:cNvSpPr/>
          <p:nvPr/>
        </p:nvSpPr>
        <p:spPr>
          <a:xfrm>
            <a:off x="830275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відповіді по суті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49377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ECEBFB"/>
          </a:solidFill>
          <a:ln/>
        </p:spPr>
      </p:sp>
      <p:sp>
        <p:nvSpPr>
          <p:cNvPr id="30" name="Text 28"/>
          <p:cNvSpPr/>
          <p:nvPr/>
        </p:nvSpPr>
        <p:spPr>
          <a:xfrm>
            <a:off x="786384" y="50840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Навчальний трюк, який чесно моделює реальність: гірша версія промпта — гірші відповіді, і залежність видима для перевірок, а не лише для ока.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Дисципліна версій: що вважати новою версією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E9F3EE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Активну не редагуємо ніколи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42316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створюємо нову і promote'имо її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73736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E9F3EE"/>
          </a:solidFill>
          <a:ln/>
        </p:spPr>
      </p:sp>
      <p:sp>
        <p:nvSpPr>
          <p:cNvPr id="13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Стара лишається в історії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42316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порівняння «що саме змінили» і для відкату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73736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E9F3EE"/>
          </a:solidFill>
          <a:ln/>
        </p:spPr>
      </p:sp>
      <p:sp>
        <p:nvSpPr>
          <p:cNvPr id="18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Одруківка — теж нова версія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42316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дешевше зайвий рядок, ніж «та сама v3» з різною поведінкою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7490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9E9E8"/>
          </a:solidFill>
          <a:ln/>
        </p:spPr>
      </p:sp>
      <p:sp>
        <p:nvSpPr>
          <p:cNvPr id="23" name="Text 21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РЕВ'Ю ЗМІНИ ПРОМПТА — ЧЕСНИЙ DIFF ДВОХ BODY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86384" y="41330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Шукати зміни інструкцій, тону і видалені приклади: найнебезпечніше саме видалене — прибрали «уточнюй, якщо не впевнений», і бот упевнено вигадує.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Версія моделі й рецепт контексту — та сама логіка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1783080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Версія моделі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48226" y="1783080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провайдери оновлюють «ту саму» модель — фіксуйте снапшот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752344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ECEBFB"/>
          </a:solidFill>
          <a:ln/>
        </p:spPr>
      </p:sp>
      <p:sp>
        <p:nvSpPr>
          <p:cNvPr id="11" name="Text 9"/>
          <p:cNvSpPr/>
          <p:nvPr/>
        </p:nvSpPr>
        <p:spPr>
          <a:xfrm>
            <a:off x="786384" y="2752344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Рецепт контексту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48226" y="2752344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вхід збирається з інструкцій, схем інструментів, фактів — версіонуйте рецепт, не текст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721608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6384" y="3721608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лише промпт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48226" y="3721608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 генерації, список інструментів, правила роутера — теж model-adjacent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47548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490118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Логіка «версія + активація + слід у лозі» застосовується до кожного з них без змін.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trail: хто, коли, що активував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9411919" y="530352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9411919" y="5303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66928" y="192024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ECEBFB"/>
          </a:solidFill>
          <a:ln/>
        </p:spPr>
      </p:sp>
      <p:sp>
        <p:nvSpPr>
          <p:cNvPr id="10" name="Text 8"/>
          <p:cNvSpPr/>
          <p:nvPr/>
        </p:nvSpPr>
        <p:spPr>
          <a:xfrm>
            <a:off x="768096" y="2075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Журнал активацій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60604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окрема таблиця, куди activate дописує рядок: версія, час, хто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81928" y="192024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ECEBFB"/>
          </a:solidFill>
          <a:ln/>
        </p:spPr>
      </p:sp>
      <p:sp>
        <p:nvSpPr>
          <p:cNvPr id="13" name="Text 11"/>
          <p:cNvSpPr/>
          <p:nvPr/>
        </p:nvSpPr>
        <p:spPr>
          <a:xfrm>
            <a:off x="6483096" y="2075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Версії з міткою часу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483096" y="260604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замість ручних v1/v2 — час створення в самій назві версії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9776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412394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Обидві ідеї — еволюція тієї самої таблиці, а не новий механізм: якщо базовий реєстр зроблений чисто, додаються за вечір. Це опційна частина ДЗ тижня 1.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Зараз ви побачите — і навіщо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3EE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з prompts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6809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реєстрі дві версії, активна v2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7024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3EE"/>
          </a:solidFill>
          <a:ln/>
        </p:spPr>
      </p:sp>
      <p:sp>
        <p:nvSpPr>
          <p:cNvPr id="12" name="Shape 10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3" name="Text 11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 відповідає по суті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47141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 активною v2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97356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3EE"/>
          </a:solidFill>
          <a:ln/>
        </p:spPr>
      </p:sp>
      <p:sp>
        <p:nvSpPr>
          <p:cNvPr id="17" name="Shape 15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8" name="Text 16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v1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17473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«погана» версія стає активною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6692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9E9E8"/>
          </a:solidFill>
          <a:ln/>
        </p:spPr>
      </p:sp>
      <p:sp>
        <p:nvSpPr>
          <p:cNvPr id="22" name="Shape 20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3" name="Text 21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 саме питання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76809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«не знаю» — регресія на очах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27024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3EE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1416" y="342900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28" name="Text 26"/>
          <p:cNvSpPr/>
          <p:nvPr/>
        </p:nvSpPr>
        <p:spPr>
          <a:xfrm>
            <a:off x="447141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98348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v2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447141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полагодилось, без деплою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97356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3EE"/>
          </a:solidFill>
          <a:ln/>
        </p:spPr>
      </p:sp>
      <p:sp>
        <p:nvSpPr>
          <p:cNvPr id="32" name="Shape 30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33" name="Text 31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68680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картка Prompt registry</a:t>
            </a:r>
            <a:endParaRPr lang="en-US" sz="1450" dirty="0"/>
          </a:p>
        </p:txBody>
      </p:sp>
      <p:sp>
        <p:nvSpPr>
          <p:cNvPr id="35" name="Text 33"/>
          <p:cNvSpPr/>
          <p:nvPr/>
        </p:nvSpPr>
        <p:spPr>
          <a:xfrm>
            <a:off x="817473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версії з активною в консолі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CEBFB"/>
          </a:solidFill>
          <a:ln/>
        </p:spPr>
      </p:sp>
      <p:sp>
        <p:nvSpPr>
          <p:cNvPr id="37" name="Text 35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Побачити регресію і відкат наживо: зміна версії ламає і лагодить відповіді без жодної зміни коду — git чистий. Сьогодні це ловлять ваші очі; на тижні 5–6 робитиме гейт.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Лабораторна: чотири частини + опційна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Наповнити реєстр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v1 + v2 (активна v2) → down -v &amp;&amp; up -d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Прибрати хардкод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GetActivePrompt у service/Program.cs; версію → LogRequest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Оживити консоль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/prompts + POST /prompts/{version}/activate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Відтворити регресію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v1 → «не знаю» → activate v2 → полагодилось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 · опційно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окрема таблиця активацій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це довело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9E9E8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Регресія без коміта — реальна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v1 зламав відповіді: git чистий, деплою не було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3EE"/>
          </a:solidFill>
          <a:ln/>
        </p:spPr>
      </p:sp>
      <p:sp>
        <p:nvSpPr>
          <p:cNvPr id="10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 — одна операція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v2 полагодив за секунди: той самий ендпоінт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CEBFB"/>
          </a:solidFill>
          <a:ln/>
        </p:spPr>
      </p:sp>
      <p:sp>
        <p:nvSpPr>
          <p:cNvPr id="13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 знає, кого винуватити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сплеск «не знаю» збігається з активацією v1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8F0E2"/>
          </a:solidFill>
          <a:ln/>
        </p:spPr>
      </p:sp>
      <p:sp>
        <p:nvSpPr>
          <p:cNvPr id="16" name="Text 14"/>
          <p:cNvSpPr/>
          <p:nvPr/>
        </p:nvSpPr>
        <p:spPr>
          <a:xfrm>
            <a:off x="62179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сьогодні: ловлять очі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041648" y="432054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4169664" y="425196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9" name="Shape 17"/>
          <p:cNvSpPr/>
          <p:nvPr/>
        </p:nvSpPr>
        <p:spPr>
          <a:xfrm>
            <a:off x="440740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6227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W5: eval-кейси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7882128" y="432054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5400000">
            <a:off x="8010144" y="425196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3" name="Shape 21"/>
          <p:cNvSpPr/>
          <p:nvPr/>
        </p:nvSpPr>
        <p:spPr>
          <a:xfrm>
            <a:off x="824788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E9F3EE"/>
          </a:solidFill>
          <a:ln/>
        </p:spPr>
      </p:sp>
      <p:sp>
        <p:nvSpPr>
          <p:cNvPr id="24" name="Text 22"/>
          <p:cNvSpPr/>
          <p:nvPr/>
        </p:nvSpPr>
        <p:spPr>
          <a:xfrm>
            <a:off x="830275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W6: гейт у CI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9834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512978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Механіка та сама: вхід, очікування щодо відповіді, версія промпта в лозі — змінюється лише те, хто дивиться.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 себе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промпт живе в БД — хардкоду в сервісі немає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840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свіжих рядках лога заповнений prompt_version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4476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v1 ламає, v2 — лагодить, і це відтворюється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4476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консоль показує список версій з активною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 тижня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2020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Правити активний промпт «на живу» 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знищує можливість порівняти «до» і «після»; нова версія — один INSERT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2" name="Text 10"/>
          <p:cNvSpPr/>
          <p:nvPr/>
        </p:nvSpPr>
        <p:spPr>
          <a:xfrm>
            <a:off x="768096" y="2935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Промпт у коді, у документі або в голові тімліда 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усі три означають одне: система не знає, що нею керує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6" name="Text 14"/>
          <p:cNvSpPr/>
          <p:nvPr/>
        </p:nvSpPr>
        <p:spPr>
          <a:xfrm>
            <a:off x="768096" y="3849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 без prompt_version 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реєстр є, а розслідування наосліп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47640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«Достатньо git-історії» 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скаже, як змінювався код, а не яка версія відповідала користувачу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Домашнє завдання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53492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Обов'язково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68096" y="2423160"/>
            <a:ext cx="494690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здати ДЗ тижня 1 одним PR у своєму репозиторії — це рівно те, що ми пройшли за два уроки: у лабах більша частина зроблена руками, вдома довести до чистого стану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81928" y="1737360"/>
            <a:ext cx="5349240" cy="2011680"/>
          </a:xfrm>
          <a:prstGeom prst="roundRect">
            <a:avLst>
              <a:gd name="adj" fmla="val 5455"/>
            </a:avLst>
          </a:prstGeom>
          <a:solidFill>
            <a:srgbClr val="F8F0E2"/>
          </a:solidFill>
          <a:ln/>
        </p:spPr>
      </p:sp>
      <p:sp>
        <p:nvSpPr>
          <p:cNvPr id="10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83096" y="2423160"/>
            <a:ext cx="494690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audit trail: таблиця активацій — хто, коли, яку версію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версії з міткою часу замість ручних v1/v2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4023360"/>
            <a:ext cx="11064240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19050">
            <a:solidFill>
              <a:srgbClr val="4038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" y="42062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ДЗ тижня 1: логування + prompt registry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41248" y="461772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Критерії коротко: стек піднімається однією командою; промпт живе в базі, сервіс бере активну версію; у кожному лог-рядку заповнений prompt_version; GET /prompts і activate працюють; відкат на «поганий» промпт відтворювано ламає відповіді. Повні критерії — у файлі ДЗ.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2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41248" y="1371600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1133856" y="12801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регресія без коміта реальна: git чистий, система зламана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41248" y="2029968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1133856" y="193852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промпт — конфігурація поведінки: роль, правила, формат, приклади = одна версія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41248" y="2688336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133856" y="259689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інструкції та дані живуть у різних місцях — інакше це вектор injection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41248" y="3346704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1133856" y="325526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реєстр = таблиця на чотири поля + атомарний activate: promote і rollback — одна операція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41248" y="4005072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1133856" y="39136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prompt_version у кожному рядку лога перетворює розслідування якості на SQL-запит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41248" y="4892040"/>
            <a:ext cx="1069848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1069848" y="5093208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Наступний крок → Урок 3 · Мультипровайдерний gateway і маршрутизація моделей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69848" y="5458968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Промпт під контролем — тепер під контроль береться модель. Наступного уроку з'являється другий елемент ланцюга і точка рішення: яке питання куди відправити, чому «одна модель на все» дорога, і як розподіл трафіку стає видимим у лозі.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41248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4AE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2 · Prompt lifecycle: промпт як production-артефакт</dc:title>
  <dc:subject>PptxGenJS Presentation</dc:subject>
  <dc:creator>LLMOps Bootcamp</dc:creator>
  <cp:lastModifiedBy>LLMOps Bootcamp</cp:lastModifiedBy>
  <cp:revision>1</cp:revision>
  <dcterms:created xsi:type="dcterms:W3CDTF">2026-08-10T18:29:04Z</dcterms:created>
  <dcterms:modified xsi:type="dcterms:W3CDTF">2026-08-10T18:29:04Z</dcterms:modified>
</cp:coreProperties>
</file>