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1 · ТЕМА 2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Prompt lifecycle: промпт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production-артефакт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речення в промпті може зробити більше шкоди, ніж поганий деплой, — бо деплой хоча б лишає слід. Сьогодні промпт переїжджає з коду в реєстр із версіями, promote і rollback.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Перенести промпт у реєстр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хардкоду в базу, дві версії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Розділити інструкції й дані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відкрити вектор injection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activate атомарним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одна операція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Заповнити prompt_version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знайти регресію SQL-запитом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наживо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v1 → «не знаю» → повернути v2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не «просто текст»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промпта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Змінні й підстановка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у базі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читає активну версію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 і регресія промпта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 версіонування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помилки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«git чистий, система зламана» — до реєстру, у якому відкат займає секунду.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 — щоб вони не відволікали по ходу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промптів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базі: кожна версія — рядок, активна одна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версія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текст промпта; активну не редагуємо ніколи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promote / rollback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версію активною; у нас це одна операція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лога: котра версія відповідала користувачу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few-shot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просто в промпті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модель прочитала як інструкцію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Регресія промпта без змін у Git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64208" y="2423160"/>
            <a:ext cx="8869680" cy="0"/>
          </a:xfrm>
          <a:prstGeom prst="line">
            <a:avLst/>
          </a:prstGeom>
          <a:noFill/>
          <a:ln w="254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912" y="2340864"/>
            <a:ext cx="164592" cy="164592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97840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П'ятниця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9552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хтось «трохи уточнив формулювання»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16752" y="2340864"/>
            <a:ext cx="164592" cy="164592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13" name="Text 10"/>
          <p:cNvSpPr/>
          <p:nvPr/>
        </p:nvSpPr>
        <p:spPr>
          <a:xfrm>
            <a:off x="541324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Понеділок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23036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підтримка тоне у скаргах: бот відповідає не по темі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451592" y="2340864"/>
            <a:ext cx="164592" cy="164592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9848088" y="18562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Розслідування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9665208" y="26060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чистий, деплой тиждень тому — що змінилося?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19" name="Shape 16"/>
          <p:cNvSpPr/>
          <p:nvPr/>
        </p:nvSpPr>
        <p:spPr>
          <a:xfrm>
            <a:off x="749808" y="469087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4690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42885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454456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Проти регресії без коміта безсилі і git, і HTTP-моніторинг: метрики зелені, помилок немає — просто відповіді стали гіршими. Захист із двох частин: реєстр версій і слід у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Промпт як версіонований артефакт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108960"/>
                <a:gridCol w="50292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питання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код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промпт у типовій команді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Хто і коли міняв?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git blame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ніхто не знає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саме змінилося?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diff у PR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«та я трохи переформулював»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Яка версія в проді?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тег релізу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та, що зараз у коді… мабуть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Як відкотити?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revert + деплой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B3261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згадати, як було, і вписати назад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62179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історія версій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04164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rot="5400000">
            <a:off x="416966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3" name="Shape 9"/>
          <p:cNvSpPr/>
          <p:nvPr/>
        </p:nvSpPr>
        <p:spPr>
          <a:xfrm>
            <a:off x="440740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4" name="Text 10"/>
          <p:cNvSpPr/>
          <p:nvPr/>
        </p:nvSpPr>
        <p:spPr>
          <a:xfrm>
            <a:off x="446227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атомарний promote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7882128" y="5038344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5400000">
            <a:off x="8010144" y="496976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3"/>
          <p:cNvSpPr/>
          <p:nvPr/>
        </p:nvSpPr>
        <p:spPr>
          <a:xfrm>
            <a:off x="8247888" y="4709160"/>
            <a:ext cx="338328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8" name="Text 14"/>
          <p:cNvSpPr/>
          <p:nvPr/>
        </p:nvSpPr>
        <p:spPr>
          <a:xfrm>
            <a:off x="8302752" y="4709160"/>
            <a:ext cx="3273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закриває всі чотири рядки трьома механізмами.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системного промпта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частини — і те, як кожна ламається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7393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177393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Роль і межа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77393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ким модель себе вважає · без межі консультує з будь-чого Вашим голосом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64261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64261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64261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тон, довжина, коли ескалювати · побажання не змінюють нічого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51129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51129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51129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структура відповіді · «як вийде» перетворює парсинг на лотерею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379976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379976"/>
            <a:ext cx="376184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Приклади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48226" y="4379976"/>
            <a:ext cx="664037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1–5 показових пар · їдуть у кожному запиті й коштують грошей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5376672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9808" y="5586984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3" name="Text 20"/>
          <p:cNvSpPr/>
          <p:nvPr/>
        </p:nvSpPr>
        <p:spPr>
          <a:xfrm>
            <a:off x="749808" y="5586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43584" y="550468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243584" y="5760720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Разом ці чотири частини — одна незмінна версія. Змінили будь-яку — це нова версія, а не «трохи підправив».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Правила, які працюють, і ціна прикладів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Побажання — не інструкція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«будь точним», «не вигадуй» — немає нічого, що модель могла б порушити перевірюваним чином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69164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470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Перевірювана вимога — дія і межа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37744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«немає відповіді — скажи, що не знаєш, і запропонуй заявку»; «не більше трьох речень»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Few-shot: 1–5 показових пар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приклад має демонструвати саме те, що модель робить неправильно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46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прикладів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931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їдуть у кожному запиті — множаться на весь трафік (Тема 4)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приклади ≈ 400 токенів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95020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407408" y="4590288"/>
            <a:ext cx="329184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407408" y="459028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10 000 запитів на тиждень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790688" y="4590288"/>
            <a:ext cx="365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8247888" y="4590288"/>
            <a:ext cx="3383280" cy="402336"/>
          </a:xfrm>
          <a:prstGeom prst="roundRect">
            <a:avLst>
              <a:gd name="adj" fmla="val 15909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8247888" y="4590288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млн токенів щотижня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193792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26964"/>
            <a:ext cx="310896" cy="310896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4269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32180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ПОРАДА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577840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(роль, правила, формат) — на початку, змінне (контекст користувача) — у кінці: провайдери кешують стабільний префікс дешевше.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Змінні в промпті: розмежування інструкцій 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так робити не треба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 +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"\n\nДані клієнта: 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customerNotes;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Ваші правила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дані клієнта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7490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6804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38328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38328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один потік тексту для моделі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4348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9651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2" name="Text 19"/>
          <p:cNvSpPr/>
          <p:nvPr/>
        </p:nvSpPr>
        <p:spPr>
          <a:xfrm>
            <a:off x="749808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243584" y="45628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243584" y="4818888"/>
            <a:ext cx="101681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місцях: усе від користувача чи з бази їде окремим user-повідомленням. Текст міг потрапити туди без зловмисника — коментар оператора, поле форми, підтягнутий лист.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Підстановка — в одному місці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шаблон із реєстру: "Ти асистент підтримки {service}. Відповідай {lang}."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systemPrompt = template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.Replace("{service}", "SupportGW")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.Replace("{lang}", "українською");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дані користувача сюди НЕ підставляються — вони йдуть окремим user-повідомленням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88620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2" name="Text 9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43584" y="4014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243584" y="4270248"/>
            <a:ext cx="101681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Складати промпт із трьох джерел «по дорозі»: щось із реєстру, щось із конфіга, щось дописано в коді. У лозі — версія v3, а в модель летять два різні промпти.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Структура реєстру промптів у базі даних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035040" cy="2651760"/>
          </a:xfrm>
          <a:prstGeom prst="roundRect">
            <a:avLst>
              <a:gd name="adj" fmla="val 413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59612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IF NOT EXISTS prompts (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version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body        TEXT NOT NULL,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      BOOLEAN NOT NULL DEFAULT false,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 TIMESTAMPTZ NOT NULL DEFAULT now(),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PRIMARY KEY (name, version)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949440" y="1691640"/>
            <a:ext cx="4681728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150608" y="184708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стартері таблиця порожня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150608" y="2377440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навмисно: наповнюєте Ви — v1 і 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49440" y="3108960"/>
            <a:ext cx="468172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150608" y="3264408"/>
            <a:ext cx="42793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(name, version)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150608" y="3794760"/>
            <a:ext cx="4279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назва — багато версій, кожна незмінна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7640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покладете туди v1 «You are an assistant.» (зумисне погану) і v2 «You are a support assistant. Be concise and helpful.» — активною зробите v2.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Отримання активного промпта та логування його версії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6583680" cy="1691640"/>
          </a:xfrm>
          <a:prstGeom prst="roundRect">
            <a:avLst>
              <a:gd name="adj" fmla="val 648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614476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[W1] промпт беремо з реєстру — активну версію, а не хардкод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version, body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true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created_at DESC LIMIT 1;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98080" y="1691640"/>
            <a:ext cx="4133088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99248" y="1847088"/>
            <a:ext cx="37307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Fail-visible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99248" y="2377440"/>
            <a:ext cx="3730752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порожній → версія «none» і дефолт без «support»: поломка помітна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2179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08152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320954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7" name="Shape 14"/>
          <p:cNvSpPr/>
          <p:nvPr/>
        </p:nvSpPr>
        <p:spPr>
          <a:xfrm>
            <a:off x="344728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350215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активна версія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6188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08990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632764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638251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виклик моделі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842248" y="41605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970264" y="40919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9208008" y="379476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9262872" y="379476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prompt_version у лозі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50383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prompt_version, яке з Теми 1 стояло порожнім, від сьогодні заповнене — розслідування якості стає SQL-запитом.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Promote і rollback через одну операцію активації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54132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SET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active = (version = @v)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 = 'support-system';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720840" y="1691640"/>
            <a:ext cx="4910328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922008" y="1847088"/>
            <a:ext cx="4507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Атомарно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922008" y="2377440"/>
            <a:ext cx="45079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існує моменту, коли активні дві версії або жодної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76809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28016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Невідома версія → 404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відмова, не тихе «ок»: одруківка не деактивує все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27024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447141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447141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8348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лишає лог, не реєстр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447141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UPDATE не веде журналу: хто й коли перемкнув — це audit trail, опційна частина ДЗ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973568" y="32461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8174736" y="3429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8174736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8686800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і rollback — те саме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8174736" y="393192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не потребує окремого механізму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за секунди замість розкопок «а як там було вчора».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Порівняння версій промпта на реальному трафіку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за запитом: інакше одна людина отримає дві манери — поміряєте плутанину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 — заздалегідь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назвати метрику й тривалість: інакше експеримент вічний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одна операція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активація; експеримент без виходу — не експеримент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703320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3703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трафік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395728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rot="5400000">
            <a:off x="2596896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7" name="Shape 24"/>
          <p:cNvSpPr/>
          <p:nvPr/>
        </p:nvSpPr>
        <p:spPr>
          <a:xfrm>
            <a:off x="2743200" y="370332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2743200" y="37033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хеш(user_id)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93776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513892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5349240" y="3502152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53492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50%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349240" y="3977640"/>
            <a:ext cx="2103120" cy="384048"/>
          </a:xfrm>
          <a:prstGeom prst="roundRect">
            <a:avLst>
              <a:gd name="adj" fmla="val 19048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534924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50%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543800" y="393192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rot="5400000">
            <a:off x="7744968" y="38633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7" name="Shape 34"/>
          <p:cNvSpPr/>
          <p:nvPr/>
        </p:nvSpPr>
        <p:spPr>
          <a:xfrm>
            <a:off x="7955280" y="3703320"/>
            <a:ext cx="365760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8" name="Text 35"/>
          <p:cNvSpPr/>
          <p:nvPr/>
        </p:nvSpPr>
        <p:spPr>
          <a:xfrm>
            <a:off x="795528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66928" y="45720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47183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Активні дві версії; «кому яку» вирішує той самий шар, що обирає модель (Тема 3). У курсі це не обов'язкова доріжка — але механізм у Вас уже буде.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 mock-провайдер відтворює регресію промпта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«розумні» відповіді — тільки коли промпт правильний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promptOk = system.Contains(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"support"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StringComparison.OrdinalIgnoreCase);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«You are an assistant.»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маркера немає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3604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2918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0175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0175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«не знаю»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«You are a support assistant…»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04164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416966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440740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446227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 є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882128" y="427482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8010144" y="420624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8247888" y="3931920"/>
            <a:ext cx="338328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8302752" y="3931920"/>
            <a:ext cx="3273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відповіді по суті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49377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50840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Навчальний трюк, який чесно моделює реальність: гірша версія промпта — гірші відповіді, і залежність видима для перевірок, а не лише для ока.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Правила версіонування промптів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Активну не редагуємо ніколи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створюємо нову і promote'имо її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Стара лишається в історії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порівняння «що саме змінили» і для відкату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Одруківка — теж нова версія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дешевше зайвий рядок, ніж «та сама v3» з різною поведінкою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56692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— не видаляємо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08152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20954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344728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350215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344728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— для diff і відкату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596188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rot="5400000">
            <a:off x="608990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3" name="Shape 30"/>
          <p:cNvSpPr/>
          <p:nvPr/>
        </p:nvSpPr>
        <p:spPr>
          <a:xfrm>
            <a:off x="632764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638251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активна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32764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її не редагуємо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842248" y="38862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rot="5400000">
            <a:off x="8970264" y="38176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8" name="Shape 35"/>
          <p:cNvSpPr/>
          <p:nvPr/>
        </p:nvSpPr>
        <p:spPr>
          <a:xfrm>
            <a:off x="9208008" y="3611880"/>
            <a:ext cx="242316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9" name="Text 36"/>
          <p:cNvSpPr/>
          <p:nvPr/>
        </p:nvSpPr>
        <p:spPr>
          <a:xfrm>
            <a:off x="9262872" y="3611880"/>
            <a:ext cx="2313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v4 · нова</a:t>
            </a:r>
            <a:endParaRPr lang="en-US" sz="1150" dirty="0"/>
          </a:p>
        </p:txBody>
      </p:sp>
      <p:sp>
        <p:nvSpPr>
          <p:cNvPr id="40" name="Text 37"/>
          <p:cNvSpPr/>
          <p:nvPr/>
        </p:nvSpPr>
        <p:spPr>
          <a:xfrm>
            <a:off x="9208008" y="419709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навіть одруківка — нова версія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66928" y="46177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86384" y="4745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РЕВ'Ю ЗМІНИ ПРОМПТА — ЧЕСНИЙ DIFF ДВОХ BODY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786384" y="50017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Шукати зміни інструкцій, тону і видалені приклади: найнебезпечніше саме видалене — прибрали «уточнюй, якщо не впевнений», і бот упевнено вигадує.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Версія моделі й рецепт контексту — та сама логіка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Версія моделі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оновлюють «ту саму» модель — фіксуйте снапшот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Рецепт контексту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збирається з інструкцій, схем інструментів, фактів — версіонуйте рецепт, не текст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промпт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параметри генерації, список інструментів, правила роутера — теж model-adjacent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90118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Логіка «версія + активація + слід у лозі» застосовується до кожного з них без змін.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Журнал активацій версій (опційно)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Журнал активацій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таблиця, куди activate дописує рядок: версія, час, хто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20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2075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міткою часу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606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ручних v1/v2 — час створення в самій назві версії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207008" y="3803904"/>
            <a:ext cx="978408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34363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501091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v1 · 10:02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1091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078224" y="373989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044952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v2 · 12:40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044952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7209130" y="373989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4" name="Text 21"/>
          <p:cNvSpPr/>
          <p:nvPr/>
        </p:nvSpPr>
        <p:spPr>
          <a:xfrm>
            <a:off x="6175858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 · 12:58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175858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Тарас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10340035" y="373989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9306763" y="389534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15:10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9306763" y="407822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Олена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207008" y="352958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→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566928" y="44805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46268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ідеї — еволюція тієї самої таблиці, а не новий механізм: якщо базовий реєстр зроблений чисто, додаються за вечір. Це опційна частина ДЗ тижня 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2821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15568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з prompts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реєстрі дві версії, активна v2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258568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115568" y="2221992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чат відповідає по суті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активною v2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2788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115568" y="2752344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«погана» версія стає активною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319272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115568" y="3282696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знаю» — регресія на очах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3849624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15568" y="381304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полагодилось, без деплою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79976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79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15568" y="43434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картка Prompt registry  </a:t>
            </a:r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версії з активною в консолі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8156448" y="1691640"/>
            <a:ext cx="3474720" cy="3063240"/>
          </a:xfrm>
          <a:prstGeom prst="roundRect">
            <a:avLst>
              <a:gd name="adj" fmla="val 238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84464" y="181051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7" name="Shape 24"/>
          <p:cNvSpPr/>
          <p:nvPr/>
        </p:nvSpPr>
        <p:spPr>
          <a:xfrm>
            <a:off x="8430768" y="181051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8" name="Shape 25"/>
          <p:cNvSpPr/>
          <p:nvPr/>
        </p:nvSpPr>
        <p:spPr>
          <a:xfrm>
            <a:off x="8577072" y="181051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9" name="Text 26"/>
          <p:cNvSpPr/>
          <p:nvPr/>
        </p:nvSpPr>
        <p:spPr>
          <a:xfrm>
            <a:off x="8759952" y="169164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 · prompts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8156448" y="200253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321040" y="21122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name, version, active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321040" y="233377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prompts;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8321040" y="25552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support-system | v1 | f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321040" y="277680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support-system | v2 | t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321040" y="299831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8321040" y="321983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/prompts/v1/activate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21040" y="344134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чат: «не знаю»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8321040" y="366285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/prompts/v2/activate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8321040" y="388437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чат: по суті ✓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1" name="Shape 38"/>
          <p:cNvSpPr/>
          <p:nvPr/>
        </p:nvSpPr>
        <p:spPr>
          <a:xfrm>
            <a:off x="749808" y="539953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/>
          <p:nvPr/>
        </p:nvSpPr>
        <p:spPr>
          <a:xfrm>
            <a:off x="749808" y="53995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1243584" y="51572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4" name="Text 41"/>
          <p:cNvSpPr/>
          <p:nvPr/>
        </p:nvSpPr>
        <p:spPr>
          <a:xfrm>
            <a:off x="1243584" y="541324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регресію і відкат наживо: зміна версії ламає і лагодить відповіді без жодної зміни коду — git чистий. Сьогодні це ловлять Ваші очі; на тижні 5–6 робитиме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 робота: створення реєстру та відтворення регресії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Наповнити реєстр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seed v1 + v2 (активна v2) → down -v &amp;&amp; up -d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хардкод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GetActivePrompt у service/Program.cs; версію →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консоль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/prompts + POST /prompts/{version}/activate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Відтворити регресію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«не знаю» → activate v2 → полагодилось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Audit trail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окрема таблиця активацій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перевірте себе · типові помилки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— реальна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зламав відповіді: git чистий, деплою не було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— одна операція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полагодив за секунди: той самий ендпоінт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знає, кого винуватити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сплеск «не знаю» збігається з активацією v1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· prompt_version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21040" y="215798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10:41  activate v1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321040" y="2379497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10:41  v1  «не знаю»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8321040" y="260101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10:42  v1  «не знаю»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321040" y="282252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10:43  v1  «не знаю»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21040" y="304403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10:44  activate v2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321040" y="326555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10:44  v2  по суті ✓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8321040" y="3487064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10:45  v2  по суті ✓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321040" y="3708578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8321040" y="3930091"/>
            <a:ext cx="3145536" cy="2215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status: clean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5394960"/>
            <a:ext cx="33832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621792" y="5394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сьогодні: ловлять очі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041648" y="5669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rot="5400000">
            <a:off x="4169664" y="5600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5" name="Shape 32"/>
          <p:cNvSpPr/>
          <p:nvPr/>
        </p:nvSpPr>
        <p:spPr>
          <a:xfrm>
            <a:off x="4407408" y="5394960"/>
            <a:ext cx="33832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36" name="Text 33"/>
          <p:cNvSpPr/>
          <p:nvPr/>
        </p:nvSpPr>
        <p:spPr>
          <a:xfrm>
            <a:off x="4462272" y="5394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W5: eval-кейси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7882128" y="5669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rot="5400000">
            <a:off x="8010144" y="5600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9" name="Shape 36"/>
          <p:cNvSpPr/>
          <p:nvPr/>
        </p:nvSpPr>
        <p:spPr>
          <a:xfrm>
            <a:off x="8247888" y="5394960"/>
            <a:ext cx="3383280" cy="548640"/>
          </a:xfrm>
          <a:prstGeom prst="roundRect">
            <a:avLst>
              <a:gd name="adj" fmla="val 16667"/>
            </a:avLst>
          </a:prstGeom>
          <a:solidFill>
            <a:srgbClr val="000000"/>
          </a:solidFill>
          <a:ln/>
        </p:spPr>
      </p:sp>
      <p:sp>
        <p:nvSpPr>
          <p:cNvPr id="40" name="Text 37"/>
          <p:cNvSpPr/>
          <p:nvPr/>
        </p:nvSpPr>
        <p:spPr>
          <a:xfrm>
            <a:off x="8302752" y="5394960"/>
            <a:ext cx="3273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W6: гейт у CI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Перевірте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живе в БД — хардкоду в сервісі немає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свіжих рядках лога заповнений prompt_version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ламає, v2 — лагодить, і це відтворюється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консоль показує список версій з активною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Типові помилки на початковому етапі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18895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Правити активний промпт «на живу»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знищує можливість порівняти «до» і «після»; нова версія — один INSERT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коді, у документі або в голові тімліда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три означають одне: система не знає, що нею керує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 без prompt_version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є, а розслідування наосліп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«Достатньо git-історії»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git скаже, як змінювався код, а не яка версія відповідала користувачу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здати ДЗ тижня 1 одним PR у своєму репозиторії — це рівно те, що ми пройшли за дві теми: у лабах більша частина зроблена руками, вдома довести до чистого стану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011680"/>
          </a:xfrm>
          <a:prstGeom prst="roundRect">
            <a:avLst>
              <a:gd name="adj" fmla="val 545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audit trail: таблиця активацій — хто, коли, яку версію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версії з міткою часу замість ручних v1/v2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023360"/>
            <a:ext cx="1106424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1: логування + prompt registry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61772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Критерії коротко: стек піднімається однією командою; промпт живе в базі, сервіс бере активну версію; у кожному лог-рядку заповнений prompt_version; GET /prompts і activate працюють; відкат на «поганий» промпт відтворювано ламає відповіді. Повні критерії — у файлі ДЗ.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без коміта реальна: git чистий, система зламана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конфігурація поведінки: роль, правила, формат, приклади = одна версія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інструкції та дані живуть у різних місцях — інакше це вектор injection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= таблиця на чотири поля + атомарний activate: promote і rollback — одна операція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prompt_version у кожному рядку лога перетворює розслідування якості на SQL-запит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3 · Мультипровайдерний gateway і маршрутизація моделей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під контролем — тепер під контроль береться модель. У наступній темі з'являється другий елемент ланцюга і точка рішення: яке питання куди відправити, чому «одна модель на все» дорога, і як розподіл трафіку стає видимим у лозі.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2 · Prompt lifecycle: промпт як production-артефакт</dc:title>
  <dc:subject>PptxGenJS Presentation</dc:subject>
  <dc:creator>LLMOps Bootcamp</dc:creator>
  <cp:lastModifiedBy>LLMOps Bootcamp</cp:lastModifiedBy>
  <cp:revision>1</cp:revision>
  <dcterms:created xsi:type="dcterms:W3CDTF">2026-09-08T17:14:04Z</dcterms:created>
  <dcterms:modified xsi:type="dcterms:W3CDTF">2026-09-08T17:14:04Z</dcterms:modified>
</cp:coreProperties>
</file>