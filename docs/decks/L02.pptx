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 · ТЕМА 2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Prompt lifecycle: промпт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як production-артефакт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речення в промпті може зробити більше шкоди, ніж поганий деплой, — бо деплой хоча б лишає слід. Сьогодні промпт переїжджає з коду в реєстр із версіями, promote і rollback.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теми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Перенести промпт у реєстр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із хардкоду в базу, дві версії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Розділити інструкції й дані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відкрити вектор injection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activate атомарним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 — одна операція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Заповнити prompt_version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регресію SQL-запитом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регресію наживо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v1 → «не знаю» → повернути v2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не «просто текст»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промпта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Змінні й підстановка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у базі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читає активну версію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 і регресія промпта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Правила версіонування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Журнал активацій · опційно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Типові помилки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«git чистий, система зламана» — до реєстру, у якому відкат займає секунду.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сьогоднішньої теми — щоб вони не відволікали по ходу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реєстр промптів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в базі: кожна версія — рядок, активна одна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версія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незмінний текст промпта; активну не редагуємо ніколи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promote / rollback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версію активною; у нас це одна операція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лога: котра версія відповідала користувачу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few-shot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1–5 показових пар просто в промпті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injection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дані, які модель прочитала як інструкцію (Тема 8)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Регресія промпта без змін у Git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664208" y="2423160"/>
            <a:ext cx="8869680" cy="0"/>
          </a:xfrm>
          <a:prstGeom prst="line">
            <a:avLst/>
          </a:prstGeom>
          <a:noFill/>
          <a:ln w="254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81912" y="2340864"/>
            <a:ext cx="164592" cy="164592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97840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П'ятниця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9552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хтось «трохи уточнив формулювання»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016752" y="2340864"/>
            <a:ext cx="164592" cy="164592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13" name="Text 10"/>
          <p:cNvSpPr/>
          <p:nvPr/>
        </p:nvSpPr>
        <p:spPr>
          <a:xfrm>
            <a:off x="541324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Понеділок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23036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підтримка тоне у скаргах: бот відповідає не по темі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0451592" y="2340864"/>
            <a:ext cx="164592" cy="164592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984808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Розслідування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966520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git чистий, деплой тиждень тому — що змінилося?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66928" y="41605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19" name="Shape 16"/>
          <p:cNvSpPr/>
          <p:nvPr/>
        </p:nvSpPr>
        <p:spPr>
          <a:xfrm>
            <a:off x="749808" y="469087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0" name="Text 17"/>
          <p:cNvSpPr/>
          <p:nvPr/>
        </p:nvSpPr>
        <p:spPr>
          <a:xfrm>
            <a:off x="749808" y="4690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43584" y="42885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243584" y="4544568"/>
            <a:ext cx="101681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Проти регресії без коміта безсилі і git, і HTTP-моніторинг: метрики зелені, помилок немає — просто відповіді стали гіршими. Захист із двох частин: реєстр версій і слід у лозі.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Промпт як версіонований артефакт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108960"/>
                <a:gridCol w="502920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код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промпт у типовій команді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Хто і коли міняв?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git blame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ніхто не знає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саме змінилося?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diff у PR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«та я трохи переформулював»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версія в проді?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тег релізу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та, що зараз у коді… мабуть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 відкотити?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revert + деплой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згадати, як було, і вписати назад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0" name="Text 6"/>
          <p:cNvSpPr/>
          <p:nvPr/>
        </p:nvSpPr>
        <p:spPr>
          <a:xfrm>
            <a:off x="62179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історія версій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041648" y="5038344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rot="5400000">
            <a:off x="4169664" y="496976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3" name="Shape 9"/>
          <p:cNvSpPr/>
          <p:nvPr/>
        </p:nvSpPr>
        <p:spPr>
          <a:xfrm>
            <a:off x="440740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4" name="Text 10"/>
          <p:cNvSpPr/>
          <p:nvPr/>
        </p:nvSpPr>
        <p:spPr>
          <a:xfrm>
            <a:off x="446227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атомарний promote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7882128" y="5038344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 rot="5400000">
            <a:off x="8010144" y="496976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7" name="Shape 13"/>
          <p:cNvSpPr/>
          <p:nvPr/>
        </p:nvSpPr>
        <p:spPr>
          <a:xfrm>
            <a:off x="824788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8" name="Text 14"/>
          <p:cNvSpPr/>
          <p:nvPr/>
        </p:nvSpPr>
        <p:spPr>
          <a:xfrm>
            <a:off x="830275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86384" y="57698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закриває всі чотири рядки трьома механізмами.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Структура системного промпта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частини — і те, як кожна ламається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77393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" y="177393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Роль і межа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4548226" y="177393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ким модель себе вважає · без межі консультує з будь-чого Вашим голосом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66928" y="264261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786384" y="264261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Правила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4548226" y="264261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тон, довжина, коли ескалювати · побажання не змінюють нічого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351129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351129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Формат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4548226" y="351129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структура відповіді · «як вийде» перетворює парсинг на лотерею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66928" y="437997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437997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Приклади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4548226" y="437997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1–5 показових пар · їдуть у кожному запиті й коштують грошей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66928" y="5376672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9808" y="5586984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23" name="Text 20"/>
          <p:cNvSpPr/>
          <p:nvPr/>
        </p:nvSpPr>
        <p:spPr>
          <a:xfrm>
            <a:off x="749808" y="55869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43584" y="5504688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1243584" y="5760720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Разом ці чотири частини — одна незмінна версія. Змінили будь-яку — це нова версія, а не «трохи підправив».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Правила, які працюють, і ціна прикладів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Побажання — не інструкція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37744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«будь точним», «не вигадуй» — немає нічого, що модель могла б порушити перевірюваним чином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69164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Перевірювана вимога — дія і межа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37744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«немає відповіді — скажи, що не знаєш, і запропонуй заявку»; «не більше трьох речень»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246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Few-shot: 1–5 показових пар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3931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приклад має демонструвати саме те, що модель робить неправильно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3246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прикладів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3931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їдуть у кожному запиті — множаться на весь трафік (Тема 4)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4590288"/>
            <a:ext cx="3291840" cy="402336"/>
          </a:xfrm>
          <a:prstGeom prst="roundRect">
            <a:avLst>
              <a:gd name="adj" fmla="val 15909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566928" y="4590288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приклади ≈ 400 токенів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3950208" y="459028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407408" y="4590288"/>
            <a:ext cx="3291840" cy="402336"/>
          </a:xfrm>
          <a:prstGeom prst="roundRect">
            <a:avLst>
              <a:gd name="adj" fmla="val 15909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407408" y="4590288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10 000 запитів на тиждень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790688" y="459028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8247888" y="4590288"/>
            <a:ext cx="3383280" cy="402336"/>
          </a:xfrm>
          <a:prstGeom prst="roundRect">
            <a:avLst>
              <a:gd name="adj" fmla="val 15909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8247888" y="4590288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млн токенів щотижня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566928" y="5193792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9808" y="5426964"/>
            <a:ext cx="310896" cy="310896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30" name="Text 27"/>
          <p:cNvSpPr/>
          <p:nvPr/>
        </p:nvSpPr>
        <p:spPr>
          <a:xfrm>
            <a:off x="749808" y="54269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1243584" y="5321808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ПОРАДА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1243584" y="5577840"/>
            <a:ext cx="101681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Стабільне (роль, правила, формат) — на початку, змінне (контекст користувача) — у кінці: провайдери кешують стабільний префікс дешевше.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Змінні в промпті: розмежування інструкцій і даних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так робити не треба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systemPrompt = template +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"\n\nДані клієнта: 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customerNotes;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Ваші правила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37490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36804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дані клієнта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37490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36804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один потік тексту для моделі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4348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49808" y="496519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22" name="Text 19"/>
          <p:cNvSpPr/>
          <p:nvPr/>
        </p:nvSpPr>
        <p:spPr>
          <a:xfrm>
            <a:off x="749808" y="4965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243584" y="456285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1243584" y="4818888"/>
            <a:ext cx="101681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Інструкції та дані живуть у різних місцях: усе від користувача чи з бази їде окремим user-повідомленням. Текст міг потрапити туди без зловмисника — коментар оператора, поле форми, підтягнутий лист.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Підстановка — в одному місці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шаблон із реєстру: "Ти асистент підтримки {service}. Відповідай {lang}."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systemPrompt = template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.Replace("{service}", "SupportGW")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.Replace("{lang}", "українською");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дані користувача сюди НЕ підставляються — вони йдуть окремим user-повідомленням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88620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49808" y="453085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2" name="Text 9"/>
          <p:cNvSpPr/>
          <p:nvPr/>
        </p:nvSpPr>
        <p:spPr>
          <a:xfrm>
            <a:off x="749808" y="45308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43584" y="40142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243584" y="4270248"/>
            <a:ext cx="101681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Складати промпт із трьох джерел «по дорозі»: щось із реєстру, щось із конфіга, щось дописано в коді. У лозі — версія v3, а в модель летять два різні промпти.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Структура реєстру промптів у базі даних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6035040" cy="2651760"/>
          </a:xfrm>
          <a:prstGeom prst="roundRect">
            <a:avLst>
              <a:gd name="adj" fmla="val 413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559612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IF NOT EXISTS prompts (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   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version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body   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active      BOOLEAN NOT NULL DEFAULT false,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created_at  TIMESTAMPTZ NOT NULL DEFAULT now(),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PRIMARY KEY (name, version)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949440" y="1691640"/>
            <a:ext cx="4681728" cy="1280160"/>
          </a:xfrm>
          <a:prstGeom prst="roundRect">
            <a:avLst>
              <a:gd name="adj" fmla="val 8571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150608" y="1847088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стартері таблиця порожня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150608" y="2377440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навмисно: наповнюєте Ви — v1 і v2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949440" y="3108960"/>
            <a:ext cx="4681728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150608" y="3264408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(name, version)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150608" y="3794760"/>
            <a:ext cx="4279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назва — багато версій, кожна незмінна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7640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Сьогодні покладете туди v1 «You are an assistant.» (зумисне погану) і v2 «You are a support assistant. Be concise and helpful.» — активною зробите v2.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Отримання активного промпта та логування його версії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6583680" cy="1691640"/>
          </a:xfrm>
          <a:prstGeom prst="roundRect">
            <a:avLst>
              <a:gd name="adj" fmla="val 648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6144768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[W1] промпт беремо з реєстру — активну версію, а не хардкод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version, body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prompts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active = true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created_at DESC LIMIT 1;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498080" y="1691640"/>
            <a:ext cx="4133088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99248" y="1847088"/>
            <a:ext cx="3730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Fail-visible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99248" y="2377440"/>
            <a:ext cx="373075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порожній → версія «none» і дефолт без «support»: поломка помітна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2179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prompts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3081528" y="41605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3209544" y="40919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7" name="Shape 14"/>
          <p:cNvSpPr/>
          <p:nvPr/>
        </p:nvSpPr>
        <p:spPr>
          <a:xfrm>
            <a:off x="344728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350215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активна версія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961888" y="41605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089904" y="40919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632764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2" name="Text 19"/>
          <p:cNvSpPr/>
          <p:nvPr/>
        </p:nvSpPr>
        <p:spPr>
          <a:xfrm>
            <a:off x="638251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виклик моделі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842248" y="41605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8970264" y="40919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920800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926287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 у лозі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6384" y="50383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prompt_version, яке з Теми 1 стояло порожнім, від сьогодні заповнене — розслідування якості стає SQL-запитом.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Promote і rollback через одну операцію активації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5852160" cy="1325880"/>
          </a:xfrm>
          <a:prstGeom prst="roundRect">
            <a:avLst>
              <a:gd name="adj" fmla="val 827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54132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prompts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SET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active = (version = @v)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WHERE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name = 'support-system';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720840" y="1691640"/>
            <a:ext cx="4910328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922008" y="1847088"/>
            <a:ext cx="45079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Атомарно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922008" y="2377440"/>
            <a:ext cx="450799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існує моменту, коли активні дві версії або жодної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Невідома версія → 404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відмова, не тихе «ок»: одруківка не деактивує все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27024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Слід лишає лог, не реєстр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447141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UPDATE не веде журналу: хто й коли перемкнув — це audit trail, опційна частина ДЗ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97356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 — те саме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817473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не потребує окремого механізму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за секунди замість розкопок «а як там було вчора».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Порівняння версій промпта на реальному трафіку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35204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Ділити за користувачем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31181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за запитом: інакше одна людина отримає дві манери — поміряєте плутанину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28800"/>
            <a:ext cx="35204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— заздалегідь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14600"/>
            <a:ext cx="31181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назвати метрику й тривалість: інакше експеримент вічний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28800"/>
            <a:ext cx="35204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— одна операція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14600"/>
            <a:ext cx="31181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 сама активація; експеримент без виходу — не експеримент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70332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66928" y="37033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трафік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2395728" y="393192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2596896" y="38633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2743200" y="3703320"/>
            <a:ext cx="210312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2743200" y="37033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хеш(user_id)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937760" y="393192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5138928" y="38633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5349240" y="3502152"/>
            <a:ext cx="2103120" cy="384048"/>
          </a:xfrm>
          <a:prstGeom prst="roundRect">
            <a:avLst>
              <a:gd name="adj" fmla="val 19048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5349240" y="350215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· 50%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349240" y="3977640"/>
            <a:ext cx="2103120" cy="384048"/>
          </a:xfrm>
          <a:prstGeom prst="roundRect">
            <a:avLst>
              <a:gd name="adj" fmla="val 19048"/>
            </a:avLst>
          </a:prstGeom>
          <a:solidFill>
            <a:srgbClr val="000000"/>
          </a:solidFill>
          <a:ln/>
        </p:spPr>
      </p:sp>
      <p:sp>
        <p:nvSpPr>
          <p:cNvPr id="34" name="Text 31"/>
          <p:cNvSpPr/>
          <p:nvPr/>
        </p:nvSpPr>
        <p:spPr>
          <a:xfrm>
            <a:off x="5349240" y="397764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· 50%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7543800" y="393192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rot="5400000">
            <a:off x="7744968" y="38633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7" name="Shape 34"/>
          <p:cNvSpPr/>
          <p:nvPr/>
        </p:nvSpPr>
        <p:spPr>
          <a:xfrm>
            <a:off x="7955280" y="3703320"/>
            <a:ext cx="365760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/>
        </p:spPr>
      </p:sp>
      <p:sp>
        <p:nvSpPr>
          <p:cNvPr id="38" name="Text 35"/>
          <p:cNvSpPr/>
          <p:nvPr/>
        </p:nvSpPr>
        <p:spPr>
          <a:xfrm>
            <a:off x="7955280" y="37033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порівняння метрики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566928" y="45720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86384" y="471830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Активні дві версії; «кому яку» вирішує той самий шар, що обирає модель (Тема 3). У курсі це не обов'язкова доріжка — але механізм у Вас уже буде.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Як mock-провайдер відтворює регресію промпта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«розумні» відповіді — тільки коли промпт правильний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promptOk = system.Contains(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"support"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StringComparison.OrdinalIgnoreCase);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«You are an assistant.»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33604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32918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маркера немає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33604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32918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«не знаю»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2179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«You are a support assistant…»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4041648" y="42748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4169664" y="42062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440740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446227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 є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7882128" y="42748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8010144" y="42062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824788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830275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відповіді по суті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566928" y="49377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31" name="Text 28"/>
          <p:cNvSpPr/>
          <p:nvPr/>
        </p:nvSpPr>
        <p:spPr>
          <a:xfrm>
            <a:off x="786384" y="50840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Навчальний трюк, який чесно моделює реальність: гірша версія промпта — гірші відповіді, і залежність видима для перевірок, а не лише для ока.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Правила версіонування промптів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Активну не редагуємо ніколи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створюємо нову і promote'имо її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Стара лишається в історії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порівняння «що саме змінили» і для відкату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Одруківка — теж нова версія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дешевше зайвий рядок, ніж «та сама v3» з різною поведінкою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416052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РЕВ'Ю ЗМІНИ ПРОМПТА — ЧЕСНИЙ DIFF ДВОХ BODY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54456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Шукати зміни інструкцій, тону і видалені приклади: найнебезпечніше саме видалене — прибрали «уточнюй, якщо не впевнений», і бот упевнено вигадує.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Версія моделі й рецепт контексту — та сама логіка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Версія моделі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провайдери оновлюють «ту саму» модель — фіксуйте снапшот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Рецепт контексту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 збирається з інструкцій, схем інструментів, фактів — версіонуйте рецепт, не текст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лише промпт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параметри генерації, список інструментів, правила роутера — теж model-adjacent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7548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490118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Логіка «версія + активація + слід у лозі» застосовується до кожного з них без змін.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Журнал активацій версій (опційно)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920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075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Журнал активацій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606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окрема таблиця, куди activate дописує рядок: версія, час, хто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1920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2075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Версії з міткою часу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606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ручних v1/v2 — час створення в самій назві версії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207008" y="3803904"/>
            <a:ext cx="9784080" cy="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534363" y="3739896"/>
            <a:ext cx="128016" cy="128016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501091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· 10:02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501091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Олена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078224" y="3739896"/>
            <a:ext cx="128016" cy="128016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3044952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· 12:40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3044952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Тарас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7209130" y="3739896"/>
            <a:ext cx="128016" cy="12801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4" name="Text 21"/>
          <p:cNvSpPr/>
          <p:nvPr/>
        </p:nvSpPr>
        <p:spPr>
          <a:xfrm>
            <a:off x="6175858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rollback · 12:58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6175858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Тарас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10340035" y="3739896"/>
            <a:ext cx="128016" cy="12801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27" name="Text 24"/>
          <p:cNvSpPr/>
          <p:nvPr/>
        </p:nvSpPr>
        <p:spPr>
          <a:xfrm>
            <a:off x="9306763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v3 · 15:10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9306763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Олена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1207008" y="352958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→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566928" y="44805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86384" y="46268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Обидві ідеї — еволюція тієї самої таблиці, а не новий механізм: якщо базовий реєстр зроблений чисто, додаються за вечір. Це опційна частина ДЗ тижня 1.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224528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224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частини + опційна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з prompts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реєстрі дві версії, активна v2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 по суті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активною v2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«погана» версія стає активною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 знаю» — регресія на очах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полагодилось, без деплою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7356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33" name="Shape 30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картка Prompt registry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817473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версії з активною в консолі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8" name="Shape 35"/>
          <p:cNvSpPr/>
          <p:nvPr/>
        </p:nvSpPr>
        <p:spPr>
          <a:xfrm>
            <a:off x="749808" y="539953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9" name="Text 36"/>
          <p:cNvSpPr/>
          <p:nvPr/>
        </p:nvSpPr>
        <p:spPr>
          <a:xfrm>
            <a:off x="749808" y="53995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1243584" y="51572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41" name="Text 38"/>
          <p:cNvSpPr/>
          <p:nvPr/>
        </p:nvSpPr>
        <p:spPr>
          <a:xfrm>
            <a:off x="1243584" y="541324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регресію і відкат наживо: зміна версії ламає і лагодить відповіді без жодної зміни коду — git чистий. Сьогодні це ловлять Ваші очі; на тижні 5–6 робитиме гейт.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 робота: створення реєстру та відтворення регресії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Наповнити реєстр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seed v1 + v2 (активна v2) → down -v &amp;&amp; up -d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хардкод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GetActivePrompt у service/Program.cs; версію → LogRequest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консоль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/prompts + POST /prompts/{version}/activate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регресію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→ «не знаю» → activate v2 → полагодилось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Audit trail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окрема таблиця активацій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перевірте себе · типові помилки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 — реальна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зламав відповіді: git чистий, деплою не було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— одна операція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 полагодив за секунди: той самий ендпоінт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знає, кого винуватити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сплеск «не знаю» збігається з активацією v1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2179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сьогодні: ловлять очі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4041648" y="43205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4169664" y="42519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440740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446227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W5: eval-кейси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7882128" y="43205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8010144" y="42519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824788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830275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W6: гейт у CI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9834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12978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та сама: вхід, очікування щодо відповіді, версія промпта в лозі — змінюється лише те, хто дивиться.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Перевірте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живе в БД — хардкоду в сервісі немає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свіжих рядках лога заповнений prompt_version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ламає, v2 — лагодить, і це відтворюється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показує список версій з активною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Типові помилки на початковому етапі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218895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Правити активний промпт «на живу»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знищує можливість порівняти «до» і «після»; нова версія — один INSERT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коді, у документі або в голові тімліда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три означають одне: система не знає, що нею керує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без prompt_version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є, а розслідування наосліп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«Достатньо git-історії»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git скаже, як змінювався код, а не яка версія відповідала користувачу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011680"/>
          </a:xfrm>
          <a:prstGeom prst="roundRect">
            <a:avLst>
              <a:gd name="adj" fmla="val 5455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здати ДЗ тижня 1 одним PR у своєму репозиторії — це рівно те, що ми пройшли за дві теми: у лабах більша частина зроблена руками, вдома довести до чистого стану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011680"/>
          </a:xfrm>
          <a:prstGeom prst="roundRect">
            <a:avLst>
              <a:gd name="adj" fmla="val 545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audit trail: таблиця активацій — хто, коли, яку версію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версії з міткою часу замість ручних v1/v2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023360"/>
            <a:ext cx="11064240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206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1: логування + prompt registry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61772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Критерії коротко: стек піднімається однією командою; промпт живе в базі, сервіс бере активну версію; у кожному лог-рядку заповнений prompt_version; GET /prompts і activate працюють; відкат на «поганий» промпт відтворювано ламає відповіді. Повні критерії — у файлі ДЗ.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ТЕМИ 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 реальна: git чистий, система зламана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конфігурація поведінки: роль, правила, формат, приклади = одна версія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інструкції та дані живуть у різних місцях — інакше це вектор injection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= таблиця на чотири поля + атомарний activate: promote і rollback — одна операція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prompt_version у кожному рядку лога перетворює розслідування якості на SQL-запит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Тема 3 · Мультипровайдерний gateway і маршрутизація моделей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під контролем — тепер під контроль береться модель. У наступній темі з'являється другий елемент ланцюга і точка рішення: яке питання куди відправити, чому «одна модель на все» дорога, і як розподіл трафіку стає видимим у лозі.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2 · Prompt lifecycle: промпт як production-артефакт</dc:title>
  <dc:subject>PptxGenJS Presentation</dc:subject>
  <dc:creator>LLMOps Bootcamp</dc:creator>
  <cp:lastModifiedBy>LLMOps Bootcamp</cp:lastModifiedBy>
  <cp:revision>1</cp:revision>
  <dcterms:created xsi:type="dcterms:W3CDTF">2026-09-07T21:56:55Z</dcterms:created>
  <dcterms:modified xsi:type="dcterms:W3CDTF">2026-09-07T21:56:55Z</dcterms:modified>
</cp:coreProperties>
</file>