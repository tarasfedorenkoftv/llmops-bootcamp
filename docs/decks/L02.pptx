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1 · ТЕМА 2 З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Prompt lifecycle: промпт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як production-артефакт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Одне речення в промпті може зробити більше шкоди, ніж поганий деплой, — бо деплой хоча б лишає слід. Сьогодні промпт переїжджає з коду в реєстр із версіями, promote і rollback.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5806440"/>
            <a:ext cx="1646834" cy="310896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5806440"/>
            <a:ext cx="1646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23490" y="5806440"/>
            <a:ext cx="150235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3490" y="5806440"/>
            <a:ext cx="1502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5578" y="5806440"/>
            <a:ext cx="1285646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5578" y="5806440"/>
            <a:ext cx="1285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30952" y="5806440"/>
            <a:ext cx="1935785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5806440"/>
            <a:ext cx="19357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76465" y="5806440"/>
            <a:ext cx="2008022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6465" y="5806440"/>
            <a:ext cx="20080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94215" y="5806440"/>
            <a:ext cx="121340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4215" y="5806440"/>
            <a:ext cx="12134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Ви зможете після теми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П'ять дій, які перевірите руками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2710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71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Перенести промпт у реєстр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із хардкоду в базу, дві версії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Розділити інструкції й дані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відкрити вектор injection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Зробити activate атомарним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і rollback — одна операція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76809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76809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8016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Заповнити prompt_version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6809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знайти регресію SQL-запитом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7024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9" name="Shape 26"/>
          <p:cNvSpPr/>
          <p:nvPr/>
        </p:nvSpPr>
        <p:spPr>
          <a:xfrm>
            <a:off x="447141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447141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8348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Відтворити регресію наживо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447141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v1 → «не знаю» → повернути v2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Маршрут на сьогодні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Регресія без коміта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7024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47141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0"/>
          <p:cNvSpPr/>
          <p:nvPr/>
        </p:nvSpPr>
        <p:spPr>
          <a:xfrm>
            <a:off x="447141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 — не «просто текст»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97356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7473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1747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Анатомія промпта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6692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76809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8016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Змінні й підстановка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27024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447141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447141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Реєстр у базі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797356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817473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817473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68680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Сервіс читає активну версію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6692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2" name="Shape 29"/>
          <p:cNvSpPr/>
          <p:nvPr/>
        </p:nvSpPr>
        <p:spPr>
          <a:xfrm>
            <a:off x="76809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28016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і rollback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427024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447141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7" name="Text 34"/>
          <p:cNvSpPr/>
          <p:nvPr/>
        </p:nvSpPr>
        <p:spPr>
          <a:xfrm>
            <a:off x="447141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98348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Mock і регресія промпта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797356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817473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1" name="Text 38"/>
          <p:cNvSpPr/>
          <p:nvPr/>
        </p:nvSpPr>
        <p:spPr>
          <a:xfrm>
            <a:off x="817473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68680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Правила версіонування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56692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4" name="Shape 41"/>
          <p:cNvSpPr/>
          <p:nvPr/>
        </p:nvSpPr>
        <p:spPr>
          <a:xfrm>
            <a:off x="76809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5" name="Text 42"/>
          <p:cNvSpPr/>
          <p:nvPr/>
        </p:nvSpPr>
        <p:spPr>
          <a:xfrm>
            <a:off x="76809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28016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Журнал активацій · опційно</a:t>
            </a:r>
            <a:endParaRPr lang="en-US" sz="1450" dirty="0"/>
          </a:p>
        </p:txBody>
      </p:sp>
      <p:sp>
        <p:nvSpPr>
          <p:cNvPr id="47" name="Shape 44"/>
          <p:cNvSpPr/>
          <p:nvPr/>
        </p:nvSpPr>
        <p:spPr>
          <a:xfrm>
            <a:off x="427024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8" name="Shape 45"/>
          <p:cNvSpPr/>
          <p:nvPr/>
        </p:nvSpPr>
        <p:spPr>
          <a:xfrm>
            <a:off x="447141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9" name="Text 46"/>
          <p:cNvSpPr/>
          <p:nvPr/>
        </p:nvSpPr>
        <p:spPr>
          <a:xfrm>
            <a:off x="447141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98348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Лабораторна</a:t>
            </a:r>
            <a:endParaRPr lang="en-US" sz="1450" dirty="0"/>
          </a:p>
        </p:txBody>
      </p:sp>
      <p:sp>
        <p:nvSpPr>
          <p:cNvPr id="51" name="Shape 48"/>
          <p:cNvSpPr/>
          <p:nvPr/>
        </p:nvSpPr>
        <p:spPr>
          <a:xfrm>
            <a:off x="797356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52" name="Shape 49"/>
          <p:cNvSpPr/>
          <p:nvPr/>
        </p:nvSpPr>
        <p:spPr>
          <a:xfrm>
            <a:off x="817473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3" name="Text 50"/>
          <p:cNvSpPr/>
          <p:nvPr/>
        </p:nvSpPr>
        <p:spPr>
          <a:xfrm>
            <a:off x="817473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868680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Типові помилки</a:t>
            </a:r>
            <a:endParaRPr lang="en-US" sz="1450" dirty="0"/>
          </a:p>
        </p:txBody>
      </p:sp>
      <p:sp>
        <p:nvSpPr>
          <p:cNvPr id="55" name="Shape 52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86384" y="5925312"/>
            <a:ext cx="10625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 «git чистий, система зламана» — до реєстру, у якому відкат займає секунду.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Терміни, якими користуватимемось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200607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слів сьогоднішньої теми — щоб вони не відволікали по ходу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65783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5783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реєстр промптів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таблиця в базі: кожна версія — рядок, активна одна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2064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4944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версія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04944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незмінний текст промпта; активну не редагуємо ніколи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77200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0080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promote / rollback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60080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зробити версію активною; у нас це одна операція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prompt_version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поле лога: котра версія відповідала користувачу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22064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04944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few-shot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04944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1–5 показових пар просто в промпті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77200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injection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60080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дані, які модель прочитала як інструкцію (Тема 8)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5138928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5285232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Кожне розберемо на місці — тут вони лише щоб не спотикатися.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ТЕОРІЯ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блоків — дивимось і розбираємось, руками поки не робимо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Регресія промпта без змін у Git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64208" y="2423160"/>
            <a:ext cx="8869680" cy="0"/>
          </a:xfrm>
          <a:prstGeom prst="line">
            <a:avLst/>
          </a:prstGeom>
          <a:noFill/>
          <a:ln w="25400">
            <a:solidFill>
              <a:srgbClr val="5A0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81912" y="2340864"/>
            <a:ext cx="164592" cy="164592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978408" y="1856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П'ятниця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5528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хтось «трохи уточнив формулювання»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16752" y="2340864"/>
            <a:ext cx="164592" cy="164592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13" name="Text 10"/>
          <p:cNvSpPr/>
          <p:nvPr/>
        </p:nvSpPr>
        <p:spPr>
          <a:xfrm>
            <a:off x="5413248" y="1856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Понеділок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230368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підтримка тоне у скаргах: бот відповідає не по темі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0451592" y="2340864"/>
            <a:ext cx="164592" cy="164592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6" name="Text 13"/>
          <p:cNvSpPr/>
          <p:nvPr/>
        </p:nvSpPr>
        <p:spPr>
          <a:xfrm>
            <a:off x="9848088" y="1856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Розслідування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665208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чистий, деплой тиждень тому — що змінилося?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" y="41605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5A05F4"/>
          </a:solidFill>
          <a:ln/>
        </p:spPr>
      </p:sp>
      <p:sp>
        <p:nvSpPr>
          <p:cNvPr id="19" name="Shape 16"/>
          <p:cNvSpPr/>
          <p:nvPr/>
        </p:nvSpPr>
        <p:spPr>
          <a:xfrm>
            <a:off x="749808" y="469087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43584" y="42885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 ЦЕЙ ШАР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243584" y="4544568"/>
            <a:ext cx="10168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Проти регресії без коміта безсилі і git, і HTTP-моніторинг: метрики зелені, помилок немає — просто відповіді стали гіршими. Захист із двох частин: реєстр версій і слід у лозі.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Промпт як версіонований артефакт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108960"/>
                <a:gridCol w="50292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питання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код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промпт у типовій команді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Хто і коли міняв?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git blame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ніхто не знає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Що саме змінилося?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diff у PR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«та я трохи переформулював»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Яка версія в проді?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тег релізу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та, що зараз у коді… мабуть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Як відкотити?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revert + деплой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згадати, як було, і вписати назад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4709160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/>
        </p:spPr>
      </p:sp>
      <p:sp>
        <p:nvSpPr>
          <p:cNvPr id="10" name="Text 6"/>
          <p:cNvSpPr/>
          <p:nvPr/>
        </p:nvSpPr>
        <p:spPr>
          <a:xfrm>
            <a:off x="621792" y="4709160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історія версій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041648" y="5038344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rot="5400000">
            <a:off x="4169664" y="4969764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3" name="Shape 9"/>
          <p:cNvSpPr/>
          <p:nvPr/>
        </p:nvSpPr>
        <p:spPr>
          <a:xfrm>
            <a:off x="4407408" y="4709160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/>
        </p:spPr>
      </p:sp>
      <p:sp>
        <p:nvSpPr>
          <p:cNvPr id="14" name="Text 10"/>
          <p:cNvSpPr/>
          <p:nvPr/>
        </p:nvSpPr>
        <p:spPr>
          <a:xfrm>
            <a:off x="4462272" y="4709160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атомарний promote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82128" y="5038344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 rot="5400000">
            <a:off x="8010144" y="4969764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7" name="Shape 13"/>
          <p:cNvSpPr/>
          <p:nvPr/>
        </p:nvSpPr>
        <p:spPr>
          <a:xfrm>
            <a:off x="8247888" y="4709160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/>
          <p:nvPr/>
        </p:nvSpPr>
        <p:spPr>
          <a:xfrm>
            <a:off x="8302752" y="4709160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слід у лозі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5623560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86384" y="5769864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Реєстр закриває всі чотири рядки трьома механізмами.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Структура системного промпта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Чотири частини — і те, як кожна ламається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12710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271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1773936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1773936"/>
            <a:ext cx="37618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Роль і межа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48226" y="1773936"/>
            <a:ext cx="664037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ким модель себе вважає · без межі консультує з будь-чого Вашим голосом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2642616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2642616"/>
            <a:ext cx="37618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Правила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48226" y="2642616"/>
            <a:ext cx="664037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тон, довжина, коли ескалювати · побажання не змінюють нічого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3511296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84" y="3511296"/>
            <a:ext cx="37618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Формат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48226" y="3511296"/>
            <a:ext cx="664037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структура відповіді · «як вийде» перетворює парсинг на лотерею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66928" y="4379976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" y="4379976"/>
            <a:ext cx="37618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Приклади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48226" y="4379976"/>
            <a:ext cx="664037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1–5 показових пар · їдуть у кожному запиті й коштують грошей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66928" y="5376672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9808" y="5586984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5586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43584" y="5504688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243584" y="5760720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Разом ці чотири частини — одна незмінна версія. Змінили будь-яку — це нова версія, а не «трохи підправив».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Правила, які працюють, і ціна прикладів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9164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470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Побажання — не інструкція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377440"/>
            <a:ext cx="4946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«будь точним», «не вигадуй» — немає нічого, що модель могла б порушити перевірюваним чином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69164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8470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Перевірювана вимога — дія і межа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377440"/>
            <a:ext cx="4946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«немає відповіді — скажи, що не знаєш, і запропонуй заявку»; «не більше трьох речень»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24612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" y="34015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Few-shot: 1–5 показових пар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68096" y="3931920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приклад має демонструвати саме те, що модель робить неправильно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81928" y="324612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6483096" y="34015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Ціна прикладів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483096" y="3931920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їдуть у кожному запиті — множаться на весь трафік (Тема 4)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" y="4590288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" y="45902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приклади ≈ 400 токенів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950208" y="45902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407408" y="4590288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00000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07408" y="45902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10 000 запитів на тиждень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790688" y="45902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247888" y="4590288"/>
            <a:ext cx="3383280" cy="402336"/>
          </a:xfrm>
          <a:prstGeom prst="roundRect">
            <a:avLst>
              <a:gd name="adj" fmla="val 15909"/>
            </a:avLst>
          </a:prstGeom>
          <a:solidFill>
            <a:srgbClr val="000000"/>
          </a:solidFill>
          <a:ln/>
        </p:spPr>
      </p:sp>
      <p:sp>
        <p:nvSpPr>
          <p:cNvPr id="27" name="Text 24"/>
          <p:cNvSpPr/>
          <p:nvPr/>
        </p:nvSpPr>
        <p:spPr>
          <a:xfrm>
            <a:off x="8247888" y="45902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млн токенів щотижня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66928" y="5193792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9808" y="5426964"/>
            <a:ext cx="310896" cy="310896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30" name="Text 27"/>
          <p:cNvSpPr/>
          <p:nvPr/>
        </p:nvSpPr>
        <p:spPr>
          <a:xfrm>
            <a:off x="749808" y="54269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243584" y="5321808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ПОРАДА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243584" y="5577840"/>
            <a:ext cx="10168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Стабільне (роль, правила, формат) — на початку, змінне (контекст користувача) — у кінці: провайдери кешують стабільний префікс дешевше.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Змінні в промпті: розмежування інструкцій і даних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так робити не треба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systemPrompt = template +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"\n\nДані клієнта: 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customerNotes;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38328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338328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Ваші правила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041648" y="374904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4169664" y="368046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>
            <a:off x="4407408" y="338328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4462272" y="338328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дані клієнта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82128" y="374904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8010144" y="368046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8247888" y="338328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8302752" y="338328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один потік тексту для моделі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44348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9808" y="496519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22" name="Text 19"/>
          <p:cNvSpPr/>
          <p:nvPr/>
        </p:nvSpPr>
        <p:spPr>
          <a:xfrm>
            <a:off x="749808" y="4965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243584" y="456285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243584" y="4818888"/>
            <a:ext cx="10168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Інструкції та дані живуть у різних місцях: усе від користувача чи з бази їде окремим user-повідомленням. Текст міг потрапити туди без зловмисника — коментар оператора, поле форми, підтягнутий лист.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Підстановка — в одному місці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1874520"/>
          </a:xfrm>
          <a:prstGeom prst="roundRect">
            <a:avLst>
              <a:gd name="adj" fmla="val 5854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шаблон із реєстру: "Ти асистент підтримки {service}. Відповідай {lang}."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systemPrompt = template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.Replace("{service}", "SupportGW")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.Replace("{lang}", "українською");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дані користувача сюди НЕ підставляються — вони йдуть окремим user-повідомленням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388620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453085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45308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43584" y="401421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43584" y="4270248"/>
            <a:ext cx="1016812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Складати промпт із трьох джерел «по дорозі»: щось із реєстру, щось із конфіга, щось дописано в коді. У лозі — версія v3, а в модель летять два різні промпти.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Структура реєстру промптів у базі даних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91640"/>
            <a:ext cx="6035040" cy="2651760"/>
          </a:xfrm>
          <a:prstGeom prst="roundRect">
            <a:avLst>
              <a:gd name="adj" fmla="val 4138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37944"/>
            <a:ext cx="559612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IF NOT EXISTS prompts (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TEXT NOT NULL,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version     TEXT NOT NULL,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        TEXT NOT NULL,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active      BOOLEAN NOT NULL DEFAULT false,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 TIMESTAMPTZ NOT NULL DEFAULT now(),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(name, version)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949440" y="1691640"/>
            <a:ext cx="4681728" cy="1280160"/>
          </a:xfrm>
          <a:prstGeom prst="roundRect">
            <a:avLst>
              <a:gd name="adj" fmla="val 8571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150608" y="1847088"/>
            <a:ext cx="4279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стартері таблиця порожня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150608" y="2377440"/>
            <a:ext cx="4279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навмисно: наповнюєте Ви — v1 і v2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49440" y="3108960"/>
            <a:ext cx="4681728" cy="123444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7150608" y="3264408"/>
            <a:ext cx="4279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 (name, version)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150608" y="3794760"/>
            <a:ext cx="4279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 назва — багато версій, кожна незмінна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46177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" y="4764024"/>
            <a:ext cx="10625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Сьогодні покладете туди v1 «You are an assistant.» (зумисне погану) і v2 «You are a support assistant. Be concise and helpful.» — активною зробите v2.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Отримання активного промпта та логування його версії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91640"/>
            <a:ext cx="6583680" cy="1691640"/>
          </a:xfrm>
          <a:prstGeom prst="roundRect">
            <a:avLst>
              <a:gd name="adj" fmla="val 6486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37944"/>
            <a:ext cx="614476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[W1] промпт беремо з реєстру — активну версію, а не хардкод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version, body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active = true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created_at DESC LIMIT 1;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98080" y="1691640"/>
            <a:ext cx="4133088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99248" y="1847088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Fail-visible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99248" y="2377440"/>
            <a:ext cx="37307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реєстр порожній → версія «none» і дефолт без «support»: поломка помітна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379476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" y="379476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081528" y="416052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5400000">
            <a:off x="3209544" y="40919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7" name="Shape 14"/>
          <p:cNvSpPr/>
          <p:nvPr/>
        </p:nvSpPr>
        <p:spPr>
          <a:xfrm>
            <a:off x="3447288" y="379476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3502152" y="379476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активна версія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61888" y="416052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5400000">
            <a:off x="6089904" y="40919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1" name="Shape 18"/>
          <p:cNvSpPr/>
          <p:nvPr/>
        </p:nvSpPr>
        <p:spPr>
          <a:xfrm>
            <a:off x="6327648" y="379476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6382512" y="379476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виклик моделі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842248" y="416052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5400000">
            <a:off x="8970264" y="40919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5" name="Shape 22"/>
          <p:cNvSpPr/>
          <p:nvPr/>
        </p:nvSpPr>
        <p:spPr>
          <a:xfrm>
            <a:off x="9208008" y="379476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9262872" y="379476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prompt_version у лозі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66928" y="4892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6384" y="5038344"/>
            <a:ext cx="10625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Поле prompt_version, яке з Теми 1 стояло порожнім, від сьогодні заповнене — розслідування якості стає SQL-запитом.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Promote і rollback через одну операцію активації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91640"/>
            <a:ext cx="5852160" cy="1325880"/>
          </a:xfrm>
          <a:prstGeom prst="roundRect">
            <a:avLst>
              <a:gd name="adj" fmla="val 8276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37944"/>
            <a:ext cx="54132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active = (version = @v)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= 'support-system';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20840" y="1691640"/>
            <a:ext cx="4910328" cy="1325880"/>
          </a:xfrm>
          <a:prstGeom prst="roundRect">
            <a:avLst>
              <a:gd name="adj" fmla="val 8276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922008" y="1847088"/>
            <a:ext cx="4507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Атомарно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922008" y="2377440"/>
            <a:ext cx="4507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існує моменту, коли активні дві версії або жодної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3246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34290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280160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Невідома версія → 404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68096" y="393192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чесна відмова, не тихе «ок»: одруківка не деактивує все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70248" y="3246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4471416" y="34290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4471416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83480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Слід лишає лог, не реєстр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4471416" y="393192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UPDATE не веде журналу: хто й коли перемкнув — це audit trail, опційна частина ДЗ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973568" y="3246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8174736" y="34290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8174736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686800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і rollback — те саме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8174736" y="393192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відкат не потребує окремого механізму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66928" y="512064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786384" y="5266944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Відкат за секунди замість розкопок «а як там було вчора».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Порівняння версій промпта на реальному трафіку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828800"/>
            <a:ext cx="3520440" cy="150876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Ділити за користувачем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514600"/>
            <a:ext cx="31181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 запитом: інакше одна людина отримає дві манери — поміряєте плутанину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828800"/>
            <a:ext cx="3520440" cy="150876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 — заздалегідь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514600"/>
            <a:ext cx="31181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назвати метрику й тривалість: інакше експеримент вічний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828800"/>
            <a:ext cx="3520440" cy="150876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Відкат — одна операція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514600"/>
            <a:ext cx="31181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 сама активація; експеримент без виходу — не експеримент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70332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3703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трафік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395728" y="3931920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5400000">
            <a:off x="2596896" y="38633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7" name="Shape 24"/>
          <p:cNvSpPr/>
          <p:nvPr/>
        </p:nvSpPr>
        <p:spPr>
          <a:xfrm>
            <a:off x="2743200" y="370332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274320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хеш(user_id)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937760" y="3931920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rot="5400000">
            <a:off x="5138928" y="38633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1" name="Shape 28"/>
          <p:cNvSpPr/>
          <p:nvPr/>
        </p:nvSpPr>
        <p:spPr>
          <a:xfrm>
            <a:off x="5349240" y="3502152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00000"/>
          </a:solidFill>
          <a:ln/>
        </p:spPr>
      </p:sp>
      <p:sp>
        <p:nvSpPr>
          <p:cNvPr id="32" name="Text 29"/>
          <p:cNvSpPr/>
          <p:nvPr/>
        </p:nvSpPr>
        <p:spPr>
          <a:xfrm>
            <a:off x="5349240" y="35021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· 50%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349240" y="3977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0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5349240" y="3977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· 50%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543800" y="3931920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rot="5400000">
            <a:off x="7744968" y="38633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7" name="Shape 34"/>
          <p:cNvSpPr/>
          <p:nvPr/>
        </p:nvSpPr>
        <p:spPr>
          <a:xfrm>
            <a:off x="7955280" y="370332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38" name="Text 35"/>
          <p:cNvSpPr/>
          <p:nvPr/>
        </p:nvSpPr>
        <p:spPr>
          <a:xfrm>
            <a:off x="795528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порівняння метрики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66928" y="45720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4718304"/>
            <a:ext cx="10625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Активні дві версії; «кому яку» вирішує той самий шар, що обирає модель (Тема 3). У курсі це не обов'язкова доріжка — але механізм у Вас уже буде.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Як mock-провайдер відтворює регресію промпта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916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37944"/>
            <a:ext cx="10625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«розумні» відповіді — тільки коли промпт правильний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promptOk = system.Contains(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"support"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StringComparison.OrdinalIgnoreCase);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301752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301752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«You are an assistant.»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041648" y="336042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4169664" y="32918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>
            <a:off x="4407408" y="301752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4462272" y="301752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маркера немає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82128" y="336042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8010144" y="32918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8247888" y="301752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8302752" y="301752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«не знаю»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393192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" y="393192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«You are a support assistant…»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041648" y="427482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5400000">
            <a:off x="4169664" y="42062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4407408" y="393192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4462272" y="393192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маркер є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882128" y="427482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rot="5400000">
            <a:off x="8010144" y="42062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8247888" y="393192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8302752" y="393192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відповіді по суті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66928" y="49377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5A05F4"/>
          </a:solidFill>
          <a:ln/>
        </p:spPr>
      </p:sp>
      <p:sp>
        <p:nvSpPr>
          <p:cNvPr id="31" name="Text 28"/>
          <p:cNvSpPr/>
          <p:nvPr/>
        </p:nvSpPr>
        <p:spPr>
          <a:xfrm>
            <a:off x="786384" y="5084064"/>
            <a:ext cx="10625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Навчальний трюк, який чесно моделює реальність: гірша версія промпта — гірші відповіді, і залежність видима для перевірок, а не лише для ока.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Правила версіонування промптів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Активну не редагуємо ніколи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2316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створюємо нову і promote'имо її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3736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Стара лишається в історії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2316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 порівняння «що саме змінили» і для відкату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3736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Одруківка — теж нова версія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2316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дешевше зайвий рядок, ніж «та сама v3» з різною поведінкою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61188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" y="36118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6928" y="41970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історія — не видаляємо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081528" y="38862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rot="5400000">
            <a:off x="3209544" y="38176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3447288" y="361188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3502152" y="36118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3447288" y="41970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історія — для diff і відкату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961888" y="38862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rot="5400000">
            <a:off x="6089904" y="38176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3" name="Shape 30"/>
          <p:cNvSpPr/>
          <p:nvPr/>
        </p:nvSpPr>
        <p:spPr>
          <a:xfrm>
            <a:off x="6327648" y="361188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6382512" y="36118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 · активна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327648" y="41970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її не редагуємо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842248" y="38862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rot="5400000">
            <a:off x="8970264" y="38176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8" name="Shape 35"/>
          <p:cNvSpPr/>
          <p:nvPr/>
        </p:nvSpPr>
        <p:spPr>
          <a:xfrm>
            <a:off x="9208008" y="361188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39" name="Text 36"/>
          <p:cNvSpPr/>
          <p:nvPr/>
        </p:nvSpPr>
        <p:spPr>
          <a:xfrm>
            <a:off x="9262872" y="36118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v4 · нова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9208008" y="41970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навіть одруківка — нова версія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66928" y="46177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86384" y="474573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РЕВ'Ю ЗМІНИ ПРОМПТА — ЧЕСНИЙ DIFF ДВОХ BODY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786384" y="5001768"/>
            <a:ext cx="106253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Шукати зміни інструкцій, тону і видалені приклади: найнебезпечніше саме видалене — прибрали «уточнюй, якщо не впевнений», і бот упевнено вигадує.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Версія моделі й рецепт контексту — та сама логіка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1783080"/>
            <a:ext cx="37618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Версія моделі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48226" y="1783080"/>
            <a:ext cx="66403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провайдери оновлюють «ту саму» модель — фіксуйте снапшот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2752344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752344"/>
            <a:ext cx="37618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Рецепт контексту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48226" y="2752344"/>
            <a:ext cx="66403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вхід збирається з інструкцій, схем інструментів, фактів — версіонуйте рецепт, не текст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721608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3721608"/>
            <a:ext cx="37618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лише промпт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48226" y="3721608"/>
            <a:ext cx="66403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параметри генерації, список інструментів, правила роутера — теж model-adjacent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47548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4901184"/>
            <a:ext cx="10625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Логіка «версія + активація + слід у лозі» застосовується до кожного з них без змін.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Журнал активацій версій (опційно)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67128" y="1218895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218895"/>
            <a:ext cx="864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192024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20756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Журнал активацій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606040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окрема таблиця, куди activate дописує рядок: версія, час, хто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81928" y="192024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6483096" y="20756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Версії з міткою часу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483096" y="2606040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замість ручних v1/v2 — час створення в самій назві версії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207008" y="3803904"/>
            <a:ext cx="978408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534363" y="3739896"/>
            <a:ext cx="128016" cy="128016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8" name="Text 15"/>
          <p:cNvSpPr/>
          <p:nvPr/>
        </p:nvSpPr>
        <p:spPr>
          <a:xfrm>
            <a:off x="501091" y="3895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· 10:02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1091" y="40782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Олена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078224" y="3739896"/>
            <a:ext cx="128016" cy="128016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3044952" y="3895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· 12:40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044952" y="40782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Тарас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209130" y="3739896"/>
            <a:ext cx="128016" cy="12801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4" name="Text 21"/>
          <p:cNvSpPr/>
          <p:nvPr/>
        </p:nvSpPr>
        <p:spPr>
          <a:xfrm>
            <a:off x="6175858" y="3895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 · 12:58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175858" y="40782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Тарас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0340035" y="3739896"/>
            <a:ext cx="128016" cy="12801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27" name="Text 24"/>
          <p:cNvSpPr/>
          <p:nvPr/>
        </p:nvSpPr>
        <p:spPr>
          <a:xfrm>
            <a:off x="9306763" y="3895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 · 15:10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9306763" y="40782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Олена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207008" y="3529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 →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66928" y="44805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6384" y="4626864"/>
            <a:ext cx="10625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Обидві ідеї — еволюція тієї самої таблиці, а не новий механізм: якщо базовий реєстр зроблений чисто, додаються за вечір. Це опційна частина ДЗ тижня 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ПРАКТИКА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стенд наживо — і чесна межа того, що він доводить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73168"/>
            <a:ext cx="4224528" cy="475488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773168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Лабораторна: чотири частини + опційна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Зараз Ви побачите — і навіщо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28216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15568" y="16916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з prompts  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реєстрі дві версії, активна v2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2258568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5568" y="222199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чат відповідає по суті  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 активною v2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2788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5568" y="27523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activate v1  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«погана» версія стає активною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3319272"/>
            <a:ext cx="384048" cy="38404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5568" y="328269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 саме питання  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«не знаю» — регресія на очах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3849624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15568" y="381304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activate v2  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полагодилось, без деплою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4379976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15568" y="43434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картка Prompt registry  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версії з активною в консолі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156448" y="1691640"/>
            <a:ext cx="3474720" cy="3063240"/>
          </a:xfrm>
          <a:prstGeom prst="roundRect">
            <a:avLst>
              <a:gd name="adj" fmla="val 2388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84464" y="181051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7" name="Shape 24"/>
          <p:cNvSpPr/>
          <p:nvPr/>
        </p:nvSpPr>
        <p:spPr>
          <a:xfrm>
            <a:off x="8430768" y="181051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181051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psql · prompts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8156448" y="2002536"/>
            <a:ext cx="347472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21040" y="211226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version, active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321040" y="2333777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prompts;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8321040" y="255529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support-system | v1 | f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321040" y="277680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support-system | v2 | t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321040" y="299831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321040" y="321983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/prompts/v1/activate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8321040" y="344134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чат: «не знаю»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8321040" y="366285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/prompts/v2/activate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321040" y="388437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чат: по суті ✓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66928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41" name="Shape 38"/>
          <p:cNvSpPr/>
          <p:nvPr/>
        </p:nvSpPr>
        <p:spPr>
          <a:xfrm>
            <a:off x="749808" y="539953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749808" y="53995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243584" y="515721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1243584" y="541324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Побачити регресію і відкат наживо: зміна версії ламає і лагодить відповіді без жодної зміни коду — git чистий. Сьогодні це ловлять Ваші очі; на тижні 5–6 робитиме гейт.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Лабораторна робота: створення реєстру та відтворення регресії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18895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18895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28800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828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Наповнити реєстр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seed v1 + v2 (активна v2) → down -v &amp;&amp; up -d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670048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Прибрати хардкод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GetActivePrompt у service/Program.cs; версію → LogRequest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511296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35112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Оживити консоль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/prompts + POST /prompts/{version}/activate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4352544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4352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Відтворити регресію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activate v1 → «не знаю» → activate v2 → полагодилось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193792"/>
            <a:ext cx="457200" cy="457200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51937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trail · опційно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окрема таблиця активацій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РЕФЛЕКСІЯ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це довело · перевірте себе · типові помилки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це довело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Регресія без коміта — реальна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activate v1 зламав відповіді: git чистий, деплою не було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292608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308152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Rollback — одна операція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361188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activate v2 полагодив за секунди: той самий ендпоінт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11480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427024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 знає, кого винуватити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68096" y="480060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сплеск «не знаю» збігається з активацією v1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56448" y="173736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185623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Shape 15"/>
          <p:cNvSpPr/>
          <p:nvPr/>
        </p:nvSpPr>
        <p:spPr>
          <a:xfrm>
            <a:off x="8430768" y="185623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577072" y="185623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20" name="Text 17"/>
          <p:cNvSpPr/>
          <p:nvPr/>
        </p:nvSpPr>
        <p:spPr>
          <a:xfrm>
            <a:off x="8759952" y="173736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лог · prompt_version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56448" y="2048256"/>
            <a:ext cx="347472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21040" y="215798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10:41  activate v1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321040" y="2379497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10:41  v1  «не знаю»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321040" y="260101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10:42  v1  «не знаю»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321040" y="282252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10:43  v1  «не знаю»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321040" y="304403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10:44  activate v2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321040" y="326555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10:44  v2  по суті ✓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321040" y="348706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10:45  v2  по суті ✓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321040" y="370857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321040" y="393009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status: clean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66928" y="5394960"/>
            <a:ext cx="338328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32" name="Text 29"/>
          <p:cNvSpPr/>
          <p:nvPr/>
        </p:nvSpPr>
        <p:spPr>
          <a:xfrm>
            <a:off x="621792" y="539496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сьогодні: ловлять очі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041648" y="5669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rot="5400000">
            <a:off x="4169664" y="5600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5" name="Shape 32"/>
          <p:cNvSpPr/>
          <p:nvPr/>
        </p:nvSpPr>
        <p:spPr>
          <a:xfrm>
            <a:off x="4407408" y="5394960"/>
            <a:ext cx="338328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4462272" y="539496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W5: eval-кейси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7882128" y="5669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rot="5400000">
            <a:off x="8010144" y="5600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9" name="Shape 36"/>
          <p:cNvSpPr/>
          <p:nvPr/>
        </p:nvSpPr>
        <p:spPr>
          <a:xfrm>
            <a:off x="8247888" y="5394960"/>
            <a:ext cx="338328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40" name="Text 37"/>
          <p:cNvSpPr/>
          <p:nvPr/>
        </p:nvSpPr>
        <p:spPr>
          <a:xfrm>
            <a:off x="8302752" y="539496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W6: гейт у CI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Перевірте себе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840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104122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0" name="Shape 7"/>
          <p:cNvSpPr/>
          <p:nvPr/>
        </p:nvSpPr>
        <p:spPr>
          <a:xfrm rot="-3000000">
            <a:off x="106902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136245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 живе в БД — хардкоду в сервісі немає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7840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104122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 rot="-3000000">
            <a:off x="106902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136245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свіжих рядках лога заповнений prompt_version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4476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2700000">
            <a:off x="620758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 rot="-3000000">
            <a:off x="623538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652881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activate v1 ламає, v2 — лагодить, і це відтворюється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4476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2700000">
            <a:off x="620758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 rot="-3000000">
            <a:off x="623538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3" name="Text 20"/>
          <p:cNvSpPr/>
          <p:nvPr/>
        </p:nvSpPr>
        <p:spPr>
          <a:xfrm>
            <a:off x="652881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консоль показує список версій з активною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6928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Типові помилки на початковому етапі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18895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18895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28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" y="20208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871789" y="21971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" name="Shape 7"/>
          <p:cNvSpPr/>
          <p:nvPr/>
        </p:nvSpPr>
        <p:spPr>
          <a:xfrm rot="-2700000">
            <a:off x="871789" y="21971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18288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Правити активний промпт «на живу»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знищує можливість порівняти «до» і «після»; нова версія — один INSERT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2743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29352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871789" y="31115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Shape 12"/>
          <p:cNvSpPr/>
          <p:nvPr/>
        </p:nvSpPr>
        <p:spPr>
          <a:xfrm rot="-2700000">
            <a:off x="871789" y="31115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13"/>
          <p:cNvSpPr/>
          <p:nvPr/>
        </p:nvSpPr>
        <p:spPr>
          <a:xfrm>
            <a:off x="1298448" y="27432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 у коді, у документі або в голові тімліда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усі три означають одне: система не знає, що нею керує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928" y="3657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" y="38496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700000">
            <a:off x="871789" y="40259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Shape 17"/>
          <p:cNvSpPr/>
          <p:nvPr/>
        </p:nvSpPr>
        <p:spPr>
          <a:xfrm rot="-2700000">
            <a:off x="871789" y="40259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/>
          <p:nvPr/>
        </p:nvSpPr>
        <p:spPr>
          <a:xfrm>
            <a:off x="1298448" y="36576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 без prompt_version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реєстр є, а розслідування наосліп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66928" y="45720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47640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2700000">
            <a:off x="871789" y="49403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5" name="Shape 22"/>
          <p:cNvSpPr/>
          <p:nvPr/>
        </p:nvSpPr>
        <p:spPr>
          <a:xfrm rot="-2700000">
            <a:off x="871789" y="49403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23"/>
          <p:cNvSpPr/>
          <p:nvPr/>
        </p:nvSpPr>
        <p:spPr>
          <a:xfrm>
            <a:off x="1298448" y="45720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«Достатньо git-історії»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скаже, як змінювався код, а не яка версія відповідала користувачу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Домашнє завдання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Обов'язково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49469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здати ДЗ тижня 1 одним PR у своєму репозиторії — це рівно те, що ми пройшли за дві теми: у лабах більша частина зроблена руками, вдома довести до чистого стану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81928" y="173736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483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Опційно (не оцінюється)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83096" y="2423160"/>
            <a:ext cx="49469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audit trail: таблиця активацій — хто, коли, яку версію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версії з міткою часу замість ручних v1/v2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023360"/>
            <a:ext cx="1106424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9050">
            <a:solidFill>
              <a:srgbClr val="5A05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ДЗ тижня 1: логування + prompt registry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1248" y="46177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Критерії коротко: стек піднімається однією командою; промпт живе в базі, сервіс бере активну версію; у кожному лог-рядку заповнений prompt_version; GET /prompts і activate працюють; відкат на «поганий» промпт відтворювано ламає відповіді. Повні критерії — у файлі ДЗ.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ТЕМИ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регресія без коміта реальна: git чистий, система зламана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0299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 — конфігурація поведінки: роль, правила, формат, приклади = одна версія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6883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інструкції та дані живуть у різних місцях — інакше це вектор injection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438144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3467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реєстр = таблиця на чотири поля + атомарний activate: promote і rollback — одна операція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096512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0050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prompt_version у кожному рядку лога перетворює розслідування якості на SQL-запит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000000"/>
          </a:solidFill>
          <a:ln w="12700">
            <a:solidFill>
              <a:srgbClr val="5E4F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846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крок → Тема 3 · Мультипровайдерний gateway і маршрутизація моделей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550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 під контролем — тепер під контроль береться модель. У наступній темі з'являється другий елемент ланцюга і точка рішення: яке питання куди відправити, чому «одна модель на все» дорога, і як розподіл трафіку стає видимим у лозі.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ДЯКУЮ</a:t>
            </a:r>
            <a:endParaRPr lang="en-US" sz="7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2 · Prompt lifecycle: промпт як production-артефакт</dc:title>
  <dc:subject>PptxGenJS Presentation</dc:subject>
  <dc:creator>LLMOps Bootcamp</dc:creator>
  <cp:lastModifiedBy>LLMOps Bootcamp</cp:lastModifiedBy>
  <cp:revision>1</cp:revision>
  <dcterms:created xsi:type="dcterms:W3CDTF">2026-09-08T12:32:05Z</dcterms:created>
  <dcterms:modified xsi:type="dcterms:W3CDTF">2026-09-08T12:32:05Z</dcterms:modified>
</cp:coreProperties>
</file>