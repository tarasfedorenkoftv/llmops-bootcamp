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_COV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ТИЖДЕНЬ 6 · ТЕМА 11 З 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CI/CD quality gates,</a:t>
            </a:r>
            <a:endParaRPr lang="en-US" sz="3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canary і rollback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66928" y="4114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Зміна промпта — це реліз, повторюємо ми з другої теми. Сьогодні вона нарешті проходить релізний процес: eval-гейт на кожен PR, який фізично не пускає регресію в main.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5806440"/>
            <a:ext cx="1646834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5806440"/>
            <a:ext cx="16468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 Основа + промпти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23490" y="5806440"/>
            <a:ext cx="1502359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23490" y="5806440"/>
            <a:ext cx="15023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 Routing + cost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35578" y="5806440"/>
            <a:ext cx="1285646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5578" y="5806440"/>
            <a:ext cx="12856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 Кеш + tools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30952" y="5806440"/>
            <a:ext cx="1935785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30952" y="5806440"/>
            <a:ext cx="19357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 Надійність + безпека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76465" y="5806440"/>
            <a:ext cx="2008022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76465" y="5806440"/>
            <a:ext cx="20080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 Observability + evals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494215" y="5806440"/>
            <a:ext cx="1213409" cy="310896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17" name="Text 15"/>
          <p:cNvSpPr/>
          <p:nvPr/>
        </p:nvSpPr>
        <p:spPr>
          <a:xfrm>
            <a:off x="9494215" y="5806440"/>
            <a:ext cx="12134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W6 CI + фінал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Ви зможете після теми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683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П'ять дій, які перевірите руками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271016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710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76809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Увімкнути eval-гейт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 кожен PR, із доказом «червоний → зелений»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7024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14" name="Shape 11"/>
          <p:cNvSpPr/>
          <p:nvPr/>
        </p:nvSpPr>
        <p:spPr>
          <a:xfrm>
            <a:off x="447141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447141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8348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Налаштувати protection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47141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required check = job eval, а не workflow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7356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19" name="Shape 16"/>
          <p:cNvSpPr/>
          <p:nvPr/>
        </p:nvSpPr>
        <p:spPr>
          <a:xfrm>
            <a:off x="817473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817473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Записати rollback-критерії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17473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умови, хто смикає, якою командою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66928" y="3886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24" name="Shape 21"/>
          <p:cNvSpPr/>
          <p:nvPr/>
        </p:nvSpPr>
        <p:spPr>
          <a:xfrm>
            <a:off x="768096" y="40690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5" name="Text 22"/>
          <p:cNvSpPr/>
          <p:nvPr/>
        </p:nvSpPr>
        <p:spPr>
          <a:xfrm>
            <a:off x="768096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280160" y="40416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Пояснити порядок деплою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768096" y="457200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читач їде перед писарем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270248" y="3886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29" name="Shape 26"/>
          <p:cNvSpPr/>
          <p:nvPr/>
        </p:nvSpPr>
        <p:spPr>
          <a:xfrm>
            <a:off x="4471416" y="40690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0" name="Text 27"/>
          <p:cNvSpPr/>
          <p:nvPr/>
        </p:nvSpPr>
        <p:spPr>
          <a:xfrm>
            <a:off x="4471416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983480" y="40416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Відрізнити відкат від flag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4471416" y="457200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 сказати, коли який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Маршрут на сьогодні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8016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Ручні перевірки не виживають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27024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447141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3" name="Text 10"/>
          <p:cNvSpPr/>
          <p:nvPr/>
        </p:nvSpPr>
        <p:spPr>
          <a:xfrm>
            <a:off x="447141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8348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Гейт = eval + exit code + CI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97356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16" name="Shape 13"/>
          <p:cNvSpPr/>
          <p:nvPr/>
        </p:nvSpPr>
        <p:spPr>
          <a:xfrm>
            <a:off x="817473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817473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68680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Розтин eval-gate.yml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56692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0" name="Shape 17"/>
          <p:cNvSpPr/>
          <p:nvPr/>
        </p:nvSpPr>
        <p:spPr>
          <a:xfrm>
            <a:off x="76809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1" name="Text 18"/>
          <p:cNvSpPr/>
          <p:nvPr/>
        </p:nvSpPr>
        <p:spPr>
          <a:xfrm>
            <a:off x="76809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28016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 ≠ локальна машина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427024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4" name="Shape 21"/>
          <p:cNvSpPr/>
          <p:nvPr/>
        </p:nvSpPr>
        <p:spPr>
          <a:xfrm>
            <a:off x="447141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5" name="Text 22"/>
          <p:cNvSpPr/>
          <p:nvPr/>
        </p:nvSpPr>
        <p:spPr>
          <a:xfrm>
            <a:off x="447141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98348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Червоне — подарунок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797356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8" name="Shape 25"/>
          <p:cNvSpPr/>
          <p:nvPr/>
        </p:nvSpPr>
        <p:spPr>
          <a:xfrm>
            <a:off x="817473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9" name="Text 26"/>
          <p:cNvSpPr/>
          <p:nvPr/>
        </p:nvSpPr>
        <p:spPr>
          <a:xfrm>
            <a:off x="817473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68680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Порядок викочування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56692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32" name="Shape 29"/>
          <p:cNvSpPr/>
          <p:nvPr/>
        </p:nvSpPr>
        <p:spPr>
          <a:xfrm>
            <a:off x="76809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3" name="Text 30"/>
          <p:cNvSpPr/>
          <p:nvPr/>
        </p:nvSpPr>
        <p:spPr>
          <a:xfrm>
            <a:off x="76809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28016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Flag, артефакти, механічні перевірки</a:t>
            </a:r>
            <a:endParaRPr lang="en-US" sz="1450" dirty="0"/>
          </a:p>
        </p:txBody>
      </p:sp>
      <p:sp>
        <p:nvSpPr>
          <p:cNvPr id="35" name="Shape 32"/>
          <p:cNvSpPr/>
          <p:nvPr/>
        </p:nvSpPr>
        <p:spPr>
          <a:xfrm>
            <a:off x="427024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36" name="Shape 33"/>
          <p:cNvSpPr/>
          <p:nvPr/>
        </p:nvSpPr>
        <p:spPr>
          <a:xfrm>
            <a:off x="447141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7" name="Text 34"/>
          <p:cNvSpPr/>
          <p:nvPr/>
        </p:nvSpPr>
        <p:spPr>
          <a:xfrm>
            <a:off x="447141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98348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Canary · опційно</a:t>
            </a:r>
            <a:endParaRPr lang="en-US" sz="1450" dirty="0"/>
          </a:p>
        </p:txBody>
      </p:sp>
      <p:sp>
        <p:nvSpPr>
          <p:cNvPr id="39" name="Shape 36"/>
          <p:cNvSpPr/>
          <p:nvPr/>
        </p:nvSpPr>
        <p:spPr>
          <a:xfrm>
            <a:off x="797356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0" name="Shape 37"/>
          <p:cNvSpPr/>
          <p:nvPr/>
        </p:nvSpPr>
        <p:spPr>
          <a:xfrm>
            <a:off x="817473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1" name="Text 38"/>
          <p:cNvSpPr/>
          <p:nvPr/>
        </p:nvSpPr>
        <p:spPr>
          <a:xfrm>
            <a:off x="817473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868680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Rollback-критерії</a:t>
            </a:r>
            <a:endParaRPr lang="en-US" sz="1450" dirty="0"/>
          </a:p>
        </p:txBody>
      </p:sp>
      <p:sp>
        <p:nvSpPr>
          <p:cNvPr id="43" name="Shape 40"/>
          <p:cNvSpPr/>
          <p:nvPr/>
        </p:nvSpPr>
        <p:spPr>
          <a:xfrm>
            <a:off x="566928" y="48006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4" name="Shape 41"/>
          <p:cNvSpPr/>
          <p:nvPr/>
        </p:nvSpPr>
        <p:spPr>
          <a:xfrm>
            <a:off x="768096" y="49834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5" name="Text 42"/>
          <p:cNvSpPr/>
          <p:nvPr/>
        </p:nvSpPr>
        <p:spPr>
          <a:xfrm>
            <a:off x="76809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280160" y="49560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Лабораторна</a:t>
            </a:r>
            <a:endParaRPr lang="en-US" sz="1450" dirty="0"/>
          </a:p>
        </p:txBody>
      </p:sp>
      <p:sp>
        <p:nvSpPr>
          <p:cNvPr id="47" name="Shape 44"/>
          <p:cNvSpPr/>
          <p:nvPr/>
        </p:nvSpPr>
        <p:spPr>
          <a:xfrm>
            <a:off x="4270248" y="48006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8" name="Shape 45"/>
          <p:cNvSpPr/>
          <p:nvPr/>
        </p:nvSpPr>
        <p:spPr>
          <a:xfrm>
            <a:off x="4471416" y="49834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9" name="Text 46"/>
          <p:cNvSpPr/>
          <p:nvPr/>
        </p:nvSpPr>
        <p:spPr>
          <a:xfrm>
            <a:off x="447141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4983480" y="49560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Антипатерни</a:t>
            </a:r>
            <a:endParaRPr lang="en-US" sz="1450" dirty="0"/>
          </a:p>
        </p:txBody>
      </p:sp>
      <p:sp>
        <p:nvSpPr>
          <p:cNvPr id="51" name="Shape 48"/>
          <p:cNvSpPr/>
          <p:nvPr/>
        </p:nvSpPr>
        <p:spPr>
          <a:xfrm>
            <a:off x="566928" y="5779008"/>
            <a:ext cx="1106424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86384" y="5925312"/>
            <a:ext cx="10625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 «не забути прогнати» — до кнопки merge, яка заблокована, поки якість червона.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Терміни, якими користуватимемось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200607"/>
            <a:ext cx="683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Шість слів сьогоднішньої теми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465783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65783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 gate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9808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перевірка, без якої зміна не потрапляє в main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22064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04944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 check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04944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перевірка, позначена обов'язковою — увага до назви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77200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60080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 protection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260080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правила: що має статися перед мержем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canary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49808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викочування на частку трафіку перед повним релізом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322064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04944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flag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04944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вимикач поведінки без деплою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077200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60080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rollback-критерії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260080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умови відкату, записані до пожежі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66928" y="5138928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6384" y="5285232"/>
            <a:ext cx="106253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Кожне побачимо в конфізі — тут вони лише щоб не спотикатися.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ТЕОРІЯ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блоків — дивимось і розбираємось, руками поки не робимо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Чому ручний запуск eval не виживає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534924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93852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Поки запуск ручний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68096" y="2468880"/>
            <a:ext cx="4946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п'ятниця, дедлайн, «та я ж одне слово поміняв» — найгірші регресії приходять саме так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81928" y="1783080"/>
            <a:ext cx="534924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6483096" y="193852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Гейт у CI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83096" y="2468880"/>
            <a:ext cx="4946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 зі зламаним промптом фізично не мержиться: кнопка заблокована, а не «хтось пильний»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3611880"/>
            <a:ext cx="2423160" cy="512064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3611880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PR: зміна промпта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081528" y="3867912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5400000">
            <a:off x="3209544" y="3799332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8" name="Shape 15"/>
          <p:cNvSpPr/>
          <p:nvPr/>
        </p:nvSpPr>
        <p:spPr>
          <a:xfrm>
            <a:off x="3447288" y="3611880"/>
            <a:ext cx="2423160" cy="512064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3502152" y="3611880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Actions: eval-гейт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447288" y="4160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запускає механізм, не людина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961888" y="3867912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 rot="5400000">
            <a:off x="6089904" y="3799332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3" name="Shape 20"/>
          <p:cNvSpPr/>
          <p:nvPr/>
        </p:nvSpPr>
        <p:spPr>
          <a:xfrm>
            <a:off x="6327648" y="3611880"/>
            <a:ext cx="2423160" cy="512064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/>
        </p:spPr>
      </p:sp>
      <p:sp>
        <p:nvSpPr>
          <p:cNvPr id="24" name="Text 21"/>
          <p:cNvSpPr/>
          <p:nvPr/>
        </p:nvSpPr>
        <p:spPr>
          <a:xfrm>
            <a:off x="6382512" y="3611880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червоний → merge заблоковано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842248" y="3867912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rot="5400000">
            <a:off x="8970264" y="3799332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7" name="Shape 24"/>
          <p:cNvSpPr/>
          <p:nvPr/>
        </p:nvSpPr>
        <p:spPr>
          <a:xfrm>
            <a:off x="9208008" y="3611880"/>
            <a:ext cx="2423160" cy="512064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/>
        </p:spPr>
      </p:sp>
      <p:sp>
        <p:nvSpPr>
          <p:cNvPr id="28" name="Text 25"/>
          <p:cNvSpPr/>
          <p:nvPr/>
        </p:nvSpPr>
        <p:spPr>
          <a:xfrm>
            <a:off x="9262872" y="3611880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зелений → merge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66928" y="452628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5A05F4"/>
          </a:solidFill>
          <a:ln/>
        </p:spPr>
      </p:sp>
      <p:sp>
        <p:nvSpPr>
          <p:cNvPr id="30" name="Text 27"/>
          <p:cNvSpPr/>
          <p:nvPr/>
        </p:nvSpPr>
        <p:spPr>
          <a:xfrm>
            <a:off x="786384" y="4672584"/>
            <a:ext cx="1062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Промпт остаточно стає кодом — з рев'ю і заблокованим мержем.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66928" y="530352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9808" y="5559552"/>
            <a:ext cx="310896" cy="310896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33" name="Text 30"/>
          <p:cNvSpPr/>
          <p:nvPr/>
        </p:nvSpPr>
        <p:spPr>
          <a:xfrm>
            <a:off x="749808" y="5559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243584" y="543153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1243584" y="5687568"/>
            <a:ext cx="10168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Усе, що тримається на «не забути», буде забуто. Перевірки запускає механізм.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Гейт = Ваш eval + exit code + CI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920240"/>
            <a:ext cx="1847088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19202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відкрито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05456" y="230886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5400000">
            <a:off x="2633472" y="224028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2" name="Shape 9"/>
          <p:cNvSpPr/>
          <p:nvPr/>
        </p:nvSpPr>
        <p:spPr>
          <a:xfrm>
            <a:off x="2871216" y="1920240"/>
            <a:ext cx="1847088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2926080" y="19202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стек у CI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809744" y="230886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5400000">
            <a:off x="4937760" y="224028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5175504" y="1920240"/>
            <a:ext cx="1847088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5230368" y="19202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очікування готовності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114032" y="230886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5400000">
            <a:off x="7242048" y="224028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7479792" y="1920240"/>
            <a:ext cx="1847088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7534656" y="19202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run.py → 0/1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9418320" y="230886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rot="5400000">
            <a:off x="9546336" y="224028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4" name="Shape 21"/>
          <p:cNvSpPr/>
          <p:nvPr/>
        </p:nvSpPr>
        <p:spPr>
          <a:xfrm>
            <a:off x="9784080" y="1920240"/>
            <a:ext cx="1847088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9838944" y="19202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дозволено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66928" y="301752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27" name="Text 24"/>
          <p:cNvSpPr/>
          <p:nvPr/>
        </p:nvSpPr>
        <p:spPr>
          <a:xfrm>
            <a:off x="768096" y="317296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Майже нічого не пишемо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768096" y="3703320"/>
            <a:ext cx="4946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run.py повертає 0/1 (Тема 10), стек — одна команда (Тема 1), поріг обраний і обґрунтований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281928" y="301752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30" name="Text 27"/>
          <p:cNvSpPr/>
          <p:nvPr/>
        </p:nvSpPr>
        <p:spPr>
          <a:xfrm>
            <a:off x="6483096" y="317296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Цінність — у «кожен PR»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6483096" y="3703320"/>
            <a:ext cx="4946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той самий прогін, що руками, — тепер завжди: промпт, роутер, навіть «я тільки README»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66928" y="48006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86384" y="4946904"/>
            <a:ext cx="10625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 лише виконує у чистому середовищі те, що Ви вже вміли робити руками. Нового коду майже немає — з'являється невідворотність.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Червоний прогін сам по собі merge не блокує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6766560" cy="603504"/>
          </a:xfrm>
          <a:prstGeom prst="roundRect">
            <a:avLst>
              <a:gd name="adj" fmla="val 15152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1783080"/>
            <a:ext cx="23006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Settings → Branches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87014" y="1783080"/>
            <a:ext cx="397581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 репозиторії, де живе Ваш main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2496312"/>
            <a:ext cx="6766560" cy="603504"/>
          </a:xfrm>
          <a:prstGeom prst="roundRect">
            <a:avLst>
              <a:gd name="adj" fmla="val 15152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" y="2496312"/>
            <a:ext cx="23006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branch protection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087014" y="2496312"/>
            <a:ext cx="397581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захищаємо гілку main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3209544"/>
            <a:ext cx="6766560" cy="603504"/>
          </a:xfrm>
          <a:prstGeom prst="roundRect">
            <a:avLst>
              <a:gd name="adj" fmla="val 15152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786384" y="3209544"/>
            <a:ext cx="23006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 status checks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3087014" y="3209544"/>
            <a:ext cx="397581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перевірка стає обов'язковою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" y="3922776"/>
            <a:ext cx="6766560" cy="603504"/>
          </a:xfrm>
          <a:prstGeom prst="roundRect">
            <a:avLst>
              <a:gd name="adj" fmla="val 15152"/>
            </a:avLst>
          </a:prstGeom>
          <a:solidFill>
            <a:srgbClr val="000000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" y="3922776"/>
            <a:ext cx="23006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Вибрати чек eval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3087014" y="3922776"/>
            <a:ext cx="397581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саме job, не workflow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" y="4617720"/>
            <a:ext cx="1348740" cy="420624"/>
          </a:xfrm>
          <a:prstGeom prst="roundRect">
            <a:avLst>
              <a:gd name="adj" fmla="val 21739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621792" y="4617720"/>
            <a:ext cx="12390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007108" y="4828032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rot="5400000">
            <a:off x="2135124" y="4759452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4" name="Shape 21"/>
          <p:cNvSpPr/>
          <p:nvPr/>
        </p:nvSpPr>
        <p:spPr>
          <a:xfrm>
            <a:off x="2372868" y="4617720"/>
            <a:ext cx="1348740" cy="420624"/>
          </a:xfrm>
          <a:prstGeom prst="roundRect">
            <a:avLst>
              <a:gd name="adj" fmla="val 21739"/>
            </a:avLst>
          </a:prstGeom>
          <a:solidFill>
            <a:srgbClr val="00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2427732" y="4617720"/>
            <a:ext cx="12390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 eval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813048" y="4828032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rot="5400000">
            <a:off x="3941064" y="4759452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8" name="Shape 25"/>
          <p:cNvSpPr/>
          <p:nvPr/>
        </p:nvSpPr>
        <p:spPr>
          <a:xfrm>
            <a:off x="4178808" y="4617720"/>
            <a:ext cx="1348740" cy="420624"/>
          </a:xfrm>
          <a:prstGeom prst="roundRect">
            <a:avLst>
              <a:gd name="adj" fmla="val 21739"/>
            </a:avLst>
          </a:prstGeom>
          <a:solidFill>
            <a:srgbClr val="000000"/>
          </a:solidFill>
          <a:ln/>
        </p:spPr>
      </p:sp>
      <p:sp>
        <p:nvSpPr>
          <p:cNvPr id="29" name="Text 26"/>
          <p:cNvSpPr/>
          <p:nvPr/>
        </p:nvSpPr>
        <p:spPr>
          <a:xfrm>
            <a:off x="4233672" y="4617720"/>
            <a:ext cx="12390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protection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618988" y="4828032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rot="5400000">
            <a:off x="5747004" y="4759452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2" name="Shape 29"/>
          <p:cNvSpPr/>
          <p:nvPr/>
        </p:nvSpPr>
        <p:spPr>
          <a:xfrm>
            <a:off x="5984748" y="4617720"/>
            <a:ext cx="1348740" cy="420624"/>
          </a:xfrm>
          <a:prstGeom prst="roundRect">
            <a:avLst>
              <a:gd name="adj" fmla="val 21739"/>
            </a:avLst>
          </a:prstGeom>
          <a:solidFill>
            <a:srgbClr val="000000"/>
          </a:solidFill>
          <a:ln/>
        </p:spPr>
      </p:sp>
      <p:sp>
        <p:nvSpPr>
          <p:cNvPr id="33" name="Text 30"/>
          <p:cNvSpPr/>
          <p:nvPr/>
        </p:nvSpPr>
        <p:spPr>
          <a:xfrm>
            <a:off x="6039612" y="4617720"/>
            <a:ext cx="12390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7635240" y="1783080"/>
            <a:ext cx="3995928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854696" y="1911096"/>
            <a:ext cx="3557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ПАСТКА: JOB, А НЕ WORKFLOW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7854696" y="2167128"/>
            <a:ext cx="355701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 списку — назва job (eval), а не workflow. Неіснуючий чек ніколи не звітує — PR застрягає на «Expected».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7635240" y="4114800"/>
            <a:ext cx="3995928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854696" y="4242816"/>
            <a:ext cx="3557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БЕЗКОШТОВНИЙ ПЛАН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7854696" y="4498848"/>
            <a:ext cx="355701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 приватному репозиторії protection може бути недоступний — перевірте заздалегідь.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566928" y="525780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86384" y="5404104"/>
            <a:ext cx="10625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Перевірте гейт спробою мержу червоного PR.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Розтин eval-gate.yml: кожен крок має причину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6858000" cy="3246120"/>
          </a:xfrm>
          <a:prstGeom prst="roundRect">
            <a:avLst>
              <a:gd name="adj" fmla="val 3380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83664"/>
            <a:ext cx="641908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Up stack      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без UI — для evals не потрібен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run: docker compose up -d --build service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Wait for service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run: for i in $(seq 1 40); do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if curl -sf localhost:8080/health; then exit 0; fi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sleep 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done; docker compose logs; exit 1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Wait for gateway 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холодний LiteLLM: 500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Evals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run: python evals/run.py --dataset evals/golden.jsonl \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--threshold 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Logs on failure 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if: failure()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Down            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if: always()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98080" y="17830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без UI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49808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збірка фронтенду в CI — марні хвилини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0" y="24414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curl; then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498080" y="27157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 не curl &amp;&amp; — bash -e вб'є крок на першій невдачі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498080" y="309981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 gateway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498080" y="33741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окреме очікування: холодний адаптер дає 500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498080" y="37581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 on failure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498080" y="40325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червоний без логів — загадка; з логами — діагноз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498080" y="44165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 · always()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498080" y="4690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прибрати за собою навіть після падіння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66928" y="516636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5A05F4"/>
          </a:solidFill>
          <a:ln/>
        </p:spPr>
      </p:sp>
      <p:sp>
        <p:nvSpPr>
          <p:cNvPr id="21" name="Text 18"/>
          <p:cNvSpPr/>
          <p:nvPr/>
        </p:nvSpPr>
        <p:spPr>
          <a:xfrm>
            <a:off x="786384" y="5312664"/>
            <a:ext cx="106253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--threshold — частина датасету, а не константа шаблону: поріг оновлюється разом із набором кейсів.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CI — це інше середовище, і воно Вас здивує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93852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Сюрприз 1 · bash -e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68096" y="2468880"/>
            <a:ext cx="49469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Actions виконує кроки з bash -e: перший невдалий curl убиває крок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81928" y="178308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6483096" y="193852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Сюрприз 2 · холодний gateway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83096" y="2468880"/>
            <a:ext cx="49469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перший запит дає 500. Локально не видно: поки відкриваєте браузер, адаптер прогрівається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3703320"/>
            <a:ext cx="1463040" cy="512064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3703320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 stack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121408" y="3959352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5400000">
            <a:off x="2249424" y="3890772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8" name="Shape 15"/>
          <p:cNvSpPr/>
          <p:nvPr/>
        </p:nvSpPr>
        <p:spPr>
          <a:xfrm>
            <a:off x="2487168" y="3703320"/>
            <a:ext cx="1463040" cy="512064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2542032" y="3703320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 service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487168" y="4251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цикл замість bash -e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041648" y="3959352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 rot="5400000">
            <a:off x="4169664" y="3890772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3" name="Shape 20"/>
          <p:cNvSpPr/>
          <p:nvPr/>
        </p:nvSpPr>
        <p:spPr>
          <a:xfrm>
            <a:off x="4407408" y="3703320"/>
            <a:ext cx="1463040" cy="512064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/>
        </p:spPr>
      </p:sp>
      <p:sp>
        <p:nvSpPr>
          <p:cNvPr id="24" name="Text 21"/>
          <p:cNvSpPr/>
          <p:nvPr/>
        </p:nvSpPr>
        <p:spPr>
          <a:xfrm>
            <a:off x="4462272" y="3703320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 gateway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407408" y="4251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холодний старт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961888" y="3959352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rot="5400000">
            <a:off x="6089904" y="3890772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8" name="Shape 25"/>
          <p:cNvSpPr/>
          <p:nvPr/>
        </p:nvSpPr>
        <p:spPr>
          <a:xfrm>
            <a:off x="6327648" y="3703320"/>
            <a:ext cx="1463040" cy="512064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/>
        </p:spPr>
      </p:sp>
      <p:sp>
        <p:nvSpPr>
          <p:cNvPr id="29" name="Text 26"/>
          <p:cNvSpPr/>
          <p:nvPr/>
        </p:nvSpPr>
        <p:spPr>
          <a:xfrm>
            <a:off x="6382512" y="3703320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882128" y="3959352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rot="5400000">
            <a:off x="8010144" y="3890772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2" name="Shape 29"/>
          <p:cNvSpPr/>
          <p:nvPr/>
        </p:nvSpPr>
        <p:spPr>
          <a:xfrm>
            <a:off x="8247888" y="3703320"/>
            <a:ext cx="1463040" cy="512064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/>
        </p:spPr>
      </p:sp>
      <p:sp>
        <p:nvSpPr>
          <p:cNvPr id="33" name="Text 30"/>
          <p:cNvSpPr/>
          <p:nvPr/>
        </p:nvSpPr>
        <p:spPr>
          <a:xfrm>
            <a:off x="8302752" y="3703320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 on failure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9802368" y="3959352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 rot="5400000">
            <a:off x="9930384" y="3890772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6" name="Shape 33"/>
          <p:cNvSpPr/>
          <p:nvPr/>
        </p:nvSpPr>
        <p:spPr>
          <a:xfrm>
            <a:off x="10168128" y="3703320"/>
            <a:ext cx="1463040" cy="512064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/>
        </p:spPr>
      </p:sp>
      <p:sp>
        <p:nvSpPr>
          <p:cNvPr id="37" name="Text 34"/>
          <p:cNvSpPr/>
          <p:nvPr/>
        </p:nvSpPr>
        <p:spPr>
          <a:xfrm>
            <a:off x="10222992" y="3703320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 · always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66928" y="457200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5A05F4"/>
          </a:solidFill>
          <a:ln/>
        </p:spPr>
      </p:sp>
      <p:sp>
        <p:nvSpPr>
          <p:cNvPr id="39" name="Text 36"/>
          <p:cNvSpPr/>
          <p:nvPr/>
        </p:nvSpPr>
        <p:spPr>
          <a:xfrm>
            <a:off x="786384" y="4718304"/>
            <a:ext cx="10625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Два червоні прогони, потім зелений — це не сором, а налагодження гейта.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566928" y="534924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49808" y="5582412"/>
            <a:ext cx="310896" cy="310896"/>
          </a:xfrm>
          <a:prstGeom prst="ellipse">
            <a:avLst/>
          </a:prstGeom>
          <a:solidFill>
            <a:srgbClr val="1A4FBF"/>
          </a:solidFill>
          <a:ln/>
        </p:spPr>
      </p:sp>
      <p:sp>
        <p:nvSpPr>
          <p:cNvPr id="42" name="Text 39"/>
          <p:cNvSpPr/>
          <p:nvPr/>
        </p:nvSpPr>
        <p:spPr>
          <a:xfrm>
            <a:off x="749808" y="5582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1243584" y="547725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ПОРАДА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1243584" y="5733288"/>
            <a:ext cx="10168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Гейт треба прогнати на зламаному PR — інакше не знаєте, чи він блокує.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Червоний гейт — подарунок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1892808"/>
            <a:ext cx="5056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секунди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13232" y="2578608"/>
            <a:ext cx="5056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гейт зловив регресію до користувачів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81928" y="178308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6428232" y="1892808"/>
            <a:ext cx="5056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дні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428232" y="2578608"/>
            <a:ext cx="5056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 саме через скарги і розслідування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333756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" y="3913632"/>
            <a:ext cx="310896" cy="310896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6" name="Text 13"/>
          <p:cNvSpPr/>
          <p:nvPr/>
        </p:nvSpPr>
        <p:spPr>
          <a:xfrm>
            <a:off x="749808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243584" y="346557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ТИПОВА ПОМИЛКА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243584" y="3721608"/>
            <a:ext cx="1016812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Один мерж повз червоний гейт — і за місяць його обходять усі.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66928" y="49377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786384" y="5084064"/>
            <a:ext cx="10625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Гейт має бути швидким, стабільним і зрозумілим у падінні.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Порядок викочування — частина релізу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201168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2011680"/>
            <a:ext cx="3273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читач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041648" y="240030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5400000">
            <a:off x="4169664" y="23317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2" name="Shape 9"/>
          <p:cNvSpPr/>
          <p:nvPr/>
        </p:nvSpPr>
        <p:spPr>
          <a:xfrm>
            <a:off x="4407408" y="201168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4462272" y="2011680"/>
            <a:ext cx="3273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писар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882128" y="240030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5400000">
            <a:off x="8010144" y="23317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8247888" y="201168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8302752" y="2011680"/>
            <a:ext cx="3273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прибирання старого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6928" y="28803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зелений гейт каже «цей стан здоровий» — він не каже «шлях від старого до нового безпечний»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66928" y="3337560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000000"/>
          </a:solidFill>
          <a:ln/>
        </p:spPr>
      </p:sp>
      <p:sp>
        <p:nvSpPr>
          <p:cNvPr id="20" name="Text 17"/>
          <p:cNvSpPr/>
          <p:nvPr/>
        </p:nvSpPr>
        <p:spPr>
          <a:xfrm>
            <a:off x="786384" y="3337560"/>
            <a:ext cx="376184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Код і промпт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548226" y="3337560"/>
            <a:ext cx="664037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спершу код, який уміє обидві версії; потім активація нової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66928" y="4105656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00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786384" y="4105656"/>
            <a:ext cx="376184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Схема бази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4548226" y="4105656"/>
            <a:ext cx="664037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expand → migrate → contract: нова колонка, заповнення, прибирання старої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66928" y="4873752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000000"/>
          </a:solidFill>
          <a:ln/>
        </p:spPr>
      </p:sp>
      <p:sp>
        <p:nvSpPr>
          <p:cNvPr id="26" name="Text 23"/>
          <p:cNvSpPr/>
          <p:nvPr/>
        </p:nvSpPr>
        <p:spPr>
          <a:xfrm>
            <a:off x="786384" y="4873752"/>
            <a:ext cx="376184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Інструменти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4548226" y="4873752"/>
            <a:ext cx="664037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спершу той, хто читає новий формат, потім той, хто його пише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66928" y="5715000"/>
            <a:ext cx="110642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86384" y="5861304"/>
            <a:ext cx="1062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Правило сумісності: у будь-який момент викочування система має працювати в обох станах.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Feature flag і артефакти релізу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89280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Відкат версії промпта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68096" y="2423160"/>
            <a:ext cx="4946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активація попередньої версії — секунди, без деплою (Тема 2)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81928" y="173736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6483096" y="189280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flag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83096" y="2423160"/>
            <a:ext cx="4946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аварійний вимикач шару: кеш, інструмент, guardrail — вимикається без релізу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3520440"/>
            <a:ext cx="2423160" cy="68580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352044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код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081528" y="386334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5400000">
            <a:off x="3209544" y="379476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8" name="Shape 15"/>
          <p:cNvSpPr/>
          <p:nvPr/>
        </p:nvSpPr>
        <p:spPr>
          <a:xfrm>
            <a:off x="3447288" y="3520440"/>
            <a:ext cx="2423160" cy="68580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3502152" y="352044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промпт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961888" y="386334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rot="5400000">
            <a:off x="6089904" y="379476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2" name="Shape 19"/>
          <p:cNvSpPr/>
          <p:nvPr/>
        </p:nvSpPr>
        <p:spPr>
          <a:xfrm>
            <a:off x="6327648" y="3520440"/>
            <a:ext cx="2423160" cy="68580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6382512" y="352044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датасет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842248" y="386334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rot="5400000">
            <a:off x="8970264" y="379476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6" name="Shape 23"/>
          <p:cNvSpPr/>
          <p:nvPr/>
        </p:nvSpPr>
        <p:spPr>
          <a:xfrm>
            <a:off x="9208008" y="3520440"/>
            <a:ext cx="2423160" cy="68580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27" name="Text 24"/>
          <p:cNvSpPr/>
          <p:nvPr/>
        </p:nvSpPr>
        <p:spPr>
          <a:xfrm>
            <a:off x="9262872" y="352044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конфіг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66928" y="4297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чотири артефакти — один реліз: якщо зміна торкається двох, вона одна зміна, а не дві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66928" y="47548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49808" y="5148072"/>
            <a:ext cx="310896" cy="310896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31" name="Text 28"/>
          <p:cNvSpPr/>
          <p:nvPr/>
        </p:nvSpPr>
        <p:spPr>
          <a:xfrm>
            <a:off x="749808" y="5148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243584" y="488289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ТИПОВА ПОМИЛКА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243584" y="5138928"/>
            <a:ext cx="101681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Прапорець без плану прибирання: через рік це кладовище мертвих гілок, у якому ніхто не знає, що можна видалити.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У гейті живуть не тільки evals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100584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Клас поломок, які до моделі навіть не доходять — кілька рядків кожна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1271016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2710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94360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перевірка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що ловить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Шаблон промпта: усі плейсхолдери на місці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одна одрукована дужка — і в модель їде текст із дужками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Схеми інструментів — валідний JSON Schema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зламану схему провайдер відкине вже на проді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Прайс покриває всі моделі з конфіга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інакше cost_usd тихо стає null, і облік бреше (Тема 4)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Моделі запінені, а не alias'и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«регресія без коміта» від оновлення провайдера (Тема 3)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У діфі немає ключів і секретів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261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найдорожча помилка з найкоротшим фіксом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66928" y="507492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86384" y="520293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ПОРЯДОК ЯК У ПІРАМІДІ ТЕСТІВ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86384" y="5458968"/>
            <a:ext cx="10625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Найдешевше — механічні перевірки конфігів і схем, дорожче — eval-прогін зі стеком, найдорожче — модельні перевірки з реальним ключем. У цьому порядку 80% поломок ловляться за секунди, не піднімаючи жодного контейнера.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Canary: частка трафіку замість усього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67128" y="1218895"/>
            <a:ext cx="8641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67128" y="1218895"/>
            <a:ext cx="8641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34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ОПЦІЙНО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481328" y="2103120"/>
            <a:ext cx="283464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1536192" y="2103120"/>
            <a:ext cx="2724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90% — стара версія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07408" y="249174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5400000">
            <a:off x="4535424" y="242316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4" name="Shape 11"/>
          <p:cNvSpPr/>
          <p:nvPr/>
        </p:nvSpPr>
        <p:spPr>
          <a:xfrm>
            <a:off x="4773168" y="2103120"/>
            <a:ext cx="283464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4828032" y="2103120"/>
            <a:ext cx="2724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 — нова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699248" y="249174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5400000">
            <a:off x="7827264" y="242316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8" name="Shape 15"/>
          <p:cNvSpPr/>
          <p:nvPr/>
        </p:nvSpPr>
        <p:spPr>
          <a:xfrm>
            <a:off x="8065008" y="2103120"/>
            <a:ext cx="283464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8119872" y="2103120"/>
            <a:ext cx="2724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порівняння метрик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" y="329184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768096" y="344728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Композиція, а не новий механізм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768096" y="3977640"/>
            <a:ext cx="4946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routing (Тема 3) + реєстр версій (Тема 2) + лог (Тема 1) — усе вже є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281928" y="329184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000000"/>
          </a:solidFill>
          <a:ln/>
        </p:spPr>
      </p:sp>
      <p:sp>
        <p:nvSpPr>
          <p:cNvPr id="24" name="Text 21"/>
          <p:cNvSpPr/>
          <p:nvPr/>
        </p:nvSpPr>
        <p:spPr>
          <a:xfrm>
            <a:off x="6483096" y="344728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Ділити за користувачем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6483096" y="3977640"/>
            <a:ext cx="4946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той самий стабільний вибір за ключем, що й для A/B промптів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66928" y="498348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6384" y="5129784"/>
            <a:ext cx="106253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Canary без заздалегідь названої метрики порівняння — це просто повільніший спосіб викотити зміну.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Rollback-критерії пишуться до пожежі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11064240" cy="2057400"/>
          </a:xfrm>
          <a:prstGeom prst="roundRect">
            <a:avLst>
              <a:gd name="adj" fmla="val 5333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83664"/>
            <a:ext cx="10625328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Відкочуємо, якщо: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eval pass rate &lt; поріг (5/6)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(прогін після деплою)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або fallback_events зростає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протягом 15 хв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або error rate &gt; 5%        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протягом 15 хв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Хто смикає: черговий, без погоджень.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Як: activate попередньої версії — одна команда.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" y="402336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1" name="Shape 8"/>
          <p:cNvSpPr/>
          <p:nvPr/>
        </p:nvSpPr>
        <p:spPr>
          <a:xfrm>
            <a:off x="768096" y="4206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80160" y="41788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Умова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68096" y="4709160"/>
            <a:ext cx="3118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конкретна метрика і поріг, а не «якщо стане погано»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70248" y="402336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6" name="Shape 13"/>
          <p:cNvSpPr/>
          <p:nvPr/>
        </p:nvSpPr>
        <p:spPr>
          <a:xfrm>
            <a:off x="4471416" y="4206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4471416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83480" y="41788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Хто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4471416" y="4709160"/>
            <a:ext cx="3118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названа роль, яка має право смикнути, не питаючи дозволу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73568" y="402336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21" name="Shape 18"/>
          <p:cNvSpPr/>
          <p:nvPr/>
        </p:nvSpPr>
        <p:spPr>
          <a:xfrm>
            <a:off x="8174736" y="4206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2" name="Text 19"/>
          <p:cNvSpPr/>
          <p:nvPr/>
        </p:nvSpPr>
        <p:spPr>
          <a:xfrm>
            <a:off x="8174736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686800" y="41788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Чим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8174736" y="4709160"/>
            <a:ext cx="3118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точна команда — щоб виконати її о 3-й ночі без роздумів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66928" y="5623560"/>
            <a:ext cx="11064240" cy="658368"/>
          </a:xfrm>
          <a:prstGeom prst="roundRect">
            <a:avLst>
              <a:gd name="adj" fmla="val 16667"/>
            </a:avLst>
          </a:prstGeom>
          <a:solidFill>
            <a:srgbClr val="5A05F4"/>
          </a:solidFill>
          <a:ln/>
        </p:spPr>
      </p:sp>
      <p:sp>
        <p:nvSpPr>
          <p:cNvPr id="26" name="Text 23"/>
          <p:cNvSpPr/>
          <p:nvPr/>
        </p:nvSpPr>
        <p:spPr>
          <a:xfrm>
            <a:off x="786384" y="5769864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Рішення, ухвалене заздалегідь, виконується за секунди; рішення під час інциденту обговорюється хвилинами.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ПРАКТИКА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стенд наживо — і чесна межа того, що він доводить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4773168"/>
            <a:ext cx="4134917" cy="475488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4773168"/>
            <a:ext cx="413491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Лабораторна: чотири кроки + опційний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Зараз Ви побачите — і навіщо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02412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3736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80160" y="189280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eval-gate.yml по кроках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68096" y="2423160"/>
            <a:ext cx="3209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кожен крок — відповідь на конкретну проблему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61688" y="173736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3" name="Shape 10"/>
          <p:cNvSpPr/>
          <p:nvPr/>
        </p:nvSpPr>
        <p:spPr>
          <a:xfrm>
            <a:off x="456285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4" name="Text 11"/>
          <p:cNvSpPr/>
          <p:nvPr/>
        </p:nvSpPr>
        <p:spPr>
          <a:xfrm>
            <a:off x="456285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74920" y="189280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 зі зламаним промптом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562856" y="2423160"/>
            <a:ext cx="3209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Actions червоний, merge заблоковано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" y="338328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8" name="Shape 15"/>
          <p:cNvSpPr/>
          <p:nvPr/>
        </p:nvSpPr>
        <p:spPr>
          <a:xfrm>
            <a:off x="768096" y="35661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9" name="Text 16"/>
          <p:cNvSpPr/>
          <p:nvPr/>
        </p:nvSpPr>
        <p:spPr>
          <a:xfrm>
            <a:off x="768096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280160" y="353872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фікс → зелений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768096" y="4069080"/>
            <a:ext cx="3209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той самий PR стає мержабельним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361688" y="338328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23" name="Shape 20"/>
          <p:cNvSpPr/>
          <p:nvPr/>
        </p:nvSpPr>
        <p:spPr>
          <a:xfrm>
            <a:off x="4562856" y="35661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4" name="Text 21"/>
          <p:cNvSpPr/>
          <p:nvPr/>
        </p:nvSpPr>
        <p:spPr>
          <a:xfrm>
            <a:off x="4562856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074920" y="353872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required check у налаштуваннях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4562856" y="4069080"/>
            <a:ext cx="3209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job eval, а не workflow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156448" y="173736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284464" y="1856232"/>
            <a:ext cx="73152" cy="7315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9" name="Shape 26"/>
          <p:cNvSpPr/>
          <p:nvPr/>
        </p:nvSpPr>
        <p:spPr>
          <a:xfrm>
            <a:off x="8430768" y="1856232"/>
            <a:ext cx="73152" cy="73152"/>
          </a:xfrm>
          <a:prstGeom prst="ellipse">
            <a:avLst/>
          </a:prstGeom>
          <a:solidFill>
            <a:srgbClr val="6BA0F8"/>
          </a:solidFill>
          <a:ln/>
        </p:spPr>
      </p:sp>
      <p:sp>
        <p:nvSpPr>
          <p:cNvPr id="30" name="Shape 27"/>
          <p:cNvSpPr/>
          <p:nvPr/>
        </p:nvSpPr>
        <p:spPr>
          <a:xfrm>
            <a:off x="8577072" y="1856232"/>
            <a:ext cx="73152" cy="73152"/>
          </a:xfrm>
          <a:prstGeom prst="ellipse">
            <a:avLst/>
          </a:prstGeom>
          <a:solidFill>
            <a:srgbClr val="3FCF8E"/>
          </a:solidFill>
          <a:ln/>
        </p:spPr>
      </p:sp>
      <p:sp>
        <p:nvSpPr>
          <p:cNvPr id="31" name="Text 28"/>
          <p:cNvSpPr/>
          <p:nvPr/>
        </p:nvSpPr>
        <p:spPr>
          <a:xfrm>
            <a:off x="8759952" y="173736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· PR #1 · checks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8156448" y="2048256"/>
            <a:ext cx="3474720" cy="0"/>
          </a:xfrm>
          <a:prstGeom prst="line">
            <a:avLst/>
          </a:prstGeom>
          <a:noFill/>
          <a:ln w="9525">
            <a:solidFill>
              <a:srgbClr val="2A243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321040" y="2157984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eval — failed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8321040" y="2379497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3/6 passed · threshold 5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8321040" y="2601011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Merging is blocked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8321040" y="2822524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8321040" y="3044038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push: fix prompt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8321040" y="3265551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8321040" y="3487064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eval — passed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321040" y="3708578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6/6 passed · threshold 5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8321040" y="3930091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Merge pull request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566928" y="507492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5A05F4"/>
          </a:solidFill>
          <a:ln/>
        </p:spPr>
      </p:sp>
      <p:sp>
        <p:nvSpPr>
          <p:cNvPr id="43" name="Shape 40"/>
          <p:cNvSpPr/>
          <p:nvPr/>
        </p:nvSpPr>
        <p:spPr>
          <a:xfrm>
            <a:off x="749808" y="544525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4" name="Text 41"/>
          <p:cNvSpPr/>
          <p:nvPr/>
        </p:nvSpPr>
        <p:spPr>
          <a:xfrm>
            <a:off x="749808" y="54452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0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243584" y="520293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1243584" y="5458968"/>
            <a:ext cx="101681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Побачити, як якість перестає залежати від дисципліни: перевірка, яку Ви вміли робити руками, стає умовою мержу — і працює без Вас.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Лабораторна: чотири кроки + опційний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18895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218895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828800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1828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Прочитати workflow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eval-gate.yml: навіщо кожен крок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2670048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88720" y="26700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Зламати навмисно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 зі зіпсованим промптом → червоний прогін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6928" y="3511296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88720" y="35112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Полагодити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фікс у тому ж PR → зелений прогін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66928" y="4352544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88720" y="43525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Увімкнути protection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required check = job eval; перевірити спробою мержу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66928" y="5193792"/>
            <a:ext cx="457200" cy="457200"/>
          </a:xfrm>
          <a:prstGeom prst="ellipse">
            <a:avLst/>
          </a:prstGeom>
          <a:solidFill>
            <a:srgbClr val="1A4FBF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88720" y="51937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Canary-план · опційно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розподіл 90/10 своїм роутером + метрики порівняння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РЕФЛЕКСІЯ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що це довело · перевірте себе · антипатерни тижня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це довело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37360"/>
            <a:ext cx="7223760" cy="1051560"/>
          </a:xfrm>
          <a:prstGeom prst="roundRect">
            <a:avLst>
              <a:gd name="adj" fmla="val 10435"/>
            </a:avLst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1892808"/>
            <a:ext cx="6821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Регресія не пройде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68096" y="2423160"/>
            <a:ext cx="6821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червоний прогін блокує merge механічно, а не за домовленістю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" y="2926080"/>
            <a:ext cx="7223760" cy="1051560"/>
          </a:xfrm>
          <a:prstGeom prst="roundRect">
            <a:avLst>
              <a:gd name="adj" fmla="val 10435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768096" y="3081528"/>
            <a:ext cx="6821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Гейт теж код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3611880"/>
            <a:ext cx="6821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два червоні прогони, поки він сам не запрацював, — нормальна історія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4114800"/>
            <a:ext cx="7223760" cy="1051560"/>
          </a:xfrm>
          <a:prstGeom prst="roundRect">
            <a:avLst>
              <a:gd name="adj" fmla="val 10435"/>
            </a:avLst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768096" y="4270248"/>
            <a:ext cx="6821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Відкат — рішення заздалегідь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768096" y="4800600"/>
            <a:ext cx="6821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умови, роль і команда записані до, а не під час інциденту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56448" y="1737360"/>
            <a:ext cx="3474720" cy="3429000"/>
          </a:xfrm>
          <a:prstGeom prst="roundRect">
            <a:avLst>
              <a:gd name="adj" fmla="val 2133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84464" y="1856232"/>
            <a:ext cx="73152" cy="7315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8" name="Shape 15"/>
          <p:cNvSpPr/>
          <p:nvPr/>
        </p:nvSpPr>
        <p:spPr>
          <a:xfrm>
            <a:off x="8430768" y="1856232"/>
            <a:ext cx="73152" cy="73152"/>
          </a:xfrm>
          <a:prstGeom prst="ellipse">
            <a:avLst/>
          </a:prstGeom>
          <a:solidFill>
            <a:srgbClr val="6BA0F8"/>
          </a:solidFill>
          <a:ln/>
        </p:spPr>
      </p:sp>
      <p:sp>
        <p:nvSpPr>
          <p:cNvPr id="19" name="Shape 16"/>
          <p:cNvSpPr/>
          <p:nvPr/>
        </p:nvSpPr>
        <p:spPr>
          <a:xfrm>
            <a:off x="8577072" y="1856232"/>
            <a:ext cx="73152" cy="73152"/>
          </a:xfrm>
          <a:prstGeom prst="ellipse">
            <a:avLst/>
          </a:prstGeom>
          <a:solidFill>
            <a:srgbClr val="3FCF8E"/>
          </a:solidFill>
          <a:ln/>
        </p:spPr>
      </p:sp>
      <p:sp>
        <p:nvSpPr>
          <p:cNvPr id="20" name="Text 17"/>
          <p:cNvSpPr/>
          <p:nvPr/>
        </p:nvSpPr>
        <p:spPr>
          <a:xfrm>
            <a:off x="8759952" y="173736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· branch protection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56448" y="2048256"/>
            <a:ext cx="3474720" cy="0"/>
          </a:xfrm>
          <a:prstGeom prst="line">
            <a:avLst/>
          </a:prstGeom>
          <a:noFill/>
          <a:ln w="9525">
            <a:solidFill>
              <a:srgbClr val="2A243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21040" y="2157984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status checks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321040" y="2379497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✓ required: eval (job)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321040" y="2601011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321040" y="2822524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#1  eval ✗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8321040" y="3044038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Merging is blocked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8321040" y="3265551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321040" y="3487064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#1  eval ✓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321040" y="3708578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Merge pull request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8321040" y="3930091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8321040" y="4151605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rollback: activate v2 · &lt; 1 хв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66928" y="534924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86384" y="5495544"/>
            <a:ext cx="10625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Контур замкнувся: зміна проходить перевірку, перевірка блокує регресію, відкат описаний. Лишилося зібрати це в operating model — остання тема.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Перевірте себе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83080"/>
            <a:ext cx="110642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78408" y="270662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2700000">
            <a:off x="1041227" y="284607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0" name="Shape 7"/>
          <p:cNvSpPr/>
          <p:nvPr/>
        </p:nvSpPr>
        <p:spPr>
          <a:xfrm rot="-3000000">
            <a:off x="1069025" y="282001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1" name="Text 8"/>
          <p:cNvSpPr/>
          <p:nvPr/>
        </p:nvSpPr>
        <p:spPr>
          <a:xfrm>
            <a:off x="1362456" y="250545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історії Actions є червоний і зелений прогін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78408" y="416966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2700000">
            <a:off x="1041227" y="430911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4" name="Shape 11"/>
          <p:cNvSpPr/>
          <p:nvPr/>
        </p:nvSpPr>
        <p:spPr>
          <a:xfrm rot="-3000000">
            <a:off x="1069025" y="428305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1362456" y="396849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merge червоного PR справді заблокований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44768" y="270662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2700000">
            <a:off x="6207587" y="284607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8" name="Shape 15"/>
          <p:cNvSpPr/>
          <p:nvPr/>
        </p:nvSpPr>
        <p:spPr>
          <a:xfrm rot="-3000000">
            <a:off x="6235385" y="282001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9" name="Text 16"/>
          <p:cNvSpPr/>
          <p:nvPr/>
        </p:nvSpPr>
        <p:spPr>
          <a:xfrm>
            <a:off x="6528816" y="250545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rollback-критерії записані: умова, хто, чим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144768" y="416966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rot="2700000">
            <a:off x="6207587" y="430911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2" name="Shape 19"/>
          <p:cNvSpPr/>
          <p:nvPr/>
        </p:nvSpPr>
        <p:spPr>
          <a:xfrm rot="-3000000">
            <a:off x="6235385" y="428305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3" name="Text 20"/>
          <p:cNvSpPr/>
          <p:nvPr/>
        </p:nvSpPr>
        <p:spPr>
          <a:xfrm>
            <a:off x="6528816" y="396849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поясню, чому читач деплоїться перед писарем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66928" y="5669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 завагалися — туди і повертайтеся. Питання — у канал потоку або на Q&amp;A.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Антипатерни тижня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8308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8096" y="195681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2700000">
            <a:off x="871789" y="213309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0" name="Shape 7"/>
          <p:cNvSpPr/>
          <p:nvPr/>
        </p:nvSpPr>
        <p:spPr>
          <a:xfrm rot="-2700000">
            <a:off x="871789" y="213309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1" name="Text 8"/>
          <p:cNvSpPr/>
          <p:nvPr/>
        </p:nvSpPr>
        <p:spPr>
          <a:xfrm>
            <a:off x="1298448" y="178308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Мерж повз червоний гейт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один прецедент — і за місяць гейт обходять усі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" y="265176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8096" y="282549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2700000">
            <a:off x="871789" y="300177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5" name="Shape 12"/>
          <p:cNvSpPr/>
          <p:nvPr/>
        </p:nvSpPr>
        <p:spPr>
          <a:xfrm rot="-2700000">
            <a:off x="871789" y="300177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6" name="Text 13"/>
          <p:cNvSpPr/>
          <p:nvPr/>
        </p:nvSpPr>
        <p:spPr>
          <a:xfrm>
            <a:off x="1298448" y="265176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Protection на неіснуючий чек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чек ніколи не звітує; PR застрягають на «Expected» — і захист знімають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66928" y="35204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68096" y="369417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2700000">
            <a:off x="871789" y="387045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0" name="Shape 17"/>
          <p:cNvSpPr/>
          <p:nvPr/>
        </p:nvSpPr>
        <p:spPr>
          <a:xfrm rot="-2700000">
            <a:off x="871789" y="387045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1" name="Text 18"/>
          <p:cNvSpPr/>
          <p:nvPr/>
        </p:nvSpPr>
        <p:spPr>
          <a:xfrm>
            <a:off x="1298448" y="352044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Гейт, що триває пів години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обхід стає раціональним рішенням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" y="438912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8096" y="456285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rot="2700000">
            <a:off x="871789" y="473913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5" name="Shape 22"/>
          <p:cNvSpPr/>
          <p:nvPr/>
        </p:nvSpPr>
        <p:spPr>
          <a:xfrm rot="-2700000">
            <a:off x="871789" y="473913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6" name="Text 23"/>
          <p:cNvSpPr/>
          <p:nvPr/>
        </p:nvSpPr>
        <p:spPr>
          <a:xfrm>
            <a:off x="1298448" y="4389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flag без плану прибирання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кладовище мертвих гілок через рік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66928" y="525780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68096" y="543153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rot="2700000">
            <a:off x="871789" y="560781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0" name="Shape 27"/>
          <p:cNvSpPr/>
          <p:nvPr/>
        </p:nvSpPr>
        <p:spPr>
          <a:xfrm rot="-2700000">
            <a:off x="871789" y="560781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1" name="Text 28"/>
          <p:cNvSpPr/>
          <p:nvPr/>
        </p:nvSpPr>
        <p:spPr>
          <a:xfrm>
            <a:off x="1298448" y="525780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Rollback-критерії під час інциденту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рішення обговорюється, поки користувачі чекають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Домашнє завдання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02412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3736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189280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Обов'язково — без здачі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68096" y="2423160"/>
            <a:ext cx="494690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закріпити лабу: червоний і зелений прогін гейта в історії Actions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записати rollback-критерії для своєї системи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переконатися, що гейт швидкий і його падіння зрозуміле з логів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81928" y="173736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6483096" y="189280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Опційно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483096" y="2423160"/>
            <a:ext cx="494690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canary-план: розподіл 90/10 своїм роутером, метрики порівняння, критерії promote/rollback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4206240"/>
            <a:ext cx="110642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5A05F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" y="4389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ДЗ тижня 6 — після наступної теми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41248" y="4800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Фінальне ДЗ збирає все: CI-гейт із сьогоднішньої лаби, інцидент-демо в окремому INCIDENT_RUNBOOK.md і повна збірка системи з чистого клону. Сьогоднішній гейт — його найбільша частина, і вона вже готова.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ПІДСУМОК ТЕМИ 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1371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усе, що тримається на «не забути», колись буде забуто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21408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0299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гейт = Ваш eval + exit code + CI; нового коду майже немає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779776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268833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protection із правильним чеком — інакше захист лише на вигляд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3438144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34670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порядок викочування важливіший за сам факт релізу: читач перед писарем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4096512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40050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rollback-критерії пишуться до пожежі: умова, роль, команда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4983480"/>
            <a:ext cx="11064240" cy="1234440"/>
          </a:xfrm>
          <a:prstGeom prst="roundRect">
            <a:avLst>
              <a:gd name="adj" fmla="val 10370"/>
            </a:avLst>
          </a:prstGeom>
          <a:solidFill>
            <a:srgbClr val="000000"/>
          </a:solidFill>
          <a:ln w="12700">
            <a:solidFill>
              <a:srgbClr val="5E4F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1846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Наступний крок → Тема 12 · Фінал: LLMOps operating model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55504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Механізми зібрані й захищені гейтом. Остання тема — про те, як це живе далі: цикл роботи з якістю, розбір інциденту за рунбуком, KPI, які показують керівництву, і чесний план перенесення практик у свою команду.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8346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ДЯКУЮ</a:t>
            </a:r>
            <a:endParaRPr lang="en-US" sz="7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11 · CI/CD quality gates, canary і rollback</dc:title>
  <dc:subject>PptxGenJS Presentation</dc:subject>
  <dc:creator>LLMOps Bootcamp</dc:creator>
  <cp:lastModifiedBy>LLMOps Bootcamp</cp:lastModifiedBy>
  <cp:revision>1</cp:revision>
  <dcterms:created xsi:type="dcterms:W3CDTF">2026-09-08T17:14:06Z</dcterms:created>
  <dcterms:modified xsi:type="dcterms:W3CDTF">2026-09-08T17:14:06Z</dcterms:modified>
</cp:coreProperties>
</file>