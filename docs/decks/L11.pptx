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одинадцятому уроці — передостанньому в курсі. З другого уроку ми повторюємо мантру: зміна промпта — це реліз. Сьогодні ця фраза нарешті перестане бути гаслом і стане механізмом: eval, який ви збудували минулого тижня, перетвориться на гейт у CI — перевірку, що запускається на кожен PR і фізично не пускає регресію в main. Кнопка merge буде заблокована не чиєюсь пильністю, а exit code вашого прогону. По дорозі — чесні історії про те, чим CI відрізняється від локальної машини: наш гейт теж падав на першому запуску, і ви побачите чому. Далі — два шматки релізної дисципліни, про які рідко думають до першого болю: порядок викочування залежних компонентів і rollback-критерії, які пишуться до пожежі, а не під час неї. Опційно — canary для промптів. І найприємніше: майже нічого нового ми сьогодні не пишемо. Всі складники гейта вже існують — ми їх лише з'єднуємо.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увімкнути eval-гейт на кожен PR і показати в історії Actions доказ «червоний → зелений» — саме його ментор перевірятиме у ДЗ тижня 6. Пояснити кожен крок workflow гейта — і навіщо там окреме очікування gateway, а не лише health-check сервісу. Налаштувати branch protection з правильним required check — і не наступити на пастку «job проти workflow». Записати rollback-критерії до викочування: три умови, хто смикає, якою командою. Пояснити, чому порядок деплою залежних компонентів — частина релізу, навіть коли всі тести зелені. І відрізнити відкат версії промпта від feature flag — та сказати, коли доречний який. Кожен пункт ви перевірите руками ще сьогодні — у лабораторній, у власному репозиторії.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— чому перевірка, що залежить від дисципліни, приречена, і як гейт прибирає з ланцюга слабку ланку. Далі — з чого гейт складається: ваш eval, exit code і CI, плюс адміністративна дрібниця про required check, без якої все це лише кольорова іконка. Потім розтин workflow крок за кроком і чесний блок про те, чим CI відрізняється від вашого ноутбука — з історіями наших власних червоних прогонів. Блок п'ять — про культуру: чому червоний гейт — подарунок і чому обхід «бо терміново» вбиває гейт назавжди. Шостий і сьомий — порядок викочування, feature flag і сумісність артефактів: промпт, код і схеми як один реліз. Восьмий, опційний, — canary для промптів. Дев'ятий — rollback-критерії, найдешевший і найчастіше пропущений шматок релізної дисципліни. Потім демо і лабораторна — гейт у бою у вашому власному репозиторії, перевірка себе, антипатерни і 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вас уже є eval, який ловить регресію, — минулий урок закінчився саме цим. Але поки його треба запускати руками — його не запускатимуть. Не зі зла: п'ятниця, дедлайн, «та я ж одне слово поміняв». Усі найгірші регресії заїжджають у main саме так — через маленькі зміни, які «не потребували перевірки». І зверніть увагу на парадокс: що менша зміна, то менше бажання її перевіряти — і то важче потім знайти, що саме зламалося. Гейт у CI знімає це питання назавжди, бо прибирає з ланцюга саме слабку ланку: перевірка більше не залежить від дисципліни. PR зі зламаним промптом фізично не мержиться — не тому, що хтось пильний, а тому, що кнопка merge заблокована. І це змінює не лише якість — це змінює культуру: промпт остаточно стає кодом з усіма наслідками, від рев'ю до заблокованого мержа. Друга тема сьогодні, про яку рідко думають до першого болю, — порядок викочування: зміна з зеленими тестами все одно може покласти систему, якщо компоненти виїхали в неправильній послідовності. До неї дійдемо в блоці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Хороша новина: сьогодні ми майже нічого не пишемо. Всі складники гейта вже існують. Run.py повертає нуль або одиницю — це урок 10. Стек піднімається однією командою docker compose up — це урок 1. Поріг обраний і обґрунтований. CI-система лише виконує це у чистому середовищі на кожен PR і фарбує кнопку merge у колір exit code. Уся цінність — у словах «на кожен PR». Той самий прогін, який ви робили руками, тепер відбувається завжди: для зміни промпта, для правки роутера, для «я тільки README поправив». Так, і для нього — і це правильно: ви здивуєтесь, скільки разів «правка README» насправді чіпала щось поруч. І зверніть увагу на архітектурну красу: гейт нічого не знає про LLM. Він знає про exit code. Уся LLM-специфіка — датасет, grader, поріг — інкапсульована в eval-контурі, який ви збудували минулого тижня. Це означає, що гейт не треба буде переписувати, коли зміниться модель, промпт чи навіть провайдер.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адміністративна дрібниця, без якої все це — лише кольорова іконка: сам по собі червоний workflow merge не забороняє. Блокування вмикається в налаштуваннях репозиторію — гілка main захищається, а перевірка позначається обов'язковою, required status check. Шлях: Settings, Branches, Add branch protection rule, Require status checks to pass — і вибрати чек eval. Тут увага на тонкість, на якій легко втратити годину: у списку GitHub показує назву job — eval, а не назву workflow — eval-gate. Обравши неіснуючий eval-gate, ви отримаєте protection, який нічого не блокує. Виглядає налаштованим, не працює. Без цього кроку гейт «радить»; з правильним чеком — вирішує. Перевірте це у власному репо, коли робитимете ДЗ тижня 6. І одне чесне застереження: на приватному репозиторії безкоштовного плану branch protection може бути недоступний — тоді гейт лишається «радником», і це треба чесно зазначити в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Відкрийте eval-gate.yml у стартері — читаємо як послідовність відповідей на конкретні болі. Стек піднімається без UI: evals ходять в API, збирати фронтенд у CI — марні хвилини. Очікування сервісу — цикл із сорока спроб, і всередині «if curl; then», а не «curl &amp;&amp;» — чому саме так, розповість наступний блок. Окреме очікування gateway — теж не з теорії: холодний LiteLLM дає 500 на перший запит. Logs on failure — бо червоний прогін без логів це загадка, а з логами — діагноз. Down з if: always() — прибрати за собою навіть після падіння. І про threshold 5: це число — частина датасету, а не константа шаблона. Після ДЗ тижня 5 у наборі близько десяти кейсів — поріг у workflow оновлюється разом із ним. Правило: N мінус один при N до десяти, далі 85 відсотків з округленням угору. Перевірка «поріг відповідає розміру датасету» — гарний кандидат у механічні перевірки гейта, про них у блоці 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Чесна історія з підготовки цього курсу. Локально гейт працював ідеально. Перший запуск у GitHub Actions упав за 57 секунд. Причина: Actions виконує кроки з bash -e — перший же невдалий curl у циклі очікування вбивав крок цілком, хоча локально той самий цикл спокійно ретраїв, поки сервіс прокидався. Звідси та сама форма «if curl; then» у workflow — невдала проба стає умовою, а не помилкою. Другий сюрприз: холодний старт LiteLLM у CI давав 500 на найперший запит — локально ви цього не бачите, бо поки відкриваєте браузер, gateway встигає прогрітися. У CI між up і першим запитом — мілісекунди. Довелося додати явне очікування готовності gateway — POST-пробу до самого ендпоінта, а не просто health-check. Таких сюрпризів у CI-інтеграціях назбирується колекція — ще один із моєї практики на великій платформі: крок пайплайна вважав виклик невдалим, хоча зовнішня система чесно виконала роботу — просто відповіла редиректом 303 замість очікуваного 200, і перевірка «код == 200» фарбувала здоровий прогін у червоне. Успіх у HTTP — це діапазон і контракт, а не одне магічне число. Формула для всіх подібних граблів однакова: точна умова успіху, явні очікування готовності, і жодних припущень, що чуже середовище поводиться як ваш ноутбук.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про культуру. Червоний гейт на вашому PR — це неприємно: ви поспішали, а вас зупинили. Правильна рамка: гейт щойно зловив регресію до користувачів, а не після. Він зробив за секунди те, що інакше зробила б підтримка за тиждень скарг: знайшов, що «маленька правка» ламає поведінку. Червоне — це найдешевший момент дізнатися. Але культурна рівновага тут крихка, і руйнується вона одним способом: змержити повз червоний гейт «бо терміново». Одна така історія — і гейта немає: наступний, кому червоно і терміново, згадає прецедент, і за місяць гейт — це прапорець, який усі обходять. Якщо гейт справді помилково червоний — лагодьте гейт: флейковий кейс, поріг — у тому ж PR або окремим. Обхід — ніколи; винятки з правила «якість блокує merge» не масштабуються. І дзеркальне правило для авторів гейта: тримайте його швидким і чесним. Гейт, що йде двадцять хвилин або падає через флейки, викликає законне роздратування — і його знесуть з аргументом «він заважає працювати». Швидкий, стабільний, зрозумілий у падінні — три властивості, які купують гейту довге життя.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Сучасний контекст, який робить цей урок ще актуальнішим: у 2026-му значна частина змін у репозиторій приходить від агентів — код, промпти й конфіги генеруються асистентами, а PR відкриваються автоматикою. Обсяг змін зростає, а увага рев'юера — ні. Це не аргумент проти агентів; це аргумент за те, що механічний гейт стає єдиним, що масштабується: людина фізично не перечитає все, а eval-прогін перечитає щоразу однаково. На зрілих платформах саме тому гейти й політики перевірок ростуть паралельно з часткою агентних змін — і кожен «зелений» PR від асистента проходив ту саму планку, що й людський. «Швидкий» — це конкретні хвилини, і на них можна впливати. У нашому workflow найдорожчий крок — build: збірка образів з нуля на кожен прогін. Перші кроки оптимізації відомі: піднімати лише потрібні контейнери — ми вже прибрали UI, це мінус ціла збірка фронтенду; кешувати шари образів між прогонами засобами CI; тримати eval-прогін коротким — наш набір кейсів це секунди, час з'їдає стек, не evals. І фінальний штрих культури гейтів з моєї практики: у гейта є життєвий цикл, і він закінчується. Ми окремими свідомими рішеннями зносили перевірки, що втратили функцію: тимчасовий гейт релізного циклу, який пережив свою причину, і правило підтверджень, що стало інертним після зміни процесу. Гейт, який завжди зелений і нічого не захищає, — не безплатний: він додає хвилини кожному PR і привчає сприймати гейти як шум. Тимчасовим перевіркам — дату перегляду; мертвим — видалення тим же ритуалом, що й народження: PR, рев'ю, пояснення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Зелений гейт каже: «цей стан системи здоровий». Він не каже: «шлях від старого стану до нового безпечний». Якщо зміна зачіпає кілька компонентів, деплой у неправильному порядку ламає систему навіть з ідеальними тестами: компонент А вже шле нове поле, компонент Б ще не вміє його читати — і привіт, помилки на проді при двох «здорових» версіях. У нашому стеку це питання виникає, щойно зміна перетинає межі. Нова колонка в БД і код, що її пише, — спершу міграція, потім код. Нове ім'я моделі в конфізі gateway і роутер, що на нього шле, — спершу конфіг, потім роутер. Новий формат відповіді сервісу і консоль, що його читає, — спершу сервіс із сумісністю, потім споживач. Загальний шаблон: спершу деплоїться той, хто читає — навчений розуміти і старе, і нове, — потім той, хто пише нове. Проміжний стан, коли в системі живуть обидві версії, має бути робочим, бо ви в ньому обов'язково побудете: хвилину при штатному релізі або годину при відкаті половини. У повній формі це називають expand, migrate, contract: розширити — додати нове поряд зі старим; мігрувати — перевести споживачів; звузити — прибрати старе окремим релізом, коли лог підтверджує, що старим ніхто не користується. Три нудні кроки замість одного сміливого — і кожен можна відкотити окремо. Сміливий один крок теж можна відкотити — разом з усім, що встигло зламатися.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Гейт не пускає погану зміну в main. Порядок викочування береже від зламаного проміжного стану. Лишається третє питання, яке ставлять під час інциденту: як вимкнути щось прямо зараз, не чекаючи збірки. У світі промптів на це є дві різні відповіді, і їх варто не плутати. Відкат версії в реєстрі — урок 2 — повертає попередню поведінку: це операція над вмістом, одна активація, секунди, слід в audit trail. Feature flag — це вимикач над механізмом: обійти кеш, вимкнути маршрутизацію на дорогу модель, перевести систему в режим «тільки ввічлива заглушка», відключити tool-виклики цілком. Перше відповідає на «промпт зламався», друге — на «зламався або дорого коштує сам механізм». Технічно прапорець — це рядок у таблиці або значення в конфізі, який читається на кожному запиті, з коротким кешем, щоб не бити базу. Дорослий вигляд у нього такий: значення за замовчуванням — безпечне: прапорець недоступний або база не відповіла — система працює в безпечному режимі, а не падає. Зміна прапорця — теж подія, з автором і часом: інакше через тиждень ніхто не пояснить, чому кеш вимкнений уже п'ятий день. І кожен прапорець має термін життя: прапорці накопичуються, і за рік ніхто не знає, які комбінації взагалі протестовані. Прапорець без плану видалення — це технічний борг з таймером.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половина блоку продовжує тему порядку викочування, але з іншого боку: сумісність артефактів. У LLM-системі поведінка визначається не лише кодом. Її задають щонайменше чотири речі: код control plane, версія промпта в реєстрі, схеми інструментів і набір eval-кейсів із порогом. Вони живуть у різних місцях — і саме тому легко розходяться. Класичний сценарій. Ви додали інструмент і згадали про нього в новій версії промпта. Промпт активували — це одна кнопка, урок 2, — а код із новим інструментом ще не в проді. Модель сумлінно просить інструмент, якого не існує; система відповідає помилкою на цілком легітимне прохання. І навпаки: код виїхав, промпт лишився старим — новий інструмент є, але модель про нього не знає, і функціональність просто не працює, тихо й без помилок. Звідси принцип: якщо зміна торкається двох артефактів — вона одна зміна, а не дві. Новий інструмент і промпт, що його згадує, їдуть одним PR разом з eval-кейсом, який перевіряє їхню пару. Порядок активації описаний у самому PR: спершу код, потім промпт — бо код зі зайвим інструментом безпечний, а промпт із неіснуючим — ні. А якщо активація промпта робиться руками після мержу — це рядок у чек-листі релізу, а не річ, яку хтось згадає. Кейс на пару «промпт + механізм» червоніє і тоді, коли зламали промпт, і тоді, коли зламали інструмент, — саме тому він цінніший за два окремі юніт-тести. Ваш golden dataset з уроку 10 уже так і влаштований: він перевіряє систему, а не компоненти.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Eval-прогін ловить регресію поведінки. Але в LLM-системі є цілий клас поломок, які до моделі навіть не доходять, — і вони ловляться дешевими механічними перевірками в тому самому workflow. Кожна з них — кілька рядків, і кожна колись зекономить вечір. Шаблон промпта містить усі очікувані плейсхолдери і жодного невідомого — інакше одна одрукована дужка, і підстановка тихо не відбувається: у модель їде текст із дужками. Схеми інструментів — валідний JSON Schema, бо зламану схему провайдер відкине вже на проді. Прайс покриває всі моделі з конфіга gateway — інакше cost_usd тихо стає null, і облік бреше, урок 4. Моделі в конфізі запінені, а не alias'и — захист від «регресії без коміта» при оновленні провайдера, урок 3. І в діфі немає ключів і секретів — найдорожча помилка з найкоротшим фіксом. Логіка та сама, що з пірамідою тестів: найдешевше — механічні перевірки конфігів і схем, дорожче — eval-прогін зі стеком, найдорожче — модельні перевірки з реальним ключем. Ставте їх у цьому порядку — і 80 відсотків поломок ловитимуться за секунди, не піднімаючи жодного контейнера. Я на цьому вчився дорогою ціною: гейт, який перевіряв лише «змістовну» частину, спокійно пропустив реліз, де в конфізі з'явилася модель без ціни. Формально все зелене — eval'и проходили, тести проходили. Помітили через тиждень, коли хтось спитав, чому в звіті вартості дірка рівно з тієї дати. Найдорожчі поломки майже завжди такі: не «система не працює», а «система тихо перестала знати правду про себе».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Гейт перевіряє зміну до релізу на золотому наборі. Але золотий набір — це 10–20 кейсів, а прод — тисячі живих запитів. Опційна техніка для обережних релізів — canary: нова версія промпта отримує 10 відсотків трафіку, стара — 90. Далі порівнюєте метрики двох груп — а метрики у вас є з тижня 5: error rate, fallback, вартість, і скарги як фінальний суддя. Добре — розкатуєте на всіх; погано — rollback однією командою, якою ви володієте з тижня 1. Найприємніше — скільки тут нового коду: майже нуль. Механіка розподілу трафіку — той самий routing з уроку 3, тільки критерій не «тип задачі», а «відсоток запитів»: найпростіше — за хешем ідентифікатора сесії, щоб той самий користувач стабільно бачив ту саму версію. Версії промпта — реєстр з уроку 2. Порівняння метрик — зрізи по prompt_version у лозі, який ви ведете з уроку 1. Canary — це не інструмент, який купують; це композиція механізмів, які ви вже збудували. І чесне попередження про межі: canary потребує обсягу. 10 відсотків трафіку — це скільки запитів на годину у вашій системі? Якщо три, порівняння метрик двох груп — це ворожіння на шумі: різниця між «одна помилка» і «нуль помилок» нічого не означає. На малому трафіку чесніша стратегія — гейт до релізу плюс швидкий rollback після: ви все одно дізнаєтесь про проблему швидко, просто від усіх користувачів одразу. Canary окупається там, де десята частина — це вже статистика. План — розділення трафіку, метрики порівняння, критерії promote/rollback — опційна частина ДЗ тижня 6; реалізація — для найзавзятіших.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шматок релізної дисципліни — найдешевший і найчастіше пропущений. Перед викочуванням будь-якої значущої зміни відповідь на питання «коли смикаємо назад» має бути записана. Формула проста — три умови, хто смикає, якою командою. У нашій системі це виглядає так: відкочуємо, якщо eval pass rate після деплою нижчий за п'ять із шести, або fallback_events зростає протягом п'ятнадцяти хвилин, або error rate вищий за п'ять відсотків протягом п'ятнадцяти хвилин. Хто смикає: черговий, без погоджень. Як: POST на активацію старої версії промпта — одна команда. Чому заздалегідь: під час інциденту думати пізно — під час інциденту треба виконувати. Записаний критерій знімає найдорожчу розмову поганого вечора: «може, ще почекаємо? ніби вирівнюється...». Не вирівнюється. Критерій пробитий — відкат, розбір завтра. А «одна команда» в останньому рядку — це вимога до архітектури, яку ви вже виконали: rollback за секунди існує з уроку 2. Сьогодні в лабораторній ви напишете такі критерії для власної системи і покладете їх поруч із fallback-порядком і budget-політикою — ваша папка операційних рішень майже зібрана.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спершу проходимо eval-gate.yml по кроках — уже знайомий вам розтин, тепер наживо. Потім PR зі зламаним промптом — і вкладка Actions, де прогін червоніє: ті самі три з шести, що ви бачили локально минулого уроку, тепер їх бачить кнопка merge. Далі фікс промпта, пуш — і гейт зеленіє: merge розблоковано. І на завершення — налаштування репозиторію: required check, той самий job eval, через який кнопка взагалі вміє блокуватися. Навіщо це все: побачити, що перевірка більше не залежить від людини. Той самий прогін, що ви робили руками, тепер робить CI на кожен PR — і історія «червоний → зелений» лишається в PR як доказ, що гейт працює. [Ведучому: це найкрихкіший урок за продакшном. PR зі зламаним промптом створити ДО запису — червоний прогін уже готовий, на камері лише refresh. Фікс-пуш → зелений чекати з вимкненим записом — монтажна склейка. Required check показувати на заздалегідь налаштованому репо; required check = job eval. УВАГА: історій про CI дві, з РІЗНИХ репозиторіїв — «два червоні прогони, потім зелений» це PR #1 у репозиторії курсу (ci-smoke, merged), а demo-PR із лаби — PR #1 у репозиторії еталонів (closed, один червоний → зелений, зроблений на скороченій базі) — показувати обидва і не плутати. Між червоним і зеленим прогоном не забути повернути v2 — інакше наступні дублі почнуться з «не знаю». Вкладка Actions відкрита заздалегідь.]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розібрати workflow. Прочитати eval-gate.yml крок за кроком: checkout, compose up без UI, wait service, wait gateway — тепер ви знаєте чому, — evals, логи при падінні, down. Пояснити собі кожен крок. Крок другий: червоний прогін. Гілка зі зламаним промптом, PR — Actions червоніє. Подивитися лог прогону в CI: ті самі три з шести, що ви бачили локально на минулому уроці, — тепер їх бачить кнопка merge. Крок третій: зелений прогін. Полагодити промпт у тій самій гілці, пуш — гейт зеленіє, merge. В історії PR лишаються обидва прогони — це і є доказ, що гейт працює, і рівно це ментор перевірятиме у ДЗ тижня 6. Як має виглядати результат — живий demo-PR у репозиторії еталонів: червоний прогін, фікс, зелений. Уточнення: demo-PR — це ілюстрація формату, а не еталон рішення тижня; зроблений він на скороченій базі, тож діф не збігатиметься з твоїм. Крок четвертий: rollback-критерії. Написати свої: три умови, хто смикає, якою командою. Покласти поруч із fallback-порядком і budget-політикою — ваша папка операційних рішень майже зібрана. І опційний п'ятий: canary на папері. План: як розділити трафік 90/10 своїм роутером, які метрики порівнювати між групами, критерії promote і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перевірка стала механізмом. Той самий eval-прогін, що ви запускали руками на минулому уроці, тепер робить CI на кожен PR — для зміни промпта, для правки роутера, для правки README. Дисципліна більше не ланка ланцюга. Друге: кнопка merge реально слухає exit code. PR зі зламаним промптом фізично не мержиться — і не тому, що хтось пильний, а тому, що required check, job eval, тримає кнопку заблокованою, поки прогін червоний. Третє: доказ лишається в історії. Червоний прогін, фікс, зелений — усе в одному PR. Це і є артефакт, який ментор перевірятиме у ДЗ тижня 6: не слова «у мене все працює», а історія Actions, яку видно будь-кому. Реліз промпта тепер проходить той самий процес, що й реліз коду. Поза CI лишаються два шматки дисципліни, які ми сьогодні теж закрили: порядок викочування залежних компонентів і записані rollback-критерії.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перевірка, без оцінок. Пройдіться по чотирьох пунктах обов'язкової доріжки. У моєму репо є червоний і зелений прогін гейта — обидва, в історії Actions. Можу пояснити кожен крок workflow — і навіщо там окреме очікування gateway, а не лише health-check сервісу. Rollback-критерії записані до викочування, з командою відкату. І розумію, чому порядок деплою залежних компонентів — частина релізу, навіть коли всі тести зелені. І три питання з минулих тижнів, без підглядання. Чому поріг evals — не сто відсотків, і яку сліпу пляму має правило N мінус один? Це урок 10. Які чотири частини в правильного алерту? Урок 9. І чому незворотна дія не виконується «бо модель попросила»? Уроки 6 і 8. Якщо на щось відповіді немає — повертайтеся у відповідний блок або урок.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звести нанівець сьогоднішній урок — усі перевірені чужими граблями. Eval, який запускають руками «коли не забудуть»: його не запускатимуть — п'ятниця, дедлайн, «одне слово поміняв»; весь блок 01 був про це. Мержити повз червоний гейт «бо терміново»: одна така історія — і гейта немає, наступний згадає прецедент, і за місяць гейт — прапорець, який усі обходять. Гейт, ніколи не проганяний на реальному CI: тоді його перший запуск станеться на чужому терміновому PR — з bash -e, холодним gateway і всіма сюрпризами одразу. Дякуємо, не треба. Викочування без rollback-критеріїв: під час інциденту треба виконувати, а не дискутувати «може, ще почекаємо». І останнє — ігнорувати порядок деплою залежних компонентів: зелені тести не рятують від неправильної послідовності, компонент А вже пише нове, компонент Б ще не вміє читати.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до наступного уроку — без здачі. Закріпити лабу: у своєму репозиторії — червоний і зелений прогін гейта в історії Actions. Записати rollback-критерії для своєї системи: умови, хто, якою командою. І переконатися, що гейт швидкий і його падіння зрозуміле з логів — три властивості з блока 05 тепер стосуються вашого власного гейта. Опційно — canary-план: розподіл 90/10 своїм роутером, метрики порівняння, критерії promote і rollback. Це план на папері, не реалізація. І про ДЗ тижня: фінальне ДЗ тижня 6 збирає все — CI-гейт із сьогоднішньої лаби, інцидент-демо в окремому файлі INCIDENT_RUNBOOK.md з посиланням із README, і повну збірку системи з чистого клону. Після наступного уроку — критерії і здача; сьогоднішній гейт — його найбільша частина, і вона вже готова. Тобто найважче ви зробили сьогодні.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Перевірки, від яких залежить прод, мають запускатися механізмом, а не людиною: гейт прибирає з ланцюга слабку ланку — дисципліну. Сам гейт — це композиція того, що ви вже мали: ваш eval, exit code і CI; а блокує merge лише правильно обраний required check — job eval, не назва workflow. CI — інше середовище: bash -e, холодні старти, інші тайминги — тому гейт проганяють на реальному CI до того, як він комусь заблокує реліз. Порядок викочування — частина релізу: спершу деплоїться той, хто читає, потім той, хто пише нове; у повній формі — expand, migrate, contract. І rollback-критерії пишуться до пожежі: три умови, хто смикає, одна команда — бо під час інциденту треба виконувати, а не дискутувати. Наступний урок — останній. Збираємо все докупи: повний прогін системи від точки А, яку ви бачили на першому уроці, до точки Б, яку збудували самі; інцидент-демо наживо за runbook'ом — і розмова про те, як принести LLMOps у свою команду. Курс закінчується, а ваш gateway тільки починає жити. До зустрічі на фіналі.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ТИЖДЕНЬ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783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quality gates,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033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— це реліз, повторюємо ми з другого уроку. Сьогодні вона нарешті почне проходити релізний процес: eval-гейт на кожен PR, який фізично не пускає регресію в main. Плюс чесні історії про те, як CI відрізняється від локальної машини, — і rollback-критерії, які пишуться до пожежі.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5166360"/>
            <a:ext cx="1717243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5166360"/>
            <a:ext cx="17172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59659" y="5166360"/>
            <a:ext cx="1567282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9659" y="5166360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54957" y="5166360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4957" y="5166360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25312" y="5166360"/>
            <a:ext cx="2017166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5166360"/>
            <a:ext cx="20171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70494" y="5166360"/>
            <a:ext cx="2092147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70494" y="5166360"/>
            <a:ext cx="2092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290658" y="5166360"/>
            <a:ext cx="126735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290658" y="5166360"/>
            <a:ext cx="12673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11 з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цього уроку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15568" y="1417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eval-гейт на кожен PR — і показати доказ «червоний → зелений» в історії Actions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128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1671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кожен крок eval-gate.yml — і навіщо окреме очікування gateway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9626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15568" y="29169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налаштувати branch protection з правильним required check: job eval, а не назва workflow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71246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15568" y="366674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rollback-критерії до викочування: умови, хто смикає, якою командою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4622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5568" y="441655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пояснити, чому порядок деплою залежних компонентів — частина релізу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212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15568" y="516636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відрізнити відкат версії промпта від feature flag — і сказати, коли який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«зрозуміти» — лише те, що можна зробити руками і перевірити.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5156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Ручні перевірки не виживають; гейт прибирає дисципліну з ланцюга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4864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eval + exit code + CI; цінність у «кожен PR»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eval-gate.yml: кожен крок — відповідь на граблі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486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≠ локальна машина: bash -e, холодний gateway, два червоні прогони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Червоне — подарунок; обхід гейта не масштабується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54864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4800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викочування: читач деплоїться перед писарем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535838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62179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2084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як аварійний вимикач; артефакти їдуть разом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1792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621792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72084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Опційно: canary — композиція routing + registry + лога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21792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1" name="Text 28"/>
          <p:cNvSpPr/>
          <p:nvPr/>
        </p:nvSpPr>
        <p:spPr>
          <a:xfrm>
            <a:off x="621792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72084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Rollback-критерії: записані до пожежі, відкат однією командою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1792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4" name="Text 31"/>
          <p:cNvSpPr/>
          <p:nvPr/>
        </p:nvSpPr>
        <p:spPr>
          <a:xfrm>
            <a:off x="6217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72084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Лаба: workflow → червоний → зелений → критерії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21792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7" name="Text 34"/>
          <p:cNvSpPr/>
          <p:nvPr/>
        </p:nvSpPr>
        <p:spPr>
          <a:xfrm>
            <a:off x="621792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72084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621792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40" name="Text 37"/>
          <p:cNvSpPr/>
          <p:nvPr/>
        </p:nvSpPr>
        <p:spPr>
          <a:xfrm>
            <a:off x="621792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активності на слайдах: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720840" y="5358384"/>
            <a:ext cx="144018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2" name="Text 39"/>
          <p:cNvSpPr/>
          <p:nvPr/>
        </p:nvSpPr>
        <p:spPr>
          <a:xfrm>
            <a:off x="6720840" y="5358384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8298180" y="5358384"/>
            <a:ext cx="1284732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4" name="Text 41"/>
          <p:cNvSpPr/>
          <p:nvPr/>
        </p:nvSpPr>
        <p:spPr>
          <a:xfrm>
            <a:off x="8298180" y="5358384"/>
            <a:ext cx="128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9720072" y="5358384"/>
            <a:ext cx="1751076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6" name="Text 43"/>
          <p:cNvSpPr/>
          <p:nvPr/>
        </p:nvSpPr>
        <p:spPr>
          <a:xfrm>
            <a:off x="9720072" y="5358384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ручний запуск eval не виживає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F9E9E8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запуск ручний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1114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п'ятниця, дедлайн, «та я ж одне слово поміняв» — найгірші регресії заїжджають у main через маленькі зміни, які «не потребували перевірки». Що менша зміна — то менше бажання перевіряти і то важче знайти, що зламалося.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554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6364224" y="16642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364224" y="1975104"/>
            <a:ext cx="51114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більше не залежить від дисципліни: PR зі зламаним промптом фізично не мержиться — кнопка merge заблокована, а не «хтось пильний».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змінює культуру: </a:t>
            </a:r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остаточно стає кодом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 усіма наслідками, від рев'ю до заблокованого мержа.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9F3E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416052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3232" y="4398264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мають запускатися механізмом, а не людиною. Людині лишається найважче: вирішувати, що робити з результатом.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123901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645920"/>
            <a:ext cx="12390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787652" y="16459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098548" y="1645920"/>
            <a:ext cx="1083564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98548" y="1645920"/>
            <a:ext cx="10835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182112" y="16459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493008" y="1645920"/>
            <a:ext cx="201625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93008" y="1645920"/>
            <a:ext cx="2016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509260" y="16459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820156" y="1645920"/>
            <a:ext cx="2249424" cy="566928"/>
          </a:xfrm>
          <a:prstGeom prst="roundRect">
            <a:avLst>
              <a:gd name="adj" fmla="val 14516"/>
            </a:avLst>
          </a:prstGeom>
          <a:solidFill>
            <a:srgbClr val="4038C4"/>
          </a:solidFill>
          <a:ln/>
        </p:spPr>
      </p:sp>
      <p:sp>
        <p:nvSpPr>
          <p:cNvPr id="19" name="Text 16"/>
          <p:cNvSpPr/>
          <p:nvPr/>
        </p:nvSpPr>
        <p:spPr>
          <a:xfrm>
            <a:off x="5820156" y="164592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→ exit 0/1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69580" y="16459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380476" y="1645920"/>
            <a:ext cx="2638044" cy="566928"/>
          </a:xfrm>
          <a:prstGeom prst="roundRect">
            <a:avLst>
              <a:gd name="adj" fmla="val 14516"/>
            </a:avLst>
          </a:prstGeom>
          <a:solidFill>
            <a:srgbClr val="4038C4"/>
          </a:solidFill>
          <a:ln/>
        </p:spPr>
      </p:sp>
      <p:sp>
        <p:nvSpPr>
          <p:cNvPr id="22" name="Text 19"/>
          <p:cNvSpPr/>
          <p:nvPr/>
        </p:nvSpPr>
        <p:spPr>
          <a:xfrm>
            <a:off x="8380476" y="1645920"/>
            <a:ext cx="26380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 / заблоковано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260604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3232" y="271576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нічого не пишемо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13232" y="3026664"/>
            <a:ext cx="51114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складники існують: run.py повертає 0/1 (урок 10), стек — одна команда docker compose up (урок 1), поріг обраний і обґрунтований. CI лише виконує це у чистому середовищі.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199632" y="260604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64224" y="271576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Цінність — у «кожен PR»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64224" y="3026664"/>
            <a:ext cx="51114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прогін, що руками, — тепер завжди: зміна промпта, правка роутера, навіть «я тільки README поправив». Ви здивуєтесь, скільки разів правка README чіпала щось поруч.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ECEBFB"/>
          </a:solidFill>
          <a:ln/>
        </p:spPr>
      </p:sp>
      <p:sp>
        <p:nvSpPr>
          <p:cNvPr id="30" name="Text 27"/>
          <p:cNvSpPr/>
          <p:nvPr/>
        </p:nvSpPr>
        <p:spPr>
          <a:xfrm>
            <a:off x="713232" y="45262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НІЧОГО НЕ ЗНАЄ ПРО LLM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13232" y="4764024"/>
            <a:ext cx="1076248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 знає про exit code. Уся LLM-специфіка — датасет, grader, поріг — інкапсульована в eval-контурі минулого тижня. Тому гейт не доведеться переписувати, коли зміниться модель, промпт чи навіть провайдер.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сам по собі merge не блокує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15568" y="1527048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Branches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репозиторії, де живе ваш main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53288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15568" y="2459736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branch protection rule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захищаємо гілку main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3465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15568" y="3392424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status checks to pass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стає обов'язковою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39826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4325112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Вибрати чек eval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job, не workflow — див. пастку праворуч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086600" y="1600200"/>
            <a:ext cx="4553712" cy="2148840"/>
          </a:xfrm>
          <a:prstGeom prst="roundRect">
            <a:avLst>
              <a:gd name="adj" fmla="val 4255"/>
            </a:avLst>
          </a:prstGeom>
          <a:solidFill>
            <a:srgbClr val="F9E9E8"/>
          </a:solidFill>
          <a:ln/>
        </p:spPr>
      </p:sp>
      <p:sp>
        <p:nvSpPr>
          <p:cNvPr id="22" name="Text 19"/>
          <p:cNvSpPr/>
          <p:nvPr/>
        </p:nvSpPr>
        <p:spPr>
          <a:xfrm>
            <a:off x="7251192" y="1691640"/>
            <a:ext cx="4224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251192" y="1929384"/>
            <a:ext cx="422452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списку GitHub показує назву </a:t>
            </a:r>
            <a:pPr indent="0" marL="0">
              <a:buNone/>
            </a:pPr>
            <a:r>
              <a:rPr lang="en-US" sz="1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indent="0" marL="0">
              <a:buNone/>
            </a:pPr>
            <a:r>
              <a:rPr lang="en-US" sz="120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а не назву workflow (</a:t>
            </a:r>
            <a:pPr indent="0" marL="0">
              <a:buNone/>
            </a:pPr>
            <a:r>
              <a:rPr lang="en-US" sz="12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eval-gate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Обравши неіснуючий </a:t>
            </a:r>
            <a:pPr indent="0" marL="0">
              <a:buNone/>
            </a:pPr>
            <a:r>
              <a:rPr lang="en-US" sz="12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eval-gate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ви отримаєте protection, який нічого не блокує.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086600" y="3977640"/>
            <a:ext cx="4553712" cy="1325880"/>
          </a:xfrm>
          <a:prstGeom prst="roundRect">
            <a:avLst>
              <a:gd name="adj" fmla="val 689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7251192" y="4087368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Безкоштовний план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251192" y="4398264"/>
            <a:ext cx="422452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приватному репозиторії branch protection може бути недоступний — тоді гейт лишається «радником», і це чесно зазначають у PR.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48640" y="5532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цього кроку гейт «радить». </a:t>
            </a:r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правильним чеком — вирішує.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eval-gate.yml: кожен крок — граблі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6720840" cy="3611880"/>
          </a:xfrm>
          <a:prstGeom prst="roundRect">
            <a:avLst>
              <a:gd name="adj" fmla="val 3038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636776"/>
            <a:ext cx="6318504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без UI — для evals не потрібен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холодний LiteLLM: 500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# POST-проба у /v1/chat/completions, поки не 200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if: failure()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if: always()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543800" y="150876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ходять в API — збірка фронтенду в CI це марні хвилини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3800" y="233172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curl &amp;&amp; — чому, розповість блок 04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543800" y="315468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окреме очікування — теж не з теорії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43800" y="397764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без логів — загадка; з логами — діагноз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3800" y="480060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if: always()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за собою навіть після падіння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349240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CEBFB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54406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--THRESHOLD 5 — ЧАСТИНА ДАТАСЕТУ, А НЕ КОНСТАНТА ШАБЛОНА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3232" y="5678424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ДЗ тижня 5 у наборі ~10 кейсів — поріг оновлюється разом із ним: N−1 при N≤10, далі 85% з округленням угору.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це інше середовище, і воно вас здивує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6642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1 · bash -e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11149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виконує кроки з bash -e: перший невдалий curl у циклі очікування вбиває крок цілком — локально той самий цикл спокійно ретраїть. Звідси «if curl; then»: невдала проба стає умовою, а не помилкою.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554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64224" y="16642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2 · холодний gateway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364224" y="1975104"/>
            <a:ext cx="511149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холодний LiteLLM у CI дає 500 на найперший запит. Локально не видно: поки відкриваєте браузер, gateway прогрівається; у CI між up і запитом — мілісекунди. Тому — POST-проба до самого ендпоінта, не health-check.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PR так і лишилися: два червоні прогони, потім зелений. 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сором — це процес: гейт теж код, і він теж проходить налагодження.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45720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3232" y="4809744"/>
            <a:ext cx="1076248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треба прогнати на реальному CI до того, як він комусь заблокує реліз. «Працює локально» для CI-конфіга означає рівно нічого: інший шел-режим, інші тайминги, холодні старти. Відкрийте тестовий PR і подивіться на прогін — п'ятнадцять хвилин, які збережуть вам довіру команди до гейта.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гейт — подарунок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508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щойно зловив регресію до користувачів, а не після. </a:t>
            </a:r>
            <a:pPr indent="0" marL="0">
              <a:buNone/>
            </a:pPr>
            <a:r>
              <a:rPr lang="en-US" sz="14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секунди — те, що інакше зробила б підтримка за тиждень скарг. Червоне — найдешевший момент дізнатися.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F9E9E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42316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13232" y="2660904"/>
            <a:ext cx="1076248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Змержити повз червоний гейт «бо терміново». Одна така історія — і гейта немає: наступний, кому червоно і терміново, згадає прецедент, — і за місяць гейт це прапорець, який усі обходять. Якщо гейт справді помилково червоний — лагодьте гейт (флейковий кейс, поріг), у тому ж PR або окремим. Обхід — ніколи: винятки з правила «якість блокує merge» не масштабуються.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Дзеркальне правило для авторів гейта — три властивості купують йому довге життя: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E9F3EE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463600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Швидкий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" y="4946904"/>
            <a:ext cx="3282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на двадцять хвилин знесуть з аргументом «він заважає працювати»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288536" y="452628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E9F3EE"/>
          </a:solidFill>
          <a:ln/>
        </p:spPr>
      </p:sp>
      <p:sp>
        <p:nvSpPr>
          <p:cNvPr id="18" name="Text 15"/>
          <p:cNvSpPr/>
          <p:nvPr/>
        </p:nvSpPr>
        <p:spPr>
          <a:xfrm>
            <a:off x="4453128" y="463600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Стабільний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453128" y="4946904"/>
            <a:ext cx="3282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падіння через флейки викликає законне роздратування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028432" y="452628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E9F3EE"/>
          </a:solidFill>
          <a:ln/>
        </p:spPr>
      </p:sp>
      <p:sp>
        <p:nvSpPr>
          <p:cNvPr id="21" name="Text 18"/>
          <p:cNvSpPr/>
          <p:nvPr/>
        </p:nvSpPr>
        <p:spPr>
          <a:xfrm>
            <a:off x="8193024" y="463600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Зрозумілий у падінні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193024" y="4946904"/>
            <a:ext cx="3282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логів прогону видно діагноз, а не загадку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Швидший за каву — і єдиний, хто масштабується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ECEBF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70078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2026: значна частина змін — від агентів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31520" y="228600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промпти й конфіги генеруються асистентами, PR відкриваються автоматикою. Обсяг змін зростає, увага рев'юера — ні. Механічний гейт — єдине, що масштабується: людина не перечитає все, eval-прогін перечитає щоразу однаково.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35508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живе час гейта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355080" y="1965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--build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найдорожчий крок: збірка образів з нуля на кожен прогін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55080" y="2560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лише потрібне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UI вже прибрали — мінус ціла збірка фронтенду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55080" y="3154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 шарів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кешувати шари образів між прогонами засобами CI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55080" y="3749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 — секунди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час з'їдає стек, не evals: тримайте прогін коротким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66344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E9F3EE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46634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Орієнтир: гейт має бути швидшим за каву.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на нього не шкода чекати — і немає спокуси обходити.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— частина релізу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гейт каже: «цей стан здоровий». Він не каже: «шлях від старого до нового безпечний». 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Неправильний порядок ламає систему навіть з ідеальними тестами.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239572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 в БД + код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3232" y="2706624"/>
            <a:ext cx="32826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міграція, потім код, що пише нову колонку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288536" y="228600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3128" y="239572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 конфізі + роутер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453128" y="2706624"/>
            <a:ext cx="32826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конфіг gateway, потім роутер, що шле на нове ім'я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28432" y="228600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93024" y="239572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відповіді + консоль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193024" y="2706624"/>
            <a:ext cx="32826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сервіс із сумісністю, потім споживач нового формату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393192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ECEBFB"/>
          </a:solidFill>
          <a:ln/>
        </p:spPr>
      </p:sp>
      <p:sp>
        <p:nvSpPr>
          <p:cNvPr id="20" name="Text 17"/>
          <p:cNvSpPr/>
          <p:nvPr/>
        </p:nvSpPr>
        <p:spPr>
          <a:xfrm>
            <a:off x="713232" y="402336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СУМІСНОСТІ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13232" y="4261104"/>
            <a:ext cx="10762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деплоїться той, хто читає (розуміє і старе, і нове), потім той, хто пише нове. Проміжний стан — коли живуть обидві версії — має бути робочим: ви в ньому обов'язково побудете, хвилину при штатному релізі або годину при відкаті половини.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440680"/>
            <a:ext cx="285292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4406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 · додати нове поряд зі старим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401568" y="544068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712464" y="5440680"/>
            <a:ext cx="2441448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12464" y="5440680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· перевести споживачів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53912" y="544068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464808" y="5440680"/>
            <a:ext cx="2578608" cy="457200"/>
          </a:xfrm>
          <a:prstGeom prst="roundRect">
            <a:avLst>
              <a:gd name="adj" fmla="val 18000"/>
            </a:avLst>
          </a:prstGeom>
          <a:solidFill>
            <a:srgbClr val="4038C4"/>
          </a:solidFill>
          <a:ln/>
        </p:spPr>
      </p:sp>
      <p:sp>
        <p:nvSpPr>
          <p:cNvPr id="29" name="Text 26"/>
          <p:cNvSpPr/>
          <p:nvPr/>
        </p:nvSpPr>
        <p:spPr>
          <a:xfrm>
            <a:off x="6464808" y="54406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· прибрати старе окремо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нудні кроки замість одного сміливого — і кожен можна відкотити окремо.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Вимкнути прямо зараз: відкат чи feature flag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ECEBFB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версії в реєстрі (урок 2)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1572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операція над вмістом: одна активація, секунди, слід в audit trail. Відповідь на «промпт зламався».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2004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3310128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13232" y="3621024"/>
            <a:ext cx="5157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вимикач над механізмом: обійти кеш, вимкнути дорогу модель, режим «тільки ввічлива заглушка», відключити tool-виклики. Відповідь на «зламався або дорого коштує сам механізм».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35508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Дорослий прапорець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55080" y="196596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Безпечний default</a:t>
            </a:r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не відповіла → безпечний режим, а не падіння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355080" y="2962656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— теж подія</a:t>
            </a:r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автором і часом: інакше ніхто не пояснить, чому кеш вимкнений п'ятий день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355080" y="3959352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життя</a:t>
            </a:r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прапорець без плану видалення — технічний борг з таймером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5029200"/>
            <a:ext cx="11091672" cy="1298448"/>
          </a:xfrm>
          <a:prstGeom prst="roundRect">
            <a:avLst>
              <a:gd name="adj" fmla="val 7042"/>
            </a:avLst>
          </a:prstGeom>
          <a:solidFill>
            <a:srgbClr val="F9E9E8"/>
          </a:solidFill>
          <a:ln/>
        </p:spPr>
      </p:sp>
      <p:sp>
        <p:nvSpPr>
          <p:cNvPr id="20" name="Text 17"/>
          <p:cNvSpPr/>
          <p:nvPr/>
        </p:nvSpPr>
        <p:spPr>
          <a:xfrm>
            <a:off x="713232" y="51206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13232" y="5358384"/>
            <a:ext cx="107624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Прапорець як заміна релізному процесу: «викотимо вимкненим і потихеньку ввімкнемо». Код за вимкненим прапорцем не перевіряється ніяк — не проходить eval'и, бо не виконується, і вмикається вперше в проді. Прапорець — аварійний вимикач і засіб поступового ввімкнення, а не спосіб обійти перевірку якості.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Промпт, код і схеми — один реліз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2670048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61848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control plane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0420" y="1508760"/>
            <a:ext cx="2670048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5012" y="161848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промпта в реєстрі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1508760"/>
            <a:ext cx="2670048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36792" y="161848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 інструментів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983980" y="1508760"/>
            <a:ext cx="2670048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8572" y="161848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Eval-кейси з порогом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2514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артефакти задають поведінку — живуть у різних місцях, і саме тому легко розходяться.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9E9E8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30358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поїхав перший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13232" y="3346704"/>
            <a:ext cx="51114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сумлінно просить інструмент, якого не існує — помилка на цілком легітимне прохання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199632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6364224" y="30358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поїхав перший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364224" y="3346704"/>
            <a:ext cx="51114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 є, але модель про нього не знає — функція тихо не працює, без помилок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5405"/>
            </a:avLst>
          </a:prstGeom>
          <a:solidFill>
            <a:srgbClr val="E9F3EE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45720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13232" y="4809744"/>
            <a:ext cx="1076248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зміна торкається двох артефактів — вона одна зміна, а не дві: інструмент і промпт, що його згадує, їдуть одним PR разом з eval-кейсом на їхню пару; порядок активації описаний у самому PR (спершу код, потім промпт — код зі зайвим інструментом безпечний, промпт із неіснуючим — ні); активація руками після мержу — рядок у чек-листі релізу.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гейті живуть не тільки evals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62453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Механічна перевірка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Шаблон промпта: всі плейсхолдери на місці, жодного невідомого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{servce} замість {service} — підстановка тихо не відбувається, у модель їде текст із дужками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Схеми інструментів — валідний JSON 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зламану схему провайдер відкине вже на проді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покриває всі моделі з конфіга gateway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cost_usd тихо стає null — облік бреше (урок 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 запінені, а не alias'и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діфі немає ключів і секретів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найдорожча помилка з найкоротшим фіксом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4526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— як у піраміді тестів: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механічні перевірки → eval-прогін зі стеком → модельні з реальним ключем. 80% поломок ловляться за секунди, не піднімаючи жодного контейнера.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ECEBFB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530352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ЩО З ЦЬОГО В ДЗ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13232" y="5541264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Прапорці в ДЗ тижня 6 не вимагаються — обов'язкове інше: увімкнений гейт, доказ «червоний → зелений», інцидент-демо і план rollout. Цей блок — про вашу наступну систему: вимикач і «одна зміна = один реліз» дешеві на старті й дорогі під час інциденту.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15568" y="55778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5" name="Text 3"/>
          <p:cNvSpPr/>
          <p:nvPr/>
        </p:nvSpPr>
        <p:spPr>
          <a:xfrm>
            <a:off x="1115568" y="5577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7" name="Text 5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12848" y="329184"/>
            <a:ext cx="7327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для промптів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708453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1600200"/>
            <a:ext cx="27084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 / 10% — нова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57093" y="1600200"/>
            <a:ext cx="310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567989" y="1600200"/>
            <a:ext cx="1658722" cy="502920"/>
          </a:xfrm>
          <a:prstGeom prst="roundRect">
            <a:avLst>
              <a:gd name="adj" fmla="val 16364"/>
            </a:avLst>
          </a:prstGeom>
          <a:solidFill>
            <a:srgbClr val="4038C4"/>
          </a:solidFill>
          <a:ln/>
        </p:spPr>
      </p:sp>
      <p:sp>
        <p:nvSpPr>
          <p:cNvPr id="15" name="Text 12"/>
          <p:cNvSpPr/>
          <p:nvPr/>
        </p:nvSpPr>
        <p:spPr>
          <a:xfrm>
            <a:off x="3567989" y="1600200"/>
            <a:ext cx="16587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 двох груп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226710" y="1600200"/>
            <a:ext cx="310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537606" y="1600200"/>
            <a:ext cx="2333549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37606" y="1600200"/>
            <a:ext cx="2333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на всіх / rollback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2240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з тижня 5: error rate · fallback · вартість · скарги як фінальний суддя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2697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ECEBFB"/>
          </a:solidFill>
          <a:ln/>
        </p:spPr>
      </p:sp>
      <p:sp>
        <p:nvSpPr>
          <p:cNvPr id="21" name="Text 18"/>
          <p:cNvSpPr/>
          <p:nvPr/>
        </p:nvSpPr>
        <p:spPr>
          <a:xfrm>
            <a:off x="713232" y="280720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Нового коду — майже нуль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13232" y="3118104"/>
            <a:ext cx="511149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 — routing з уроку 3, критерій «відсоток за хешем сесії»: той самий користувач стабільно бачить ту саму версію; версії — реєстр з уроку 2; порівняння — зрізи по prompt_version у лозі з уроку 1. Canary — композиція механізмів, які ви вже збудували.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199632" y="269748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6364224" y="2788920"/>
            <a:ext cx="5111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МЕЖА: CANARY ПОТРЕБУЄ ОБСЯГУ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64224" y="3026664"/>
            <a:ext cx="511149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трафіку — це скільки запитів на годину? Якщо три — порівняння груп це ворожіння на шумі. На малому трафіку чесніше: гейт до релізу + швидкий rollback після. Canary окупається там, де десята частина — уже статистика.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(розподіл, метрики, критерії promote/rollback) — опційна частина ДЗ тижня 6; </a:t>
            </a:r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— для найзавзятіших.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заздалегідь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6720840" cy="2057400"/>
          </a:xfrm>
          <a:prstGeom prst="roundRect">
            <a:avLst>
              <a:gd name="adj" fmla="val 5333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728216"/>
            <a:ext cx="631850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(прогін після деплою)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протягом 15 хв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протягом 15 хв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POST /prompts/{stara}/activate — одна команда.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0690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08392" y="1709928"/>
            <a:ext cx="3739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заздалегідь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08392" y="2020824"/>
            <a:ext cx="373989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 час інциденту думати пізно — треба виконувати. Записаний критерій знімає найдорожчу розмову поганого вечора: «може, ще почекаємо? ніби вирівнюється...». Не вирівнюється. Критерій пробитий — відкат, розбір завтра.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E9F3EE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41148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«ОДНА КОМАНДА» — ВИМОГА ДО АРХІТЕКТУРИ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13232" y="4352544"/>
            <a:ext cx="10762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ви її вже виконали: rollback за секунди існує з уроку 2. Лишається записати умови — до пожежі, а не під час.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8992" y="1508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 по кроках — знайомий розтин, тепер наживо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78992" y="213055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27980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78992" y="27523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прогін червоніє — ті самі 3/6, що були локально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41985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78992" y="337413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промпта в тій самій гілці → пуш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404164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78992" y="399592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зеленіє → merge розблоковано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48640" y="4663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78992" y="4617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у налаштуваннях репо — чому кнопка взагалі блокується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7818120" y="155448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ECEBFB"/>
          </a:solidFill>
          <a:ln/>
        </p:spPr>
      </p:sp>
      <p:sp>
        <p:nvSpPr>
          <p:cNvPr id="26" name="Text 23"/>
          <p:cNvSpPr/>
          <p:nvPr/>
        </p:nvSpPr>
        <p:spPr>
          <a:xfrm>
            <a:off x="7982712" y="164592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982712" y="1883664"/>
            <a:ext cx="3493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перевірка більше не залежить від людини: той самий прогін, що ви робили руками, тепер робить CI на кожен PR — і його exit code керує кнопкою merge. Історія «червоний → зелений» лишається в PR як доказ.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818120" y="4434840"/>
            <a:ext cx="3822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— не аварія демо, а його головний кадр.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гейт у бою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15568" y="14813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Розібрати workflow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 крок за кроком: checkout → up без UI → wait service → wait gateway → evals → логи при падінні →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4688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468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15568" y="23957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гілка зі зламаним промптом → PR → Actions червоніє: ті самі 3/6, що локально, — тепер їх бачить кнопка merge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33832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15568" y="33101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прогін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у тій самій гілці → пуш → зелений → merge; обидва прогони в історії PR — доказ для ДЗ тижня 6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42245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умови, хто смикає, якою командою — поруч із fallback-порядком і budget-політикою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48640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5212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15568" y="51389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на папері  · опційно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90/10 своїм роутером, метрики порівняння, критерії promote/rollback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E9F3E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стала механізмом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2020824"/>
            <a:ext cx="33284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прогін, що руками на уроці 10, тепер робить CI на кожен PR — дисципліна більше не ланка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88536" y="160020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53128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слухає exit code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53128" y="2020824"/>
            <a:ext cx="33284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 фізично не мержиться: required check (job eval) тримає кнопку, поки прогін червоний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28432" y="1600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ECEBFB"/>
          </a:solidFill>
          <a:ln/>
        </p:spPr>
      </p:sp>
      <p:sp>
        <p:nvSpPr>
          <p:cNvPr id="14" name="Text 11"/>
          <p:cNvSpPr/>
          <p:nvPr/>
        </p:nvSpPr>
        <p:spPr>
          <a:xfrm>
            <a:off x="8193024" y="1709928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 — в історії PR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193024" y="2020824"/>
            <a:ext cx="328269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→ фікс → зелений в одному PR: рівно це ментор перевірятиме у ДЗ тижня 6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2336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CEBFB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42062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Реліз промпта тепер проходить той самий процес, що й реліз коду.
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Поза CI лишаються два шматки дисципліни — і ми їх сьогодні теж закрили: порядок викочування залежних компонентів і записані rollback-критерії.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557784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3" name="Text 1"/>
          <p:cNvSpPr/>
          <p:nvPr/>
        </p:nvSpPr>
        <p:spPr>
          <a:xfrm>
            <a:off x="9768535" y="55778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6720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186537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865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280160" y="1728216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моєму репо є червоний і зелений прогін гейта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257860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578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441448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можу пояснити кожен крок workflow — і навіщо окреме очікування gateway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3291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80160" y="315468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записані до викочування, з командою відкату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400507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80160" y="3867912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розумію, чому порядок деплою залежних компонентів — частина релізу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543800" y="1554480"/>
            <a:ext cx="4069080" cy="3108960"/>
          </a:xfrm>
          <a:prstGeom prst="roundRect">
            <a:avLst>
              <a:gd name="adj" fmla="val 3529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16916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ПРИГАДАЙ З МИНУЛИХ ТИЖНІВ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726680" y="2057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поріг evals — не 100%, і яку сліпу пляму має N−1? (урок 10)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726680" y="28986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 чотири частини в правильного алерту? (урок 9)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726680" y="373989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незворотна дія не виконується «бо модель попросила»? (уроки 6 і 8)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48640" y="4937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підглядання. 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7190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1554480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Eval, який запускають руками «коли не забудуть»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його не запускатимуть — див. блок 01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45059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6151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88720" y="2450592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Мержити повз червоний гейт «бо терміново»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одна така історія — і гейта немає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4670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35112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88720" y="334670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Гейт, ніколи не проганяний на реальному CI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перший запуск — на чужому терміновому PR; дякуємо, не треба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424281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4074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88720" y="4242816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Викочування без rollback-критеріїв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під час інциденту треба виконувати, а не дискутувати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513892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303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188720" y="5138928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Ігнорувати порядок деплою залежних компонентів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зелені тести не рятують від неправильної послідовності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406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до наступного уроку (без здачі)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19456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закріпити лабу: у своєму репозиторії — червоний і зелений прогін гейта в історії Actions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292608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rollback-критерії для своєї системи (умови, хто, якою командою)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365760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гейт швидкий і його падіння зрозуміле з логів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99632" y="1600200"/>
            <a:ext cx="54406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64224" y="17099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28232" y="219456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canary-план: розподіл 90/10 своїм роутером, метрики порівняння, критерії promote/rollback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8920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 — після наступного уроку:  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фінальне ДЗ тижня 6 збирає все: CI-гейт із сьогоднішньої лаби, інцидент-демо в окремому INCIDENT_RUNBOOK.md (з посиланням із README) і повна збірка системи з чистого клону. Після наступного уроку — критерії і здача; сьогоднішній гейт — його найбільша частина, і вона вже готова.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325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перевірки, від яких залежить прод, запускає механізм, а не людина — гейт прибирає дисципліну з ланцюга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89280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CI; блокує merge лише правильний required check — job eval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914400" y="2459736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≠ локальна машина: bash -e і холодний gateway — гейт проганяють на реальному CI заздалегідь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— частина релізу: читач деплоїться перед писарем, expand → migrate → contract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пожежі: три умови, хто смикає, одна команда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4526280"/>
            <a:ext cx="105156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681728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12 · Фінал: LLMOps operating model
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Збираємо все докупи: повний прогін системи від точки А до точки Б, інцидент-демо наживо за runbook'ом — і розмова про те, як принести LLMOps у свою команду. Курс закінчується, а ваш gateway тільки починає жити.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2026-08-08T17:10:48Z</dcterms:created>
  <dcterms:modified xsi:type="dcterms:W3CDTF">2026-08-08T17:10:48Z</dcterms:modified>
</cp:coreProperties>
</file>