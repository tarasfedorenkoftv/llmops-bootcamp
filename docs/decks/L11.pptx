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15400" y="1417320"/>
            <a:ext cx="2834640" cy="2834640"/>
          </a:xfrm>
          <a:prstGeom prst="roundRect">
            <a:avLst>
              <a:gd name="adj" fmla="val 5161"/>
            </a:avLst>
          </a:prstGeom>
          <a:ln w="12700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99448" y="1801368"/>
            <a:ext cx="2066544" cy="2066544"/>
          </a:xfrm>
          <a:prstGeom prst="roundRect">
            <a:avLst>
              <a:gd name="adj" fmla="val 7080"/>
            </a:avLst>
          </a:prstGeom>
          <a:ln w="12700">
            <a:solidFill>
              <a:srgbClr val="FFFFFF">
                <a:alpha val="3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83496" y="2185416"/>
            <a:ext cx="1298448" cy="1298448"/>
          </a:xfrm>
          <a:prstGeom prst="roundRect">
            <a:avLst>
              <a:gd name="adj" fmla="val 11268"/>
            </a:avLst>
          </a:prstGeom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417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6 · УРОК 11 З 12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" y="182880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quality gates,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і rollback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41248" y="3794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EDA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Зміна промпта — це реліз, повторюємо ми з другого уроку. Сьогодні вона нарешті проходить релізний процес: eval-гейт на кожен PR, який фізично не пускає регресію в main.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41248" y="5440680"/>
            <a:ext cx="1646834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4068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97810" y="544068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97810" y="544068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09898" y="544068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9898" y="544068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605272" y="544068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05272" y="544068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650785" y="544068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4038C4"/>
          </a:solidFill>
          <a:ln w="12700">
            <a:solidFill>
              <a:srgbClr val="8A83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50785" y="544068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FCB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9768535" y="5440680"/>
            <a:ext cx="1213409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768535" y="544068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ви зможете після уроку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9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eval-гейт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кожен PR, із доказом «червоний → зелений»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4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Налаштувати protection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eval, а не workflow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9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Записати rollback-критерії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хто смикає, якою командою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Пояснити порядок деплою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читач їде перед писарем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9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Відрізнити відкат від flag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 сказати, коли який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на сьогодні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Ручні перевірки не виживають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2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eval + exit code + CI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16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≠ локальна машина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4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Червоне — подарунок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28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</a:t>
            </a:r>
            <a:endParaRPr lang="en-US" sz="1450" dirty="0"/>
          </a:p>
        </p:txBody>
      </p:sp>
      <p:sp>
        <p:nvSpPr>
          <p:cNvPr id="30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артефакти, механічні перевірки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35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36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· опційно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0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</a:t>
            </a:r>
            <a:endParaRPr lang="en-US" sz="1450" dirty="0"/>
          </a:p>
        </p:txBody>
      </p:sp>
      <p:sp>
        <p:nvSpPr>
          <p:cNvPr id="42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4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1B1D23"/>
          </a:solidFill>
          <a:ln/>
        </p:spPr>
      </p:sp>
      <p:sp>
        <p:nvSpPr>
          <p:cNvPr id="48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8"/>
          <p:cNvSpPr/>
          <p:nvPr/>
        </p:nvSpPr>
        <p:spPr>
          <a:xfrm>
            <a:off x="566928" y="585216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/>
        </p:spPr>
      </p:sp>
      <p:sp>
        <p:nvSpPr>
          <p:cNvPr id="51" name="Text 49"/>
          <p:cNvSpPr/>
          <p:nvPr/>
        </p:nvSpPr>
        <p:spPr>
          <a:xfrm>
            <a:off x="786384" y="599846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 «не забути прогнати» — до кнопки merge, яка заблокована, поки якість червона.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Терміни, якими користуватимемось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8881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quality gate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без якої зміна не потрапляє в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 check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перевірка, позначена обов'язковою — увага до назви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branch protection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правила: що має статися перед мержем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canary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викочування на частку трафіку перед повним релізом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feature flag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вимикач поведінки без деплою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rollback-критерії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 відкату, записані до пожежі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Кожне побачимо в конфізі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Чому ручний запуск eval не виживає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Поки запуск ручний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п'ятниця, дедлайн, «та я ж одне слово поміняв» — найгірші регресії приходять саме так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E9F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у CI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 фізично не мержиться: кнопка заблокована, а не «хтось пильний»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6576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0390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 змінює культуру: промпт остаточно стає кодом — з усіма наслідками, від рев'ю до заблокованого мержа.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E9F3EE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276088"/>
            <a:ext cx="1062532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 — питання лише, наскільки дорого. Перевірки, від яких залежить прод, запускаються механізмом.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 відкрито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стек у CI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очікування готовності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9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run.py → 0/1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3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24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 дозволено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9F3EE"/>
          </a:solidFill>
          <a:ln/>
        </p:spPr>
      </p:sp>
      <p:sp>
        <p:nvSpPr>
          <p:cNvPr id="26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Майже нічого не пишемо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run.py повертає 0/1 (урок 10), стек — одна команда (урок 1), поріг обраний і обґрунтований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ECEBFB"/>
          </a:solidFill>
          <a:ln/>
        </p:spPr>
      </p:sp>
      <p:sp>
        <p:nvSpPr>
          <p:cNvPr id="29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Цінність — у «кожен PR»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прогін, що руками, — тепер завжди: промпт, роутер, навіть «я тільки README»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786384" y="4946904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лише виконує у чистому середовищі те, що ви вже вміли робити руками. Нового коду майже немає — з'являється невідворотність.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сам по собі merge не блокує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6384" y="178308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→ Branches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087014" y="178308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репозиторії, де живе ваш main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60604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260604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branch protection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087014" y="260604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захищаємо гілку main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2900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status checks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087014" y="342900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перевірка стає обов'язковою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251960"/>
            <a:ext cx="6766560" cy="713232"/>
          </a:xfrm>
          <a:prstGeom prst="roundRect">
            <a:avLst>
              <a:gd name="adj" fmla="val 12821"/>
            </a:avLst>
          </a:prstGeom>
          <a:solidFill>
            <a:srgbClr val="F9E9E8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251960"/>
            <a:ext cx="230063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Вибрати чек eval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3087014" y="4251960"/>
            <a:ext cx="397581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саме job, не workflow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635240" y="1783080"/>
            <a:ext cx="3995928" cy="2194560"/>
          </a:xfrm>
          <a:prstGeom prst="roundRect">
            <a:avLst>
              <a:gd name="adj" fmla="val 5000"/>
            </a:avLst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854696" y="191109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JOB, А НЕ WORKFLOW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54696" y="2167128"/>
            <a:ext cx="3557016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списку показується назва job (eval), а не назва workflow (eval-gate). Обравши неіснуючий, ви отримаєте protection, який нічого не блокує.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635240" y="4114800"/>
            <a:ext cx="3995928" cy="1051560"/>
          </a:xfrm>
          <a:prstGeom prst="roundRect">
            <a:avLst>
              <a:gd name="adj" fmla="val 10435"/>
            </a:avLst>
          </a:prstGeom>
          <a:solidFill>
            <a:srgbClr val="F8F0E2"/>
          </a:solidFill>
          <a:ln/>
        </p:spPr>
      </p:sp>
      <p:sp>
        <p:nvSpPr>
          <p:cNvPr id="23" name="Text 21"/>
          <p:cNvSpPr/>
          <p:nvPr/>
        </p:nvSpPr>
        <p:spPr>
          <a:xfrm>
            <a:off x="7854696" y="4242816"/>
            <a:ext cx="35570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БЕЗКОШТОВНИЙ ПЛАН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854696" y="4498848"/>
            <a:ext cx="355701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приватному репозиторії protection може бути недоступний — перевірте заздалегідь.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Перевірте налаштування спробою мержу червоного PR — інакше ви не знаєте, чи гейт справді гейт.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Розтин eval-gate.yml: кожен крок — граблі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6858000" cy="3246120"/>
          </a:xfrm>
          <a:prstGeom prst="roundRect">
            <a:avLst>
              <a:gd name="adj" fmla="val 3380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6419088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Up stack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без UI — для evals не потрібен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docker compose up -d --build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service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for i in $(seq 1 40); do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if curl -sf localhost:8080/health; then exit 0; fi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sleep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done; docker compose logs; exit 1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Wait for gateway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холодний LiteLLM: 500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Evals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run: python evals/run.py --dataset evals/golden.jsonl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8E9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--threshold 5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Logs on failure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failure()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name: Down              </a:t>
            </a:r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if: always()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0" y="178308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UI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0" y="20574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збірка фронтенду в CI — марні хвилини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498080" y="244144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curl; then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498080" y="2715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 curl &amp;&amp; — bash -e вб'є крок на першій невдачі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98080" y="3099816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 gateway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498080" y="3374136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окреме очікування: холодний адаптер дає 500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375818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logs on failure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498080" y="403250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без логів — загадка; з логами — діагноз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498080" y="441655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 · always()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498080" y="46908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прибрати за собою навіть після падіння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516636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ECEBFB"/>
          </a:solidFill>
          <a:ln/>
        </p:spPr>
      </p:sp>
      <p:sp>
        <p:nvSpPr>
          <p:cNvPr id="20" name="Text 18"/>
          <p:cNvSpPr/>
          <p:nvPr/>
        </p:nvSpPr>
        <p:spPr>
          <a:xfrm>
            <a:off x="786384" y="531266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--threshold — частина датасету, а не константа шаблону: поріг оновлюється разом із набором кейсів.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— це інше середовище, і воно вас здивує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1 · bash -e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виконує кроки з bash -e: перший невдалий curl у циклі очікування вбиває крок цілком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Сюрприз 2 · холодний gateway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68880"/>
            <a:ext cx="49469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перший запит дає 500. Локально не видно: поки відкриваєте браузер, адаптер прогрівається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7490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CEBFB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8953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PR так і лишилися два червоні прогони, потім зелений. Це не сором — це процес: гейт теж код, і він теж проходить налагодження.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треба прогнати на свідомо зламаному PR — інакше ви перевірили, що він пропускає, але не що він блокує.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гейт — подарунок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секунди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13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зловив регресію до користувачів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9E9E8"/>
          </a:solidFill>
          <a:ln/>
        </p:spPr>
      </p:sp>
      <p:sp>
        <p:nvSpPr>
          <p:cNvPr id="11" name="Text 9"/>
          <p:cNvSpPr/>
          <p:nvPr/>
        </p:nvSpPr>
        <p:spPr>
          <a:xfrm>
            <a:off x="6428232" y="189280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дні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428232" y="257860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саме через скарги і розслідування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33756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4" name="Text 12"/>
          <p:cNvSpPr/>
          <p:nvPr/>
        </p:nvSpPr>
        <p:spPr>
          <a:xfrm>
            <a:off x="786384" y="3465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786384" y="372160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Змержити повз червоний гейт «бо терміново». Одна така історія — і гейта немає: за місяць це прапорець, який усі обходять. Якщо гейт помилково червоний — лагодьте гейт, не обходьте.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ECEBFB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Дзеркальне правило для авторів гейта: він має бути швидким, стабільним і зрозумілим у падінні — інакше обхід стане раціональним.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— частина релізу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8" name="Text 6"/>
          <p:cNvSpPr/>
          <p:nvPr/>
        </p:nvSpPr>
        <p:spPr>
          <a:xfrm>
            <a:off x="62179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читач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04164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rot="5400000">
            <a:off x="416966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1" name="Shape 9"/>
          <p:cNvSpPr/>
          <p:nvPr/>
        </p:nvSpPr>
        <p:spPr>
          <a:xfrm>
            <a:off x="440740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227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писар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882128" y="240030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rot="5400000">
            <a:off x="8010144" y="233172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5" name="Shape 13"/>
          <p:cNvSpPr/>
          <p:nvPr/>
        </p:nvSpPr>
        <p:spPr>
          <a:xfrm>
            <a:off x="8247888" y="2011680"/>
            <a:ext cx="33832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201168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прибирання старого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28803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зелений гейт каже «цей стан здоровий» — він не каже «шлях від старого до нового безпечний»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33756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" y="333756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і промпт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48226" y="333756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код, який уміє обидві версії; потім активація нової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4105656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ECEBFB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4105656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бази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48226" y="4105656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→ migrate → contract: нова колонка, заповнення, прибирання старої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4873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86384" y="4873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Інструменти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4548226" y="4873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спершу той, хто читає новий формат, потім той, хто його пише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57150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E9F3EE"/>
          </a:solidFill>
          <a:ln/>
        </p:spPr>
      </p:sp>
      <p:sp>
        <p:nvSpPr>
          <p:cNvPr id="28" name="Text 26"/>
          <p:cNvSpPr/>
          <p:nvPr/>
        </p:nvSpPr>
        <p:spPr>
          <a:xfrm>
            <a:off x="786384" y="58613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сумісності: у будь-який момент викочування система має працювати в обох станах.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і артефакти релізу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9F3EE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версії промпта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активація попередньої версії — секунди, без деплою (урок 2)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11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аварійний вимикач шару: кеш, інструмент, guardrail — вимикається без релізу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8152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320954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344728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0215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96188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rot="5400000">
            <a:off x="608990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1" name="Shape 19"/>
          <p:cNvSpPr/>
          <p:nvPr/>
        </p:nvSpPr>
        <p:spPr>
          <a:xfrm>
            <a:off x="632764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датасет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842248" y="38633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rot="5400000">
            <a:off x="8970264" y="37947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25" name="Shape 23"/>
          <p:cNvSpPr/>
          <p:nvPr/>
        </p:nvSpPr>
        <p:spPr>
          <a:xfrm>
            <a:off x="9208008" y="3520440"/>
            <a:ext cx="24231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62872" y="352044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1D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конфіг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42976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чотири артефакти — один реліз: якщо зміна торкається двох, вона одна зміна, а не дві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9E9E8"/>
          </a:solidFill>
          <a:ln/>
        </p:spPr>
      </p:sp>
      <p:sp>
        <p:nvSpPr>
          <p:cNvPr id="29" name="Text 2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Прапорець без плану прибирання: через рік це кладовище мертвих гілок, у якому ніхто не знає, що можна видалити.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гейті живуть не тільки evals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1225296" y="1005840"/>
            <a:ext cx="822319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 поломок, які до моделі навіть не доходять — кілька рядків кожна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6" name="Text 4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перевірка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8A90A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ловить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AFC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Шаблон промпта: усі плейсхолдери на місці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одна одрукована дужка — і в модель їде текст із дужками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Схеми інструментів — валідний JSON Schema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зламану схему провайдер відкине вже на проді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Прайс покриває всі моделі з конфіга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інакше cost_usd тихо стає null, і облік бреше (урок 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Моделі запінені, а не alias'и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«регресія без коміта» від оновлення провайдера (урок 3)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У діфі немає ключів і секретів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D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найдорожча помилка з найкоротшим фіксом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E9E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66928" y="50749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E9F3EE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ЯК У ПІРАМІДІ ТЕСТІВ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54589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Найдешевше — механічні перевірки конфігів і схем, дорожче — eval-прогін зі стеком, найдорожче — модельні перевірки з реальним ключем. У цьому порядку 80% поломок ловляться за секунди, не піднімаючи жодного контейнера.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Canary: частка трафіку замість усього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9411919" y="53035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9411919" y="53035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48132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9F3EE"/>
          </a:solidFill>
          <a:ln/>
        </p:spPr>
      </p:sp>
      <p:sp>
        <p:nvSpPr>
          <p:cNvPr id="10" name="Text 8"/>
          <p:cNvSpPr/>
          <p:nvPr/>
        </p:nvSpPr>
        <p:spPr>
          <a:xfrm>
            <a:off x="153619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90% — стара версія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53542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3" name="Shape 11"/>
          <p:cNvSpPr/>
          <p:nvPr/>
        </p:nvSpPr>
        <p:spPr>
          <a:xfrm>
            <a:off x="477316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F8F0E2"/>
          </a:solidFill>
          <a:ln/>
        </p:spPr>
      </p:sp>
      <p:sp>
        <p:nvSpPr>
          <p:cNvPr id="14" name="Text 12"/>
          <p:cNvSpPr/>
          <p:nvPr/>
        </p:nvSpPr>
        <p:spPr>
          <a:xfrm>
            <a:off x="482803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 — нова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699248" y="2491740"/>
            <a:ext cx="164592" cy="0"/>
          </a:xfrm>
          <a:prstGeom prst="line">
            <a:avLst/>
          </a:prstGeom>
          <a:noFill/>
          <a:ln w="15875">
            <a:solidFill>
              <a:srgbClr val="8A90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5400000">
            <a:off x="7827264" y="2423160"/>
            <a:ext cx="146304" cy="137160"/>
          </a:xfrm>
          <a:prstGeom prst="triangle">
            <a:avLst/>
          </a:prstGeom>
          <a:solidFill>
            <a:srgbClr val="8A90A0"/>
          </a:solidFill>
          <a:ln/>
        </p:spPr>
      </p:sp>
      <p:sp>
        <p:nvSpPr>
          <p:cNvPr id="17" name="Shape 15"/>
          <p:cNvSpPr/>
          <p:nvPr/>
        </p:nvSpPr>
        <p:spPr>
          <a:xfrm>
            <a:off x="8065008" y="2103120"/>
            <a:ext cx="2834640" cy="777240"/>
          </a:xfrm>
          <a:prstGeom prst="roundRect">
            <a:avLst>
              <a:gd name="adj" fmla="val 11765"/>
            </a:avLst>
          </a:prstGeom>
          <a:solidFill>
            <a:srgbClr val="ECEBFB"/>
          </a:solidFill>
          <a:ln/>
        </p:spPr>
      </p:sp>
      <p:sp>
        <p:nvSpPr>
          <p:cNvPr id="18" name="Text 16"/>
          <p:cNvSpPr/>
          <p:nvPr/>
        </p:nvSpPr>
        <p:spPr>
          <a:xfrm>
            <a:off x="8119872" y="2103120"/>
            <a:ext cx="2724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порівняння метрик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8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Композиція, а не новий механізм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768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(урок 3) + реєстр версій (урок 2) + лог (урок 1) — усе вже є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81928" y="329184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ECEBFB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4472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Ділити за користувачем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83096" y="397764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стабільний вибір за ключем, що й для A/B промптів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26" name="Text 24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 без заздалегідь названої метрики порівняння — це просто повільніший спосіб викотити зміну.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25296" y="365760"/>
            <a:ext cx="82231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CEBFB"/>
          </a:solidFill>
          <a:ln/>
        </p:spPr>
      </p:sp>
      <p:sp>
        <p:nvSpPr>
          <p:cNvPr id="5" name="Text 3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883664"/>
            <a:ext cx="10625328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2AA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Відкочуємо, якщо: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eval pass rate &lt; 5/6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(прогін після деплою)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fallback_events зростає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78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або error rate &gt; 5%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A738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протягом 15 хв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Хто смикає: черговий, без погоджень.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3E88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Як: activate попередньої версії — одна команда.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0" name="Shape 8"/>
          <p:cNvSpPr/>
          <p:nvPr/>
        </p:nvSpPr>
        <p:spPr>
          <a:xfrm>
            <a:off x="76809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8016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809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конкретна метрика і поріг, а не «якщо стане погано»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7024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5" name="Shape 13"/>
          <p:cNvSpPr/>
          <p:nvPr/>
        </p:nvSpPr>
        <p:spPr>
          <a:xfrm>
            <a:off x="447141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6" name="Text 14"/>
          <p:cNvSpPr/>
          <p:nvPr/>
        </p:nvSpPr>
        <p:spPr>
          <a:xfrm>
            <a:off x="447141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8348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Хто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47141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названа роль, яка має право смикнути, не питаючи дозволу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73568" y="402336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0" name="Shape 18"/>
          <p:cNvSpPr/>
          <p:nvPr/>
        </p:nvSpPr>
        <p:spPr>
          <a:xfrm>
            <a:off x="8174736" y="4206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1" name="Text 19"/>
          <p:cNvSpPr/>
          <p:nvPr/>
        </p:nvSpPr>
        <p:spPr>
          <a:xfrm>
            <a:off x="8174736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0" y="4178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Чим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8174736" y="470916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точна команда — щоб виконати її о 3-й ночі без роздумів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ECEBFB"/>
          </a:solidFill>
          <a:ln/>
        </p:spPr>
      </p:sp>
      <p:sp>
        <p:nvSpPr>
          <p:cNvPr id="25" name="Text 23"/>
          <p:cNvSpPr/>
          <p:nvPr/>
        </p:nvSpPr>
        <p:spPr>
          <a:xfrm>
            <a:off x="786384" y="57698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Рішення, ухвалене заздалегідь, виконується за секунди; рішення під час інциденту обговорюється хвилинами.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Зараз ви побачите — і навіщо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 по кроках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кожен крок — відповідь на конкретні граблі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F9E9E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3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E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зламаним промптом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червоний, merge заблоковано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17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18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→ зелений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той самий PR стає мержабельним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3EE"/>
          </a:solidFill>
          <a:ln/>
        </p:spPr>
      </p:sp>
      <p:sp>
        <p:nvSpPr>
          <p:cNvPr id="22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77245"/>
          </a:solidFill>
          <a:ln/>
        </p:spPr>
      </p:sp>
      <p:sp>
        <p:nvSpPr>
          <p:cNvPr id="23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у налаштуваннях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eval, а не workflow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ECEBFB"/>
          </a:solidFill>
          <a:ln/>
        </p:spPr>
      </p:sp>
      <p:sp>
        <p:nvSpPr>
          <p:cNvPr id="27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03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Побачити, як якість перестає залежати від дисципліни: перевірка, яку ви вміли робити руками, стає умовою мержу — і працює без вас.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Лабораторна: чотири кроки + опційний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Прочитати workflow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eval-gate.yml: навіщо кожен крок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Зламати навмисно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зі зіпсованим промптом → червоний прогін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Полагодити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фікс у тому ж PR → зелений прогін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4038C4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Увімкнути protection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check = job eval; перевірити спробою мержу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Canary-план · опційно  </a:t>
            </a:r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90/10 своїм роутером + метрики порівняння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 це довело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3EE"/>
          </a:solidFill>
          <a:ln/>
        </p:spPr>
      </p:sp>
      <p:sp>
        <p:nvSpPr>
          <p:cNvPr id="7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Регресія не пройде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червоний прогін блокує merge механічно, а не за домовленістю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CEBFB"/>
          </a:solidFill>
          <a:ln/>
        </p:spPr>
      </p:sp>
      <p:sp>
        <p:nvSpPr>
          <p:cNvPr id="10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теж код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два червоні прогони, поки він сам не запрацював, — нормальна історія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Відкат — рішення заздалегідь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умови, роль і команда записані до, а не під час інциденту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Контур замкнувся: зміна проходить перевірку, перевірка блокує регресію, відкат описаний. Лишилося зібрати це в operating model — останній урок.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Перевір себе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історії Actions є червоний і зелений прогін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червоного PR справді заблокований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44768" y="215798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записані: умова, хто, чим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9F3EE"/>
          </a:solidFill>
          <a:ln w="12700">
            <a:solidFill>
              <a:srgbClr val="1772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27249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72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поясню, чому читач деплоїться перед писарем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0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Антипатерни тижня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8" name="Text 6"/>
          <p:cNvSpPr/>
          <p:nvPr/>
        </p:nvSpPr>
        <p:spPr>
          <a:xfrm>
            <a:off x="768096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Мерж повз червоний гейт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прецедент — і за місяць гейт обходять усі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825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на неіснуючий чек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захист, який нічого не блокує, гірший за відсутній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" y="3694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Гейт, що триває пів години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обхід стає раціональним рішенням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flag без плану прибирання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кладовище мертвих гілок через рік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9E9E8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5431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під час інциденту   </a:t>
            </a:r>
            <a:pPr indent="0" marL="0">
              <a:buNone/>
            </a:pPr>
            <a:r>
              <a:rPr lang="en-US" sz="115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рішення обговорюється, поки користувачі чекають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65760"/>
            <a:ext cx="888156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Домашнє завдання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10481767" y="53035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E9F3EE"/>
          </a:solidFill>
          <a:ln/>
        </p:spPr>
      </p:sp>
      <p:sp>
        <p:nvSpPr>
          <p:cNvPr id="4" name="Text 2"/>
          <p:cNvSpPr/>
          <p:nvPr/>
        </p:nvSpPr>
        <p:spPr>
          <a:xfrm>
            <a:off x="10481767" y="53035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0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6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закріпити лабу: червоний і зелений прогін гейта в історії Actions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записати rollback-критерії для своєї системи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56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переконатися, що гейт швидкий і його падіння зрозуміле з логів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0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canary-план: розподіл 90/10 своїм роутером, метрики порівняння, критерії promote/rollback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4038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ДЗ тижня 6 — після наступного уроку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Фінальне ДЗ збирає все: CI-гейт із сьогоднішньої лаби, інцидент-демо в окремому INCIDENT_RUNBOOK.md і повна збірка системи з чистого клону. Сьогоднішній гейт — його найбільша частина, і вона вже готова.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23015" y="6455664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90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038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11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841248" y="1371600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" name="Text 2"/>
          <p:cNvSpPr/>
          <p:nvPr/>
        </p:nvSpPr>
        <p:spPr>
          <a:xfrm>
            <a:off x="1133856" y="12801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усе, що тримається на «не забути», колись буде забуто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41248" y="2029968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133856" y="193852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гейт = ваш eval + exit code + CI; нового коду майже немає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41248" y="2688336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133856" y="259689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із правильним чеком — інакше захист лише на вигляд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41248" y="3346704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133856" y="3255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викочування важливіший за сам факт релізу: читач перед писарем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41248" y="4005072"/>
            <a:ext cx="146304" cy="146304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133856" y="391363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rollback-критерії пишуться до пожежі: умова, роль, команда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41248" y="4892040"/>
            <a:ext cx="10698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069848" y="5093208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03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Наступний крок → Урок 12 · Фінал: LLMOps operating model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69848" y="5458968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Механізми зібрані й захищені гейтом. Останній урок — про те, як це живе далі: цикл роботи з якістю, розбір інциденту за рунбуком, KPI, які показують керівництву, і чесний план перенесення практик у свою команду.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1248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B4AE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SupportGW · LLMOps Bootcamp · Урок 11 з 12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11 · CI/CD quality gates, canary і rollback</dc:title>
  <dc:subject>PptxGenJS Presentation</dc:subject>
  <dc:creator>LLMOps Bootcamp</dc:creator>
  <cp:lastModifiedBy>LLMOps Bootcamp</cp:lastModifiedBy>
  <cp:revision>1</cp:revision>
  <dcterms:created xsi:type="dcterms:W3CDTF">2026-08-10T19:13:47Z</dcterms:created>
  <dcterms:modified xsi:type="dcterms:W3CDTF">2026-08-10T19:13:47Z</dcterms:modified>
</cp:coreProperties>
</file>