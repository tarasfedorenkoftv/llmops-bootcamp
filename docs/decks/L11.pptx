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0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098280" y="1234440"/>
            <a:ext cx="2743200" cy="2743200"/>
          </a:xfrm>
          <a:prstGeom prst="roundRect">
            <a:avLst>
              <a:gd name="adj" fmla="val 5333"/>
            </a:avLst>
          </a:prstGeom>
          <a:ln w="12700">
            <a:solidFill>
              <a:srgbClr val="C9B8FB">
                <a:alpha val="24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82328" y="1618488"/>
            <a:ext cx="1975104" cy="1975104"/>
          </a:xfrm>
          <a:prstGeom prst="roundRect">
            <a:avLst>
              <a:gd name="adj" fmla="val 7407"/>
            </a:avLst>
          </a:prstGeom>
          <a:ln w="12700">
            <a:solidFill>
              <a:srgbClr val="C9B8FB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66376" y="2002536"/>
            <a:ext cx="1207008" cy="1207008"/>
          </a:xfrm>
          <a:prstGeom prst="roundRect">
            <a:avLst>
              <a:gd name="adj" fmla="val 12121"/>
            </a:avLst>
          </a:prstGeom>
          <a:ln w="12700">
            <a:solidFill>
              <a:srgbClr val="C9B8FB">
                <a:alpha val="6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6 · УРОК 11 З 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CI/CD quality gates,</a:t>
            </a:r>
            <a:endParaRPr lang="en-US" sz="4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canary і rollback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9B8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промпта — це реліз, повторюємо ми з другого уроку. Сьогодні вона нарешті проходить релізний процес: eval-гейт на кожен PR, який фізично не пускає регресію в main.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20" name="Text 18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Увімкнути eval-гейт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кожен PR, із доказом «червоний → зелений»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Налаштувати protection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required check = job eval, а не workflow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Записати rollback-критерії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умови, хто смикає, якою командою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порядок деплою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читач їде перед писарем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Відрізнити відкат від flag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сказати, коли який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Ручні перевірки не виживають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= eval + exit code + CI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 eval-gate.yml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 ≠ локальна машина</a:t>
            </a:r>
            <a:endParaRPr lang="en-US" sz="1450" dirty="0"/>
          </a:p>
        </p:txBody>
      </p:sp>
      <p:sp>
        <p:nvSpPr>
          <p:cNvPr id="22" name="Shape 19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Червоне — подарунок</a:t>
            </a:r>
            <a:endParaRPr lang="en-US" sz="1450" dirty="0"/>
          </a:p>
        </p:txBody>
      </p:sp>
      <p:sp>
        <p:nvSpPr>
          <p:cNvPr id="26" name="Shape 23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Порядок викочування</a:t>
            </a:r>
            <a:endParaRPr lang="en-US" sz="1450" dirty="0"/>
          </a:p>
        </p:txBody>
      </p:sp>
      <p:sp>
        <p:nvSpPr>
          <p:cNvPr id="30" name="Shape 27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Flag, артефакти, механічні перевірки</a:t>
            </a:r>
            <a:endParaRPr lang="en-US" sz="1450" dirty="0"/>
          </a:p>
        </p:txBody>
      </p:sp>
      <p:sp>
        <p:nvSpPr>
          <p:cNvPr id="34" name="Shape 31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35" name="Shape 32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36" name="Text 33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Canary · опційно</a:t>
            </a:r>
            <a:endParaRPr lang="en-US" sz="1450" dirty="0"/>
          </a:p>
        </p:txBody>
      </p:sp>
      <p:sp>
        <p:nvSpPr>
          <p:cNvPr id="38" name="Shape 35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0" name="Text 37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Rollback-критерії</a:t>
            </a:r>
            <a:endParaRPr lang="en-US" sz="1450" dirty="0"/>
          </a:p>
        </p:txBody>
      </p:sp>
      <p:sp>
        <p:nvSpPr>
          <p:cNvPr id="42" name="Shape 39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4" name="Text 41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6" name="Shape 43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8" name="Text 45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0" name="Shape 47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«не забути прогнати» — до кнопки merge, яка заблокована, поки якість червона.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quality gate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перевірка, без якої зміна не потрапляє в main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 check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перевірка, позначена обов'язковою — увага до назви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branch protection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правила: що має статися перед мержем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canary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викочування на частку трафіку перед повним релізом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 flag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вимикач поведінки без деплою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rollback-критерії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умови відкату, записані до пожежі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конфізі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Чому ручний запуск eval не виживає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FBE9E9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Поки запуск ручний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п'ятниця, дедлайн, «та я ж одне слово поміняв» — найгірші регресії приходять саме так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E9F4EF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у CI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 зі зламаним промптом фізично не мержиться: кнопка заблокована, а не «хтось пильний»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65760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80390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 змінює культуру: промпт остаточно стає кодом — з усіма наслідками, від рев'ю до заблокованого мержа.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66928" y="489204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E9F4EF"/>
          </a:solidFill>
          <a:ln/>
        </p:spPr>
      </p:sp>
      <p:sp>
        <p:nvSpPr>
          <p:cNvPr id="16" name="Text 13"/>
          <p:cNvSpPr/>
          <p:nvPr/>
        </p:nvSpPr>
        <p:spPr>
          <a:xfrm>
            <a:off x="786384" y="5020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786384" y="5276088"/>
            <a:ext cx="1062532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що тримається на «не забути», колись буде забуто — питання лише, наскільки дорого. Перевірки, від яких залежить прод, запускаються механізмом.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= ваш eval + exit code + CI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21792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 відкрито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2505456" y="230886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2633472" y="224028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1" name="Shape 8"/>
          <p:cNvSpPr/>
          <p:nvPr/>
        </p:nvSpPr>
        <p:spPr>
          <a:xfrm>
            <a:off x="2871216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926080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стек у CI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809744" y="230886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4937760" y="224028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5" name="Shape 12"/>
          <p:cNvSpPr/>
          <p:nvPr/>
        </p:nvSpPr>
        <p:spPr>
          <a:xfrm>
            <a:off x="5175504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230368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очікування готовності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7114032" y="230886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7242048" y="224028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9" name="Shape 16"/>
          <p:cNvSpPr/>
          <p:nvPr/>
        </p:nvSpPr>
        <p:spPr>
          <a:xfrm>
            <a:off x="7479792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EFEAFE"/>
          </a:solidFill>
          <a:ln/>
        </p:spPr>
      </p:sp>
      <p:sp>
        <p:nvSpPr>
          <p:cNvPr id="20" name="Text 17"/>
          <p:cNvSpPr/>
          <p:nvPr/>
        </p:nvSpPr>
        <p:spPr>
          <a:xfrm>
            <a:off x="7534656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run.py → 0/1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9418320" y="230886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rot="5400000">
            <a:off x="9546336" y="224028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3" name="Shape 20"/>
          <p:cNvSpPr/>
          <p:nvPr/>
        </p:nvSpPr>
        <p:spPr>
          <a:xfrm>
            <a:off x="9784080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E9F4EF"/>
          </a:solidFill>
          <a:ln/>
        </p:spPr>
      </p:sp>
      <p:sp>
        <p:nvSpPr>
          <p:cNvPr id="24" name="Text 21"/>
          <p:cNvSpPr/>
          <p:nvPr/>
        </p:nvSpPr>
        <p:spPr>
          <a:xfrm>
            <a:off x="9838944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merge дозволено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566928" y="30175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E9F4EF"/>
          </a:solidFill>
          <a:ln/>
        </p:spPr>
      </p:sp>
      <p:sp>
        <p:nvSpPr>
          <p:cNvPr id="26" name="Text 23"/>
          <p:cNvSpPr/>
          <p:nvPr/>
        </p:nvSpPr>
        <p:spPr>
          <a:xfrm>
            <a:off x="768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Майже нічого не пишемо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37033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run.py повертає 0/1 (урок 10), стек — одна команда (урок 1), поріг обраний і обґрунтований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6281928" y="30175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EFEAFE"/>
          </a:solidFill>
          <a:ln/>
        </p:spPr>
      </p:sp>
      <p:sp>
        <p:nvSpPr>
          <p:cNvPr id="29" name="Text 26"/>
          <p:cNvSpPr/>
          <p:nvPr/>
        </p:nvSpPr>
        <p:spPr>
          <a:xfrm>
            <a:off x="6483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Цінність — у «кожен PR»</a:t>
            </a:r>
            <a:endParaRPr lang="en-US" sz="1450" dirty="0"/>
          </a:p>
        </p:txBody>
      </p:sp>
      <p:sp>
        <p:nvSpPr>
          <p:cNvPr id="30" name="Text 27"/>
          <p:cNvSpPr/>
          <p:nvPr/>
        </p:nvSpPr>
        <p:spPr>
          <a:xfrm>
            <a:off x="6483096" y="37033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прогін, що руками, — тепер завжди: промпт, роутер, навіть «я тільки README»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86384" y="494690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 лише виконує у чистому середовищі те, що ви вже вміли робити руками. Нового коду майже немає — з'являється невідворотність.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Червоний прогін сам по собі merge не блокує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676656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783080"/>
            <a:ext cx="230063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Settings → Branches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3087014" y="1783080"/>
            <a:ext cx="3975811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репозиторії, де живе ваш main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2606040"/>
            <a:ext cx="6766560" cy="713232"/>
          </a:xfrm>
          <a:prstGeom prst="roundRect">
            <a:avLst>
              <a:gd name="adj" fmla="val 12821"/>
            </a:avLst>
          </a:prstGeom>
          <a:solidFill>
            <a:srgbClr val="EFEAFE"/>
          </a:solidFill>
          <a:ln/>
        </p:spPr>
      </p:sp>
      <p:sp>
        <p:nvSpPr>
          <p:cNvPr id="11" name="Text 8"/>
          <p:cNvSpPr/>
          <p:nvPr/>
        </p:nvSpPr>
        <p:spPr>
          <a:xfrm>
            <a:off x="786384" y="2606040"/>
            <a:ext cx="230063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Add branch protection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3087014" y="2606040"/>
            <a:ext cx="3975811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захищаємо гілку main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429000"/>
            <a:ext cx="6766560" cy="713232"/>
          </a:xfrm>
          <a:prstGeom prst="roundRect">
            <a:avLst>
              <a:gd name="adj" fmla="val 12821"/>
            </a:avLst>
          </a:prstGeom>
          <a:solidFill>
            <a:srgbClr val="EFEAFE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429000"/>
            <a:ext cx="230063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Require status checks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3087014" y="3429000"/>
            <a:ext cx="3975811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перевірка стає обов'язковою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4251960"/>
            <a:ext cx="6766560" cy="713232"/>
          </a:xfrm>
          <a:prstGeom prst="roundRect">
            <a:avLst>
              <a:gd name="adj" fmla="val 12821"/>
            </a:avLst>
          </a:prstGeom>
          <a:solidFill>
            <a:srgbClr val="FBE9E9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4251960"/>
            <a:ext cx="230063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Вибрати чек eval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3087014" y="4251960"/>
            <a:ext cx="3975811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саме job, не workflow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7635240" y="1783080"/>
            <a:ext cx="3995928" cy="2194560"/>
          </a:xfrm>
          <a:prstGeom prst="roundRect">
            <a:avLst>
              <a:gd name="adj" fmla="val 5000"/>
            </a:avLst>
          </a:prstGeom>
          <a:solidFill>
            <a:srgbClr val="FBE9E9"/>
          </a:solidFill>
          <a:ln/>
        </p:spPr>
      </p:sp>
      <p:sp>
        <p:nvSpPr>
          <p:cNvPr id="20" name="Text 17"/>
          <p:cNvSpPr/>
          <p:nvPr/>
        </p:nvSpPr>
        <p:spPr>
          <a:xfrm>
            <a:off x="7854696" y="1911096"/>
            <a:ext cx="3557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ПАСТКА: JOB, А НЕ WORKFLOW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854696" y="2167128"/>
            <a:ext cx="3557016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списку показується назва job (eval), а не назва workflow (eval-gate). Обравши неіснуючий, ви отримаєте protection, який нічого не блокує.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7635240" y="4114800"/>
            <a:ext cx="3995928" cy="1051560"/>
          </a:xfrm>
          <a:prstGeom prst="roundRect">
            <a:avLst>
              <a:gd name="adj" fmla="val 10435"/>
            </a:avLst>
          </a:prstGeom>
          <a:solidFill>
            <a:srgbClr val="F8F0E2"/>
          </a:solidFill>
          <a:ln/>
        </p:spPr>
      </p:sp>
      <p:sp>
        <p:nvSpPr>
          <p:cNvPr id="23" name="Text 20"/>
          <p:cNvSpPr/>
          <p:nvPr/>
        </p:nvSpPr>
        <p:spPr>
          <a:xfrm>
            <a:off x="7854696" y="4242816"/>
            <a:ext cx="3557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БЕЗКОШТОВНИЙ ПЛАН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7854696" y="4498848"/>
            <a:ext cx="3557016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приватному репозиторії protection може бути недоступний — перевірте заздалегідь.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566928" y="5257800"/>
            <a:ext cx="11064240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5404104"/>
            <a:ext cx="10625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Перевірте налаштування спробою мержу червоного PR — інакше ви не знаєте, чи гейт справді гейт.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 eval-gate.yml: кожен крок — граблі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6858000" cy="3246120"/>
          </a:xfrm>
          <a:prstGeom prst="roundRect">
            <a:avLst>
              <a:gd name="adj" fmla="val 3380"/>
            </a:avLst>
          </a:prstGeom>
          <a:solidFill>
            <a:srgbClr val="141018"/>
          </a:solidFill>
          <a:ln/>
        </p:spPr>
      </p:sp>
      <p:sp>
        <p:nvSpPr>
          <p:cNvPr id="8" name="Text 5"/>
          <p:cNvSpPr/>
          <p:nvPr/>
        </p:nvSpPr>
        <p:spPr>
          <a:xfrm>
            <a:off x="786384" y="1883664"/>
            <a:ext cx="6419088" cy="2953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Up stack        </a:t>
            </a:r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без UI — для evals не потрібен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CE8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run: docker compose up -d --build service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Wait for service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CE8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run: for i in $(seq 1 40); do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CE8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if curl -sf localhost:8080/health; then exit 0; fi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CE8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sleep 5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CE8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done; docker compose logs; exit 1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Wait for gateway   </a:t>
            </a:r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холодний LiteLLM: 500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Evals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CE8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run: python evals/run.py --dataset evals/golden.jsonl \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CE8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--threshold 5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Logs on failure   </a:t>
            </a:r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if: failure()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Down              </a:t>
            </a:r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if: always()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7498080" y="178308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без UI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7498080" y="20574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збірка фронтенду в CI — марні хвилини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7498080" y="24414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curl; then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7498080" y="271576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 не curl &amp;&amp; — bash -e вб'є крок на першій невдачі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7498080" y="3099816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wait gateway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7498080" y="337413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окреме очікування: холодний адаптер дає 500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7498080" y="3758184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logs on failure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7498080" y="403250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червоний без логів — загадка; з логами — діагноз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498080" y="441655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down · always()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7498080" y="469087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прибрати за собою навіть після падіння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66928" y="5166360"/>
            <a:ext cx="11064240" cy="685800"/>
          </a:xfrm>
          <a:prstGeom prst="roundRect">
            <a:avLst>
              <a:gd name="adj" fmla="val 16000"/>
            </a:avLst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86384" y="5312664"/>
            <a:ext cx="1062532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--threshold — частина датасету, а не константа шаблону: поріг оновлюється разом із набором кейсів.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 — це інше середовище, і воно вас здивує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FBE9E9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Сюрприз 1 · bash -e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68880"/>
            <a:ext cx="49469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Actions виконує кроки з bash -e: перший невдалий curl у циклі очікування вбиває крок цілком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8308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FBE9E9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Сюрприз 2 · холодний gateway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68880"/>
            <a:ext cx="49469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перший запит дає 500. Локально не видно: поки відкриваєте браузер, адаптер прогрівається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74904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89534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 історії PR так і лишилися два червоні прогони, потім зелений. Це не сором — це процес: гейт теж код, і він теж проходить налагодження.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16" name="Text 13"/>
          <p:cNvSpPr/>
          <p:nvPr/>
        </p:nvSpPr>
        <p:spPr>
          <a:xfrm>
            <a:off x="786384" y="51114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786384" y="5367528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треба прогнати на свідомо зламаному PR — інакше ви перевірили, що він пропускає, але не що він блокує.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Червоний гейт — подарунок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E9F4EF"/>
          </a:solidFill>
          <a:ln/>
        </p:spPr>
      </p:sp>
      <p:sp>
        <p:nvSpPr>
          <p:cNvPr id="8" name="Text 5"/>
          <p:cNvSpPr/>
          <p:nvPr/>
        </p:nvSpPr>
        <p:spPr>
          <a:xfrm>
            <a:off x="713232" y="1892808"/>
            <a:ext cx="50566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секунди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713232" y="2578608"/>
            <a:ext cx="50566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зловив регресію до користувачів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81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FBE9E9"/>
          </a:solidFill>
          <a:ln/>
        </p:spPr>
      </p:sp>
      <p:sp>
        <p:nvSpPr>
          <p:cNvPr id="11" name="Text 8"/>
          <p:cNvSpPr/>
          <p:nvPr/>
        </p:nvSpPr>
        <p:spPr>
          <a:xfrm>
            <a:off x="6428232" y="1892808"/>
            <a:ext cx="50566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дні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6428232" y="2578608"/>
            <a:ext cx="50566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 саме через скарги і розслідування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337560"/>
            <a:ext cx="11064240" cy="1463040"/>
          </a:xfrm>
          <a:prstGeom prst="roundRect">
            <a:avLst>
              <a:gd name="adj" fmla="val 7500"/>
            </a:avLst>
          </a:prstGeom>
          <a:solidFill>
            <a:srgbClr val="FBE9E9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4655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786384" y="3721608"/>
            <a:ext cx="1062532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Змержити повз червоний гейт «бо терміново». Одна така історія — і гейта немає: за місяць це прапорець, який усі обходять. Якщо гейт помилково червоний — лагодьте гейт, не обходьте.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49377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508406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Дзеркальне правило для авторів гейта: він має бути швидким, стабільним і зрозумілим у падінні — інакше обхід стане раціональним.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Порядок викочування — частина релізу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2011680"/>
            <a:ext cx="3383280" cy="777240"/>
          </a:xfrm>
          <a:prstGeom prst="roundRect">
            <a:avLst>
              <a:gd name="adj" fmla="val 11765"/>
            </a:avLst>
          </a:prstGeom>
          <a:solidFill>
            <a:srgbClr val="EFEAFE"/>
          </a:solidFill>
          <a:ln/>
        </p:spPr>
      </p:sp>
      <p:sp>
        <p:nvSpPr>
          <p:cNvPr id="8" name="Text 5"/>
          <p:cNvSpPr/>
          <p:nvPr/>
        </p:nvSpPr>
        <p:spPr>
          <a:xfrm>
            <a:off x="621792" y="2011680"/>
            <a:ext cx="3273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читач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041648" y="24003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4169664" y="23317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1" name="Shape 8"/>
          <p:cNvSpPr/>
          <p:nvPr/>
        </p:nvSpPr>
        <p:spPr>
          <a:xfrm>
            <a:off x="4407408" y="2011680"/>
            <a:ext cx="33832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462272" y="2011680"/>
            <a:ext cx="3273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писар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7882128" y="24003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8010144" y="23317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5" name="Shape 12"/>
          <p:cNvSpPr/>
          <p:nvPr/>
        </p:nvSpPr>
        <p:spPr>
          <a:xfrm>
            <a:off x="8247888" y="2011680"/>
            <a:ext cx="33832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302752" y="2011680"/>
            <a:ext cx="3273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прибирання старого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66928" y="28803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зелений гейт каже «цей стан здоровий» — він не каже «шлях від старого до нового безпечний»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66928" y="3337560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86384" y="3337560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Код і промпт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4548226" y="3337560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спершу код, який уміє обидві версії; потім активація нової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566928" y="4105656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EFEAFE"/>
          </a:solidFill>
          <a:ln/>
        </p:spPr>
      </p:sp>
      <p:sp>
        <p:nvSpPr>
          <p:cNvPr id="22" name="Text 19"/>
          <p:cNvSpPr/>
          <p:nvPr/>
        </p:nvSpPr>
        <p:spPr>
          <a:xfrm>
            <a:off x="786384" y="4105656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Схема бази</a:t>
            </a:r>
            <a:endParaRPr lang="en-US" sz="1350" dirty="0"/>
          </a:p>
        </p:txBody>
      </p:sp>
      <p:sp>
        <p:nvSpPr>
          <p:cNvPr id="23" name="Text 20"/>
          <p:cNvSpPr/>
          <p:nvPr/>
        </p:nvSpPr>
        <p:spPr>
          <a:xfrm>
            <a:off x="4548226" y="4105656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expand → migrate → contract: нова колонка, заповнення, прибирання старої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566928" y="4873752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6384" y="4873752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Інструменти</a:t>
            </a:r>
            <a:endParaRPr lang="en-US" sz="1350" dirty="0"/>
          </a:p>
        </p:txBody>
      </p:sp>
      <p:sp>
        <p:nvSpPr>
          <p:cNvPr id="26" name="Text 23"/>
          <p:cNvSpPr/>
          <p:nvPr/>
        </p:nvSpPr>
        <p:spPr>
          <a:xfrm>
            <a:off x="4548226" y="4873752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спершу той, хто читає новий формат, потім той, хто його пише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566928" y="571500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E9F4EF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586130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Правило сумісності: у будь-який момент викочування система має працювати в обох станах.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Feature flag і артефакти релізу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E9F4EF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Відкат версії промпта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активація попередньої версії — секунди, без деплою (урок 2)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EFEAFE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Feature flag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аварійний вимикач шару: кеш, інструмент, guardrail — вимикається без релізу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520440"/>
            <a:ext cx="242316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21792" y="3520440"/>
            <a:ext cx="2313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код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3081528" y="386334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3209544" y="379476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7" name="Shape 14"/>
          <p:cNvSpPr/>
          <p:nvPr/>
        </p:nvSpPr>
        <p:spPr>
          <a:xfrm>
            <a:off x="3447288" y="3520440"/>
            <a:ext cx="242316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502152" y="3520440"/>
            <a:ext cx="2313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промпт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5961888" y="386334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5400000">
            <a:off x="6089904" y="379476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1" name="Shape 18"/>
          <p:cNvSpPr/>
          <p:nvPr/>
        </p:nvSpPr>
        <p:spPr>
          <a:xfrm>
            <a:off x="6327648" y="3520440"/>
            <a:ext cx="242316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382512" y="3520440"/>
            <a:ext cx="2313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датасет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8842248" y="386334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5400000">
            <a:off x="8970264" y="379476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5" name="Shape 22"/>
          <p:cNvSpPr/>
          <p:nvPr/>
        </p:nvSpPr>
        <p:spPr>
          <a:xfrm>
            <a:off x="9208008" y="3520440"/>
            <a:ext cx="242316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262872" y="3520440"/>
            <a:ext cx="2313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конфіг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566928" y="42976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чотири артефакти — один реліз: якщо зміна торкається двох, вона одна зміна, а не дві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566928" y="475488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BE9E9"/>
          </a:solidFill>
          <a:ln/>
        </p:spPr>
      </p:sp>
      <p:sp>
        <p:nvSpPr>
          <p:cNvPr id="29" name="Text 26"/>
          <p:cNvSpPr/>
          <p:nvPr/>
        </p:nvSpPr>
        <p:spPr>
          <a:xfrm>
            <a:off x="786384" y="48828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786384" y="513892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Прапорець без плану прибирання: через рік це кладовище мертвих гілок, у якому ніхто не знає, що можна видалити.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гейті живуть не тільки evals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280160" y="1005840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Клас поломок, які до моделі навіть не доходять — кілька рядків кожна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280160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83080"/>
          <a:ext cx="11064240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5943600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перевірка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ловить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Шаблон промпта: усі плейсхолдери на місці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одна одрукована дужка — і в модель їде текст із дужками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Схеми інструментів — валідний JSON Schema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зламану схему провайдер відкине вже на проді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Прайс покриває всі моделі з конфіга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інакше cost_usd тихо стає null, і облік бреше (урок 4)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Моделі запінені, а не alias'и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«регресія без коміта» від оновлення провайдера (урок 3)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62A2A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У діфі немає ключів і секретів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найдорожча помилка з найкоротшим фіксом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9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507492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E9F4EF"/>
          </a:solidFill>
          <a:ln/>
        </p:spPr>
      </p:sp>
      <p:sp>
        <p:nvSpPr>
          <p:cNvPr id="10" name="Text 6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ПОРЯДОК ЯК У ПІРАМІДІ ТЕСТІВ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786384" y="5458968"/>
            <a:ext cx="106253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Найдешевше — механічні перевірки конфігів і схем, дорожче — eval-прогін зі стеком, найдорожче — модельні перевірки з реальним ключем. У цьому порядку 80% поломок ловляться за секунди, не піднімаючи жодного контейнера.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Canary: частка трафіку замість усього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67128" y="1024128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7" name="Text 5"/>
          <p:cNvSpPr/>
          <p:nvPr/>
        </p:nvSpPr>
        <p:spPr>
          <a:xfrm>
            <a:off x="2167128" y="1024128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1481328" y="2103120"/>
            <a:ext cx="2834640" cy="777240"/>
          </a:xfrm>
          <a:prstGeom prst="roundRect">
            <a:avLst>
              <a:gd name="adj" fmla="val 11765"/>
            </a:avLst>
          </a:prstGeom>
          <a:solidFill>
            <a:srgbClr val="E9F4EF"/>
          </a:solidFill>
          <a:ln/>
        </p:spPr>
      </p:sp>
      <p:sp>
        <p:nvSpPr>
          <p:cNvPr id="10" name="Text 7"/>
          <p:cNvSpPr/>
          <p:nvPr/>
        </p:nvSpPr>
        <p:spPr>
          <a:xfrm>
            <a:off x="1536192" y="2103120"/>
            <a:ext cx="2724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90% — стара версія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407408" y="249174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5400000">
            <a:off x="4535424" y="242316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3" name="Shape 10"/>
          <p:cNvSpPr/>
          <p:nvPr/>
        </p:nvSpPr>
        <p:spPr>
          <a:xfrm>
            <a:off x="4773168" y="2103120"/>
            <a:ext cx="2834640" cy="777240"/>
          </a:xfrm>
          <a:prstGeom prst="roundRect">
            <a:avLst>
              <a:gd name="adj" fmla="val 11765"/>
            </a:avLst>
          </a:prstGeom>
          <a:solidFill>
            <a:srgbClr val="F8F0E2"/>
          </a:solidFill>
          <a:ln/>
        </p:spPr>
      </p:sp>
      <p:sp>
        <p:nvSpPr>
          <p:cNvPr id="14" name="Text 11"/>
          <p:cNvSpPr/>
          <p:nvPr/>
        </p:nvSpPr>
        <p:spPr>
          <a:xfrm>
            <a:off x="4828032" y="2103120"/>
            <a:ext cx="2724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10% — нова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7699248" y="249174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7827264" y="242316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7" name="Shape 14"/>
          <p:cNvSpPr/>
          <p:nvPr/>
        </p:nvSpPr>
        <p:spPr>
          <a:xfrm>
            <a:off x="8065008" y="2103120"/>
            <a:ext cx="2834640" cy="777240"/>
          </a:xfrm>
          <a:prstGeom prst="roundRect">
            <a:avLst>
              <a:gd name="adj" fmla="val 11765"/>
            </a:avLst>
          </a:prstGeom>
          <a:solidFill>
            <a:srgbClr val="EFEAFE"/>
          </a:solidFill>
          <a:ln/>
        </p:spPr>
      </p:sp>
      <p:sp>
        <p:nvSpPr>
          <p:cNvPr id="18" name="Text 15"/>
          <p:cNvSpPr/>
          <p:nvPr/>
        </p:nvSpPr>
        <p:spPr>
          <a:xfrm>
            <a:off x="8119872" y="2103120"/>
            <a:ext cx="2724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порівняння метрик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66928" y="329184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8096" y="34472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Композиція, а не новий механізм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768096" y="397764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routing (урок 3) + реєстр версій (урок 2) + лог (урок 1) — усе вже є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281928" y="329184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EFEAFE"/>
          </a:solidFill>
          <a:ln/>
        </p:spPr>
      </p:sp>
      <p:sp>
        <p:nvSpPr>
          <p:cNvPr id="23" name="Text 20"/>
          <p:cNvSpPr/>
          <p:nvPr/>
        </p:nvSpPr>
        <p:spPr>
          <a:xfrm>
            <a:off x="6483096" y="34472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Ділити за користувачем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6483096" y="397764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стабільний вибір за ключем, що й для A/B промптів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26" name="Text 23"/>
          <p:cNvSpPr/>
          <p:nvPr/>
        </p:nvSpPr>
        <p:spPr>
          <a:xfrm>
            <a:off x="786384" y="5129784"/>
            <a:ext cx="106253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Canary без заздалегідь названої метрики порівняння — це просто повільніший спосіб викотити зміну.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Rollback-критерії пишуться до пожежі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2057400"/>
          </a:xfrm>
          <a:prstGeom prst="roundRect">
            <a:avLst>
              <a:gd name="adj" fmla="val 5333"/>
            </a:avLst>
          </a:prstGeom>
          <a:solidFill>
            <a:srgbClr val="141018"/>
          </a:solidFill>
          <a:ln/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1764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Відкочуємо, якщо: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78C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eval pass rate &lt; 5/6       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(прогін після деплою)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78C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або fallback_events зростає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протягом 15 хв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78C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або error rate &gt; 5%        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протягом 15 хв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Хто смикає: черговий, без погоджень.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Як: activate попередньої версії — одна команда.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66928" y="4023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42062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4206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4178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Умова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4709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конкретна метрика і поріг, а не «якщо стане погано»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70248" y="4023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15" name="Shape 12"/>
          <p:cNvSpPr/>
          <p:nvPr/>
        </p:nvSpPr>
        <p:spPr>
          <a:xfrm>
            <a:off x="4471416" y="42062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4206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4178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Хто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4709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названа роль, яка має право смикнути, не питаючи дозволу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973568" y="4023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20" name="Shape 17"/>
          <p:cNvSpPr/>
          <p:nvPr/>
        </p:nvSpPr>
        <p:spPr>
          <a:xfrm>
            <a:off x="8174736" y="42062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4206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4178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Чим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4709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точна команда — щоб виконати її о 3-й ночі без роздумів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566928" y="5623560"/>
            <a:ext cx="11064240" cy="658368"/>
          </a:xfrm>
          <a:prstGeom prst="roundRect">
            <a:avLst>
              <a:gd name="adj" fmla="val 16667"/>
            </a:avLst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86384" y="5769864"/>
            <a:ext cx="10625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Рішення, ухвалене заздалегідь, виконується за секунди; рішення під час інциденту обговорюється хвилинами.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7" name="Shape 4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eval-gate.yml по кроках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крок — відповідь на конкретні граблі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FBE9E9"/>
          </a:solidFill>
          <a:ln/>
        </p:spPr>
      </p:sp>
      <p:sp>
        <p:nvSpPr>
          <p:cNvPr id="12" name="Shape 9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13" name="Text 10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 зі зламаним промптом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Actions червоний, merge заблоковано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17" name="Shape 14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8" name="Text 15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фікс → зелений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PR стає мержабельним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22" name="Shape 19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23" name="Text 20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required check у налаштуваннях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job eval, а не workflow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7" name="Text 24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Побачити, як якість перестає залежати від дисципліни: перевірка, яку ви вміли робити руками, стає умовою мержу — і працює без вас.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Лабораторна: чотири кроки + опційний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4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Прочитати workflow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eval-gate.yml: навіщо кожен крок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Зламати навмисно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 зі зіпсованим промптом → червоний прогін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Полагодити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фікс у тому ж PR → зелений прогін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Увімкнути protection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required check = job eval; перевірити спробою мержу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9" name="Text 16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Canary-план · опційно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розподіл 90/10 своїм роутером + метрики порівняння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9F4EF"/>
          </a:solidFill>
          <a:ln/>
        </p:spPr>
      </p:sp>
      <p:sp>
        <p:nvSpPr>
          <p:cNvPr id="7" name="Text 4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Регресія не пройде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червоний прогін блокує merge механічно, а не за домовленістю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FEAFE"/>
          </a:solidFill>
          <a:ln/>
        </p:spPr>
      </p:sp>
      <p:sp>
        <p:nvSpPr>
          <p:cNvPr id="10" name="Text 7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теж код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червоні прогони, поки він сам не запрацював, — нормальна історія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Відкат — рішення заздалегідь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умови, роль і команда записані до, а не під час інциденту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Контур замкнувся: зміна проходить перевірку, перевірка блокує регресію, відкат описаний. Лишилося зібрати це в operating model — останній урок.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78408" y="2157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 історії Actions є червоний і зелений прогін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78408" y="27249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merge червоного PR справді заблокований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144768" y="2157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rollback-критерії записані: умова, хто, чим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144768" y="27249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читач деплоїться перед писарем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A1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568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✕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Мерж повз червоний гейт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прецедент — і за місяць гейт обходять усі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2825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✕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Protection на неіснуючий чек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захист, який нічого не блокує, гірший за відсутній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6" name="Text 13"/>
          <p:cNvSpPr/>
          <p:nvPr/>
        </p:nvSpPr>
        <p:spPr>
          <a:xfrm>
            <a:off x="768096" y="3694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✕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Гейт, що триває пів години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обхід стає раціональним рішенням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20" name="Text 17"/>
          <p:cNvSpPr/>
          <p:nvPr/>
        </p:nvSpPr>
        <p:spPr>
          <a:xfrm>
            <a:off x="768096" y="45628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✕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Feature flag без плану прибирання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кладовище мертвих гілок через рік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54315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✕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Rollback-критерії під час інциденту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обговорюється, поки користувачі чекають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закріпити лабу: червоний і зелений прогін гейта в історії Actions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записати rollback-критерії для своєї системи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переконатися, що гейт швидкий і його падіння зрозуміле з логів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81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F8F0E2"/>
          </a:solidFill>
          <a:ln/>
        </p:spPr>
      </p:sp>
      <p:sp>
        <p:nvSpPr>
          <p:cNvPr id="10" name="Text 7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6483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canary-план: розподіл 90/10 своїм роутером, метрики порівняння, критерії promote/rollback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66928" y="4206240"/>
            <a:ext cx="110642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41248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6 — після наступного уроку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841248" y="4800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Фінальне ДЗ збирає все: CI-гейт із сьогоднішньої лаби, інцидент-демо в окремому INCIDENT_RUNBOOK.md і повна збірка системи з чистого клону. Сьогоднішній гейт — його найбільша частина, і вона вже готова.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B0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11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що тримається на «не забути», колись буде забуто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= ваш eval + exit code + CI; нового коду майже немає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protection із правильним чеком — інакше захист лише на вигляд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порядок викочування важливіший за сам факт релізу: читач перед писарем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rollback-критерії пишуться до пожежі: умова, роль, команда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12 · Фінал: LLMOps operating model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Механізми зібрані й захищені гейтом. Останній урок — про те, як це живе далі: цикл роботи з якістю, розбір інциденту за рунбуком, KPI, які показують керівництву, і чесний план перенесення практик у свою команду.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11 · CI/CD quality gates, canary і rollback</dc:title>
  <dc:subject>PptxGenJS Presentation</dc:subject>
  <dc:creator>LLMOps Bootcamp</dc:creator>
  <cp:lastModifiedBy>LLMOps Bootcamp</cp:lastModifiedBy>
  <cp:revision>1</cp:revision>
  <dcterms:created xsi:type="dcterms:W3CDTF">2026-08-11T18:36:54Z</dcterms:created>
  <dcterms:modified xsi:type="dcterms:W3CDTF">2026-08-11T18:36:54Z</dcterms:modified>
</cp:coreProperties>
</file>