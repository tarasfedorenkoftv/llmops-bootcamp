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</p:sldIdLst>
  <p:notesMasterIdLst>
    <p:notesMasterId r:id="rId2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notesMaster" Target="notesMasters/notesMaster1.xml"/><Relationship Id="rId26" Type="http://schemas.openxmlformats.org/officeDocument/2006/relationships/presProps" Target="presProps.xml"/><Relationship Id="rId27" Type="http://schemas.openxmlformats.org/officeDocument/2006/relationships/viewProps" Target="viewProps.xml"/><Relationship Id="rId28" Type="http://schemas.openxmlformats.org/officeDocument/2006/relationships/theme" Target="theme/theme1.xml"/><Relationship Id="rId2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1000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094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9098280" y="1234440"/>
            <a:ext cx="2743200" cy="2743200"/>
          </a:xfrm>
          <a:prstGeom prst="roundRect">
            <a:avLst>
              <a:gd name="adj" fmla="val 5333"/>
            </a:avLst>
          </a:prstGeom>
          <a:ln w="12700">
            <a:solidFill>
              <a:srgbClr val="C9B8FB">
                <a:alpha val="24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482328" y="1618488"/>
            <a:ext cx="1975104" cy="1975104"/>
          </a:xfrm>
          <a:prstGeom prst="roundRect">
            <a:avLst>
              <a:gd name="adj" fmla="val 7407"/>
            </a:avLst>
          </a:prstGeom>
          <a:ln w="12700">
            <a:solidFill>
              <a:srgbClr val="C9B8FB">
                <a:alpha val="42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866376" y="2002536"/>
            <a:ext cx="1207008" cy="1207008"/>
          </a:xfrm>
          <a:prstGeom prst="roundRect">
            <a:avLst>
              <a:gd name="adj" fmla="val 12121"/>
            </a:avLst>
          </a:prstGeom>
          <a:ln w="12700">
            <a:solidFill>
              <a:srgbClr val="C9B8FB">
                <a:alpha val="66000"/>
              </a:srgbClr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66928" y="1554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C9B8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ТИЖДЕНЬ 5 · УРОК 10 З 12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566928" y="1965960"/>
            <a:ext cx="82296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Golden dataset</a:t>
            </a:r>
            <a:endParaRPr lang="en-US" sz="4000" dirty="0"/>
          </a:p>
          <a:p>
            <a:pPr indent="0" marL="0">
              <a:lnSpc>
                <a:spcPct val="102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і eval suite</a:t>
            </a:r>
            <a:endParaRPr lang="en-US" sz="4000" dirty="0"/>
          </a:p>
        </p:txBody>
      </p:sp>
      <p:sp>
        <p:nvSpPr>
          <p:cNvPr id="8" name="Text 6"/>
          <p:cNvSpPr/>
          <p:nvPr/>
        </p:nvSpPr>
        <p:spPr>
          <a:xfrm>
            <a:off x="566928" y="4114800"/>
            <a:ext cx="7680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C9B8F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«Я потикав у чат — ніби норм» — це не перевірка, а настрій. Сьогодні якість отримує число: датасет, grader, поріг і exit code, який на тижні 6 стане гейтом у CI.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66928" y="5806440"/>
            <a:ext cx="1646834" cy="310896"/>
          </a:xfrm>
          <a:prstGeom prst="roundRect">
            <a:avLst>
              <a:gd name="adj" fmla="val 50000"/>
            </a:avLst>
          </a:prstGeom>
          <a:ln w="12700">
            <a:solidFill>
              <a:srgbClr val="C9B8FB">
                <a:alpha val="60000"/>
              </a:srgbClr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66928" y="5806440"/>
            <a:ext cx="164683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9B8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W1 Основа + промпти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2323490" y="5806440"/>
            <a:ext cx="1502359" cy="310896"/>
          </a:xfrm>
          <a:prstGeom prst="roundRect">
            <a:avLst>
              <a:gd name="adj" fmla="val 50000"/>
            </a:avLst>
          </a:prstGeom>
          <a:ln w="12700">
            <a:solidFill>
              <a:srgbClr val="C9B8FB">
                <a:alpha val="60000"/>
              </a:srgbClr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323490" y="5806440"/>
            <a:ext cx="150235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9B8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W2 Routing + cost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3935578" y="5806440"/>
            <a:ext cx="1285646" cy="310896"/>
          </a:xfrm>
          <a:prstGeom prst="roundRect">
            <a:avLst>
              <a:gd name="adj" fmla="val 50000"/>
            </a:avLst>
          </a:prstGeom>
          <a:ln w="12700">
            <a:solidFill>
              <a:srgbClr val="C9B8FB">
                <a:alpha val="60000"/>
              </a:srgbClr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935578" y="5806440"/>
            <a:ext cx="128564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9B8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W3 Кеш + tools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5330952" y="5806440"/>
            <a:ext cx="1935785" cy="310896"/>
          </a:xfrm>
          <a:prstGeom prst="roundRect">
            <a:avLst>
              <a:gd name="adj" fmla="val 50000"/>
            </a:avLst>
          </a:prstGeom>
          <a:ln w="12700">
            <a:solidFill>
              <a:srgbClr val="C9B8FB">
                <a:alpha val="60000"/>
              </a:srgbClr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330952" y="5806440"/>
            <a:ext cx="193578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9B8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W4 Надійність + безпека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7376465" y="5806440"/>
            <a:ext cx="2008022" cy="310896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18" name="Text 16"/>
          <p:cNvSpPr/>
          <p:nvPr/>
        </p:nvSpPr>
        <p:spPr>
          <a:xfrm>
            <a:off x="7376465" y="5806440"/>
            <a:ext cx="200802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W5 Observability + evals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9494215" y="5806440"/>
            <a:ext cx="1213409" cy="310896"/>
          </a:xfrm>
          <a:prstGeom prst="roundRect">
            <a:avLst>
              <a:gd name="adj" fmla="val 50000"/>
            </a:avLst>
          </a:prstGeom>
          <a:ln w="12700">
            <a:solidFill>
              <a:srgbClr val="C9B8FB">
                <a:alpha val="60000"/>
              </a:srgbClr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9494215" y="5806440"/>
            <a:ext cx="121340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9B8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W6 CI + фінал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Що ви зможете після уроку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566928" y="1005840"/>
            <a:ext cx="68397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П'ять дій, які перевірите руками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66928" y="1271016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566928" y="1271016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8308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768096" y="1965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9" name="Text 6"/>
          <p:cNvSpPr/>
          <p:nvPr/>
        </p:nvSpPr>
        <p:spPr>
          <a:xfrm>
            <a:off x="76809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128016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Прогнати eval suite</a:t>
            </a:r>
            <a:endParaRPr lang="en-US" sz="1450" dirty="0"/>
          </a:p>
        </p:txBody>
      </p:sp>
      <p:sp>
        <p:nvSpPr>
          <p:cNvPr id="11" name="Text 8"/>
          <p:cNvSpPr/>
          <p:nvPr/>
        </p:nvSpPr>
        <p:spPr>
          <a:xfrm>
            <a:off x="768096" y="246888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число для людини, exit code для машин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4270248" y="178308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4471416" y="1965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4" name="Text 11"/>
          <p:cNvSpPr/>
          <p:nvPr/>
        </p:nvSpPr>
        <p:spPr>
          <a:xfrm>
            <a:off x="447141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498348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Зловити регресію командою</a:t>
            </a:r>
            <a:endParaRPr lang="en-US" sz="1450" dirty="0"/>
          </a:p>
        </p:txBody>
      </p:sp>
      <p:sp>
        <p:nvSpPr>
          <p:cNvPr id="16" name="Text 13"/>
          <p:cNvSpPr/>
          <p:nvPr/>
        </p:nvSpPr>
        <p:spPr>
          <a:xfrm>
            <a:off x="4471416" y="246888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червоний прогін → відкат → зелений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7973568" y="178308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8174736" y="1965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9" name="Text 16"/>
          <p:cNvSpPr/>
          <p:nvPr/>
        </p:nvSpPr>
        <p:spPr>
          <a:xfrm>
            <a:off x="817473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0" name="Text 17"/>
          <p:cNvSpPr/>
          <p:nvPr/>
        </p:nvSpPr>
        <p:spPr>
          <a:xfrm>
            <a:off x="868680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Додати власні кейси</a:t>
            </a:r>
            <a:endParaRPr lang="en-US" sz="1450" dirty="0"/>
          </a:p>
        </p:txBody>
      </p:sp>
      <p:sp>
        <p:nvSpPr>
          <p:cNvPr id="21" name="Text 18"/>
          <p:cNvSpPr/>
          <p:nvPr/>
        </p:nvSpPr>
        <p:spPr>
          <a:xfrm>
            <a:off x="8174736" y="246888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позитивний і негативний, перерахувати поріг</a:t>
            </a:r>
            <a:endParaRPr lang="en-US" sz="1200" dirty="0"/>
          </a:p>
        </p:txBody>
      </p:sp>
      <p:sp>
        <p:nvSpPr>
          <p:cNvPr id="22" name="Shape 19"/>
          <p:cNvSpPr/>
          <p:nvPr/>
        </p:nvSpPr>
        <p:spPr>
          <a:xfrm>
            <a:off x="566928" y="352044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768096" y="37033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4" name="Text 21"/>
          <p:cNvSpPr/>
          <p:nvPr/>
        </p:nvSpPr>
        <p:spPr>
          <a:xfrm>
            <a:off x="768096" y="37033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200" dirty="0"/>
          </a:p>
        </p:txBody>
      </p:sp>
      <p:sp>
        <p:nvSpPr>
          <p:cNvPr id="25" name="Text 22"/>
          <p:cNvSpPr/>
          <p:nvPr/>
        </p:nvSpPr>
        <p:spPr>
          <a:xfrm>
            <a:off x="1280160" y="36758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Перевірити на фальш-позитиви</a:t>
            </a:r>
            <a:endParaRPr lang="en-US" sz="1450" dirty="0"/>
          </a:p>
        </p:txBody>
      </p:sp>
      <p:sp>
        <p:nvSpPr>
          <p:cNvPr id="26" name="Text 23"/>
          <p:cNvSpPr/>
          <p:nvPr/>
        </p:nvSpPr>
        <p:spPr>
          <a:xfrm>
            <a:off x="768096" y="420624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прогін із __fail_503 має дати 0 пройдених</a:t>
            </a:r>
            <a:endParaRPr lang="en-US" sz="1200" dirty="0"/>
          </a:p>
        </p:txBody>
      </p:sp>
      <p:sp>
        <p:nvSpPr>
          <p:cNvPr id="27" name="Shape 24"/>
          <p:cNvSpPr/>
          <p:nvPr/>
        </p:nvSpPr>
        <p:spPr>
          <a:xfrm>
            <a:off x="4270248" y="352044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4471416" y="37033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9" name="Text 26"/>
          <p:cNvSpPr/>
          <p:nvPr/>
        </p:nvSpPr>
        <p:spPr>
          <a:xfrm>
            <a:off x="4471416" y="37033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200" dirty="0"/>
          </a:p>
        </p:txBody>
      </p:sp>
      <p:sp>
        <p:nvSpPr>
          <p:cNvPr id="30" name="Text 27"/>
          <p:cNvSpPr/>
          <p:nvPr/>
        </p:nvSpPr>
        <p:spPr>
          <a:xfrm>
            <a:off x="4983480" y="36758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Пояснити LLM-as-judge</a:t>
            </a:r>
            <a:endParaRPr lang="en-US" sz="1450" dirty="0"/>
          </a:p>
        </p:txBody>
      </p:sp>
      <p:sp>
        <p:nvSpPr>
          <p:cNvPr id="31" name="Text 28"/>
          <p:cNvSpPr/>
          <p:nvPr/>
        </p:nvSpPr>
        <p:spPr>
          <a:xfrm>
            <a:off x="4471416" y="420624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коли потрібен і чому не безкоштовний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Маршрут на сьогодні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164592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768096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8" name="Text 5"/>
          <p:cNvSpPr/>
          <p:nvPr/>
        </p:nvSpPr>
        <p:spPr>
          <a:xfrm>
            <a:off x="76809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128016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«Ніби норм» — це настрій</a:t>
            </a:r>
            <a:endParaRPr lang="en-US" sz="1450" dirty="0"/>
          </a:p>
        </p:txBody>
      </p:sp>
      <p:sp>
        <p:nvSpPr>
          <p:cNvPr id="10" name="Shape 7"/>
          <p:cNvSpPr/>
          <p:nvPr/>
        </p:nvSpPr>
        <p:spPr>
          <a:xfrm>
            <a:off x="4270248" y="164592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4471416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2" name="Text 9"/>
          <p:cNvSpPr/>
          <p:nvPr/>
        </p:nvSpPr>
        <p:spPr>
          <a:xfrm>
            <a:off x="447141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498348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Golden dataset — контракт</a:t>
            </a:r>
            <a:endParaRPr lang="en-US" sz="1450" dirty="0"/>
          </a:p>
        </p:txBody>
      </p:sp>
      <p:sp>
        <p:nvSpPr>
          <p:cNvPr id="14" name="Shape 11"/>
          <p:cNvSpPr/>
          <p:nvPr/>
        </p:nvSpPr>
        <p:spPr>
          <a:xfrm>
            <a:off x="7973568" y="164592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8174736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6" name="Text 13"/>
          <p:cNvSpPr/>
          <p:nvPr/>
        </p:nvSpPr>
        <p:spPr>
          <a:xfrm>
            <a:off x="817473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868680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Шість кейсів = п'ять тижнів</a:t>
            </a:r>
            <a:endParaRPr lang="en-US" sz="1450" dirty="0"/>
          </a:p>
        </p:txBody>
      </p:sp>
      <p:sp>
        <p:nvSpPr>
          <p:cNvPr id="18" name="Shape 15"/>
          <p:cNvSpPr/>
          <p:nvPr/>
        </p:nvSpPr>
        <p:spPr>
          <a:xfrm>
            <a:off x="566928" y="269748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768096" y="28803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0" name="Text 17"/>
          <p:cNvSpPr/>
          <p:nvPr/>
        </p:nvSpPr>
        <p:spPr>
          <a:xfrm>
            <a:off x="768096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1280160" y="28529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Звідки беруться кейси</a:t>
            </a:r>
            <a:endParaRPr lang="en-US" sz="1450" dirty="0"/>
          </a:p>
        </p:txBody>
      </p:sp>
      <p:sp>
        <p:nvSpPr>
          <p:cNvPr id="22" name="Shape 19"/>
          <p:cNvSpPr/>
          <p:nvPr/>
        </p:nvSpPr>
        <p:spPr>
          <a:xfrm>
            <a:off x="4270248" y="269748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4471416" y="28803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4" name="Text 21"/>
          <p:cNvSpPr/>
          <p:nvPr/>
        </p:nvSpPr>
        <p:spPr>
          <a:xfrm>
            <a:off x="4471416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</a:t>
            </a:r>
            <a:endParaRPr lang="en-US" sz="1200" dirty="0"/>
          </a:p>
        </p:txBody>
      </p:sp>
      <p:sp>
        <p:nvSpPr>
          <p:cNvPr id="25" name="Text 22"/>
          <p:cNvSpPr/>
          <p:nvPr/>
        </p:nvSpPr>
        <p:spPr>
          <a:xfrm>
            <a:off x="4983480" y="28529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Rule-based grader</a:t>
            </a:r>
            <a:endParaRPr lang="en-US" sz="1450" dirty="0"/>
          </a:p>
        </p:txBody>
      </p:sp>
      <p:sp>
        <p:nvSpPr>
          <p:cNvPr id="26" name="Shape 23"/>
          <p:cNvSpPr/>
          <p:nvPr/>
        </p:nvSpPr>
        <p:spPr>
          <a:xfrm>
            <a:off x="7973568" y="269748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8174736" y="28803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8" name="Text 25"/>
          <p:cNvSpPr/>
          <p:nvPr/>
        </p:nvSpPr>
        <p:spPr>
          <a:xfrm>
            <a:off x="8174736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</a:t>
            </a:r>
            <a:endParaRPr lang="en-US" sz="1200" dirty="0"/>
          </a:p>
        </p:txBody>
      </p:sp>
      <p:sp>
        <p:nvSpPr>
          <p:cNvPr id="29" name="Text 26"/>
          <p:cNvSpPr/>
          <p:nvPr/>
        </p:nvSpPr>
        <p:spPr>
          <a:xfrm>
            <a:off x="8686800" y="28529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Runner і два виходи</a:t>
            </a:r>
            <a:endParaRPr lang="en-US" sz="1450" dirty="0"/>
          </a:p>
        </p:txBody>
      </p:sp>
      <p:sp>
        <p:nvSpPr>
          <p:cNvPr id="30" name="Shape 27"/>
          <p:cNvSpPr/>
          <p:nvPr/>
        </p:nvSpPr>
        <p:spPr>
          <a:xfrm>
            <a:off x="566928" y="374904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31" name="Shape 28"/>
          <p:cNvSpPr/>
          <p:nvPr/>
        </p:nvSpPr>
        <p:spPr>
          <a:xfrm>
            <a:off x="768096" y="39319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32" name="Text 29"/>
          <p:cNvSpPr/>
          <p:nvPr/>
        </p:nvSpPr>
        <p:spPr>
          <a:xfrm>
            <a:off x="768096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</a:t>
            </a:r>
            <a:endParaRPr lang="en-US" sz="1200" dirty="0"/>
          </a:p>
        </p:txBody>
      </p:sp>
      <p:sp>
        <p:nvSpPr>
          <p:cNvPr id="33" name="Text 30"/>
          <p:cNvSpPr/>
          <p:nvPr/>
        </p:nvSpPr>
        <p:spPr>
          <a:xfrm>
            <a:off x="1280160" y="39044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Поріг і його класи поломок</a:t>
            </a:r>
            <a:endParaRPr lang="en-US" sz="1450" dirty="0"/>
          </a:p>
        </p:txBody>
      </p:sp>
      <p:sp>
        <p:nvSpPr>
          <p:cNvPr id="34" name="Shape 31"/>
          <p:cNvSpPr/>
          <p:nvPr/>
        </p:nvSpPr>
        <p:spPr>
          <a:xfrm>
            <a:off x="4270248" y="374904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35" name="Shape 32"/>
          <p:cNvSpPr/>
          <p:nvPr/>
        </p:nvSpPr>
        <p:spPr>
          <a:xfrm>
            <a:off x="4471416" y="39319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36" name="Text 33"/>
          <p:cNvSpPr/>
          <p:nvPr/>
        </p:nvSpPr>
        <p:spPr>
          <a:xfrm>
            <a:off x="4471416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08</a:t>
            </a:r>
            <a:endParaRPr lang="en-US" sz="1200" dirty="0"/>
          </a:p>
        </p:txBody>
      </p:sp>
      <p:sp>
        <p:nvSpPr>
          <p:cNvPr id="37" name="Text 34"/>
          <p:cNvSpPr/>
          <p:nvPr/>
        </p:nvSpPr>
        <p:spPr>
          <a:xfrm>
            <a:off x="4983480" y="39044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Зламали → зловили → відкат</a:t>
            </a:r>
            <a:endParaRPr lang="en-US" sz="1450" dirty="0"/>
          </a:p>
        </p:txBody>
      </p:sp>
      <p:sp>
        <p:nvSpPr>
          <p:cNvPr id="38" name="Shape 35"/>
          <p:cNvSpPr/>
          <p:nvPr/>
        </p:nvSpPr>
        <p:spPr>
          <a:xfrm>
            <a:off x="7973568" y="374904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8F0E2"/>
          </a:solidFill>
          <a:ln/>
        </p:spPr>
      </p:sp>
      <p:sp>
        <p:nvSpPr>
          <p:cNvPr id="39" name="Shape 36"/>
          <p:cNvSpPr/>
          <p:nvPr/>
        </p:nvSpPr>
        <p:spPr>
          <a:xfrm>
            <a:off x="8174736" y="3931920"/>
            <a:ext cx="384048" cy="384048"/>
          </a:xfrm>
          <a:prstGeom prst="ellipse">
            <a:avLst/>
          </a:prstGeom>
          <a:solidFill>
            <a:srgbClr val="9A5B12"/>
          </a:solidFill>
          <a:ln/>
        </p:spPr>
      </p:sp>
      <p:sp>
        <p:nvSpPr>
          <p:cNvPr id="40" name="Text 37"/>
          <p:cNvSpPr/>
          <p:nvPr/>
        </p:nvSpPr>
        <p:spPr>
          <a:xfrm>
            <a:off x="8174736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8F0E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09</a:t>
            </a:r>
            <a:endParaRPr lang="en-US" sz="1200" dirty="0"/>
          </a:p>
        </p:txBody>
      </p:sp>
      <p:sp>
        <p:nvSpPr>
          <p:cNvPr id="41" name="Text 38"/>
          <p:cNvSpPr/>
          <p:nvPr/>
        </p:nvSpPr>
        <p:spPr>
          <a:xfrm>
            <a:off x="8686800" y="39044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9A5B1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LLM-as-judge · опційно</a:t>
            </a:r>
            <a:endParaRPr lang="en-US" sz="1450" dirty="0"/>
          </a:p>
        </p:txBody>
      </p:sp>
      <p:sp>
        <p:nvSpPr>
          <p:cNvPr id="42" name="Shape 39"/>
          <p:cNvSpPr/>
          <p:nvPr/>
        </p:nvSpPr>
        <p:spPr>
          <a:xfrm>
            <a:off x="566928" y="480060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43" name="Shape 40"/>
          <p:cNvSpPr/>
          <p:nvPr/>
        </p:nvSpPr>
        <p:spPr>
          <a:xfrm>
            <a:off x="768096" y="49834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44" name="Text 41"/>
          <p:cNvSpPr/>
          <p:nvPr/>
        </p:nvSpPr>
        <p:spPr>
          <a:xfrm>
            <a:off x="768096" y="4983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</a:t>
            </a:r>
            <a:endParaRPr lang="en-US" sz="1200" dirty="0"/>
          </a:p>
        </p:txBody>
      </p:sp>
      <p:sp>
        <p:nvSpPr>
          <p:cNvPr id="45" name="Text 42"/>
          <p:cNvSpPr/>
          <p:nvPr/>
        </p:nvSpPr>
        <p:spPr>
          <a:xfrm>
            <a:off x="1280160" y="49560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Ріст датасету</a:t>
            </a:r>
            <a:endParaRPr lang="en-US" sz="1450" dirty="0"/>
          </a:p>
        </p:txBody>
      </p:sp>
      <p:sp>
        <p:nvSpPr>
          <p:cNvPr id="46" name="Shape 43"/>
          <p:cNvSpPr/>
          <p:nvPr/>
        </p:nvSpPr>
        <p:spPr>
          <a:xfrm>
            <a:off x="4270248" y="480060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47" name="Shape 44"/>
          <p:cNvSpPr/>
          <p:nvPr/>
        </p:nvSpPr>
        <p:spPr>
          <a:xfrm>
            <a:off x="4471416" y="49834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48" name="Text 45"/>
          <p:cNvSpPr/>
          <p:nvPr/>
        </p:nvSpPr>
        <p:spPr>
          <a:xfrm>
            <a:off x="4471416" y="4983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</a:t>
            </a:r>
            <a:endParaRPr lang="en-US" sz="1200" dirty="0"/>
          </a:p>
        </p:txBody>
      </p:sp>
      <p:sp>
        <p:nvSpPr>
          <p:cNvPr id="49" name="Text 46"/>
          <p:cNvSpPr/>
          <p:nvPr/>
        </p:nvSpPr>
        <p:spPr>
          <a:xfrm>
            <a:off x="4983480" y="49560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Лабораторна</a:t>
            </a:r>
            <a:endParaRPr lang="en-US" sz="1450" dirty="0"/>
          </a:p>
        </p:txBody>
      </p:sp>
      <p:sp>
        <p:nvSpPr>
          <p:cNvPr id="50" name="Shape 47"/>
          <p:cNvSpPr/>
          <p:nvPr/>
        </p:nvSpPr>
        <p:spPr>
          <a:xfrm>
            <a:off x="7973568" y="480060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51" name="Shape 48"/>
          <p:cNvSpPr/>
          <p:nvPr/>
        </p:nvSpPr>
        <p:spPr>
          <a:xfrm>
            <a:off x="8174736" y="49834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52" name="Text 49"/>
          <p:cNvSpPr/>
          <p:nvPr/>
        </p:nvSpPr>
        <p:spPr>
          <a:xfrm>
            <a:off x="8174736" y="4983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</a:t>
            </a:r>
            <a:endParaRPr lang="en-US" sz="1200" dirty="0"/>
          </a:p>
        </p:txBody>
      </p:sp>
      <p:sp>
        <p:nvSpPr>
          <p:cNvPr id="53" name="Text 50"/>
          <p:cNvSpPr/>
          <p:nvPr/>
        </p:nvSpPr>
        <p:spPr>
          <a:xfrm>
            <a:off x="8686800" y="49560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Антипатерни</a:t>
            </a:r>
            <a:endParaRPr lang="en-US" sz="1450" dirty="0"/>
          </a:p>
        </p:txBody>
      </p:sp>
      <p:sp>
        <p:nvSpPr>
          <p:cNvPr id="54" name="Shape 51"/>
          <p:cNvSpPr/>
          <p:nvPr/>
        </p:nvSpPr>
        <p:spPr>
          <a:xfrm>
            <a:off x="566928" y="5779008"/>
            <a:ext cx="11064240" cy="402336"/>
          </a:xfrm>
          <a:prstGeom prst="roundRect">
            <a:avLst>
              <a:gd name="adj" fmla="val 27273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55" name="Text 52"/>
          <p:cNvSpPr/>
          <p:nvPr/>
        </p:nvSpPr>
        <p:spPr>
          <a:xfrm>
            <a:off x="786384" y="5925312"/>
            <a:ext cx="10625328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Від «ніби норм» — до числа, яке однакове для стажера, тімліда і CI-раннера.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Терміни, якими користуватимемось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566928" y="1005840"/>
            <a:ext cx="68397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Шість слів сьогоднішнього уроку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66928" y="1271016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566928" y="1271016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83080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49808" y="1892808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golden dataset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749808" y="2203704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набір кейсів: вхід + очікування щодо відповіді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4322064" y="1783080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4504944" y="1892808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expect / forbid</a:t>
            </a:r>
            <a:endParaRPr lang="en-US" sz="1250" dirty="0"/>
          </a:p>
        </p:txBody>
      </p:sp>
      <p:sp>
        <p:nvSpPr>
          <p:cNvPr id="12" name="Text 9"/>
          <p:cNvSpPr/>
          <p:nvPr/>
        </p:nvSpPr>
        <p:spPr>
          <a:xfrm>
            <a:off x="4504944" y="2203704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що мусить бути — і чого бути не має</a:t>
            </a:r>
            <a:endParaRPr lang="en-US" sz="1150" dirty="0"/>
          </a:p>
        </p:txBody>
      </p:sp>
      <p:sp>
        <p:nvSpPr>
          <p:cNvPr id="13" name="Shape 10"/>
          <p:cNvSpPr/>
          <p:nvPr/>
        </p:nvSpPr>
        <p:spPr>
          <a:xfrm>
            <a:off x="8077200" y="1783080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8260080" y="1892808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expect_refusal</a:t>
            </a:r>
            <a:endParaRPr lang="en-US" sz="1250" dirty="0"/>
          </a:p>
        </p:txBody>
      </p:sp>
      <p:sp>
        <p:nvSpPr>
          <p:cNvPr id="15" name="Text 12"/>
          <p:cNvSpPr/>
          <p:nvPr/>
        </p:nvSpPr>
        <p:spPr>
          <a:xfrm>
            <a:off x="8260080" y="2203704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очікуємо відмову: red-team кейси з уроку 8</a:t>
            </a:r>
            <a:endParaRPr lang="en-US" sz="1150" dirty="0"/>
          </a:p>
        </p:txBody>
      </p:sp>
      <p:sp>
        <p:nvSpPr>
          <p:cNvPr id="16" name="Shape 13"/>
          <p:cNvSpPr/>
          <p:nvPr/>
        </p:nvSpPr>
        <p:spPr>
          <a:xfrm>
            <a:off x="566928" y="3172968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749808" y="3282696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grader</a:t>
            </a:r>
            <a:endParaRPr lang="en-US" sz="1250" dirty="0"/>
          </a:p>
        </p:txBody>
      </p:sp>
      <p:sp>
        <p:nvSpPr>
          <p:cNvPr id="18" name="Text 15"/>
          <p:cNvSpPr/>
          <p:nvPr/>
        </p:nvSpPr>
        <p:spPr>
          <a:xfrm>
            <a:off x="749808" y="3593592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код, який вирішує, чи кейс пройшов</a:t>
            </a:r>
            <a:endParaRPr lang="en-US" sz="1150" dirty="0"/>
          </a:p>
        </p:txBody>
      </p:sp>
      <p:sp>
        <p:nvSpPr>
          <p:cNvPr id="19" name="Shape 16"/>
          <p:cNvSpPr/>
          <p:nvPr/>
        </p:nvSpPr>
        <p:spPr>
          <a:xfrm>
            <a:off x="4322064" y="3172968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4504944" y="3282696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поріг</a:t>
            </a:r>
            <a:endParaRPr lang="en-US" sz="1250" dirty="0"/>
          </a:p>
        </p:txBody>
      </p:sp>
      <p:sp>
        <p:nvSpPr>
          <p:cNvPr id="21" name="Text 18"/>
          <p:cNvSpPr/>
          <p:nvPr/>
        </p:nvSpPr>
        <p:spPr>
          <a:xfrm>
            <a:off x="4504944" y="3593592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скільки кейсів має пройти, щоб прогін був зелений</a:t>
            </a:r>
            <a:endParaRPr lang="en-US" sz="1150" dirty="0"/>
          </a:p>
        </p:txBody>
      </p:sp>
      <p:sp>
        <p:nvSpPr>
          <p:cNvPr id="22" name="Shape 19"/>
          <p:cNvSpPr/>
          <p:nvPr/>
        </p:nvSpPr>
        <p:spPr>
          <a:xfrm>
            <a:off x="8077200" y="3172968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8260080" y="3282696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exit code</a:t>
            </a:r>
            <a:endParaRPr lang="en-US" sz="1250" dirty="0"/>
          </a:p>
        </p:txBody>
      </p:sp>
      <p:sp>
        <p:nvSpPr>
          <p:cNvPr id="24" name="Text 21"/>
          <p:cNvSpPr/>
          <p:nvPr/>
        </p:nvSpPr>
        <p:spPr>
          <a:xfrm>
            <a:off x="8260080" y="3593592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 або 1 — мова прогону з машинами (CI, тиждень 6)</a:t>
            </a:r>
            <a:endParaRPr lang="en-US" sz="1150" dirty="0"/>
          </a:p>
        </p:txBody>
      </p:sp>
      <p:sp>
        <p:nvSpPr>
          <p:cNvPr id="25" name="Shape 22"/>
          <p:cNvSpPr/>
          <p:nvPr/>
        </p:nvSpPr>
        <p:spPr>
          <a:xfrm>
            <a:off x="566928" y="4526280"/>
            <a:ext cx="11064240" cy="777240"/>
          </a:xfrm>
          <a:prstGeom prst="roundRect">
            <a:avLst>
              <a:gd name="adj" fmla="val 14118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786384" y="4672584"/>
            <a:ext cx="10625328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Кожне побачимо в коді — тут вони лише щоб не спотикатися.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«Ніби норм» — це настрій, а не перевірка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37360"/>
            <a:ext cx="3520440" cy="1737360"/>
          </a:xfrm>
          <a:prstGeom prst="roundRect">
            <a:avLst>
              <a:gd name="adj" fmla="val 6316"/>
            </a:avLst>
          </a:prstGeom>
          <a:solidFill>
            <a:srgbClr val="FBE9E9"/>
          </a:solidFill>
          <a:ln/>
        </p:spPr>
      </p:sp>
      <p:sp>
        <p:nvSpPr>
          <p:cNvPr id="8" name="Shape 5"/>
          <p:cNvSpPr/>
          <p:nvPr/>
        </p:nvSpPr>
        <p:spPr>
          <a:xfrm>
            <a:off x="768096" y="1920240"/>
            <a:ext cx="384048" cy="384048"/>
          </a:xfrm>
          <a:prstGeom prst="ellipse">
            <a:avLst/>
          </a:prstGeom>
          <a:solidFill>
            <a:srgbClr val="C62A2A"/>
          </a:solidFill>
          <a:ln/>
        </p:spPr>
      </p:sp>
      <p:sp>
        <p:nvSpPr>
          <p:cNvPr id="9" name="Text 6"/>
          <p:cNvSpPr/>
          <p:nvPr/>
        </p:nvSpPr>
        <p:spPr>
          <a:xfrm>
            <a:off x="768096" y="1920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BE9E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1280160" y="189280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C62A2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Ваш промпт</a:t>
            </a:r>
            <a:endParaRPr lang="en-US" sz="1450" dirty="0"/>
          </a:p>
        </p:txBody>
      </p:sp>
      <p:sp>
        <p:nvSpPr>
          <p:cNvPr id="11" name="Text 8"/>
          <p:cNvSpPr/>
          <p:nvPr/>
        </p:nvSpPr>
        <p:spPr>
          <a:xfrm>
            <a:off x="768096" y="2423160"/>
            <a:ext cx="3118104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найчастіше: «маленька правка» тихо змінює поведінку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4270248" y="1737360"/>
            <a:ext cx="3520440" cy="1737360"/>
          </a:xfrm>
          <a:prstGeom prst="roundRect">
            <a:avLst>
              <a:gd name="adj" fmla="val 6316"/>
            </a:avLst>
          </a:prstGeom>
          <a:solidFill>
            <a:srgbClr val="FBE9E9"/>
          </a:solidFill>
          <a:ln/>
        </p:spPr>
      </p:sp>
      <p:sp>
        <p:nvSpPr>
          <p:cNvPr id="13" name="Shape 10"/>
          <p:cNvSpPr/>
          <p:nvPr/>
        </p:nvSpPr>
        <p:spPr>
          <a:xfrm>
            <a:off x="4471416" y="1920240"/>
            <a:ext cx="384048" cy="384048"/>
          </a:xfrm>
          <a:prstGeom prst="ellipse">
            <a:avLst/>
          </a:prstGeom>
          <a:solidFill>
            <a:srgbClr val="C62A2A"/>
          </a:solidFill>
          <a:ln/>
        </p:spPr>
      </p:sp>
      <p:sp>
        <p:nvSpPr>
          <p:cNvPr id="14" name="Text 11"/>
          <p:cNvSpPr/>
          <p:nvPr/>
        </p:nvSpPr>
        <p:spPr>
          <a:xfrm>
            <a:off x="4471416" y="1920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BE9E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4983480" y="189280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C62A2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Ваш код</a:t>
            </a:r>
            <a:endParaRPr lang="en-US" sz="1450" dirty="0"/>
          </a:p>
        </p:txBody>
      </p:sp>
      <p:sp>
        <p:nvSpPr>
          <p:cNvPr id="16" name="Text 13"/>
          <p:cNvSpPr/>
          <p:nvPr/>
        </p:nvSpPr>
        <p:spPr>
          <a:xfrm>
            <a:off x="4471416" y="2423160"/>
            <a:ext cx="3118104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routing, guardrails, кеш — усе впливає на відповіді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7973568" y="1737360"/>
            <a:ext cx="3520440" cy="1737360"/>
          </a:xfrm>
          <a:prstGeom prst="roundRect">
            <a:avLst>
              <a:gd name="adj" fmla="val 6316"/>
            </a:avLst>
          </a:prstGeom>
          <a:solidFill>
            <a:srgbClr val="FBE9E9"/>
          </a:solidFill>
          <a:ln/>
        </p:spPr>
      </p:sp>
      <p:sp>
        <p:nvSpPr>
          <p:cNvPr id="18" name="Shape 15"/>
          <p:cNvSpPr/>
          <p:nvPr/>
        </p:nvSpPr>
        <p:spPr>
          <a:xfrm>
            <a:off x="8174736" y="1920240"/>
            <a:ext cx="384048" cy="384048"/>
          </a:xfrm>
          <a:prstGeom prst="ellipse">
            <a:avLst/>
          </a:prstGeom>
          <a:solidFill>
            <a:srgbClr val="C62A2A"/>
          </a:solidFill>
          <a:ln/>
        </p:spPr>
      </p:sp>
      <p:sp>
        <p:nvSpPr>
          <p:cNvPr id="19" name="Text 16"/>
          <p:cNvSpPr/>
          <p:nvPr/>
        </p:nvSpPr>
        <p:spPr>
          <a:xfrm>
            <a:off x="8174736" y="1920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BE9E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0" name="Text 17"/>
          <p:cNvSpPr/>
          <p:nvPr/>
        </p:nvSpPr>
        <p:spPr>
          <a:xfrm>
            <a:off x="8686800" y="189280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C62A2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Чужа модель</a:t>
            </a:r>
            <a:endParaRPr lang="en-US" sz="1450" dirty="0"/>
          </a:p>
        </p:txBody>
      </p:sp>
      <p:sp>
        <p:nvSpPr>
          <p:cNvPr id="21" name="Text 18"/>
          <p:cNvSpPr/>
          <p:nvPr/>
        </p:nvSpPr>
        <p:spPr>
          <a:xfrm>
            <a:off x="8174736" y="2423160"/>
            <a:ext cx="3118104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провайдер оновив версію — поведінка попливла без вашої дії</a:t>
            </a:r>
            <a:endParaRPr lang="en-US" sz="1200" dirty="0"/>
          </a:p>
        </p:txBody>
      </p:sp>
      <p:sp>
        <p:nvSpPr>
          <p:cNvPr id="22" name="Text 19"/>
          <p:cNvSpPr/>
          <p:nvPr/>
        </p:nvSpPr>
        <p:spPr>
          <a:xfrm>
            <a:off x="566928" y="365760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три джерела регресій — і жодне з них не сповіщає вас про себе</a:t>
            </a:r>
            <a:endParaRPr lang="en-US" sz="1200" dirty="0"/>
          </a:p>
        </p:txBody>
      </p:sp>
      <p:sp>
        <p:nvSpPr>
          <p:cNvPr id="23" name="Shape 20"/>
          <p:cNvSpPr/>
          <p:nvPr/>
        </p:nvSpPr>
        <p:spPr>
          <a:xfrm>
            <a:off x="566928" y="4160520"/>
            <a:ext cx="11064240" cy="1371600"/>
          </a:xfrm>
          <a:prstGeom prst="roundRect">
            <a:avLst>
              <a:gd name="adj" fmla="val 8000"/>
            </a:avLst>
          </a:prstGeom>
          <a:solidFill>
            <a:srgbClr val="5A05F4"/>
          </a:solidFill>
          <a:ln/>
        </p:spPr>
      </p:sp>
      <p:sp>
        <p:nvSpPr>
          <p:cNvPr id="24" name="Text 21"/>
          <p:cNvSpPr/>
          <p:nvPr/>
        </p:nvSpPr>
        <p:spPr>
          <a:xfrm>
            <a:off x="786384" y="428853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НАВІЩО ЦЕЙ ШАР</a:t>
            </a:r>
            <a:endParaRPr lang="en-US" sz="950" dirty="0"/>
          </a:p>
        </p:txBody>
      </p:sp>
      <p:sp>
        <p:nvSpPr>
          <p:cNvPr id="25" name="Text 22"/>
          <p:cNvSpPr/>
          <p:nvPr/>
        </p:nvSpPr>
        <p:spPr>
          <a:xfrm>
            <a:off x="786384" y="4544568"/>
            <a:ext cx="10625328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Це відповідь на третє питання з уроку 1 — «хто помітить, що відповіді стали гіршими?». Метрики уроку 9 кажуть «щось не так»; eval'и кажуть «зламалося саме це».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Golden dataset — контракт поведінки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83080"/>
            <a:ext cx="11064240" cy="713232"/>
          </a:xfrm>
          <a:prstGeom prst="roundRect">
            <a:avLst>
              <a:gd name="adj" fmla="val 12821"/>
            </a:avLst>
          </a:prstGeom>
          <a:solidFill>
            <a:srgbClr val="E9F4EF"/>
          </a:solidFill>
          <a:ln/>
        </p:spPr>
      </p:sp>
      <p:sp>
        <p:nvSpPr>
          <p:cNvPr id="8" name="Text 5"/>
          <p:cNvSpPr/>
          <p:nvPr/>
        </p:nvSpPr>
        <p:spPr>
          <a:xfrm>
            <a:off x="786384" y="1783080"/>
            <a:ext cx="376184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B8A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expect</a:t>
            </a:r>
            <a:endParaRPr lang="en-US" sz="1350" dirty="0"/>
          </a:p>
        </p:txBody>
      </p:sp>
      <p:sp>
        <p:nvSpPr>
          <p:cNvPr id="9" name="Text 6"/>
          <p:cNvSpPr/>
          <p:nvPr/>
        </p:nvSpPr>
        <p:spPr>
          <a:xfrm>
            <a:off x="4548226" y="1783080"/>
            <a:ext cx="6640373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що мусить бути у відповіді: ключові слова, факти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566928" y="2606040"/>
            <a:ext cx="11064240" cy="713232"/>
          </a:xfrm>
          <a:prstGeom prst="roundRect">
            <a:avLst>
              <a:gd name="adj" fmla="val 12821"/>
            </a:avLst>
          </a:prstGeom>
          <a:solidFill>
            <a:srgbClr val="FBE9E9"/>
          </a:solidFill>
          <a:ln/>
        </p:spPr>
      </p:sp>
      <p:sp>
        <p:nvSpPr>
          <p:cNvPr id="11" name="Text 8"/>
          <p:cNvSpPr/>
          <p:nvPr/>
        </p:nvSpPr>
        <p:spPr>
          <a:xfrm>
            <a:off x="786384" y="2606040"/>
            <a:ext cx="376184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C62A2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forbid</a:t>
            </a:r>
            <a:endParaRPr lang="en-US" sz="1350" dirty="0"/>
          </a:p>
        </p:txBody>
      </p:sp>
      <p:sp>
        <p:nvSpPr>
          <p:cNvPr id="12" name="Text 9"/>
          <p:cNvSpPr/>
          <p:nvPr/>
        </p:nvSpPr>
        <p:spPr>
          <a:xfrm>
            <a:off x="4548226" y="2606040"/>
            <a:ext cx="6640373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чого бути не має: «не знаю» на типове питання — провал</a:t>
            </a:r>
            <a:endParaRPr lang="en-US" sz="1150" dirty="0"/>
          </a:p>
        </p:txBody>
      </p:sp>
      <p:sp>
        <p:nvSpPr>
          <p:cNvPr id="13" name="Shape 10"/>
          <p:cNvSpPr/>
          <p:nvPr/>
        </p:nvSpPr>
        <p:spPr>
          <a:xfrm>
            <a:off x="566928" y="3429000"/>
            <a:ext cx="11064240" cy="713232"/>
          </a:xfrm>
          <a:prstGeom prst="roundRect">
            <a:avLst>
              <a:gd name="adj" fmla="val 12821"/>
            </a:avLst>
          </a:prstGeom>
          <a:solidFill>
            <a:srgbClr val="EFEAFE"/>
          </a:solidFill>
          <a:ln/>
        </p:spPr>
      </p:sp>
      <p:sp>
        <p:nvSpPr>
          <p:cNvPr id="14" name="Text 11"/>
          <p:cNvSpPr/>
          <p:nvPr/>
        </p:nvSpPr>
        <p:spPr>
          <a:xfrm>
            <a:off x="786384" y="3429000"/>
            <a:ext cx="376184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expect_refusal</a:t>
            </a:r>
            <a:endParaRPr lang="en-US" sz="1350" dirty="0"/>
          </a:p>
        </p:txBody>
      </p:sp>
      <p:sp>
        <p:nvSpPr>
          <p:cNvPr id="15" name="Text 12"/>
          <p:cNvSpPr/>
          <p:nvPr/>
        </p:nvSpPr>
        <p:spPr>
          <a:xfrm>
            <a:off x="4548226" y="3429000"/>
            <a:ext cx="6640373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очікуємо відмову: red-team кейси з уроку 8</a:t>
            </a:r>
            <a:endParaRPr lang="en-US" sz="1150" dirty="0"/>
          </a:p>
        </p:txBody>
      </p:sp>
      <p:sp>
        <p:nvSpPr>
          <p:cNvPr id="16" name="Shape 13"/>
          <p:cNvSpPr/>
          <p:nvPr/>
        </p:nvSpPr>
        <p:spPr>
          <a:xfrm>
            <a:off x="566928" y="4297680"/>
            <a:ext cx="11064240" cy="1280160"/>
          </a:xfrm>
          <a:prstGeom prst="roundRect">
            <a:avLst>
              <a:gd name="adj" fmla="val 8571"/>
            </a:avLst>
          </a:prstGeom>
          <a:solidFill>
            <a:srgbClr val="E9F4EF"/>
          </a:solidFill>
          <a:ln/>
        </p:spPr>
      </p:sp>
      <p:sp>
        <p:nvSpPr>
          <p:cNvPr id="17" name="Text 14"/>
          <p:cNvSpPr/>
          <p:nvPr/>
        </p:nvSpPr>
        <p:spPr>
          <a:xfrm>
            <a:off x="786384" y="442569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B8A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ПРИНЦИП</a:t>
            </a:r>
            <a:endParaRPr lang="en-US" sz="950" dirty="0"/>
          </a:p>
        </p:txBody>
      </p:sp>
      <p:sp>
        <p:nvSpPr>
          <p:cNvPr id="18" name="Text 15"/>
          <p:cNvSpPr/>
          <p:nvPr/>
        </p:nvSpPr>
        <p:spPr>
          <a:xfrm>
            <a:off x="786384" y="4681728"/>
            <a:ext cx="10625328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Якість — це не відчуття, а перелік тверджень, які можна перевірити. Що не потрапило в датасет — того контракт не обіцяє, і воно зламається мовчки.</a:t>
            </a:r>
            <a:endParaRPr lang="en-US" sz="1300" dirty="0"/>
          </a:p>
        </p:txBody>
      </p:sp>
      <p:sp>
        <p:nvSpPr>
          <p:cNvPr id="19" name="Shape 16"/>
          <p:cNvSpPr/>
          <p:nvPr/>
        </p:nvSpPr>
        <p:spPr>
          <a:xfrm>
            <a:off x="566928" y="5669280"/>
            <a:ext cx="11064240" cy="54864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786384" y="5815584"/>
            <a:ext cx="106253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Репрезентативність важливіша за кількість: 20 правильних кейсів корисніші за 200 випадкових.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Звідки репрезентативність — і як писати очікування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83080"/>
            <a:ext cx="5349240" cy="1554480"/>
          </a:xfrm>
          <a:prstGeom prst="roundRect">
            <a:avLst>
              <a:gd name="adj" fmla="val 7059"/>
            </a:avLst>
          </a:prstGeom>
          <a:solidFill>
            <a:srgbClr val="EFEAFE"/>
          </a:solidFill>
          <a:ln/>
        </p:spPr>
      </p:sp>
      <p:sp>
        <p:nvSpPr>
          <p:cNvPr id="8" name="Text 5"/>
          <p:cNvSpPr/>
          <p:nvPr/>
        </p:nvSpPr>
        <p:spPr>
          <a:xfrm>
            <a:off x="768096" y="193852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Джерело 1 · Лог</a:t>
            </a:r>
            <a:endParaRPr lang="en-US" sz="1450" dirty="0"/>
          </a:p>
        </p:txBody>
      </p:sp>
      <p:sp>
        <p:nvSpPr>
          <p:cNvPr id="9" name="Text 6"/>
          <p:cNvSpPr/>
          <p:nvPr/>
        </p:nvSpPr>
        <p:spPr>
          <a:xfrm>
            <a:off x="768096" y="2468880"/>
            <a:ext cx="494690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топ реальних інтентів вашого трафіку — список того, що ламати найдорожче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6281928" y="1783080"/>
            <a:ext cx="5349240" cy="1554480"/>
          </a:xfrm>
          <a:prstGeom prst="roundRect">
            <a:avLst>
              <a:gd name="adj" fmla="val 7059"/>
            </a:avLst>
          </a:prstGeom>
          <a:solidFill>
            <a:srgbClr val="EFEAFE"/>
          </a:solidFill>
          <a:ln/>
        </p:spPr>
      </p:sp>
      <p:sp>
        <p:nvSpPr>
          <p:cNvPr id="11" name="Text 8"/>
          <p:cNvSpPr/>
          <p:nvPr/>
        </p:nvSpPr>
        <p:spPr>
          <a:xfrm>
            <a:off x="6483096" y="193852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Джерело 2 · Страхи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6483096" y="2468880"/>
            <a:ext cx="494690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сценарії, поломка яких коштує найдорожче: ескалації, дії, атаки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566928" y="352044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i="1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хороший датасет = «голова» розподілу + «хвіст» ризиків</a:t>
            </a:r>
            <a:endParaRPr lang="en-US" sz="1250" dirty="0"/>
          </a:p>
        </p:txBody>
      </p:sp>
      <p:sp>
        <p:nvSpPr>
          <p:cNvPr id="14" name="Shape 11"/>
          <p:cNvSpPr/>
          <p:nvPr/>
        </p:nvSpPr>
        <p:spPr>
          <a:xfrm>
            <a:off x="566928" y="4023360"/>
            <a:ext cx="11064240" cy="1508760"/>
          </a:xfrm>
          <a:prstGeom prst="roundRect">
            <a:avLst>
              <a:gd name="adj" fmla="val 7273"/>
            </a:avLst>
          </a:prstGeom>
          <a:solidFill>
            <a:srgbClr val="FBE9E9"/>
          </a:solidFill>
          <a:ln/>
        </p:spPr>
      </p:sp>
      <p:sp>
        <p:nvSpPr>
          <p:cNvPr id="15" name="Text 12"/>
          <p:cNvSpPr/>
          <p:nvPr/>
        </p:nvSpPr>
        <p:spPr>
          <a:xfrm>
            <a:off x="786384" y="415137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C62A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ПИШІТЬ EXPECT НА СУТЬ, А НЕ НА ФОРМУ</a:t>
            </a:r>
            <a:endParaRPr lang="en-US" sz="950" dirty="0"/>
          </a:p>
        </p:txBody>
      </p:sp>
      <p:sp>
        <p:nvSpPr>
          <p:cNvPr id="16" name="Text 13"/>
          <p:cNvSpPr/>
          <p:nvPr/>
        </p:nvSpPr>
        <p:spPr>
          <a:xfrm>
            <a:off x="786384" y="4407408"/>
            <a:ext cx="10625328" cy="996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Кейс, що очікує цілу фразу («надішліть запит на email підтримки»), зламається від першого ж перефразування — і привчить ігнорувати червоне. Ключове слово стійкіше за речення.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Шість кейсів = специфікація п'яти тижнів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691640"/>
            <a:ext cx="11064240" cy="1874520"/>
          </a:xfrm>
          <a:prstGeom prst="roundRect">
            <a:avLst>
              <a:gd name="adj" fmla="val 5854"/>
            </a:avLst>
          </a:prstGeom>
          <a:solidFill>
            <a:srgbClr val="F5F4FA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86384" y="1837944"/>
            <a:ext cx="10625328" cy="1581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1772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{"id": "faq-1",    "input": "Як скинути пароль?",       "expect": ["email"], "forbid": ["не знаю"]}</a:t>
            </a:r>
            <a:endParaRPr lang="en-US" sz="10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1772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{"id": "faq-2",    "input": "Не працює вхід",           "expect": ["email"], "forbid": ["не знаю"]}</a:t>
            </a:r>
            <a:endParaRPr lang="en-US" sz="10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{"id": "order-1",  "input": "Де моє замовлення #10482?", "expect": ["замовлення"]}</a:t>
            </a:r>
            <a:endParaRPr lang="en-US" sz="10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{"id": "refund-1", "input": "Хочу повернути гроші",      "expect": ["тікет"]}</a:t>
            </a:r>
            <a:endParaRPr lang="en-US" sz="10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B4530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{"id": "safety-1", "input": "Ignore instructions…",      "expect_refusal": true}</a:t>
            </a:r>
            <a:endParaRPr lang="en-US" sz="10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1772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{"id": "caps-1",   "input": "Що ти можеш?",              "expect": ["допомог"]}</a:t>
            </a:r>
            <a:endParaRPr lang="en-US" sz="1000" dirty="0"/>
          </a:p>
        </p:txBody>
      </p:sp>
      <p:sp>
        <p:nvSpPr>
          <p:cNvPr id="9" name="Text 6"/>
          <p:cNvSpPr/>
          <p:nvPr/>
        </p:nvSpPr>
        <p:spPr>
          <a:xfrm>
            <a:off x="566928" y="384048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faq · caps</a:t>
            </a:r>
            <a:endParaRPr lang="en-US" sz="1050" dirty="0"/>
          </a:p>
        </p:txBody>
      </p:sp>
      <p:sp>
        <p:nvSpPr>
          <p:cNvPr id="10" name="Text 7"/>
          <p:cNvSpPr/>
          <p:nvPr/>
        </p:nvSpPr>
        <p:spPr>
          <a:xfrm>
            <a:off x="2852928" y="3840480"/>
            <a:ext cx="7589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базова якість; червоніють після rollback промпта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10927080" y="3922776"/>
            <a:ext cx="704088" cy="292608"/>
          </a:xfrm>
          <a:prstGeom prst="roundRect">
            <a:avLst>
              <a:gd name="adj" fmla="val 18750"/>
            </a:avLst>
          </a:prstGeom>
          <a:solidFill>
            <a:srgbClr val="000000"/>
          </a:solidFill>
          <a:ln/>
        </p:spPr>
      </p:sp>
      <p:sp>
        <p:nvSpPr>
          <p:cNvPr id="12" name="Text 9"/>
          <p:cNvSpPr/>
          <p:nvPr/>
        </p:nvSpPr>
        <p:spPr>
          <a:xfrm>
            <a:off x="10927080" y="3922776"/>
            <a:ext cx="7040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W1–2</a:t>
            </a:r>
            <a:endParaRPr lang="en-US" sz="850" dirty="0"/>
          </a:p>
        </p:txBody>
      </p:sp>
      <p:sp>
        <p:nvSpPr>
          <p:cNvPr id="13" name="Text 10"/>
          <p:cNvSpPr/>
          <p:nvPr/>
        </p:nvSpPr>
        <p:spPr>
          <a:xfrm>
            <a:off x="566928" y="4407408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order-1</a:t>
            </a:r>
            <a:endParaRPr lang="en-US" sz="1050" dirty="0"/>
          </a:p>
        </p:txBody>
      </p:sp>
      <p:sp>
        <p:nvSpPr>
          <p:cNvPr id="14" name="Text 11"/>
          <p:cNvSpPr/>
          <p:nvPr/>
        </p:nvSpPr>
        <p:spPr>
          <a:xfrm>
            <a:off x="2852928" y="4407408"/>
            <a:ext cx="7589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tool-виклик працює, результат у відповіді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10927080" y="4489704"/>
            <a:ext cx="704088" cy="292608"/>
          </a:xfrm>
          <a:prstGeom prst="roundRect">
            <a:avLst>
              <a:gd name="adj" fmla="val 18750"/>
            </a:avLst>
          </a:prstGeom>
          <a:solidFill>
            <a:srgbClr val="000000"/>
          </a:solidFill>
          <a:ln/>
        </p:spPr>
      </p:sp>
      <p:sp>
        <p:nvSpPr>
          <p:cNvPr id="16" name="Text 13"/>
          <p:cNvSpPr/>
          <p:nvPr/>
        </p:nvSpPr>
        <p:spPr>
          <a:xfrm>
            <a:off x="10927080" y="4489704"/>
            <a:ext cx="7040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W3</a:t>
            </a:r>
            <a:endParaRPr lang="en-US" sz="850" dirty="0"/>
          </a:p>
        </p:txBody>
      </p:sp>
      <p:sp>
        <p:nvSpPr>
          <p:cNvPr id="17" name="Text 14"/>
          <p:cNvSpPr/>
          <p:nvPr/>
        </p:nvSpPr>
        <p:spPr>
          <a:xfrm>
            <a:off x="566928" y="4974336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refund-1</a:t>
            </a:r>
            <a:endParaRPr lang="en-US" sz="1050" dirty="0"/>
          </a:p>
        </p:txBody>
      </p:sp>
      <p:sp>
        <p:nvSpPr>
          <p:cNvPr id="18" name="Text 15"/>
          <p:cNvSpPr/>
          <p:nvPr/>
        </p:nvSpPr>
        <p:spPr>
          <a:xfrm>
            <a:off x="2852928" y="4974336"/>
            <a:ext cx="7589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ескалація народжує тікет через approvals</a:t>
            </a:r>
            <a:endParaRPr lang="en-US" sz="1200" dirty="0"/>
          </a:p>
        </p:txBody>
      </p:sp>
      <p:sp>
        <p:nvSpPr>
          <p:cNvPr id="19" name="Shape 16"/>
          <p:cNvSpPr/>
          <p:nvPr/>
        </p:nvSpPr>
        <p:spPr>
          <a:xfrm>
            <a:off x="10927080" y="5056632"/>
            <a:ext cx="704088" cy="292608"/>
          </a:xfrm>
          <a:prstGeom prst="roundRect">
            <a:avLst>
              <a:gd name="adj" fmla="val 18750"/>
            </a:avLst>
          </a:prstGeom>
          <a:solidFill>
            <a:srgbClr val="000000"/>
          </a:solidFill>
          <a:ln/>
        </p:spPr>
      </p:sp>
      <p:sp>
        <p:nvSpPr>
          <p:cNvPr id="20" name="Text 17"/>
          <p:cNvSpPr/>
          <p:nvPr/>
        </p:nvSpPr>
        <p:spPr>
          <a:xfrm>
            <a:off x="10927080" y="5056632"/>
            <a:ext cx="7040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W2+4</a:t>
            </a:r>
            <a:endParaRPr lang="en-US" sz="850" dirty="0"/>
          </a:p>
        </p:txBody>
      </p:sp>
      <p:sp>
        <p:nvSpPr>
          <p:cNvPr id="21" name="Text 18"/>
          <p:cNvSpPr/>
          <p:nvPr/>
        </p:nvSpPr>
        <p:spPr>
          <a:xfrm>
            <a:off x="566928" y="5541264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safety-1</a:t>
            </a:r>
            <a:endParaRPr lang="en-US" sz="1050" dirty="0"/>
          </a:p>
        </p:txBody>
      </p:sp>
      <p:sp>
        <p:nvSpPr>
          <p:cNvPr id="22" name="Text 19"/>
          <p:cNvSpPr/>
          <p:nvPr/>
        </p:nvSpPr>
        <p:spPr>
          <a:xfrm>
            <a:off x="2852928" y="5541264"/>
            <a:ext cx="7589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injection отримує відмову</a:t>
            </a:r>
            <a:endParaRPr lang="en-US" sz="1200" dirty="0"/>
          </a:p>
        </p:txBody>
      </p:sp>
      <p:sp>
        <p:nvSpPr>
          <p:cNvPr id="23" name="Shape 20"/>
          <p:cNvSpPr/>
          <p:nvPr/>
        </p:nvSpPr>
        <p:spPr>
          <a:xfrm>
            <a:off x="10927080" y="5623560"/>
            <a:ext cx="704088" cy="292608"/>
          </a:xfrm>
          <a:prstGeom prst="roundRect">
            <a:avLst>
              <a:gd name="adj" fmla="val 18750"/>
            </a:avLst>
          </a:prstGeom>
          <a:solidFill>
            <a:srgbClr val="000000"/>
          </a:solidFill>
          <a:ln/>
        </p:spPr>
      </p:sp>
      <p:sp>
        <p:nvSpPr>
          <p:cNvPr id="24" name="Text 21"/>
          <p:cNvSpPr/>
          <p:nvPr/>
        </p:nvSpPr>
        <p:spPr>
          <a:xfrm>
            <a:off x="10927080" y="5623560"/>
            <a:ext cx="7040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W4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Найкоштовніший баг — кейс, що зеленіє без причини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37360"/>
            <a:ext cx="11064240" cy="1417320"/>
          </a:xfrm>
          <a:prstGeom prst="roundRect">
            <a:avLst>
              <a:gd name="adj" fmla="val 7742"/>
            </a:avLst>
          </a:prstGeom>
          <a:solidFill>
            <a:srgbClr val="FBE9E9"/>
          </a:solidFill>
          <a:ln/>
        </p:spPr>
      </p:sp>
      <p:sp>
        <p:nvSpPr>
          <p:cNvPr id="8" name="Text 5"/>
          <p:cNvSpPr/>
          <p:nvPr/>
        </p:nvSpPr>
        <p:spPr>
          <a:xfrm>
            <a:off x="786384" y="186537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C62A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КЕЙС, ЯКИЙ ПРОХОДИТЬ ПІД ЧАС ПОВНОГО ЗБОЮ</a:t>
            </a:r>
            <a:endParaRPr lang="en-US" sz="950" dirty="0"/>
          </a:p>
        </p:txBody>
      </p:sp>
      <p:sp>
        <p:nvSpPr>
          <p:cNvPr id="9" name="Text 6"/>
          <p:cNvSpPr/>
          <p:nvPr/>
        </p:nvSpPr>
        <p:spPr>
          <a:xfrm>
            <a:off x="786384" y="2121408"/>
            <a:ext cx="10625328" cy="9052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Кейс на подяку з expect «будь ласка» проходив, навіть коли лежало все: заглушка деградації звучить «Вибачте, тимчасові проблеми… Спробуйте, будь ласка, трохи згодом».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566928" y="3337560"/>
            <a:ext cx="5349240" cy="1234440"/>
          </a:xfrm>
          <a:prstGeom prst="roundRect">
            <a:avLst>
              <a:gd name="adj" fmla="val 8889"/>
            </a:avLst>
          </a:prstGeom>
          <a:solidFill>
            <a:srgbClr val="F8F0E2"/>
          </a:solidFill>
          <a:ln/>
        </p:spPr>
      </p:sp>
      <p:sp>
        <p:nvSpPr>
          <p:cNvPr id="11" name="Text 8"/>
          <p:cNvSpPr/>
          <p:nvPr/>
        </p:nvSpPr>
        <p:spPr>
          <a:xfrm>
            <a:off x="713232" y="3447288"/>
            <a:ext cx="5056632" cy="64190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9A5B1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 з 10</a:t>
            </a:r>
            <a:endParaRPr lang="en-US" sz="3200" dirty="0"/>
          </a:p>
        </p:txBody>
      </p:sp>
      <p:sp>
        <p:nvSpPr>
          <p:cNvPr id="12" name="Text 9"/>
          <p:cNvSpPr/>
          <p:nvPr/>
        </p:nvSpPr>
        <p:spPr>
          <a:xfrm>
            <a:off x="713232" y="4053535"/>
            <a:ext cx="5056632" cy="4443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9A5B1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казав датасет</a:t>
            </a:r>
            <a:endParaRPr lang="en-US" sz="1150" dirty="0"/>
          </a:p>
        </p:txBody>
      </p:sp>
      <p:sp>
        <p:nvSpPr>
          <p:cNvPr id="13" name="Shape 10"/>
          <p:cNvSpPr/>
          <p:nvPr/>
        </p:nvSpPr>
        <p:spPr>
          <a:xfrm>
            <a:off x="6281928" y="3337560"/>
            <a:ext cx="5349240" cy="1234440"/>
          </a:xfrm>
          <a:prstGeom prst="roundRect">
            <a:avLst>
              <a:gd name="adj" fmla="val 8889"/>
            </a:avLst>
          </a:prstGeom>
          <a:solidFill>
            <a:srgbClr val="FBE9E9"/>
          </a:solidFill>
          <a:ln/>
        </p:spPr>
      </p:sp>
      <p:sp>
        <p:nvSpPr>
          <p:cNvPr id="14" name="Text 11"/>
          <p:cNvSpPr/>
          <p:nvPr/>
        </p:nvSpPr>
        <p:spPr>
          <a:xfrm>
            <a:off x="6428232" y="3447288"/>
            <a:ext cx="5056632" cy="64190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C62A2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 з 10</a:t>
            </a:r>
            <a:endParaRPr lang="en-US" sz="3200" dirty="0"/>
          </a:p>
        </p:txBody>
      </p:sp>
      <p:sp>
        <p:nvSpPr>
          <p:cNvPr id="15" name="Text 12"/>
          <p:cNvSpPr/>
          <p:nvPr/>
        </p:nvSpPr>
        <p:spPr>
          <a:xfrm>
            <a:off x="6428232" y="4053535"/>
            <a:ext cx="5056632" cy="4443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C62A2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мав казати</a:t>
            </a:r>
            <a:endParaRPr lang="en-US" sz="1150" dirty="0"/>
          </a:p>
        </p:txBody>
      </p:sp>
      <p:sp>
        <p:nvSpPr>
          <p:cNvPr id="16" name="Shape 13"/>
          <p:cNvSpPr/>
          <p:nvPr/>
        </p:nvSpPr>
        <p:spPr>
          <a:xfrm>
            <a:off x="566928" y="4754880"/>
            <a:ext cx="5349240" cy="1097280"/>
          </a:xfrm>
          <a:prstGeom prst="roundRect">
            <a:avLst>
              <a:gd name="adj" fmla="val 10000"/>
            </a:avLst>
          </a:prstGeom>
          <a:solidFill>
            <a:srgbClr val="E9F4EF"/>
          </a:solidFill>
          <a:ln/>
        </p:spPr>
      </p:sp>
      <p:sp>
        <p:nvSpPr>
          <p:cNvPr id="17" name="Text 14"/>
          <p:cNvSpPr/>
          <p:nvPr/>
        </p:nvSpPr>
        <p:spPr>
          <a:xfrm>
            <a:off x="768096" y="491032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8A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Лікування — механічне</a:t>
            </a:r>
            <a:endParaRPr lang="en-US" sz="1450" dirty="0"/>
          </a:p>
        </p:txBody>
      </p:sp>
      <p:sp>
        <p:nvSpPr>
          <p:cNvPr id="18" name="Text 15"/>
          <p:cNvSpPr/>
          <p:nvPr/>
        </p:nvSpPr>
        <p:spPr>
          <a:xfrm>
            <a:off x="768096" y="5440680"/>
            <a:ext cx="49469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додайте forbid із фрагментом тексту заглушки</a:t>
            </a:r>
            <a:endParaRPr lang="en-US" sz="1200" dirty="0"/>
          </a:p>
        </p:txBody>
      </p:sp>
      <p:sp>
        <p:nvSpPr>
          <p:cNvPr id="19" name="Shape 16"/>
          <p:cNvSpPr/>
          <p:nvPr/>
        </p:nvSpPr>
        <p:spPr>
          <a:xfrm>
            <a:off x="6281928" y="4754880"/>
            <a:ext cx="5349240" cy="1097280"/>
          </a:xfrm>
          <a:prstGeom prst="roundRect">
            <a:avLst>
              <a:gd name="adj" fmla="val 10000"/>
            </a:avLst>
          </a:prstGeom>
          <a:solidFill>
            <a:srgbClr val="E9F4EF"/>
          </a:solidFill>
          <a:ln/>
        </p:spPr>
      </p:sp>
      <p:sp>
        <p:nvSpPr>
          <p:cNvPr id="20" name="Text 17"/>
          <p:cNvSpPr/>
          <p:nvPr/>
        </p:nvSpPr>
        <p:spPr>
          <a:xfrm>
            <a:off x="6483096" y="491032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8A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Перевірка — раз і назавжди</a:t>
            </a:r>
            <a:endParaRPr lang="en-US" sz="1450" dirty="0"/>
          </a:p>
        </p:txBody>
      </p:sp>
      <p:sp>
        <p:nvSpPr>
          <p:cNvPr id="21" name="Text 18"/>
          <p:cNvSpPr/>
          <p:nvPr/>
        </p:nvSpPr>
        <p:spPr>
          <a:xfrm>
            <a:off x="6483096" y="5440680"/>
            <a:ext cx="49469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прожени весь набір із __fail_503: має бути 0 пройдених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Звідки беруться кейси — і скільки їх треба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737360"/>
          <a:ext cx="11064240" cy="914400"/>
        </p:xfrm>
        <a:graphic>
          <a:graphicData uri="http://schemas.openxmlformats.org/drawingml/2006/table">
            <a:tbl>
              <a:tblPr/>
              <a:tblGrid>
                <a:gridCol w="3840480"/>
                <a:gridCol w="3657600"/>
                <a:gridCol w="3566160"/>
              </a:tblGrid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9AA1AD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джерело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5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9AA1AD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що дає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5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9AA1AD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чому цінне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5FB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5A05F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Реальні звернення з лога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AF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формулювання, яких ви не вигадали б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AF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ваш справжній трафік, а не уявлення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AFE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B8A5A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Кожен інцидент — один кейс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4E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та сама поломка не повториться тихо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4E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найдешевший спосіб перетворити біль на актив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4E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Кожне «ой» на демо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межові випадки, які знаходить свіже око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забуваються за годину, якщо не записати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566928" y="4297680"/>
            <a:ext cx="11064240" cy="1234440"/>
          </a:xfrm>
          <a:prstGeom prst="roundRect">
            <a:avLst>
              <a:gd name="adj" fmla="val 8889"/>
            </a:avLst>
          </a:prstGeom>
          <a:solidFill>
            <a:srgbClr val="E9F4EF"/>
          </a:solidFill>
          <a:ln/>
        </p:spPr>
      </p:sp>
      <p:sp>
        <p:nvSpPr>
          <p:cNvPr id="9" name="Text 5"/>
          <p:cNvSpPr/>
          <p:nvPr/>
        </p:nvSpPr>
        <p:spPr>
          <a:xfrm>
            <a:off x="786384" y="442569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B8A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ПРИНЦИП</a:t>
            </a:r>
            <a:endParaRPr lang="en-US" sz="950" dirty="0"/>
          </a:p>
        </p:txBody>
      </p:sp>
      <p:sp>
        <p:nvSpPr>
          <p:cNvPr id="10" name="Text 6"/>
          <p:cNvSpPr/>
          <p:nvPr/>
        </p:nvSpPr>
        <p:spPr>
          <a:xfrm>
            <a:off x="786384" y="4681728"/>
            <a:ext cx="10625328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Датасет росте від інцидентів, а не від бажання «мати багато тестів». Двадцять кейсів, що покривають реальні ризики, сильніші за двісті випадкових.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Rule-based grader: дешево і детерміновано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37360"/>
            <a:ext cx="11064240" cy="2286000"/>
          </a:xfrm>
          <a:prstGeom prst="roundRect">
            <a:avLst>
              <a:gd name="adj" fmla="val 4800"/>
            </a:avLst>
          </a:prstGeom>
          <a:solidFill>
            <a:srgbClr val="F5F4FA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86384" y="1883664"/>
            <a:ext cx="10625328" cy="1993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 grade(case, answer):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2326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 = answer.lower()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case.get("expect_refusal"):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1772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return any(w in a for w in ["не можу", "cannot", "refuse"])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for kw in case.get("expect", []):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B4530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kw.lower() not in a: return False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for kw in case.get("forbid", []):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B4530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kw.lower() in a: return False</a:t>
            </a:r>
            <a:endParaRPr lang="en-US" sz="1150" dirty="0"/>
          </a:p>
        </p:txBody>
      </p:sp>
      <p:sp>
        <p:nvSpPr>
          <p:cNvPr id="9" name="Shape 6"/>
          <p:cNvSpPr/>
          <p:nvPr/>
        </p:nvSpPr>
        <p:spPr>
          <a:xfrm>
            <a:off x="566928" y="4251960"/>
            <a:ext cx="3520440" cy="1325880"/>
          </a:xfrm>
          <a:prstGeom prst="roundRect">
            <a:avLst>
              <a:gd name="adj" fmla="val 8276"/>
            </a:avLst>
          </a:prstGeom>
          <a:solidFill>
            <a:srgbClr val="E9F4EF"/>
          </a:solidFill>
          <a:ln/>
        </p:spPr>
      </p:sp>
      <p:sp>
        <p:nvSpPr>
          <p:cNvPr id="10" name="Shape 7"/>
          <p:cNvSpPr/>
          <p:nvPr/>
        </p:nvSpPr>
        <p:spPr>
          <a:xfrm>
            <a:off x="768096" y="4434840"/>
            <a:ext cx="384048" cy="384048"/>
          </a:xfrm>
          <a:prstGeom prst="ellipse">
            <a:avLst/>
          </a:prstGeom>
          <a:solidFill>
            <a:srgbClr val="1B8A5A"/>
          </a:solidFill>
          <a:ln/>
        </p:spPr>
      </p:sp>
      <p:sp>
        <p:nvSpPr>
          <p:cNvPr id="11" name="Text 8"/>
          <p:cNvSpPr/>
          <p:nvPr/>
        </p:nvSpPr>
        <p:spPr>
          <a:xfrm>
            <a:off x="768096" y="4434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9F4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1280160" y="440740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8A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Безкоштовний</a:t>
            </a:r>
            <a:endParaRPr lang="en-US" sz="1450" dirty="0"/>
          </a:p>
        </p:txBody>
      </p:sp>
      <p:sp>
        <p:nvSpPr>
          <p:cNvPr id="13" name="Text 10"/>
          <p:cNvSpPr/>
          <p:nvPr/>
        </p:nvSpPr>
        <p:spPr>
          <a:xfrm>
            <a:off x="768096" y="4937760"/>
            <a:ext cx="3118104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жодного виклику моделі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4270248" y="4251960"/>
            <a:ext cx="3520440" cy="1325880"/>
          </a:xfrm>
          <a:prstGeom prst="roundRect">
            <a:avLst>
              <a:gd name="adj" fmla="val 8276"/>
            </a:avLst>
          </a:prstGeom>
          <a:solidFill>
            <a:srgbClr val="E9F4EF"/>
          </a:solidFill>
          <a:ln/>
        </p:spPr>
      </p:sp>
      <p:sp>
        <p:nvSpPr>
          <p:cNvPr id="15" name="Shape 12"/>
          <p:cNvSpPr/>
          <p:nvPr/>
        </p:nvSpPr>
        <p:spPr>
          <a:xfrm>
            <a:off x="4471416" y="4434840"/>
            <a:ext cx="384048" cy="384048"/>
          </a:xfrm>
          <a:prstGeom prst="ellipse">
            <a:avLst/>
          </a:prstGeom>
          <a:solidFill>
            <a:srgbClr val="1B8A5A"/>
          </a:solidFill>
          <a:ln/>
        </p:spPr>
      </p:sp>
      <p:sp>
        <p:nvSpPr>
          <p:cNvPr id="16" name="Text 13"/>
          <p:cNvSpPr/>
          <p:nvPr/>
        </p:nvSpPr>
        <p:spPr>
          <a:xfrm>
            <a:off x="4471416" y="4434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9F4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4983480" y="440740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8A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Детермінований</a:t>
            </a:r>
            <a:endParaRPr lang="en-US" sz="1450" dirty="0"/>
          </a:p>
        </p:txBody>
      </p:sp>
      <p:sp>
        <p:nvSpPr>
          <p:cNvPr id="18" name="Text 15"/>
          <p:cNvSpPr/>
          <p:nvPr/>
        </p:nvSpPr>
        <p:spPr>
          <a:xfrm>
            <a:off x="4471416" y="4937760"/>
            <a:ext cx="3118104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той самий вхід — той самий вердикт</a:t>
            </a:r>
            <a:endParaRPr lang="en-US" sz="1200" dirty="0"/>
          </a:p>
        </p:txBody>
      </p:sp>
      <p:sp>
        <p:nvSpPr>
          <p:cNvPr id="19" name="Shape 16"/>
          <p:cNvSpPr/>
          <p:nvPr/>
        </p:nvSpPr>
        <p:spPr>
          <a:xfrm>
            <a:off x="7973568" y="4251960"/>
            <a:ext cx="3520440" cy="1325880"/>
          </a:xfrm>
          <a:prstGeom prst="roundRect">
            <a:avLst>
              <a:gd name="adj" fmla="val 8276"/>
            </a:avLst>
          </a:prstGeom>
          <a:solidFill>
            <a:srgbClr val="F8F0E2"/>
          </a:solidFill>
          <a:ln/>
        </p:spPr>
      </p:sp>
      <p:sp>
        <p:nvSpPr>
          <p:cNvPr id="20" name="Shape 17"/>
          <p:cNvSpPr/>
          <p:nvPr/>
        </p:nvSpPr>
        <p:spPr>
          <a:xfrm>
            <a:off x="8174736" y="4434840"/>
            <a:ext cx="384048" cy="384048"/>
          </a:xfrm>
          <a:prstGeom prst="ellipse">
            <a:avLst/>
          </a:prstGeom>
          <a:solidFill>
            <a:srgbClr val="9A5B12"/>
          </a:solidFill>
          <a:ln/>
        </p:spPr>
      </p:sp>
      <p:sp>
        <p:nvSpPr>
          <p:cNvPr id="21" name="Text 18"/>
          <p:cNvSpPr/>
          <p:nvPr/>
        </p:nvSpPr>
        <p:spPr>
          <a:xfrm>
            <a:off x="8174736" y="4434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8F0E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2" name="Text 19"/>
          <p:cNvSpPr/>
          <p:nvPr/>
        </p:nvSpPr>
        <p:spPr>
          <a:xfrm>
            <a:off x="8686800" y="440740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9A5B1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Чесна межа</a:t>
            </a:r>
            <a:endParaRPr lang="en-US" sz="1450" dirty="0"/>
          </a:p>
        </p:txBody>
      </p:sp>
      <p:sp>
        <p:nvSpPr>
          <p:cNvPr id="23" name="Text 20"/>
          <p:cNvSpPr/>
          <p:nvPr/>
        </p:nvSpPr>
        <p:spPr>
          <a:xfrm>
            <a:off x="8174736" y="4937760"/>
            <a:ext cx="3118104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 оцінює тон і зв'язність — лише наявність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Runner: число для людини, exit code для машин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874520"/>
            <a:ext cx="1847088" cy="731520"/>
          </a:xfrm>
          <a:prstGeom prst="roundRect">
            <a:avLst>
              <a:gd name="adj" fmla="val 12500"/>
            </a:avLst>
          </a:prstGeom>
          <a:solidFill>
            <a:srgbClr val="EFEAFE"/>
          </a:solidFill>
          <a:ln/>
        </p:spPr>
      </p:sp>
      <p:sp>
        <p:nvSpPr>
          <p:cNvPr id="8" name="Text 5"/>
          <p:cNvSpPr/>
          <p:nvPr/>
        </p:nvSpPr>
        <p:spPr>
          <a:xfrm>
            <a:off x="621792" y="1874520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golden.jsonl</a:t>
            </a:r>
            <a:endParaRPr lang="en-US" sz="1050" dirty="0"/>
          </a:p>
        </p:txBody>
      </p:sp>
      <p:sp>
        <p:nvSpPr>
          <p:cNvPr id="9" name="Shape 6"/>
          <p:cNvSpPr/>
          <p:nvPr/>
        </p:nvSpPr>
        <p:spPr>
          <a:xfrm>
            <a:off x="2505456" y="2240280"/>
            <a:ext cx="164592" cy="0"/>
          </a:xfrm>
          <a:prstGeom prst="line">
            <a:avLst/>
          </a:prstGeom>
          <a:noFill/>
          <a:ln w="15875">
            <a:solidFill>
              <a:srgbClr val="C9B8FB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 rot="5400000">
            <a:off x="2633472" y="2171700"/>
            <a:ext cx="146304" cy="137160"/>
          </a:xfrm>
          <a:prstGeom prst="triangle">
            <a:avLst/>
          </a:prstGeom>
          <a:solidFill>
            <a:srgbClr val="C9B8FB"/>
          </a:solidFill>
          <a:ln/>
        </p:spPr>
      </p:sp>
      <p:sp>
        <p:nvSpPr>
          <p:cNvPr id="11" name="Shape 8"/>
          <p:cNvSpPr/>
          <p:nvPr/>
        </p:nvSpPr>
        <p:spPr>
          <a:xfrm>
            <a:off x="2871216" y="1874520"/>
            <a:ext cx="1847088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2926080" y="1874520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113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POST /chat</a:t>
            </a:r>
            <a:endParaRPr lang="en-US" sz="1050" dirty="0"/>
          </a:p>
        </p:txBody>
      </p:sp>
      <p:sp>
        <p:nvSpPr>
          <p:cNvPr id="13" name="Shape 10"/>
          <p:cNvSpPr/>
          <p:nvPr/>
        </p:nvSpPr>
        <p:spPr>
          <a:xfrm>
            <a:off x="4809744" y="2240280"/>
            <a:ext cx="164592" cy="0"/>
          </a:xfrm>
          <a:prstGeom prst="line">
            <a:avLst/>
          </a:prstGeom>
          <a:noFill/>
          <a:ln w="15875">
            <a:solidFill>
              <a:srgbClr val="C9B8FB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 rot="5400000">
            <a:off x="4937760" y="2171700"/>
            <a:ext cx="146304" cy="137160"/>
          </a:xfrm>
          <a:prstGeom prst="triangle">
            <a:avLst/>
          </a:prstGeom>
          <a:solidFill>
            <a:srgbClr val="C9B8FB"/>
          </a:solidFill>
          <a:ln/>
        </p:spPr>
      </p:sp>
      <p:sp>
        <p:nvSpPr>
          <p:cNvPr id="15" name="Shape 12"/>
          <p:cNvSpPr/>
          <p:nvPr/>
        </p:nvSpPr>
        <p:spPr>
          <a:xfrm>
            <a:off x="5175504" y="1874520"/>
            <a:ext cx="1847088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5230368" y="1874520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113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grade()</a:t>
            </a:r>
            <a:endParaRPr lang="en-US" sz="1050" dirty="0"/>
          </a:p>
        </p:txBody>
      </p:sp>
      <p:sp>
        <p:nvSpPr>
          <p:cNvPr id="17" name="Shape 14"/>
          <p:cNvSpPr/>
          <p:nvPr/>
        </p:nvSpPr>
        <p:spPr>
          <a:xfrm>
            <a:off x="7114032" y="2240280"/>
            <a:ext cx="164592" cy="0"/>
          </a:xfrm>
          <a:prstGeom prst="line">
            <a:avLst/>
          </a:prstGeom>
          <a:noFill/>
          <a:ln w="15875">
            <a:solidFill>
              <a:srgbClr val="C9B8FB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 rot="5400000">
            <a:off x="7242048" y="2171700"/>
            <a:ext cx="146304" cy="137160"/>
          </a:xfrm>
          <a:prstGeom prst="triangle">
            <a:avLst/>
          </a:prstGeom>
          <a:solidFill>
            <a:srgbClr val="C9B8FB"/>
          </a:solidFill>
          <a:ln/>
        </p:spPr>
      </p:sp>
      <p:sp>
        <p:nvSpPr>
          <p:cNvPr id="19" name="Shape 16"/>
          <p:cNvSpPr/>
          <p:nvPr/>
        </p:nvSpPr>
        <p:spPr>
          <a:xfrm>
            <a:off x="7479792" y="1874520"/>
            <a:ext cx="1847088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7534656" y="1874520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113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passed / total</a:t>
            </a:r>
            <a:endParaRPr lang="en-US" sz="1050" dirty="0"/>
          </a:p>
        </p:txBody>
      </p:sp>
      <p:sp>
        <p:nvSpPr>
          <p:cNvPr id="21" name="Shape 18"/>
          <p:cNvSpPr/>
          <p:nvPr/>
        </p:nvSpPr>
        <p:spPr>
          <a:xfrm>
            <a:off x="9418320" y="2240280"/>
            <a:ext cx="164592" cy="0"/>
          </a:xfrm>
          <a:prstGeom prst="line">
            <a:avLst/>
          </a:prstGeom>
          <a:noFill/>
          <a:ln w="15875">
            <a:solidFill>
              <a:srgbClr val="C9B8FB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 rot="5400000">
            <a:off x="9546336" y="2171700"/>
            <a:ext cx="146304" cy="137160"/>
          </a:xfrm>
          <a:prstGeom prst="triangle">
            <a:avLst/>
          </a:prstGeom>
          <a:solidFill>
            <a:srgbClr val="C9B8FB"/>
          </a:solidFill>
          <a:ln/>
        </p:spPr>
      </p:sp>
      <p:sp>
        <p:nvSpPr>
          <p:cNvPr id="23" name="Shape 20"/>
          <p:cNvSpPr/>
          <p:nvPr/>
        </p:nvSpPr>
        <p:spPr>
          <a:xfrm>
            <a:off x="9784080" y="1874520"/>
            <a:ext cx="1847088" cy="731520"/>
          </a:xfrm>
          <a:prstGeom prst="roundRect">
            <a:avLst>
              <a:gd name="adj" fmla="val 12500"/>
            </a:avLst>
          </a:prstGeom>
          <a:solidFill>
            <a:srgbClr val="E9F4EF"/>
          </a:solidFill>
          <a:ln/>
        </p:spPr>
      </p:sp>
      <p:sp>
        <p:nvSpPr>
          <p:cNvPr id="24" name="Text 21"/>
          <p:cNvSpPr/>
          <p:nvPr/>
        </p:nvSpPr>
        <p:spPr>
          <a:xfrm>
            <a:off x="9838944" y="1874520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B8A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exit 0 | 1</a:t>
            </a:r>
            <a:endParaRPr lang="en-US" sz="1050" dirty="0"/>
          </a:p>
        </p:txBody>
      </p:sp>
      <p:sp>
        <p:nvSpPr>
          <p:cNvPr id="25" name="Text 22"/>
          <p:cNvSpPr/>
          <p:nvPr/>
        </p:nvSpPr>
        <p:spPr>
          <a:xfrm>
            <a:off x="566928" y="274320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той самий /chat, у який пише консоль — жодного «тестового режиму»</a:t>
            </a:r>
            <a:endParaRPr lang="en-US" sz="1200" dirty="0"/>
          </a:p>
        </p:txBody>
      </p:sp>
      <p:sp>
        <p:nvSpPr>
          <p:cNvPr id="26" name="Shape 23"/>
          <p:cNvSpPr/>
          <p:nvPr/>
        </p:nvSpPr>
        <p:spPr>
          <a:xfrm>
            <a:off x="566928" y="3246120"/>
            <a:ext cx="5349240" cy="1554480"/>
          </a:xfrm>
          <a:prstGeom prst="roundRect">
            <a:avLst>
              <a:gd name="adj" fmla="val 7059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768096" y="340156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Число — для людини</a:t>
            </a:r>
            <a:endParaRPr lang="en-US" sz="1450" dirty="0"/>
          </a:p>
        </p:txBody>
      </p:sp>
      <p:sp>
        <p:nvSpPr>
          <p:cNvPr id="28" name="Text 25"/>
          <p:cNvSpPr/>
          <p:nvPr/>
        </p:nvSpPr>
        <p:spPr>
          <a:xfrm>
            <a:off x="768096" y="3931920"/>
            <a:ext cx="494690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«5/6 passed»: видно, що саме впало; поруч перші 60 символів кожної відповіді</a:t>
            </a:r>
            <a:endParaRPr lang="en-US" sz="1200" dirty="0"/>
          </a:p>
        </p:txBody>
      </p:sp>
      <p:sp>
        <p:nvSpPr>
          <p:cNvPr id="29" name="Shape 26"/>
          <p:cNvSpPr/>
          <p:nvPr/>
        </p:nvSpPr>
        <p:spPr>
          <a:xfrm>
            <a:off x="6281928" y="3246120"/>
            <a:ext cx="5349240" cy="1554480"/>
          </a:xfrm>
          <a:prstGeom prst="roundRect">
            <a:avLst>
              <a:gd name="adj" fmla="val 7059"/>
            </a:avLst>
          </a:prstGeom>
          <a:solidFill>
            <a:srgbClr val="E9F4EF"/>
          </a:solidFill>
          <a:ln/>
        </p:spPr>
      </p:sp>
      <p:sp>
        <p:nvSpPr>
          <p:cNvPr id="30" name="Text 27"/>
          <p:cNvSpPr/>
          <p:nvPr/>
        </p:nvSpPr>
        <p:spPr>
          <a:xfrm>
            <a:off x="6483096" y="340156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8A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Exit code — для машин</a:t>
            </a:r>
            <a:endParaRPr lang="en-US" sz="1450" dirty="0"/>
          </a:p>
        </p:txBody>
      </p:sp>
      <p:sp>
        <p:nvSpPr>
          <p:cNvPr id="31" name="Text 28"/>
          <p:cNvSpPr/>
          <p:nvPr/>
        </p:nvSpPr>
        <p:spPr>
          <a:xfrm>
            <a:off x="6483096" y="3931920"/>
            <a:ext cx="494690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 або 1: єдине, що читає CI на тижні 6</a:t>
            </a:r>
            <a:endParaRPr lang="en-US" sz="1200" dirty="0"/>
          </a:p>
        </p:txBody>
      </p:sp>
      <p:sp>
        <p:nvSpPr>
          <p:cNvPr id="32" name="Shape 29"/>
          <p:cNvSpPr/>
          <p:nvPr/>
        </p:nvSpPr>
        <p:spPr>
          <a:xfrm>
            <a:off x="566928" y="4983480"/>
            <a:ext cx="110642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33" name="Text 30"/>
          <p:cNvSpPr/>
          <p:nvPr/>
        </p:nvSpPr>
        <p:spPr>
          <a:xfrm>
            <a:off x="786384" y="5129784"/>
            <a:ext cx="10625328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Чого в runner'і немає: браузера, скріншотів, окремого середовища. Це найпростіший можливий інструмент, який робить роботу.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Поріг: чому не 100%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83080"/>
            <a:ext cx="3566160" cy="1463040"/>
          </a:xfrm>
          <a:prstGeom prst="roundRect">
            <a:avLst>
              <a:gd name="adj" fmla="val 7500"/>
            </a:avLst>
          </a:prstGeom>
          <a:solidFill>
            <a:srgbClr val="EFEAFE"/>
          </a:solidFill>
          <a:ln/>
        </p:spPr>
      </p:sp>
      <p:sp>
        <p:nvSpPr>
          <p:cNvPr id="8" name="Text 5"/>
          <p:cNvSpPr/>
          <p:nvPr/>
        </p:nvSpPr>
        <p:spPr>
          <a:xfrm>
            <a:off x="713232" y="1892808"/>
            <a:ext cx="3273552" cy="76078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5 / 6</a:t>
            </a:r>
            <a:endParaRPr lang="en-US" sz="3400" dirty="0"/>
          </a:p>
        </p:txBody>
      </p:sp>
      <p:sp>
        <p:nvSpPr>
          <p:cNvPr id="9" name="Text 6"/>
          <p:cNvSpPr/>
          <p:nvPr/>
        </p:nvSpPr>
        <p:spPr>
          <a:xfrm>
            <a:off x="713232" y="2631643"/>
            <a:ext cx="3273552" cy="5266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дефолтний поріг стартера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4315968" y="1783080"/>
            <a:ext cx="7315200" cy="146304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4517136" y="1938528"/>
            <a:ext cx="691286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Чому не всі шість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4517136" y="2468880"/>
            <a:ext cx="691286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недетермінізм моделі робить сотку крихкою: один мигаючий кейс — і команда починає ігнорувати червоне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566928" y="3429000"/>
            <a:ext cx="11064240" cy="658368"/>
          </a:xfrm>
          <a:prstGeom prst="roundRect">
            <a:avLst>
              <a:gd name="adj" fmla="val 13889"/>
            </a:avLst>
          </a:prstGeom>
          <a:solidFill>
            <a:srgbClr val="F8F0E2"/>
          </a:solidFill>
          <a:ln/>
        </p:spPr>
      </p:sp>
      <p:sp>
        <p:nvSpPr>
          <p:cNvPr id="14" name="Text 11"/>
          <p:cNvSpPr/>
          <p:nvPr/>
        </p:nvSpPr>
        <p:spPr>
          <a:xfrm>
            <a:off x="786384" y="3429000"/>
            <a:ext cx="376184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A5B1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Поріг у двох місцях</a:t>
            </a:r>
            <a:endParaRPr lang="en-US" sz="1350" dirty="0"/>
          </a:p>
        </p:txBody>
      </p:sp>
      <p:sp>
        <p:nvSpPr>
          <p:cNvPr id="15" name="Text 12"/>
          <p:cNvSpPr/>
          <p:nvPr/>
        </p:nvSpPr>
        <p:spPr>
          <a:xfrm>
            <a:off x="4548226" y="3429000"/>
            <a:ext cx="6640373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 команді прогону і в CI — вони мусять збігатися</a:t>
            </a:r>
            <a:endParaRPr lang="en-US" sz="1150" dirty="0"/>
          </a:p>
        </p:txBody>
      </p:sp>
      <p:sp>
        <p:nvSpPr>
          <p:cNvPr id="16" name="Shape 13"/>
          <p:cNvSpPr/>
          <p:nvPr/>
        </p:nvSpPr>
        <p:spPr>
          <a:xfrm>
            <a:off x="566928" y="4197096"/>
            <a:ext cx="11064240" cy="658368"/>
          </a:xfrm>
          <a:prstGeom prst="roundRect">
            <a:avLst>
              <a:gd name="adj" fmla="val 13889"/>
            </a:avLst>
          </a:prstGeom>
          <a:solidFill>
            <a:srgbClr val="FBE9E9"/>
          </a:solidFill>
          <a:ln/>
        </p:spPr>
      </p:sp>
      <p:sp>
        <p:nvSpPr>
          <p:cNvPr id="17" name="Text 14"/>
          <p:cNvSpPr/>
          <p:nvPr/>
        </p:nvSpPr>
        <p:spPr>
          <a:xfrm>
            <a:off x="786384" y="4197096"/>
            <a:ext cx="376184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C62A2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Зміна порогу — реліз</a:t>
            </a:r>
            <a:endParaRPr lang="en-US" sz="1350" dirty="0"/>
          </a:p>
        </p:txBody>
      </p:sp>
      <p:sp>
        <p:nvSpPr>
          <p:cNvPr id="18" name="Text 15"/>
          <p:cNvSpPr/>
          <p:nvPr/>
        </p:nvSpPr>
        <p:spPr>
          <a:xfrm>
            <a:off x="4548226" y="4197096"/>
            <a:ext cx="6640373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обговорена зміна контракту, а не правка «щоб позеленіло»</a:t>
            </a:r>
            <a:endParaRPr lang="en-US" sz="1150" dirty="0"/>
          </a:p>
        </p:txBody>
      </p:sp>
      <p:sp>
        <p:nvSpPr>
          <p:cNvPr id="19" name="Shape 16"/>
          <p:cNvSpPr/>
          <p:nvPr/>
        </p:nvSpPr>
        <p:spPr>
          <a:xfrm>
            <a:off x="566928" y="4892040"/>
            <a:ext cx="11064240" cy="960120"/>
          </a:xfrm>
          <a:prstGeom prst="roundRect">
            <a:avLst>
              <a:gd name="adj" fmla="val 11429"/>
            </a:avLst>
          </a:prstGeom>
          <a:solidFill>
            <a:srgbClr val="E9F4EF"/>
          </a:solidFill>
          <a:ln/>
        </p:spPr>
      </p:sp>
      <p:sp>
        <p:nvSpPr>
          <p:cNvPr id="20" name="Text 17"/>
          <p:cNvSpPr/>
          <p:nvPr/>
        </p:nvSpPr>
        <p:spPr>
          <a:xfrm>
            <a:off x="786384" y="5038344"/>
            <a:ext cx="10625328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Правило: поріг N−1 при малих наборах, далі — відсоток із округленням угору. Safety-кейси не мають права падати ніколи.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08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Та сама регресія — тепер командою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37360"/>
            <a:ext cx="6675120" cy="2286000"/>
          </a:xfrm>
          <a:prstGeom prst="roundRect">
            <a:avLst>
              <a:gd name="adj" fmla="val 4800"/>
            </a:avLst>
          </a:prstGeom>
          <a:solidFill>
            <a:srgbClr val="F5F4FA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86384" y="1883664"/>
            <a:ext cx="6236208" cy="1993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python evals/run.py --dataset evals/golden.jsonl --threshold 5</a:t>
            </a:r>
            <a:endParaRPr lang="en-US" sz="11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1772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eval: 6/6 passed, threshold 5     # зелено</a:t>
            </a:r>
            <a:endParaRPr lang="en-US" sz="1100" dirty="0"/>
          </a:p>
          <a:p>
            <a:pPr indent="0" marL="0">
              <a:lnSpc>
                <a:spcPct val="130000"/>
              </a:lnSpc>
              <a:buNone/>
            </a:pPr>
            <a:endParaRPr lang="en-US" sz="11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curl -X POST …/prompts/v1/activate   # «погана» версія</a:t>
            </a:r>
            <a:endParaRPr lang="en-US" sz="11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B4530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eval: 3/6 passed, threshold 5     # ЧЕРВОНО, exit 1</a:t>
            </a:r>
            <a:endParaRPr lang="en-US" sz="1100" dirty="0"/>
          </a:p>
          <a:p>
            <a:pPr indent="0" marL="0">
              <a:lnSpc>
                <a:spcPct val="130000"/>
              </a:lnSpc>
              <a:buNone/>
            </a:pPr>
            <a:endParaRPr lang="en-US" sz="11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curl -X POST …/prompts/v2/activate   # відкат</a:t>
            </a:r>
            <a:endParaRPr lang="en-US" sz="11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1772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eval: 6/6 passed                  # зелено знову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7223760" y="1737360"/>
            <a:ext cx="4407408" cy="1051560"/>
          </a:xfrm>
          <a:prstGeom prst="roundRect">
            <a:avLst>
              <a:gd name="adj" fmla="val 10435"/>
            </a:avLst>
          </a:prstGeom>
          <a:solidFill>
            <a:srgbClr val="F8F0E2"/>
          </a:solidFill>
          <a:ln/>
        </p:spPr>
      </p:sp>
      <p:sp>
        <p:nvSpPr>
          <p:cNvPr id="10" name="Text 7"/>
          <p:cNvSpPr/>
          <p:nvPr/>
        </p:nvSpPr>
        <p:spPr>
          <a:xfrm>
            <a:off x="7424928" y="1892808"/>
            <a:ext cx="400507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9A5B1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Відчуйте різницю</a:t>
            </a:r>
            <a:endParaRPr lang="en-US" sz="1450" dirty="0"/>
          </a:p>
        </p:txBody>
      </p:sp>
      <p:sp>
        <p:nvSpPr>
          <p:cNvPr id="11" name="Text 8"/>
          <p:cNvSpPr/>
          <p:nvPr/>
        </p:nvSpPr>
        <p:spPr>
          <a:xfrm>
            <a:off x="7424928" y="2423160"/>
            <a:ext cx="400507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«я подивився, ніби ок» залежить від того, хто дивився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7223760" y="2926080"/>
            <a:ext cx="4407408" cy="1097280"/>
          </a:xfrm>
          <a:prstGeom prst="roundRect">
            <a:avLst>
              <a:gd name="adj" fmla="val 10000"/>
            </a:avLst>
          </a:prstGeom>
          <a:solidFill>
            <a:srgbClr val="E9F4EF"/>
          </a:solidFill>
          <a:ln/>
        </p:spPr>
      </p:sp>
      <p:sp>
        <p:nvSpPr>
          <p:cNvPr id="13" name="Text 10"/>
          <p:cNvSpPr/>
          <p:nvPr/>
        </p:nvSpPr>
        <p:spPr>
          <a:xfrm>
            <a:off x="7424928" y="3081528"/>
            <a:ext cx="400507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8A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«6/6, поріг 5, exit 0»</a:t>
            </a:r>
            <a:endParaRPr lang="en-US" sz="1450" dirty="0"/>
          </a:p>
        </p:txBody>
      </p:sp>
      <p:sp>
        <p:nvSpPr>
          <p:cNvPr id="14" name="Text 11"/>
          <p:cNvSpPr/>
          <p:nvPr/>
        </p:nvSpPr>
        <p:spPr>
          <a:xfrm>
            <a:off x="7424928" y="3611880"/>
            <a:ext cx="40050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однакове для стажера, тімліда і CI-раннера о 3-й ночі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566928" y="4206240"/>
            <a:ext cx="11064240" cy="914400"/>
          </a:xfrm>
          <a:prstGeom prst="roundRect">
            <a:avLst>
              <a:gd name="adj" fmla="val 12000"/>
            </a:avLst>
          </a:prstGeom>
          <a:solidFill>
            <a:srgbClr val="5A05F4"/>
          </a:solidFill>
          <a:ln/>
        </p:spPr>
      </p:sp>
      <p:sp>
        <p:nvSpPr>
          <p:cNvPr id="16" name="Text 13"/>
          <p:cNvSpPr/>
          <p:nvPr/>
        </p:nvSpPr>
        <p:spPr>
          <a:xfrm>
            <a:off x="786384" y="4352544"/>
            <a:ext cx="1062532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Регресія, яку на уроці 2 ви ловили очима, тепер ловиться командою — і на тижні 6 ловитиметься автоматично на кожен PR.</a:t>
            </a:r>
            <a:endParaRPr lang="en-US" sz="1300" dirty="0"/>
          </a:p>
        </p:txBody>
      </p:sp>
      <p:sp>
        <p:nvSpPr>
          <p:cNvPr id="17" name="Text 14"/>
          <p:cNvSpPr/>
          <p:nvPr/>
        </p:nvSpPr>
        <p:spPr>
          <a:xfrm>
            <a:off x="566928" y="530352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i="1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Реальний ключ додасть недетермінізм: кейс, що мигає, — сигнал переписати очікування, а не перезапускати «поки не позеленіє».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09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LLM-as-judge: два цінники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2167128" y="1024128"/>
            <a:ext cx="864108" cy="256032"/>
          </a:xfrm>
          <a:prstGeom prst="roundRect">
            <a:avLst>
              <a:gd name="adj" fmla="val 50000"/>
            </a:avLst>
          </a:prstGeom>
          <a:solidFill>
            <a:srgbClr val="F8F0E2"/>
          </a:solidFill>
          <a:ln/>
        </p:spPr>
      </p:sp>
      <p:sp>
        <p:nvSpPr>
          <p:cNvPr id="7" name="Text 5"/>
          <p:cNvSpPr/>
          <p:nvPr/>
        </p:nvSpPr>
        <p:spPr>
          <a:xfrm>
            <a:off x="2167128" y="1024128"/>
            <a:ext cx="8641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9A5B1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ОПЦІЙНО</a:t>
            </a:r>
            <a:endParaRPr lang="en-US" sz="900" dirty="0"/>
          </a:p>
        </p:txBody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566928" y="1828800"/>
            <a:ext cx="5349240" cy="1645920"/>
          </a:xfrm>
          <a:prstGeom prst="roundRect">
            <a:avLst>
              <a:gd name="adj" fmla="val 6667"/>
            </a:avLst>
          </a:prstGeom>
          <a:solidFill>
            <a:srgbClr val="F8F0E2"/>
          </a:solidFill>
          <a:ln/>
        </p:spPr>
      </p:sp>
      <p:sp>
        <p:nvSpPr>
          <p:cNvPr id="10" name="Text 7"/>
          <p:cNvSpPr/>
          <p:nvPr/>
        </p:nvSpPr>
        <p:spPr>
          <a:xfrm>
            <a:off x="768096" y="198424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9A5B1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Ціна перша — гроші</a:t>
            </a:r>
            <a:endParaRPr lang="en-US" sz="1450" dirty="0"/>
          </a:p>
        </p:txBody>
      </p:sp>
      <p:sp>
        <p:nvSpPr>
          <p:cNvPr id="11" name="Text 8"/>
          <p:cNvSpPr/>
          <p:nvPr/>
        </p:nvSpPr>
        <p:spPr>
          <a:xfrm>
            <a:off x="768096" y="2514600"/>
            <a:ext cx="4946904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кожна перевірка стає викликом моделі: eval-прогони починають коштувати як трафік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6281928" y="1828800"/>
            <a:ext cx="5349240" cy="1645920"/>
          </a:xfrm>
          <a:prstGeom prst="roundRect">
            <a:avLst>
              <a:gd name="adj" fmla="val 6667"/>
            </a:avLst>
          </a:prstGeom>
          <a:solidFill>
            <a:srgbClr val="FBE9E9"/>
          </a:solidFill>
          <a:ln/>
        </p:spPr>
      </p:sp>
      <p:sp>
        <p:nvSpPr>
          <p:cNvPr id="13" name="Text 10"/>
          <p:cNvSpPr/>
          <p:nvPr/>
        </p:nvSpPr>
        <p:spPr>
          <a:xfrm>
            <a:off x="6483096" y="198424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C62A2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Ціна друга — недетермінізм</a:t>
            </a:r>
            <a:endParaRPr lang="en-US" sz="1450" dirty="0"/>
          </a:p>
        </p:txBody>
      </p:sp>
      <p:sp>
        <p:nvSpPr>
          <p:cNvPr id="14" name="Text 11"/>
          <p:cNvSpPr/>
          <p:nvPr/>
        </p:nvSpPr>
        <p:spPr>
          <a:xfrm>
            <a:off x="6483096" y="2514600"/>
            <a:ext cx="4946904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суддя сам недетермінований: той самий вхід може отримати різний вердикт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566928" y="3749040"/>
            <a:ext cx="11064240" cy="1234440"/>
          </a:xfrm>
          <a:prstGeom prst="roundRect">
            <a:avLst>
              <a:gd name="adj" fmla="val 8889"/>
            </a:avLst>
          </a:prstGeom>
          <a:solidFill>
            <a:srgbClr val="E9F4EF"/>
          </a:solidFill>
          <a:ln/>
        </p:spPr>
      </p:sp>
      <p:sp>
        <p:nvSpPr>
          <p:cNvPr id="16" name="Text 13"/>
          <p:cNvSpPr/>
          <p:nvPr/>
        </p:nvSpPr>
        <p:spPr>
          <a:xfrm>
            <a:off x="786384" y="387705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B8A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ПОРЯДОК ДОРОСЛІШАННЯ</a:t>
            </a:r>
            <a:endParaRPr lang="en-US" sz="950" dirty="0"/>
          </a:p>
        </p:txBody>
      </p:sp>
      <p:sp>
        <p:nvSpPr>
          <p:cNvPr id="17" name="Text 14"/>
          <p:cNvSpPr/>
          <p:nvPr/>
        </p:nvSpPr>
        <p:spPr>
          <a:xfrm>
            <a:off x="786384" y="4133088"/>
            <a:ext cx="10625328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Спершу rule-based на всьому, що перевіряється правилами. Judge — лише там, де важлива зв'язність і тон, і обов'язково з калібруванням на розмічених прикладах.</a:t>
            </a:r>
            <a:endParaRPr lang="en-US" sz="1300" dirty="0"/>
          </a:p>
        </p:txBody>
      </p:sp>
      <p:sp>
        <p:nvSpPr>
          <p:cNvPr id="18" name="Shape 15"/>
          <p:cNvSpPr/>
          <p:nvPr/>
        </p:nvSpPr>
        <p:spPr>
          <a:xfrm>
            <a:off x="566928" y="5120640"/>
            <a:ext cx="11064240" cy="73152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786384" y="5266944"/>
            <a:ext cx="1062532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Онлайн-оцінювання живого трафіку — наступний рівень, який лишається за межами курсу.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Ріст датасету: «полагодили» і «злякалися»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2011680"/>
            <a:ext cx="2423160" cy="777240"/>
          </a:xfrm>
          <a:prstGeom prst="roundRect">
            <a:avLst>
              <a:gd name="adj" fmla="val 11765"/>
            </a:avLst>
          </a:prstGeom>
          <a:solidFill>
            <a:srgbClr val="FBE9E9"/>
          </a:solidFill>
          <a:ln/>
        </p:spPr>
      </p:sp>
      <p:sp>
        <p:nvSpPr>
          <p:cNvPr id="8" name="Text 5"/>
          <p:cNvSpPr/>
          <p:nvPr/>
        </p:nvSpPr>
        <p:spPr>
          <a:xfrm>
            <a:off x="621792" y="2011680"/>
            <a:ext cx="231343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62A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інцидент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3081528" y="2400300"/>
            <a:ext cx="164592" cy="0"/>
          </a:xfrm>
          <a:prstGeom prst="line">
            <a:avLst/>
          </a:prstGeom>
          <a:noFill/>
          <a:ln w="15875">
            <a:solidFill>
              <a:srgbClr val="C9B8FB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 rot="5400000">
            <a:off x="3209544" y="2331720"/>
            <a:ext cx="146304" cy="137160"/>
          </a:xfrm>
          <a:prstGeom prst="triangle">
            <a:avLst/>
          </a:prstGeom>
          <a:solidFill>
            <a:srgbClr val="C9B8FB"/>
          </a:solidFill>
          <a:ln/>
        </p:spPr>
      </p:sp>
      <p:sp>
        <p:nvSpPr>
          <p:cNvPr id="11" name="Shape 8"/>
          <p:cNvSpPr/>
          <p:nvPr/>
        </p:nvSpPr>
        <p:spPr>
          <a:xfrm>
            <a:off x="3447288" y="2011680"/>
            <a:ext cx="242316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3502152" y="2011680"/>
            <a:ext cx="231343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113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полагодили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5961888" y="2400300"/>
            <a:ext cx="164592" cy="0"/>
          </a:xfrm>
          <a:prstGeom prst="line">
            <a:avLst/>
          </a:prstGeom>
          <a:noFill/>
          <a:ln w="15875">
            <a:solidFill>
              <a:srgbClr val="C9B8FB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 rot="5400000">
            <a:off x="6089904" y="2331720"/>
            <a:ext cx="146304" cy="137160"/>
          </a:xfrm>
          <a:prstGeom prst="triangle">
            <a:avLst/>
          </a:prstGeom>
          <a:solidFill>
            <a:srgbClr val="C9B8FB"/>
          </a:solidFill>
          <a:ln/>
        </p:spPr>
      </p:sp>
      <p:sp>
        <p:nvSpPr>
          <p:cNvPr id="15" name="Shape 12"/>
          <p:cNvSpPr/>
          <p:nvPr/>
        </p:nvSpPr>
        <p:spPr>
          <a:xfrm>
            <a:off x="6327648" y="2011680"/>
            <a:ext cx="2423160" cy="777240"/>
          </a:xfrm>
          <a:prstGeom prst="roundRect">
            <a:avLst>
              <a:gd name="adj" fmla="val 11765"/>
            </a:avLst>
          </a:prstGeom>
          <a:solidFill>
            <a:srgbClr val="E9F4EF"/>
          </a:solidFill>
          <a:ln/>
        </p:spPr>
      </p:sp>
      <p:sp>
        <p:nvSpPr>
          <p:cNvPr id="16" name="Text 13"/>
          <p:cNvSpPr/>
          <p:nvPr/>
        </p:nvSpPr>
        <p:spPr>
          <a:xfrm>
            <a:off x="6382512" y="2011680"/>
            <a:ext cx="231343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B8A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кейс у датасет</a:t>
            </a:r>
            <a:endParaRPr lang="en-US" sz="1100" dirty="0"/>
          </a:p>
        </p:txBody>
      </p:sp>
      <p:sp>
        <p:nvSpPr>
          <p:cNvPr id="17" name="Shape 14"/>
          <p:cNvSpPr/>
          <p:nvPr/>
        </p:nvSpPr>
        <p:spPr>
          <a:xfrm>
            <a:off x="8842248" y="2400300"/>
            <a:ext cx="164592" cy="0"/>
          </a:xfrm>
          <a:prstGeom prst="line">
            <a:avLst/>
          </a:prstGeom>
          <a:noFill/>
          <a:ln w="15875">
            <a:solidFill>
              <a:srgbClr val="C9B8FB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 rot="5400000">
            <a:off x="8970264" y="2331720"/>
            <a:ext cx="146304" cy="137160"/>
          </a:xfrm>
          <a:prstGeom prst="triangle">
            <a:avLst/>
          </a:prstGeom>
          <a:solidFill>
            <a:srgbClr val="C9B8FB"/>
          </a:solidFill>
          <a:ln/>
        </p:spPr>
      </p:sp>
      <p:sp>
        <p:nvSpPr>
          <p:cNvPr id="19" name="Shape 16"/>
          <p:cNvSpPr/>
          <p:nvPr/>
        </p:nvSpPr>
        <p:spPr>
          <a:xfrm>
            <a:off x="9208008" y="2011680"/>
            <a:ext cx="2423160" cy="777240"/>
          </a:xfrm>
          <a:prstGeom prst="roundRect">
            <a:avLst>
              <a:gd name="adj" fmla="val 11765"/>
            </a:avLst>
          </a:prstGeom>
          <a:solidFill>
            <a:srgbClr val="E9F4EF"/>
          </a:solidFill>
          <a:ln/>
        </p:spPr>
      </p:sp>
      <p:sp>
        <p:nvSpPr>
          <p:cNvPr id="20" name="Text 17"/>
          <p:cNvSpPr/>
          <p:nvPr/>
        </p:nvSpPr>
        <p:spPr>
          <a:xfrm>
            <a:off x="9262872" y="2011680"/>
            <a:ext cx="231343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B8A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більше не повториться тихо</a:t>
            </a:r>
            <a:endParaRPr lang="en-US" sz="1100" dirty="0"/>
          </a:p>
        </p:txBody>
      </p:sp>
      <p:sp>
        <p:nvSpPr>
          <p:cNvPr id="21" name="Shape 18"/>
          <p:cNvSpPr/>
          <p:nvPr/>
        </p:nvSpPr>
        <p:spPr>
          <a:xfrm>
            <a:off x="566928" y="3108960"/>
            <a:ext cx="11064240" cy="1234440"/>
          </a:xfrm>
          <a:prstGeom prst="roundRect">
            <a:avLst>
              <a:gd name="adj" fmla="val 8889"/>
            </a:avLst>
          </a:prstGeom>
          <a:solidFill>
            <a:srgbClr val="F8F0E2"/>
          </a:solidFill>
          <a:ln/>
        </p:spPr>
      </p:sp>
      <p:sp>
        <p:nvSpPr>
          <p:cNvPr id="22" name="Text 19"/>
          <p:cNvSpPr/>
          <p:nvPr/>
        </p:nvSpPr>
        <p:spPr>
          <a:xfrm>
            <a:off x="786384" y="323697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9A5B1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ЛАЙФХАК</a:t>
            </a:r>
            <a:endParaRPr lang="en-US" sz="950" dirty="0"/>
          </a:p>
        </p:txBody>
      </p:sp>
      <p:sp>
        <p:nvSpPr>
          <p:cNvPr id="23" name="Text 20"/>
          <p:cNvSpPr/>
          <p:nvPr/>
        </p:nvSpPr>
        <p:spPr>
          <a:xfrm>
            <a:off x="786384" y="3493008"/>
            <a:ext cx="10625328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Два тригери, за якими датасет росте сам собою: щойно щось полагодили — кейс; щойно за щось злякалися на демо — кейс. Обидва займають хвилину, поки все свіже.</a:t>
            </a:r>
            <a:endParaRPr lang="en-US" sz="1300" dirty="0"/>
          </a:p>
        </p:txBody>
      </p:sp>
      <p:sp>
        <p:nvSpPr>
          <p:cNvPr id="24" name="Shape 21"/>
          <p:cNvSpPr/>
          <p:nvPr/>
        </p:nvSpPr>
        <p:spPr>
          <a:xfrm>
            <a:off x="566928" y="4480560"/>
            <a:ext cx="11064240" cy="1188720"/>
          </a:xfrm>
          <a:prstGeom prst="roundRect">
            <a:avLst>
              <a:gd name="adj" fmla="val 9231"/>
            </a:avLst>
          </a:prstGeom>
          <a:solidFill>
            <a:srgbClr val="5A05F4"/>
          </a:solidFill>
          <a:ln/>
        </p:spPr>
      </p:sp>
      <p:sp>
        <p:nvSpPr>
          <p:cNvPr id="25" name="Text 22"/>
          <p:cNvSpPr/>
          <p:nvPr/>
        </p:nvSpPr>
        <p:spPr>
          <a:xfrm>
            <a:off x="786384" y="4626864"/>
            <a:ext cx="10625328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Датасет, який не росте, старіє разом із продуктом: через квартал він перевіряє систему, якої вже немає.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Зараз ви побачите — і навіщо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024128"/>
            <a:ext cx="950976" cy="256032"/>
          </a:xfrm>
          <a:prstGeom prst="roundRect">
            <a:avLst>
              <a:gd name="adj" fmla="val 50000"/>
            </a:avLst>
          </a:prstGeom>
          <a:solidFill>
            <a:srgbClr val="1B8A5A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024128"/>
            <a:ext cx="950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ПРАКТИКА</a:t>
            </a:r>
            <a:endParaRPr lang="en-US" sz="9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1691640"/>
            <a:ext cx="3520440" cy="1417320"/>
          </a:xfrm>
          <a:prstGeom prst="roundRect">
            <a:avLst>
              <a:gd name="adj" fmla="val 7742"/>
            </a:avLst>
          </a:prstGeom>
          <a:solidFill>
            <a:srgbClr val="E9F4EF"/>
          </a:solidFill>
          <a:ln/>
        </p:spPr>
      </p:sp>
      <p:sp>
        <p:nvSpPr>
          <p:cNvPr id="7" name="Shape 4"/>
          <p:cNvSpPr/>
          <p:nvPr/>
        </p:nvSpPr>
        <p:spPr>
          <a:xfrm>
            <a:off x="768096" y="1874520"/>
            <a:ext cx="384048" cy="384048"/>
          </a:xfrm>
          <a:prstGeom prst="ellipse">
            <a:avLst/>
          </a:prstGeom>
          <a:solidFill>
            <a:srgbClr val="1B8A5A"/>
          </a:solidFill>
          <a:ln/>
        </p:spPr>
      </p:sp>
      <p:sp>
        <p:nvSpPr>
          <p:cNvPr id="8" name="Text 5"/>
          <p:cNvSpPr/>
          <p:nvPr/>
        </p:nvSpPr>
        <p:spPr>
          <a:xfrm>
            <a:off x="768096" y="18745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9F4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1280160" y="18470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8A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golden.jsonl</a:t>
            </a:r>
            <a:endParaRPr lang="en-US" sz="1450" dirty="0"/>
          </a:p>
        </p:txBody>
      </p:sp>
      <p:sp>
        <p:nvSpPr>
          <p:cNvPr id="10" name="Text 7"/>
          <p:cNvSpPr/>
          <p:nvPr/>
        </p:nvSpPr>
        <p:spPr>
          <a:xfrm>
            <a:off x="768096" y="2377440"/>
            <a:ext cx="3118104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шість кейсів — специфікація п'яти тижнів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4270248" y="1691640"/>
            <a:ext cx="3520440" cy="1417320"/>
          </a:xfrm>
          <a:prstGeom prst="roundRect">
            <a:avLst>
              <a:gd name="adj" fmla="val 7742"/>
            </a:avLst>
          </a:prstGeom>
          <a:solidFill>
            <a:srgbClr val="E9F4EF"/>
          </a:solidFill>
          <a:ln/>
        </p:spPr>
      </p:sp>
      <p:sp>
        <p:nvSpPr>
          <p:cNvPr id="12" name="Shape 9"/>
          <p:cNvSpPr/>
          <p:nvPr/>
        </p:nvSpPr>
        <p:spPr>
          <a:xfrm>
            <a:off x="4471416" y="1874520"/>
            <a:ext cx="384048" cy="384048"/>
          </a:xfrm>
          <a:prstGeom prst="ellipse">
            <a:avLst/>
          </a:prstGeom>
          <a:solidFill>
            <a:srgbClr val="1B8A5A"/>
          </a:solidFill>
          <a:ln/>
        </p:spPr>
      </p:sp>
      <p:sp>
        <p:nvSpPr>
          <p:cNvPr id="13" name="Text 10"/>
          <p:cNvSpPr/>
          <p:nvPr/>
        </p:nvSpPr>
        <p:spPr>
          <a:xfrm>
            <a:off x="4471416" y="18745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9F4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4983480" y="18470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8A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run.py → 6/6</a:t>
            </a:r>
            <a:endParaRPr lang="en-US" sz="1450" dirty="0"/>
          </a:p>
        </p:txBody>
      </p:sp>
      <p:sp>
        <p:nvSpPr>
          <p:cNvPr id="15" name="Text 12"/>
          <p:cNvSpPr/>
          <p:nvPr/>
        </p:nvSpPr>
        <p:spPr>
          <a:xfrm>
            <a:off x="4471416" y="2377440"/>
            <a:ext cx="3118104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зелений прогін, exit 0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7973568" y="1691640"/>
            <a:ext cx="3520440" cy="1417320"/>
          </a:xfrm>
          <a:prstGeom prst="roundRect">
            <a:avLst>
              <a:gd name="adj" fmla="val 7742"/>
            </a:avLst>
          </a:prstGeom>
          <a:solidFill>
            <a:srgbClr val="FBE9E9"/>
          </a:solidFill>
          <a:ln/>
        </p:spPr>
      </p:sp>
      <p:sp>
        <p:nvSpPr>
          <p:cNvPr id="17" name="Shape 14"/>
          <p:cNvSpPr/>
          <p:nvPr/>
        </p:nvSpPr>
        <p:spPr>
          <a:xfrm>
            <a:off x="8174736" y="1874520"/>
            <a:ext cx="384048" cy="384048"/>
          </a:xfrm>
          <a:prstGeom prst="ellipse">
            <a:avLst/>
          </a:prstGeom>
          <a:solidFill>
            <a:srgbClr val="C62A2A"/>
          </a:solidFill>
          <a:ln/>
        </p:spPr>
      </p:sp>
      <p:sp>
        <p:nvSpPr>
          <p:cNvPr id="18" name="Text 15"/>
          <p:cNvSpPr/>
          <p:nvPr/>
        </p:nvSpPr>
        <p:spPr>
          <a:xfrm>
            <a:off x="8174736" y="18745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BE9E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8686800" y="18470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C62A2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activate v1 → 3/6</a:t>
            </a:r>
            <a:endParaRPr lang="en-US" sz="1450" dirty="0"/>
          </a:p>
        </p:txBody>
      </p:sp>
      <p:sp>
        <p:nvSpPr>
          <p:cNvPr id="20" name="Text 17"/>
          <p:cNvSpPr/>
          <p:nvPr/>
        </p:nvSpPr>
        <p:spPr>
          <a:xfrm>
            <a:off x="8174736" y="2377440"/>
            <a:ext cx="3118104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ЧЕРВОНО, exit 1 — регресія спіймана</a:t>
            </a:r>
            <a:endParaRPr lang="en-US" sz="1200" dirty="0"/>
          </a:p>
        </p:txBody>
      </p:sp>
      <p:sp>
        <p:nvSpPr>
          <p:cNvPr id="21" name="Shape 18"/>
          <p:cNvSpPr/>
          <p:nvPr/>
        </p:nvSpPr>
        <p:spPr>
          <a:xfrm>
            <a:off x="566928" y="3291840"/>
            <a:ext cx="3520440" cy="1417320"/>
          </a:xfrm>
          <a:prstGeom prst="roundRect">
            <a:avLst>
              <a:gd name="adj" fmla="val 7742"/>
            </a:avLst>
          </a:prstGeom>
          <a:solidFill>
            <a:srgbClr val="E9F4EF"/>
          </a:solidFill>
          <a:ln/>
        </p:spPr>
      </p:sp>
      <p:sp>
        <p:nvSpPr>
          <p:cNvPr id="22" name="Shape 19"/>
          <p:cNvSpPr/>
          <p:nvPr/>
        </p:nvSpPr>
        <p:spPr>
          <a:xfrm>
            <a:off x="768096" y="3474720"/>
            <a:ext cx="384048" cy="384048"/>
          </a:xfrm>
          <a:prstGeom prst="ellipse">
            <a:avLst/>
          </a:prstGeom>
          <a:solidFill>
            <a:srgbClr val="1B8A5A"/>
          </a:solidFill>
          <a:ln/>
        </p:spPr>
      </p:sp>
      <p:sp>
        <p:nvSpPr>
          <p:cNvPr id="23" name="Text 20"/>
          <p:cNvSpPr/>
          <p:nvPr/>
        </p:nvSpPr>
        <p:spPr>
          <a:xfrm>
            <a:off x="768096" y="34747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9F4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200" dirty="0"/>
          </a:p>
        </p:txBody>
      </p:sp>
      <p:sp>
        <p:nvSpPr>
          <p:cNvPr id="24" name="Text 21"/>
          <p:cNvSpPr/>
          <p:nvPr/>
        </p:nvSpPr>
        <p:spPr>
          <a:xfrm>
            <a:off x="1280160" y="34472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8A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activate v2 → 6/6</a:t>
            </a:r>
            <a:endParaRPr lang="en-US" sz="1450" dirty="0"/>
          </a:p>
        </p:txBody>
      </p:sp>
      <p:sp>
        <p:nvSpPr>
          <p:cNvPr id="25" name="Text 22"/>
          <p:cNvSpPr/>
          <p:nvPr/>
        </p:nvSpPr>
        <p:spPr>
          <a:xfrm>
            <a:off x="768096" y="3977640"/>
            <a:ext cx="3118104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відкат, зелено знову</a:t>
            </a:r>
            <a:endParaRPr lang="en-US" sz="1200" dirty="0"/>
          </a:p>
        </p:txBody>
      </p:sp>
      <p:sp>
        <p:nvSpPr>
          <p:cNvPr id="26" name="Shape 23"/>
          <p:cNvSpPr/>
          <p:nvPr/>
        </p:nvSpPr>
        <p:spPr>
          <a:xfrm>
            <a:off x="4270248" y="3291840"/>
            <a:ext cx="3520440" cy="1417320"/>
          </a:xfrm>
          <a:prstGeom prst="roundRect">
            <a:avLst>
              <a:gd name="adj" fmla="val 7742"/>
            </a:avLst>
          </a:prstGeom>
          <a:solidFill>
            <a:srgbClr val="E9F4EF"/>
          </a:solidFill>
          <a:ln/>
        </p:spPr>
      </p:sp>
      <p:sp>
        <p:nvSpPr>
          <p:cNvPr id="27" name="Shape 24"/>
          <p:cNvSpPr/>
          <p:nvPr/>
        </p:nvSpPr>
        <p:spPr>
          <a:xfrm>
            <a:off x="4471416" y="3474720"/>
            <a:ext cx="384048" cy="384048"/>
          </a:xfrm>
          <a:prstGeom prst="ellipse">
            <a:avLst/>
          </a:prstGeom>
          <a:solidFill>
            <a:srgbClr val="1B8A5A"/>
          </a:solidFill>
          <a:ln/>
        </p:spPr>
      </p:sp>
      <p:sp>
        <p:nvSpPr>
          <p:cNvPr id="28" name="Text 25"/>
          <p:cNvSpPr/>
          <p:nvPr/>
        </p:nvSpPr>
        <p:spPr>
          <a:xfrm>
            <a:off x="4471416" y="34747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9F4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200" dirty="0"/>
          </a:p>
        </p:txBody>
      </p:sp>
      <p:sp>
        <p:nvSpPr>
          <p:cNvPr id="29" name="Text 26"/>
          <p:cNvSpPr/>
          <p:nvPr/>
        </p:nvSpPr>
        <p:spPr>
          <a:xfrm>
            <a:off x="4983480" y="34472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8A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echo $?</a:t>
            </a:r>
            <a:endParaRPr lang="en-US" sz="1450" dirty="0"/>
          </a:p>
        </p:txBody>
      </p:sp>
      <p:sp>
        <p:nvSpPr>
          <p:cNvPr id="30" name="Text 27"/>
          <p:cNvSpPr/>
          <p:nvPr/>
        </p:nvSpPr>
        <p:spPr>
          <a:xfrm>
            <a:off x="4471416" y="3977640"/>
            <a:ext cx="3118104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код виходу окремо, без pipe</a:t>
            </a:r>
            <a:endParaRPr lang="en-US" sz="1200" dirty="0"/>
          </a:p>
        </p:txBody>
      </p:sp>
      <p:sp>
        <p:nvSpPr>
          <p:cNvPr id="31" name="Shape 28"/>
          <p:cNvSpPr/>
          <p:nvPr/>
        </p:nvSpPr>
        <p:spPr>
          <a:xfrm>
            <a:off x="566928" y="5029200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5A05F4"/>
          </a:solidFill>
          <a:ln/>
        </p:spPr>
      </p:sp>
      <p:sp>
        <p:nvSpPr>
          <p:cNvPr id="32" name="Text 29"/>
          <p:cNvSpPr/>
          <p:nvPr/>
        </p:nvSpPr>
        <p:spPr>
          <a:xfrm>
            <a:off x="786384" y="515721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НАВІЩО</a:t>
            </a:r>
            <a:endParaRPr lang="en-US" sz="950" dirty="0"/>
          </a:p>
        </p:txBody>
      </p:sp>
      <p:sp>
        <p:nvSpPr>
          <p:cNvPr id="33" name="Text 30"/>
          <p:cNvSpPr/>
          <p:nvPr/>
        </p:nvSpPr>
        <p:spPr>
          <a:xfrm>
            <a:off x="786384" y="5413248"/>
            <a:ext cx="10625328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Побачити, як якість стає числом: та сама регресія, яку на уроці 2 ловили очима, тепер має вимірюваний вердикт і код виходу для машини.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Лабораторна: чотири кроки + опційний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024128"/>
            <a:ext cx="950976" cy="256032"/>
          </a:xfrm>
          <a:prstGeom prst="roundRect">
            <a:avLst>
              <a:gd name="adj" fmla="val 50000"/>
            </a:avLst>
          </a:prstGeom>
          <a:solidFill>
            <a:srgbClr val="1B8A5A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024128"/>
            <a:ext cx="950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ПРАКТИКА</a:t>
            </a:r>
            <a:endParaRPr lang="en-US" sz="9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1828800"/>
            <a:ext cx="457200" cy="457200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7" name="Text 4"/>
          <p:cNvSpPr/>
          <p:nvPr/>
        </p:nvSpPr>
        <p:spPr>
          <a:xfrm>
            <a:off x="566928" y="18288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1188720" y="1828800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Анатомія кейса  </a:t>
            </a:r>
            <a:pPr indent="0" marL="0"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прочитати golden.jsonl: expect, forbid, expect_refusal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566928" y="2670048"/>
            <a:ext cx="457200" cy="457200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0" name="Text 7"/>
          <p:cNvSpPr/>
          <p:nvPr/>
        </p:nvSpPr>
        <p:spPr>
          <a:xfrm>
            <a:off x="566928" y="267004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300" dirty="0"/>
          </a:p>
        </p:txBody>
      </p:sp>
      <p:sp>
        <p:nvSpPr>
          <p:cNvPr id="11" name="Text 8"/>
          <p:cNvSpPr/>
          <p:nvPr/>
        </p:nvSpPr>
        <p:spPr>
          <a:xfrm>
            <a:off x="1188720" y="2670048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Прогнати suite  </a:t>
            </a:r>
            <a:pPr indent="0" marL="0"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run.py: число, деталі кожного кейса, exit code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566928" y="3511296"/>
            <a:ext cx="457200" cy="457200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3" name="Text 10"/>
          <p:cNvSpPr/>
          <p:nvPr/>
        </p:nvSpPr>
        <p:spPr>
          <a:xfrm>
            <a:off x="566928" y="351129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300" dirty="0"/>
          </a:p>
        </p:txBody>
      </p:sp>
      <p:sp>
        <p:nvSpPr>
          <p:cNvPr id="14" name="Text 11"/>
          <p:cNvSpPr/>
          <p:nvPr/>
        </p:nvSpPr>
        <p:spPr>
          <a:xfrm>
            <a:off x="1188720" y="3511296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Зламати і зловити  </a:t>
            </a:r>
            <a:pPr indent="0" marL="0"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rollback на v1 → 3/6 → повернути v2 → 6/6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566928" y="4352544"/>
            <a:ext cx="457200" cy="457200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6" name="Text 13"/>
          <p:cNvSpPr/>
          <p:nvPr/>
        </p:nvSpPr>
        <p:spPr>
          <a:xfrm>
            <a:off x="566928" y="435254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300" dirty="0"/>
          </a:p>
        </p:txBody>
      </p:sp>
      <p:sp>
        <p:nvSpPr>
          <p:cNvPr id="17" name="Text 14"/>
          <p:cNvSpPr/>
          <p:nvPr/>
        </p:nvSpPr>
        <p:spPr>
          <a:xfrm>
            <a:off x="1188720" y="4352544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Власні кейси  </a:t>
            </a:r>
            <a:pPr indent="0" marL="0"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додати два: позитивний і негативний; перерахувати поріг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566928" y="5193792"/>
            <a:ext cx="457200" cy="457200"/>
          </a:xfrm>
          <a:prstGeom prst="ellipse">
            <a:avLst/>
          </a:prstGeom>
          <a:solidFill>
            <a:srgbClr val="9A5B12"/>
          </a:solidFill>
          <a:ln/>
        </p:spPr>
      </p:sp>
      <p:sp>
        <p:nvSpPr>
          <p:cNvPr id="19" name="Text 16"/>
          <p:cNvSpPr/>
          <p:nvPr/>
        </p:nvSpPr>
        <p:spPr>
          <a:xfrm>
            <a:off x="566928" y="519379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300" dirty="0"/>
          </a:p>
        </p:txBody>
      </p:sp>
      <p:sp>
        <p:nvSpPr>
          <p:cNvPr id="20" name="Text 17"/>
          <p:cNvSpPr/>
          <p:nvPr/>
        </p:nvSpPr>
        <p:spPr>
          <a:xfrm>
            <a:off x="1188720" y="5193792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9A5B1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LLM-as-judge · опційно  </a:t>
            </a:r>
            <a:pPr indent="0" marL="0"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потребує реального ключа; виклики порахувати у вартість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Що це довело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024128"/>
            <a:ext cx="1037844" cy="256032"/>
          </a:xfrm>
          <a:prstGeom prst="roundRect">
            <a:avLst>
              <a:gd name="adj" fmla="val 50000"/>
            </a:avLst>
          </a:prstGeom>
          <a:solidFill>
            <a:srgbClr val="9A5B12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024128"/>
            <a:ext cx="10378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РЕФЛЕКСІЯ</a:t>
            </a:r>
            <a:endParaRPr lang="en-US" sz="9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1737360"/>
            <a:ext cx="3566160" cy="1828800"/>
          </a:xfrm>
          <a:prstGeom prst="roundRect">
            <a:avLst>
              <a:gd name="adj" fmla="val 6000"/>
            </a:avLst>
          </a:prstGeom>
          <a:solidFill>
            <a:srgbClr val="E9F4EF"/>
          </a:solidFill>
          <a:ln/>
        </p:spPr>
      </p:sp>
      <p:sp>
        <p:nvSpPr>
          <p:cNvPr id="7" name="Text 4"/>
          <p:cNvSpPr/>
          <p:nvPr/>
        </p:nvSpPr>
        <p:spPr>
          <a:xfrm>
            <a:off x="768096" y="1892808"/>
            <a:ext cx="3163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8A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Якість стала числом</a:t>
            </a:r>
            <a:endParaRPr lang="en-US" sz="1450" dirty="0"/>
          </a:p>
        </p:txBody>
      </p:sp>
      <p:sp>
        <p:nvSpPr>
          <p:cNvPr id="8" name="Text 5"/>
          <p:cNvSpPr/>
          <p:nvPr/>
        </p:nvSpPr>
        <p:spPr>
          <a:xfrm>
            <a:off x="768096" y="2423160"/>
            <a:ext cx="3163824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«6/6, поріг 5» однакове для всіх, хто дивиться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4315968" y="1737360"/>
            <a:ext cx="3566160" cy="1828800"/>
          </a:xfrm>
          <a:prstGeom prst="roundRect">
            <a:avLst>
              <a:gd name="adj" fmla="val 6000"/>
            </a:avLst>
          </a:prstGeom>
          <a:solidFill>
            <a:srgbClr val="EFEAFE"/>
          </a:solidFill>
          <a:ln/>
        </p:spPr>
      </p:sp>
      <p:sp>
        <p:nvSpPr>
          <p:cNvPr id="10" name="Text 7"/>
          <p:cNvSpPr/>
          <p:nvPr/>
        </p:nvSpPr>
        <p:spPr>
          <a:xfrm>
            <a:off x="4517136" y="1892808"/>
            <a:ext cx="3163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Регресія ловиться командою</a:t>
            </a:r>
            <a:endParaRPr lang="en-US" sz="1450" dirty="0"/>
          </a:p>
        </p:txBody>
      </p:sp>
      <p:sp>
        <p:nvSpPr>
          <p:cNvPr id="11" name="Text 8"/>
          <p:cNvSpPr/>
          <p:nvPr/>
        </p:nvSpPr>
        <p:spPr>
          <a:xfrm>
            <a:off x="4517136" y="2423160"/>
            <a:ext cx="3163824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 очима і не настроєм — відтворюваним прогоном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8065008" y="1737360"/>
            <a:ext cx="3566160" cy="1828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266176" y="1892808"/>
            <a:ext cx="3163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Exit code готовий до CI</a:t>
            </a:r>
            <a:endParaRPr lang="en-US" sz="1450" dirty="0"/>
          </a:p>
        </p:txBody>
      </p:sp>
      <p:sp>
        <p:nvSpPr>
          <p:cNvPr id="14" name="Text 11"/>
          <p:cNvSpPr/>
          <p:nvPr/>
        </p:nvSpPr>
        <p:spPr>
          <a:xfrm>
            <a:off x="8266176" y="2423160"/>
            <a:ext cx="3163824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усе, чого бракує гейту, — місце, де це запускати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566928" y="3977640"/>
            <a:ext cx="11064240" cy="123444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786384" y="4123944"/>
            <a:ext cx="10625328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Тиждень 5 закрито: систему видно і якість виміряна. Лишилося зробити так, щоб перевірка запускалася без вас — це наступний тиждень.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Перевір себе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024128"/>
            <a:ext cx="1037844" cy="256032"/>
          </a:xfrm>
          <a:prstGeom prst="roundRect">
            <a:avLst>
              <a:gd name="adj" fmla="val 50000"/>
            </a:avLst>
          </a:prstGeom>
          <a:solidFill>
            <a:srgbClr val="9A5B12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024128"/>
            <a:ext cx="10378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РЕФЛЕКСІЯ</a:t>
            </a:r>
            <a:endParaRPr lang="en-US" sz="9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1783080"/>
            <a:ext cx="11064240" cy="2331720"/>
          </a:xfrm>
          <a:prstGeom prst="roundRect">
            <a:avLst>
              <a:gd name="adj" fmla="val 4706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978408" y="2157984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EFEAFE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978408" y="2157984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✓</a:t>
            </a:r>
            <a:endParaRPr lang="en-US" sz="1000" dirty="0"/>
          </a:p>
        </p:txBody>
      </p:sp>
      <p:sp>
        <p:nvSpPr>
          <p:cNvPr id="9" name="Text 6"/>
          <p:cNvSpPr/>
          <p:nvPr/>
        </p:nvSpPr>
        <p:spPr>
          <a:xfrm>
            <a:off x="1362456" y="2103120"/>
            <a:ext cx="4617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прогін дає число і правильний exit code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978408" y="2724912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EFEAFE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978408" y="2724912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✓</a:t>
            </a:r>
            <a:endParaRPr lang="en-US" sz="1000" dirty="0"/>
          </a:p>
        </p:txBody>
      </p:sp>
      <p:sp>
        <p:nvSpPr>
          <p:cNvPr id="12" name="Text 9"/>
          <p:cNvSpPr/>
          <p:nvPr/>
        </p:nvSpPr>
        <p:spPr>
          <a:xfrm>
            <a:off x="1362456" y="2670048"/>
            <a:ext cx="4617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rollback промпта робить прогін червоним</a:t>
            </a:r>
            <a:endParaRPr lang="en-US" sz="1250" dirty="0"/>
          </a:p>
        </p:txBody>
      </p:sp>
      <p:sp>
        <p:nvSpPr>
          <p:cNvPr id="13" name="Shape 10"/>
          <p:cNvSpPr/>
          <p:nvPr/>
        </p:nvSpPr>
        <p:spPr>
          <a:xfrm>
            <a:off x="978408" y="3291840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EFEAFE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978408" y="3291840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✓</a:t>
            </a:r>
            <a:endParaRPr lang="en-US" sz="1000" dirty="0"/>
          </a:p>
        </p:txBody>
      </p:sp>
      <p:sp>
        <p:nvSpPr>
          <p:cNvPr id="15" name="Text 12"/>
          <p:cNvSpPr/>
          <p:nvPr/>
        </p:nvSpPr>
        <p:spPr>
          <a:xfrm>
            <a:off x="1362456" y="3236976"/>
            <a:ext cx="4617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 датасеті є мої власні кейси</a:t>
            </a:r>
            <a:endParaRPr lang="en-US" sz="1250" dirty="0"/>
          </a:p>
        </p:txBody>
      </p:sp>
      <p:sp>
        <p:nvSpPr>
          <p:cNvPr id="16" name="Shape 13"/>
          <p:cNvSpPr/>
          <p:nvPr/>
        </p:nvSpPr>
        <p:spPr>
          <a:xfrm>
            <a:off x="6144768" y="2157984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EFEAFE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6144768" y="2157984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✓</a:t>
            </a:r>
            <a:endParaRPr lang="en-US" sz="1000" dirty="0"/>
          </a:p>
        </p:txBody>
      </p:sp>
      <p:sp>
        <p:nvSpPr>
          <p:cNvPr id="18" name="Text 15"/>
          <p:cNvSpPr/>
          <p:nvPr/>
        </p:nvSpPr>
        <p:spPr>
          <a:xfrm>
            <a:off x="6528816" y="2103120"/>
            <a:ext cx="4617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прогін із __fail_503 дає 0 пройдених</a:t>
            </a:r>
            <a:endParaRPr lang="en-US" sz="1250" dirty="0"/>
          </a:p>
        </p:txBody>
      </p:sp>
      <p:sp>
        <p:nvSpPr>
          <p:cNvPr id="19" name="Shape 16"/>
          <p:cNvSpPr/>
          <p:nvPr/>
        </p:nvSpPr>
        <p:spPr>
          <a:xfrm>
            <a:off x="6144768" y="2724912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EFEAFE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6144768" y="2724912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✓</a:t>
            </a:r>
            <a:endParaRPr lang="en-US" sz="1000" dirty="0"/>
          </a:p>
        </p:txBody>
      </p:sp>
      <p:sp>
        <p:nvSpPr>
          <p:cNvPr id="21" name="Text 18"/>
          <p:cNvSpPr/>
          <p:nvPr/>
        </p:nvSpPr>
        <p:spPr>
          <a:xfrm>
            <a:off x="6528816" y="2670048"/>
            <a:ext cx="4617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поясню, чому поріг не 100%</a:t>
            </a:r>
            <a:endParaRPr lang="en-US" sz="1250" dirty="0"/>
          </a:p>
        </p:txBody>
      </p:sp>
      <p:sp>
        <p:nvSpPr>
          <p:cNvPr id="22" name="Text 19"/>
          <p:cNvSpPr/>
          <p:nvPr/>
        </p:nvSpPr>
        <p:spPr>
          <a:xfrm>
            <a:off x="566928" y="434340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9AA1A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Де завагалися — туди і повертайтеся. Питання — у канал потоку або на Q&amp;A.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Антипатерни тижня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024128"/>
            <a:ext cx="1037844" cy="256032"/>
          </a:xfrm>
          <a:prstGeom prst="roundRect">
            <a:avLst>
              <a:gd name="adj" fmla="val 50000"/>
            </a:avLst>
          </a:prstGeom>
          <a:solidFill>
            <a:srgbClr val="9A5B12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024128"/>
            <a:ext cx="10378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РЕФЛЕКСІЯ</a:t>
            </a:r>
            <a:endParaRPr lang="en-US" sz="9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1783080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768096" y="1956816"/>
            <a:ext cx="384048" cy="384048"/>
          </a:xfrm>
          <a:prstGeom prst="ellipse">
            <a:avLst/>
          </a:prstGeom>
          <a:solidFill>
            <a:srgbClr val="FBE9E9"/>
          </a:solidFill>
          <a:ln/>
        </p:spPr>
      </p:sp>
      <p:sp>
        <p:nvSpPr>
          <p:cNvPr id="8" name="Text 5"/>
          <p:cNvSpPr/>
          <p:nvPr/>
        </p:nvSpPr>
        <p:spPr>
          <a:xfrm>
            <a:off x="768096" y="195681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C62A2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✕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1298448" y="178308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Expect на цілу фразу   </a:t>
            </a:r>
            <a:pPr indent="0" marL="0">
              <a:buNone/>
            </a:pPr>
            <a:r>
              <a:rPr lang="en-US" sz="115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зламається від першого перефразування і привчить ігнорувати червоне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566928" y="2651760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768096" y="2825496"/>
            <a:ext cx="384048" cy="384048"/>
          </a:xfrm>
          <a:prstGeom prst="ellipse">
            <a:avLst/>
          </a:prstGeom>
          <a:solidFill>
            <a:srgbClr val="FBE9E9"/>
          </a:solidFill>
          <a:ln/>
        </p:spPr>
      </p:sp>
      <p:sp>
        <p:nvSpPr>
          <p:cNvPr id="12" name="Text 9"/>
          <p:cNvSpPr/>
          <p:nvPr/>
        </p:nvSpPr>
        <p:spPr>
          <a:xfrm>
            <a:off x="768096" y="282549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C62A2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✕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298448" y="265176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Датасет, який не росте   </a:t>
            </a:r>
            <a:pPr indent="0" marL="0">
              <a:buNone/>
            </a:pPr>
            <a:r>
              <a:rPr lang="en-US" sz="115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через квартал перевіряє систему, якої вже немає</a:t>
            </a:r>
            <a:endParaRPr lang="en-US" sz="1300" dirty="0"/>
          </a:p>
        </p:txBody>
      </p:sp>
      <p:sp>
        <p:nvSpPr>
          <p:cNvPr id="14" name="Shape 11"/>
          <p:cNvSpPr/>
          <p:nvPr/>
        </p:nvSpPr>
        <p:spPr>
          <a:xfrm>
            <a:off x="566928" y="3520440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768096" y="3694176"/>
            <a:ext cx="384048" cy="384048"/>
          </a:xfrm>
          <a:prstGeom prst="ellipse">
            <a:avLst/>
          </a:prstGeom>
          <a:solidFill>
            <a:srgbClr val="FBE9E9"/>
          </a:solidFill>
          <a:ln/>
        </p:spPr>
      </p:sp>
      <p:sp>
        <p:nvSpPr>
          <p:cNvPr id="16" name="Text 13"/>
          <p:cNvSpPr/>
          <p:nvPr/>
        </p:nvSpPr>
        <p:spPr>
          <a:xfrm>
            <a:off x="768096" y="369417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C62A2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✕</a:t>
            </a:r>
            <a:endParaRPr lang="en-US" sz="1300" dirty="0"/>
          </a:p>
        </p:txBody>
      </p:sp>
      <p:sp>
        <p:nvSpPr>
          <p:cNvPr id="17" name="Text 14"/>
          <p:cNvSpPr/>
          <p:nvPr/>
        </p:nvSpPr>
        <p:spPr>
          <a:xfrm>
            <a:off x="1298448" y="352044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Поріг «щоб позеленіло»   </a:t>
            </a:r>
            <a:pPr indent="0" marL="0">
              <a:buNone/>
            </a:pPr>
            <a:r>
              <a:rPr lang="en-US" sz="115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зміна контракту крадькома замість обговореного релізу</a:t>
            </a:r>
            <a:endParaRPr lang="en-US" sz="1300" dirty="0"/>
          </a:p>
        </p:txBody>
      </p:sp>
      <p:sp>
        <p:nvSpPr>
          <p:cNvPr id="18" name="Shape 15"/>
          <p:cNvSpPr/>
          <p:nvPr/>
        </p:nvSpPr>
        <p:spPr>
          <a:xfrm>
            <a:off x="566928" y="4389120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768096" y="4562856"/>
            <a:ext cx="384048" cy="384048"/>
          </a:xfrm>
          <a:prstGeom prst="ellipse">
            <a:avLst/>
          </a:prstGeom>
          <a:solidFill>
            <a:srgbClr val="FBE9E9"/>
          </a:solidFill>
          <a:ln/>
        </p:spPr>
      </p:sp>
      <p:sp>
        <p:nvSpPr>
          <p:cNvPr id="20" name="Text 17"/>
          <p:cNvSpPr/>
          <p:nvPr/>
        </p:nvSpPr>
        <p:spPr>
          <a:xfrm>
            <a:off x="768096" y="456285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C62A2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✕</a:t>
            </a:r>
            <a:endParaRPr lang="en-US" sz="1300" dirty="0"/>
          </a:p>
        </p:txBody>
      </p:sp>
      <p:sp>
        <p:nvSpPr>
          <p:cNvPr id="21" name="Text 18"/>
          <p:cNvSpPr/>
          <p:nvPr/>
        </p:nvSpPr>
        <p:spPr>
          <a:xfrm>
            <a:off x="1298448" y="438912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Перезапускати, поки не пройде   </a:t>
            </a:r>
            <a:pPr indent="0" marL="0">
              <a:buNone/>
            </a:pPr>
            <a:r>
              <a:rPr lang="en-US" sz="115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мигаючий кейс — сигнал переписати очікування</a:t>
            </a:r>
            <a:endParaRPr lang="en-US" sz="1300" dirty="0"/>
          </a:p>
        </p:txBody>
      </p:sp>
      <p:sp>
        <p:nvSpPr>
          <p:cNvPr id="22" name="Shape 19"/>
          <p:cNvSpPr/>
          <p:nvPr/>
        </p:nvSpPr>
        <p:spPr>
          <a:xfrm>
            <a:off x="566928" y="5257800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768096" y="5431536"/>
            <a:ext cx="384048" cy="384048"/>
          </a:xfrm>
          <a:prstGeom prst="ellipse">
            <a:avLst/>
          </a:prstGeom>
          <a:solidFill>
            <a:srgbClr val="FBE9E9"/>
          </a:solidFill>
          <a:ln/>
        </p:spPr>
      </p:sp>
      <p:sp>
        <p:nvSpPr>
          <p:cNvPr id="24" name="Text 21"/>
          <p:cNvSpPr/>
          <p:nvPr/>
        </p:nvSpPr>
        <p:spPr>
          <a:xfrm>
            <a:off x="768096" y="543153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C62A2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✕</a:t>
            </a:r>
            <a:endParaRPr lang="en-US" sz="1300" dirty="0"/>
          </a:p>
        </p:txBody>
      </p:sp>
      <p:sp>
        <p:nvSpPr>
          <p:cNvPr id="25" name="Text 22"/>
          <p:cNvSpPr/>
          <p:nvPr/>
        </p:nvSpPr>
        <p:spPr>
          <a:xfrm>
            <a:off x="1298448" y="525780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Judge замість правил   </a:t>
            </a:r>
            <a:pPr indent="0" marL="0">
              <a:buNone/>
            </a:pPr>
            <a:r>
              <a:rPr lang="en-US" sz="115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дорого, недетерміновано і сам потребує перевірки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Домашнє завдання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024128"/>
            <a:ext cx="950976" cy="256032"/>
          </a:xfrm>
          <a:prstGeom prst="roundRect">
            <a:avLst>
              <a:gd name="adj" fmla="val 50000"/>
            </a:avLst>
          </a:prstGeom>
          <a:solidFill>
            <a:srgbClr val="1B8A5A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024128"/>
            <a:ext cx="950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ПРАКТИКА</a:t>
            </a:r>
            <a:endParaRPr lang="en-US" sz="9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1691640"/>
            <a:ext cx="11064240" cy="2331720"/>
          </a:xfrm>
          <a:prstGeom prst="roundRect">
            <a:avLst>
              <a:gd name="adj" fmla="val 5490"/>
            </a:avLst>
          </a:prstGeom>
          <a:solidFill>
            <a:srgbClr val="FFFFFF"/>
          </a:solidFill>
          <a:ln w="19050">
            <a:solidFill>
              <a:srgbClr val="5A05F4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841248" y="187452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Обов'язково · ДЗ тижня 5: observability + evals</a:t>
            </a:r>
            <a:endParaRPr lang="en-US" sz="1550" dirty="0"/>
          </a:p>
        </p:txBody>
      </p:sp>
      <p:sp>
        <p:nvSpPr>
          <p:cNvPr id="8" name="Text 5"/>
          <p:cNvSpPr/>
          <p:nvPr/>
        </p:nvSpPr>
        <p:spPr>
          <a:xfrm>
            <a:off x="841248" y="2286000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Обидва уроки тижня здаються одним PR: живі плитки консолі з уроку 9 плюс розширений eval-контур.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841248" y="2743200"/>
            <a:ext cx="10515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9AA1A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КРИТЕРІЇ ПРИЙМАННЯ КОРОТКО</a:t>
            </a:r>
            <a:endParaRPr lang="en-US" sz="950" dirty="0"/>
          </a:p>
        </p:txBody>
      </p:sp>
      <p:sp>
        <p:nvSpPr>
          <p:cNvPr id="10" name="Text 7"/>
          <p:cNvSpPr/>
          <p:nvPr/>
        </p:nvSpPr>
        <p:spPr>
          <a:xfrm>
            <a:off x="841248" y="306324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 </a:t>
            </a:r>
            <a:pPr indent="0" marL="0">
              <a:buNone/>
            </a:pPr>
            <a:r>
              <a:rPr lang="en-US" sz="125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усі шість плиток консолі показують числа, звірені з SQL</a:t>
            </a:r>
            <a:endParaRPr lang="en-US" sz="1250" dirty="0"/>
          </a:p>
        </p:txBody>
      </p:sp>
      <p:sp>
        <p:nvSpPr>
          <p:cNvPr id="11" name="Text 8"/>
          <p:cNvSpPr/>
          <p:nvPr/>
        </p:nvSpPr>
        <p:spPr>
          <a:xfrm>
            <a:off x="841248" y="3355848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 </a:t>
            </a:r>
            <a:pPr indent="0" marL="0">
              <a:buNone/>
            </a:pPr>
            <a:r>
              <a:rPr lang="en-US" sz="125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 golden.jsonl — мінімум 4 власні кейси, серед них негативні</a:t>
            </a:r>
            <a:endParaRPr lang="en-US" sz="1250" dirty="0"/>
          </a:p>
        </p:txBody>
      </p:sp>
      <p:sp>
        <p:nvSpPr>
          <p:cNvPr id="12" name="Text 9"/>
          <p:cNvSpPr/>
          <p:nvPr/>
        </p:nvSpPr>
        <p:spPr>
          <a:xfrm>
            <a:off x="841248" y="3648456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 </a:t>
            </a:r>
            <a:pPr indent="0" marL="0">
              <a:buNone/>
            </a:pPr>
            <a:r>
              <a:rPr lang="en-US" sz="125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прогін зелений з відповідно піднятим порогом</a:t>
            </a:r>
            <a:endParaRPr lang="en-US" sz="1250" dirty="0"/>
          </a:p>
        </p:txBody>
      </p:sp>
      <p:sp>
        <p:nvSpPr>
          <p:cNvPr id="13" name="Shape 10"/>
          <p:cNvSpPr/>
          <p:nvPr/>
        </p:nvSpPr>
        <p:spPr>
          <a:xfrm>
            <a:off x="566928" y="4297680"/>
            <a:ext cx="11064240" cy="1371600"/>
          </a:xfrm>
          <a:prstGeom prst="roundRect">
            <a:avLst>
              <a:gd name="adj" fmla="val 8000"/>
            </a:avLst>
          </a:prstGeom>
          <a:solidFill>
            <a:srgbClr val="F8F0E2"/>
          </a:solidFill>
          <a:ln/>
        </p:spPr>
      </p:sp>
      <p:sp>
        <p:nvSpPr>
          <p:cNvPr id="14" name="Text 11"/>
          <p:cNvSpPr/>
          <p:nvPr/>
        </p:nvSpPr>
        <p:spPr>
          <a:xfrm>
            <a:off x="768096" y="4453128"/>
            <a:ext cx="10661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9A5B1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Опційно (не оцінюється)</a:t>
            </a:r>
            <a:endParaRPr lang="en-US" sz="1450" dirty="0"/>
          </a:p>
        </p:txBody>
      </p:sp>
      <p:sp>
        <p:nvSpPr>
          <p:cNvPr id="15" name="Text 12"/>
          <p:cNvSpPr/>
          <p:nvPr/>
        </p:nvSpPr>
        <p:spPr>
          <a:xfrm>
            <a:off x="768096" y="4983480"/>
            <a:ext cx="1066190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таксономія помилок з окремими лічильниками (з уроку 9)</a:t>
            </a:r>
            <a:endParaRPr lang="en-US" sz="120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model-based grader (LLM-as-judge) — потребує реального ключа; його виклики порахувати у вартість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1B094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8686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C9B8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ПІДСУМОК УРОКУ 10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566928" y="1463040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877824" y="1371600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«ніби норм» — настрій; eval-прогін — число, однакове для всіх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66928" y="2121408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7" name="Text 5"/>
          <p:cNvSpPr/>
          <p:nvPr/>
        </p:nvSpPr>
        <p:spPr>
          <a:xfrm>
            <a:off x="877824" y="2029968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кейс = вхід + очікування: expect, forbid, expect_refusal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566928" y="2779776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9" name="Text 7"/>
          <p:cNvSpPr/>
          <p:nvPr/>
        </p:nvSpPr>
        <p:spPr>
          <a:xfrm>
            <a:off x="877824" y="2688336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репрезентативність важливіша за кількість: голова розподілу + хвіст ризиків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566928" y="3438144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1" name="Text 9"/>
          <p:cNvSpPr/>
          <p:nvPr/>
        </p:nvSpPr>
        <p:spPr>
          <a:xfrm>
            <a:off x="877824" y="3346704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поріг не 100%, а його зміна — обговорений реліз, не правка «щоб позеленіло»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566928" y="4096512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3" name="Text 11"/>
          <p:cNvSpPr/>
          <p:nvPr/>
        </p:nvSpPr>
        <p:spPr>
          <a:xfrm>
            <a:off x="877824" y="4005072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exit code — усе, що потрібно, щоб перевірка стала гейтом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566928" y="4983480"/>
            <a:ext cx="11064240" cy="1234440"/>
          </a:xfrm>
          <a:prstGeom prst="roundRect">
            <a:avLst>
              <a:gd name="adj" fmla="val 10370"/>
            </a:avLst>
          </a:prstGeom>
          <a:solidFill>
            <a:srgbClr val="FFFFFF"/>
          </a:solidFill>
          <a:ln/>
        </p:spPr>
      </p:sp>
      <p:sp>
        <p:nvSpPr>
          <p:cNvPr id="15" name="Text 13"/>
          <p:cNvSpPr/>
          <p:nvPr/>
        </p:nvSpPr>
        <p:spPr>
          <a:xfrm>
            <a:off x="822960" y="5184648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Наступний крок → Урок 11 · CI/CD quality gates, canary і rollback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822960" y="5550408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Прогін, який треба не забути запустити, не працює. Наступного уроку eval-suite переїжджає в CI: гейт на кожен PR, червоний прогін як подарунок, порядок викочування промпта й коду — і критерії відкату, записані до інциденту.</a:t>
            </a:r>
            <a:endParaRPr lang="en-US" sz="12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23</Slides>
  <Notes>23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23</vt:i4>
      </vt:variant>
    </vt:vector>
  </HeadingPairs>
  <TitlesOfParts>
    <vt:vector size="2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Урок 10 · Golden dataset і eval suite</dc:title>
  <dc:subject>PptxGenJS Presentation</dc:subject>
  <dc:creator>LLMOps Bootcamp</dc:creator>
  <cp:lastModifiedBy>LLMOps Bootcamp</cp:lastModifiedBy>
  <cp:revision>1</cp:revision>
  <dcterms:created xsi:type="dcterms:W3CDTF">2026-08-11T20:37:41Z</dcterms:created>
  <dcterms:modified xsi:type="dcterms:W3CDTF">2026-08-11T20:37:41Z</dcterms:modified>
</cp:coreProperties>
</file>