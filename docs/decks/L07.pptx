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9B7BE8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9B7BE8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9B7BE8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4 · УРОК 7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Reliability: fallback,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і circuit breaker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 ляже. Питання не «чи», а «що побачить користувач, коли це станеться». Будуємо план Б — і влаштовуємо власний інцидент, бо mock уміє падати на замовлення.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9B7BE8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Зробити збій значенням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у функції, де помилка — не виняток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fallback-ланцюг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спробуй наступного, лічильник переходів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ввічливу заглушку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500-ки, з чесним 503 у лозі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Влаштувати інцидент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і довести: збій коштує мілісекунди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2A2010"/>
          </a:solidFill>
          <a:ln/>
        </p:spPr>
      </p:sp>
      <p:sp>
        <p:nvSpPr>
          <p:cNvPr id="28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9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Зібрати circuit breaker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із half-open · опційно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Падіння має бути керованим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</a:t>
            </a:r>
            <a:endParaRPr lang="en-US" sz="1450" dirty="0"/>
          </a:p>
        </p:txBody>
      </p:sp>
      <p:sp>
        <p:nvSpPr>
          <p:cNvPr id="14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як значення</a:t>
            </a:r>
            <a:endParaRPr lang="en-US" sz="1450" dirty="0"/>
          </a:p>
        </p:txBody>
      </p:sp>
      <p:sp>
        <p:nvSpPr>
          <p:cNvPr id="18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</a:t>
            </a:r>
            <a:endParaRPr lang="en-US" sz="1450" dirty="0"/>
          </a:p>
        </p:txBody>
      </p:sp>
      <p:sp>
        <p:nvSpPr>
          <p:cNvPr id="22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 і лавина</a:t>
            </a:r>
            <a:endParaRPr lang="en-US" sz="1450" dirty="0"/>
          </a:p>
        </p:txBody>
      </p:sp>
      <p:sp>
        <p:nvSpPr>
          <p:cNvPr id="26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деградації</a:t>
            </a:r>
            <a:endParaRPr lang="en-US" sz="1450" dirty="0"/>
          </a:p>
        </p:txBody>
      </p:sp>
      <p:sp>
        <p:nvSpPr>
          <p:cNvPr id="30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2A2010"/>
          </a:solidFill>
          <a:ln/>
        </p:spPr>
      </p:sp>
      <p:sp>
        <p:nvSpPr>
          <p:cNvPr id="35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36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</a:t>
            </a:r>
            <a:endParaRPr lang="en-US" sz="1450" dirty="0"/>
          </a:p>
        </p:txBody>
      </p:sp>
      <p:sp>
        <p:nvSpPr>
          <p:cNvPr id="38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0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</a:t>
            </a:r>
            <a:endParaRPr lang="en-US" sz="1450" dirty="0"/>
          </a:p>
        </p:txBody>
      </p:sp>
      <p:sp>
        <p:nvSpPr>
          <p:cNvPr id="42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4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6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8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0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падало». Падатиме. Щоб падіння було керованим.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retry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раз туди само — на минущих збоях, обов'язково з паузою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інше місце: інша модель за оголошеним порядком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backoff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пауза перед повтором; jitter розсинхронізує натовп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graceful degradation</a:t>
            </a:r>
            <a:endParaRPr lang="en-US" sz="1250" dirty="0"/>
          </a:p>
        </p:txBody>
      </p:sp>
      <p:sp>
        <p:nvSpPr>
          <p:cNvPr id="18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чесна відповідь нижчої якості замість помилки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circuit breaker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збоїв перестає стукати в мертвий сервіс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пробний запит: чи ожив провайдер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Чужа інфраструктура: падіння має бути керованим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стрибки latency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08152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429 у пік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96188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5xx на боці провайдера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8842248" y="219456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2598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2880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62872" y="182880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зміни API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66928" y="26974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не аномалії — це нормальний режим роботи інтернету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66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102A2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план Б · ввічлива відмова в найгіршому разі · сліди в метриках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200400"/>
            <a:ext cx="5349240" cy="1554480"/>
          </a:xfrm>
          <a:prstGeom prst="roundRect">
            <a:avLst>
              <a:gd name="adj" fmla="val 7059"/>
            </a:avLst>
          </a:prstGeom>
          <a:solidFill>
            <a:srgbClr val="2E1418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35584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Тихі смерті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886200"/>
            <a:ext cx="49469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найгірші збої не дають 5xx: схема «запит-відповідь» їх не ловить у принципі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983480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786384" y="51114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367528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 сьогодні будь-який збій провайдера означав 500-ку користувачу. Сьогодні між ними стає план Б.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≠ fallback: словник рішень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41148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retry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fallback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Що робить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ще раз туди само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 інше місце: інша модель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Коли доречний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минущі збої: мережевий глюк, 429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провайдер лежить або деградує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Обов'язкові атрибути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backoff і бюджет спроб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явний порядок ланцюга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Головний ризик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DDoS власного провайдера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непомітна різниця якості моделей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434840"/>
            <a:ext cx="11064240" cy="1417320"/>
          </a:xfrm>
          <a:prstGeom prst="roundRect">
            <a:avLst>
              <a:gd name="adj" fmla="val 7742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581144"/>
            <a:ext cx="1062532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в коді курсу свідомо не будуємо: на mock «ще раз туди само» і «в інше місце» дають той самий результат. Порядок правильний — спершу fallback, і бюджет часу на все разом.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Backoff: фіксований, експоненційний, jitter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«чекай секунду» — найпростіший; на масовому збої всі клієнти повертаються синхронно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532888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532888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532888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кожна наступна спроба чекає довше — трафік згасає замість наростання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282696"/>
            <a:ext cx="11064240" cy="640080"/>
          </a:xfrm>
          <a:prstGeom prst="roundRect">
            <a:avLst>
              <a:gd name="adj" fmla="val 14286"/>
            </a:avLst>
          </a:prstGeom>
          <a:solidFill>
            <a:srgbClr val="102A2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3282696"/>
            <a:ext cx="37618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282696"/>
            <a:ext cx="664037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зсув паузи розсинхронізовує натовп: без нього друга хвиля добиває вижилих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" y="405079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Фіксований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2258568" y="416966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06781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9" name="Shape 16"/>
          <p:cNvSpPr/>
          <p:nvPr/>
        </p:nvSpPr>
        <p:spPr>
          <a:xfrm>
            <a:off x="4614977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0" name="Shape 17"/>
          <p:cNvSpPr/>
          <p:nvPr/>
        </p:nvSpPr>
        <p:spPr>
          <a:xfrm>
            <a:off x="6162142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Shape 18"/>
          <p:cNvSpPr/>
          <p:nvPr/>
        </p:nvSpPr>
        <p:spPr>
          <a:xfrm>
            <a:off x="7709306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2" name="Shape 19"/>
          <p:cNvSpPr/>
          <p:nvPr/>
        </p:nvSpPr>
        <p:spPr>
          <a:xfrm>
            <a:off x="9256471" y="4119372"/>
            <a:ext cx="100584" cy="100584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3" name="Text 20"/>
          <p:cNvSpPr/>
          <p:nvPr/>
        </p:nvSpPr>
        <p:spPr>
          <a:xfrm>
            <a:off x="566928" y="432511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Експоненційний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2258568" y="444398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723998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6" name="Shape 23"/>
          <p:cNvSpPr/>
          <p:nvPr/>
        </p:nvSpPr>
        <p:spPr>
          <a:xfrm>
            <a:off x="3411626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7" name="Shape 24"/>
          <p:cNvSpPr/>
          <p:nvPr/>
        </p:nvSpPr>
        <p:spPr>
          <a:xfrm>
            <a:off x="4786884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8" name="Shape 25"/>
          <p:cNvSpPr/>
          <p:nvPr/>
        </p:nvSpPr>
        <p:spPr>
          <a:xfrm>
            <a:off x="7537399" y="4393692"/>
            <a:ext cx="100584" cy="100584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29" name="Text 26"/>
          <p:cNvSpPr/>
          <p:nvPr/>
        </p:nvSpPr>
        <p:spPr>
          <a:xfrm>
            <a:off x="566928" y="4599432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Jitter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2258568" y="4718304"/>
            <a:ext cx="8595360" cy="0"/>
          </a:xfrm>
          <a:prstGeom prst="line">
            <a:avLst/>
          </a:prstGeom>
          <a:noFill/>
          <a:ln w="12700">
            <a:solidFill>
              <a:srgbClr val="2E2A3A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81858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2" name="Shape 29"/>
          <p:cNvSpPr/>
          <p:nvPr/>
        </p:nvSpPr>
        <p:spPr>
          <a:xfrm>
            <a:off x="384139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Shape 30"/>
          <p:cNvSpPr/>
          <p:nvPr/>
        </p:nvSpPr>
        <p:spPr>
          <a:xfrm>
            <a:off x="5388559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4" name="Shape 31"/>
          <p:cNvSpPr/>
          <p:nvPr/>
        </p:nvSpPr>
        <p:spPr>
          <a:xfrm>
            <a:off x="6935724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5" name="Shape 32"/>
          <p:cNvSpPr/>
          <p:nvPr/>
        </p:nvSpPr>
        <p:spPr>
          <a:xfrm>
            <a:off x="9772193" y="4668012"/>
            <a:ext cx="100584" cy="100584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6" name="Shape 33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backoff і без бюджету: провайдер повернув 429 «пригальмуйте» — а ви у відповідь потроїли трафік. Ваш власний код став другою половиною інциденту.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Розтин: збій стає значенням, а не винятком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377440"/>
          </a:xfrm>
          <a:prstGeom prst="roundRect">
            <a:avLst>
              <a:gd name="adj" fmla="val 4615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2084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один виклик через gateway; ok=false, якщо збій або статус &gt;= 400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async Task&lt;(bool ok, string answer, string? tool,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int pt, int ct, int status)&gt; CallGateway(…)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try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(status &gt;= 400) return (false, "", null, 0, 0,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(true, answer, tool, pt, ct, status);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catch { return (false, "", null, 0, 0, 0);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Значення, не виняток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виклик стає рішенням, а не аварією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Ланцюги стають можливими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результат перевіряється, а не ловиться catch'ем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343400"/>
            <a:ext cx="3520440" cy="1371600"/>
          </a:xfrm>
          <a:prstGeom prst="roundRect">
            <a:avLst>
              <a:gd name="adj" fmla="val 8000"/>
            </a:avLst>
          </a:prstGeom>
          <a:solidFill>
            <a:srgbClr val="102A2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5262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526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4988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status: 0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5029200"/>
            <a:ext cx="31181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мережа не відповіла взагалі — окрема чесна категорія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Fallback-ланцюг: спробуй наступного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[W4] fallback: пробуємо по черзі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chain = defaultModel == "mock" ? new[] { model, "mock"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: new[] { model, "azure-gpt-4o" };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(int i = 0; i &lt; chain.Length &amp;&amp; !ok; i++)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 &gt; 0) Interlocked.Increment(ref stats.Fallbacks);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res = await CallGateway(http, gateway, chain[i], …);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(res.ok) { ok = true; model = chain[i]; answer = res.answer; }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6692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6809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fallback, що спрацював непомітно, — замаскована проблема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471416" y="4297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— реальна модель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= chain[i]: інакше аналітика тижня 2 бреше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4114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2A201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429768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4270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Межа стенда — чесна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4800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mock другий елемент — той самий mock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повтор: не кожну операцію можна ретраїти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2743200"/>
                <a:gridCol w="44805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операція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повторювати?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умова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моделі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немає побічних ефектів, крім вартості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FD6A0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Читання через інструмент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так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за визначенням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2A2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8A857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Дія, що змінює стан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тільки з ключем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без ключа повтор — це дубль, а не наполегливість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201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7B7B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Дія без ідемпотентності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краще чесно віддати помилку людині, ніж вгадувати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1418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475488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786384" y="513892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Право на ретрай визначається не типом помилки, а природою операції. Найпідліший випадок — таймаут: відповіді немає, а дія могла статися.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storm: ваша стійкість добиває провайдера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A2010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отримали помилку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1" name="Shape 8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2" name="Text 9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усі повторюють одночасно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5" name="Shape 12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16" name="Text 13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друга хвиля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9B7B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9B7BE8"/>
          </a:solidFill>
          <a:ln/>
        </p:spPr>
      </p:sp>
      <p:sp>
        <p:nvSpPr>
          <p:cNvPr id="19" name="Shape 16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2E1418"/>
          </a:solidFill>
          <a:ln/>
        </p:spPr>
      </p:sp>
      <p:sp>
        <p:nvSpPr>
          <p:cNvPr id="20" name="Text 17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провайдер не встає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56692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Експоненційна пауза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замість «одразу ще раз»: кожна спроба чекає довше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Джитер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випадковий розкид — інакше всі повторюють у ті самі мілісекунди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973568" y="2971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102A20"/>
          </a:solidFill>
          <a:ln/>
        </p:spPr>
      </p:sp>
      <p:sp>
        <p:nvSpPr>
          <p:cNvPr id="32" name="Shape 29"/>
          <p:cNvSpPr/>
          <p:nvPr/>
        </p:nvSpPr>
        <p:spPr>
          <a:xfrm>
            <a:off x="8174736" y="315468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33" name="Text 30"/>
          <p:cNvSpPr/>
          <p:nvPr/>
        </p:nvSpPr>
        <p:spPr>
          <a:xfrm>
            <a:off x="8174736" y="3154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686800" y="3127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Стеля спроб + breaker</a:t>
            </a:r>
            <a:endParaRPr lang="en-US" sz="1450" dirty="0"/>
          </a:p>
        </p:txBody>
      </p:sp>
      <p:sp>
        <p:nvSpPr>
          <p:cNvPr id="35" name="Text 32"/>
          <p:cNvSpPr/>
          <p:nvPr/>
        </p:nvSpPr>
        <p:spPr>
          <a:xfrm>
            <a:off x="8174736" y="3657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після кількох поспіль перестаєте стукати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566928" y="48006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2E1418"/>
          </a:solidFill>
          <a:ln/>
        </p:spPr>
      </p:sp>
      <p:sp>
        <p:nvSpPr>
          <p:cNvPr id="37" name="Text 34"/>
          <p:cNvSpPr/>
          <p:nvPr/>
        </p:nvSpPr>
        <p:spPr>
          <a:xfrm>
            <a:off x="786384" y="49286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8" name="Text 35"/>
          <p:cNvSpPr/>
          <p:nvPr/>
        </p:nvSpPr>
        <p:spPr>
          <a:xfrm>
            <a:off x="786384" y="51846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Ретрай без паузи «бо швидко треба»: на 429 три негайні спроби потроюють трафік саме тоді, коли вас просили пригальмувати. 429 уже сказав, що робити: почекати.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5760720"/>
                <a:gridCol w="438912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віддаємо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AFA9B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втрачає користувач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1B2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1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основної моделі з інструментами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нічого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іншої моделі (урок 3)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можливо, трохи іншу манеру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3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моделі без звернень до зовнішніх систем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актуальні дані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4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раніше згенеровану відповідь на схоже питання (урок 5)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свіжість і персоналізацію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41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C9A6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5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ввічливе «спробуйте згодом» + шлях до людини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відповідь узагалі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E2A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1140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074920"/>
            <a:ext cx="11064240" cy="822960"/>
          </a:xfrm>
          <a:prstGeom prst="roundRect">
            <a:avLst>
              <a:gd name="adj" fmla="val 13333"/>
            </a:avLst>
          </a:prstGeom>
          <a:solidFill>
            <a:srgbClr val="102A20"/>
          </a:solidFill>
          <a:ln/>
        </p:spPr>
      </p:sp>
      <p:sp>
        <p:nvSpPr>
          <p:cNvPr id="9" name="Text 5"/>
          <p:cNvSpPr/>
          <p:nvPr/>
        </p:nvSpPr>
        <p:spPr>
          <a:xfrm>
            <a:off x="786384" y="5221224"/>
            <a:ext cx="106253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Сходинки 2 і 5 — core цього тижня: між ними лежить уся різниця між «впало» і «деградувало».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Остання лінія — це UX-рішення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(!ok) {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answer = "Вибачте, тимчасові проблеми на нашому боці. 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Спробуйте, будь ласка, трохи згодом.";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 = (status == 200 || status == 0) ? 503 : status;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102A20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Текст — для людини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ввічливе, чесне повідомлення; чат живий, жодного стек-трейса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36118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2E1418"/>
          </a:solidFill>
          <a:ln/>
        </p:spPr>
      </p:sp>
      <p:sp>
        <p:nvSpPr>
          <p:cNvPr id="13" name="Text 10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 — для машин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483096" y="42976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лог їде 503, а не 200 «щоб не лякати»: інакше моніторинг бачить здорову систему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аудиторії, два повідомлення — з одного місця в коді.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Помилки мають бути швидкими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11064240" cy="1005840"/>
          </a:xfrm>
          <a:prstGeom prst="roundRect">
            <a:avLst>
              <a:gd name="adj" fmla="val 10909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86384" y="1883664"/>
            <a:ext cx="106253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gateway/litellm-config.yaml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FD9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num_retries: 0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тепер ви знаєте, навіщо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566928" y="297180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2E1418"/>
          </a:solidFill>
          <a:ln/>
        </p:spPr>
      </p:sp>
      <p:sp>
        <p:nvSpPr>
          <p:cNvPr id="10" name="Text 7"/>
          <p:cNvSpPr/>
          <p:nvPr/>
        </p:nvSpPr>
        <p:spPr>
          <a:xfrm>
            <a:off x="786384" y="3099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ПРИХОВАНІ РЕТРАЇ В КІЛЬКОХ ШАРАХ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86384" y="3355848"/>
            <a:ext cx="1062532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перемножуються: два ретраї в адаптері × два в сервісі × таймаут — і «швидка відмова» триває пів хвилини.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66928" y="429768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13" name="Text 10"/>
          <p:cNvSpPr/>
          <p:nvPr/>
        </p:nvSpPr>
        <p:spPr>
          <a:xfrm>
            <a:off x="786384" y="444398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Reliability-логіка живе в одному місці — у вашому сервісі: видима, залогована, керована.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66928" y="5394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Перевірте сьогодні в лабі: збій має коштувати мілісекунди.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breaker: перестати стукати в мертве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73736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2101A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86384" y="1883664"/>
            <a:ext cx="1062532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[W4 · опційно] 3 збої поспіль → open на 30 с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br = breakers.GetOrAdd(chain[i], _ =&gt; new Breaker());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(br.OpenUntil &gt; now)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0B3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continue;           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8A82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у провайдера навіть не питаємо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66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02A20"/>
          </a:solidFill>
          <a:ln/>
        </p:spPr>
      </p:sp>
      <p:sp>
        <p:nvSpPr>
          <p:cNvPr id="12" name="Text 9"/>
          <p:cNvSpPr/>
          <p:nvPr/>
        </p:nvSpPr>
        <p:spPr>
          <a:xfrm>
            <a:off x="768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Навіщо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перестати витрачати час користувача на виклик, який майже напевно впаде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281928" y="35661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1C1140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37216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окремий на модель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42519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інакше збій однієї моделі закриває доступ до здорових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52578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2A2010"/>
          </a:solidFill>
          <a:ln/>
        </p:spPr>
      </p:sp>
      <p:sp>
        <p:nvSpPr>
          <p:cNvPr id="18" name="Text 15"/>
          <p:cNvSpPr/>
          <p:nvPr/>
        </p:nvSpPr>
        <p:spPr>
          <a:xfrm>
            <a:off x="786384" y="5404104"/>
            <a:ext cx="1062532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Половина сенсу breaker'а спрямована назовні: ви перестаєте добивати провайдера, який і так лежить.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стани — і чому half-open обов'язковий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193140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2A2010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193140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938528" y="2011680"/>
            <a:ext cx="960120" cy="960120"/>
          </a:xfrm>
          <a:prstGeom prst="ellipse">
            <a:avLst/>
          </a:prstGeom>
          <a:solidFill>
            <a:srgbClr val="102A20"/>
          </a:solidFill>
          <a:ln w="19050">
            <a:solidFill>
              <a:srgbClr val="5FD6A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93852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closed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61848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усе працює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97180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5400000">
            <a:off x="391363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289864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збої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33088" y="2011680"/>
            <a:ext cx="960120" cy="960120"/>
          </a:xfrm>
          <a:prstGeom prst="ellipse">
            <a:avLst/>
          </a:prstGeom>
          <a:solidFill>
            <a:srgbClr val="2E1418"/>
          </a:solidFill>
          <a:ln w="19050">
            <a:solidFill>
              <a:srgbClr val="FF7B7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13308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81304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питаємо зовсім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166360" y="2491740"/>
            <a:ext cx="978408" cy="0"/>
          </a:xfrm>
          <a:prstGeom prst="line">
            <a:avLst/>
          </a:prstGeom>
          <a:noFill/>
          <a:ln w="15875">
            <a:solidFill>
              <a:srgbClr val="C9A6F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6108192" y="2423160"/>
            <a:ext cx="146304" cy="137160"/>
          </a:xfrm>
          <a:prstGeom prst="triangle">
            <a:avLst/>
          </a:prstGeom>
          <a:solidFill>
            <a:srgbClr val="C9A6FF"/>
          </a:solidFill>
          <a:ln/>
        </p:spPr>
      </p:sp>
      <p:sp>
        <p:nvSpPr>
          <p:cNvPr id="20" name="Text 17"/>
          <p:cNvSpPr/>
          <p:nvPr/>
        </p:nvSpPr>
        <p:spPr>
          <a:xfrm>
            <a:off x="5093208" y="2107692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~30 с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327648" y="2011680"/>
            <a:ext cx="960120" cy="960120"/>
          </a:xfrm>
          <a:prstGeom prst="ellipse">
            <a:avLst/>
          </a:prstGeom>
          <a:solidFill>
            <a:srgbClr val="2A2010"/>
          </a:solidFill>
          <a:ln w="19050">
            <a:solidFill>
              <a:srgbClr val="E8A85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327648" y="2011680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half-open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007608" y="3026664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пробний запит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566928" y="420624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2E1418"/>
          </a:solidFill>
          <a:ln/>
        </p:spPr>
      </p:sp>
      <p:sp>
        <p:nvSpPr>
          <p:cNvPr id="25" name="Text 22"/>
          <p:cNvSpPr/>
          <p:nvPr/>
        </p:nvSpPr>
        <p:spPr>
          <a:xfrm>
            <a:off x="786384" y="4334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7B7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БЕЗ HALF-OPEN — САМОСТРІЛ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86384" y="459028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відкрився і не має способу перевірити, чи провайдер ожив: система лишається деградованою після того, як усе полагодилося.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5440680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586984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відкритого circuit: здорове питання миттєво отримує заглушку — деградація без збою.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Слід у метриках: інцидент без сліду повториться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C1140"/>
          </a:solidFill>
          <a:ln/>
        </p:spPr>
      </p:sp>
      <p:sp>
        <p:nvSpPr>
          <p:cNvPr id="8" name="Text 5"/>
          <p:cNvSpPr/>
          <p:nvPr/>
        </p:nvSpPr>
        <p:spPr>
          <a:xfrm>
            <a:off x="786384" y="1783080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fallback_events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4548226" y="1783080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переходів росте з кожним спрацюванням ланцюга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2642616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" y="2642616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збоїв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2642616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503, 429, 0 лежать у лозі поруч зі звичайними 200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3502152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" y="3502152"/>
            <a:ext cx="376184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деградації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3502152"/>
            <a:ext cx="664037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пише чесний статус, а не 200 — інакше метрики брешуть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370832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102A2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517136"/>
            <a:ext cx="10625328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запитів пішло через fallback у п'ятницю?» — з цього починається постмортем.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559552"/>
            <a:ext cx="11064240" cy="566928"/>
          </a:xfrm>
          <a:prstGeom prst="roundRect">
            <a:avLst>
              <a:gd name="adj" fmla="val 19355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705856"/>
            <a:ext cx="10625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 тижні 5 це стане плитками консолі — сьогодні досить, що цифри 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9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сучасні поправки до бюджету часу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117485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Яких не було в епоху «одна модель — одна відповідь»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280160" y="14400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C9A6FF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14400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 — інший порядок часу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таймаут під швидкий режим падає на легітимно повільній відповіді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19659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2A2010"/>
          </a:solidFill>
          <a:ln/>
        </p:spPr>
      </p:sp>
      <p:sp>
        <p:nvSpPr>
          <p:cNvPr id="14" name="Shape 11"/>
          <p:cNvSpPr/>
          <p:nvPr/>
        </p:nvSpPr>
        <p:spPr>
          <a:xfrm>
            <a:off x="6483096" y="214884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5" name="Text 12"/>
          <p:cNvSpPr/>
          <p:nvPr/>
        </p:nvSpPr>
        <p:spPr>
          <a:xfrm>
            <a:off x="648309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995160" y="2121408"/>
            <a:ext cx="4434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Ліміти стали багатовимірними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483096" y="26517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лише запити на хвилину: токени, окремі квоти на «думаючі» моделі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023360"/>
            <a:ext cx="11064240" cy="960120"/>
          </a:xfrm>
          <a:prstGeom prst="roundRect">
            <a:avLst>
              <a:gd name="adj" fmla="val 11429"/>
            </a:avLst>
          </a:prstGeom>
          <a:solidFill>
            <a:srgbClr val="2E1418"/>
          </a:solidFill>
          <a:ln/>
        </p:spPr>
      </p:sp>
      <p:sp>
        <p:nvSpPr>
          <p:cNvPr id="19" name="Text 16"/>
          <p:cNvSpPr/>
          <p:nvPr/>
        </p:nvSpPr>
        <p:spPr>
          <a:xfrm>
            <a:off x="786384" y="4169664"/>
            <a:ext cx="1062532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429 приходить не тому, що «багато запитів», а тому, що ви вибрали токен-квоту.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566928" y="51663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102A20"/>
          </a:solidFill>
          <a:ln/>
        </p:spPr>
      </p:sp>
      <p:sp>
        <p:nvSpPr>
          <p:cNvPr id="21" name="Text 18"/>
          <p:cNvSpPr/>
          <p:nvPr/>
        </p:nvSpPr>
        <p:spPr>
          <a:xfrm>
            <a:off x="786384" y="52943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5FD6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ВИСНОВОК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86384" y="555040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часу — властивість маршруту, а не константа сервісу.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7" name="Shape 4"/>
          <p:cNvSpPr/>
          <p:nvPr/>
        </p:nvSpPr>
        <p:spPr>
          <a:xfrm>
            <a:off x="76809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28016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ввічлива відмова замість 500-ки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024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02A2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74520"/>
            <a:ext cx="384048" cy="384048"/>
          </a:xfrm>
          <a:prstGeom prst="ellipse">
            <a:avLst/>
          </a:prstGeom>
          <a:solidFill>
            <a:srgbClr val="5FD6A0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маркер удруге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47141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коштує мілісекунди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973568" y="16916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17" name="Shape 14"/>
          <p:cNvSpPr/>
          <p:nvPr/>
        </p:nvSpPr>
        <p:spPr>
          <a:xfrm>
            <a:off x="8174736" y="18745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8" name="Text 15"/>
          <p:cNvSpPr/>
          <p:nvPr/>
        </p:nvSpPr>
        <p:spPr>
          <a:xfrm>
            <a:off x="8174736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8686800" y="18470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перехід fallback — у діфі коду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8174736" y="23774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лічильник на цьому тижні не віддається нічим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6692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E1418"/>
          </a:solidFill>
          <a:ln/>
        </p:spPr>
      </p:sp>
      <p:sp>
        <p:nvSpPr>
          <p:cNvPr id="22" name="Shape 19"/>
          <p:cNvSpPr/>
          <p:nvPr/>
        </p:nvSpPr>
        <p:spPr>
          <a:xfrm>
            <a:off x="768096" y="3474720"/>
            <a:ext cx="384048" cy="384048"/>
          </a:xfrm>
          <a:prstGeom prst="ellipse">
            <a:avLst/>
          </a:prstGeom>
          <a:solidFill>
            <a:srgbClr val="FF7B7B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14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128016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7B7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3 × __fail_503 → open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6809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здорове питання миттєво отримує заглушку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4270248" y="32918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2A2010"/>
          </a:solidFill>
          <a:ln/>
        </p:spPr>
      </p:sp>
      <p:sp>
        <p:nvSpPr>
          <p:cNvPr id="27" name="Shape 24"/>
          <p:cNvSpPr/>
          <p:nvPr/>
        </p:nvSpPr>
        <p:spPr>
          <a:xfrm>
            <a:off x="4471416" y="3474720"/>
            <a:ext cx="384048" cy="384048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28" name="Text 25"/>
          <p:cNvSpPr/>
          <p:nvPr/>
        </p:nvSpPr>
        <p:spPr>
          <a:xfrm>
            <a:off x="4471416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83480" y="34472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опц.: пауза ~5 с → probe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4471416" y="3977640"/>
            <a:ext cx="3118104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закриває circuit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566928" y="5029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32" name="Text 29"/>
          <p:cNvSpPr/>
          <p:nvPr/>
        </p:nvSpPr>
        <p:spPr>
          <a:xfrm>
            <a:off x="786384" y="51572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41324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спроєктовану відмову наживо: збій — не 500 і не вісім секунд, а швидка ввічлива заглушка зі слідом у лозі. І ціну відкритого circuit — деградацію навіть здорових питань.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три кроки + опційний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7" name="Text 4"/>
          <p:cNvSpPr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88720" y="19202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Побудувати ланцюг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CallGateway + цикл по chain + лічильник переходів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66928" y="28346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566928" y="2834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28346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Довести інцидент до дна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→ заглушка з 503 у лозі, а не 500 користувачу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66928" y="3749040"/>
            <a:ext cx="457200" cy="457200"/>
          </a:xfrm>
          <a:prstGeom prst="ellipse">
            <a:avLst/>
          </a:prstGeom>
          <a:solidFill>
            <a:srgbClr val="C9A6FF"/>
          </a:solidFill>
          <a:ln/>
        </p:spPr>
      </p:sp>
      <p:sp>
        <p:nvSpPr>
          <p:cNvPr id="13" name="Text 10"/>
          <p:cNvSpPr/>
          <p:nvPr/>
        </p:nvSpPr>
        <p:spPr>
          <a:xfrm>
            <a:off x="566928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11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88720" y="37490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слід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статуси і лічильник fallback ростуть правильно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6928" y="4663440"/>
            <a:ext cx="457200" cy="457200"/>
          </a:xfrm>
          <a:prstGeom prst="ellipse">
            <a:avLst/>
          </a:prstGeom>
          <a:solidFill>
            <a:srgbClr val="E8A857"/>
          </a:solidFill>
          <a:ln/>
        </p:spPr>
      </p:sp>
      <p:sp>
        <p:nvSpPr>
          <p:cNvPr id="16" name="Text 13"/>
          <p:cNvSpPr/>
          <p:nvPr/>
        </p:nvSpPr>
        <p:spPr>
          <a:xfrm>
            <a:off x="566928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88720" y="466344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Circuit breaker · опційно  </a:t>
            </a:r>
            <a:pPr indent="0" marL="0"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 збої → open на 30 с, обов'язково з half-open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02A20"/>
          </a:solidFill>
          <a:ln/>
        </p:spPr>
      </p:sp>
      <p:sp>
        <p:nvSpPr>
          <p:cNvPr id="7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FD6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мілісекунди замість восьми секунд прихованих ретраїв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C1140"/>
          </a:solidFill>
          <a:ln/>
        </p:spPr>
      </p:sp>
      <p:sp>
        <p:nvSpPr>
          <p:cNvPr id="10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Користувач бачить ввічливість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замість 500-ки — чат живий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бачить правду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503 у лозі й лічильник переходів, а не «все добре»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2A2010"/>
          </a:solidFill>
          <a:ln/>
        </p:spPr>
      </p:sp>
      <p:sp>
        <p:nvSpPr>
          <p:cNvPr id="16" name="Text 13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A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МЕЖА СТЕНДА — ЧЕСНА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786384" y="43616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Успішний fallback «основна впала — резерв відповів» на mock показати неможливо: обидва елементи ланцюга — той самий mock. Перехід дивимось у діфі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9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0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__fail_503 дає ввічливу заглушку, не 500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3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4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швидкий — мілісекунди, а не секунди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7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18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лозі чесний 503 і лічильник переходів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1C1140"/>
          </a:solidFill>
          <a:ln w="12700">
            <a:solidFill>
              <a:srgbClr val="C9A6F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1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C9A6FF"/>
          </a:solidFill>
          <a:ln/>
        </p:spPr>
      </p:sp>
      <p:sp>
        <p:nvSpPr>
          <p:cNvPr id="22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 retry, fallback і breaker одним реченням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2A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E8A857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2A20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8308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68096" y="195681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8" name="Shape 5"/>
          <p:cNvSpPr/>
          <p:nvPr/>
        </p:nvSpPr>
        <p:spPr>
          <a:xfrm rot="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9" name="Shape 6"/>
          <p:cNvSpPr/>
          <p:nvPr/>
        </p:nvSpPr>
        <p:spPr>
          <a:xfrm rot="-2700000">
            <a:off x="871789" y="213309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0" name="Text 7"/>
          <p:cNvSpPr/>
          <p:nvPr/>
        </p:nvSpPr>
        <p:spPr>
          <a:xfrm>
            <a:off x="1298448" y="17830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без паузи і без стелі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ваш код стає другою половиною інциденту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66928" y="265176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68096" y="282549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3" name="Shape 10"/>
          <p:cNvSpPr/>
          <p:nvPr/>
        </p:nvSpPr>
        <p:spPr>
          <a:xfrm rot="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4" name="Shape 11"/>
          <p:cNvSpPr/>
          <p:nvPr/>
        </p:nvSpPr>
        <p:spPr>
          <a:xfrm rot="-2700000">
            <a:off x="871789" y="300177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5" name="Text 12"/>
          <p:cNvSpPr/>
          <p:nvPr/>
        </p:nvSpPr>
        <p:spPr>
          <a:xfrm>
            <a:off x="1298448" y="265176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Заглушка зі статусом 200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моніторинг бачить здорову систему, коли всі бачать вибачення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352044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68096" y="369417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18" name="Shape 15"/>
          <p:cNvSpPr/>
          <p:nvPr/>
        </p:nvSpPr>
        <p:spPr>
          <a:xfrm rot="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19" name="Shape 16"/>
          <p:cNvSpPr/>
          <p:nvPr/>
        </p:nvSpPr>
        <p:spPr>
          <a:xfrm rot="-2700000">
            <a:off x="871789" y="387045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0" name="Text 17"/>
          <p:cNvSpPr/>
          <p:nvPr/>
        </p:nvSpPr>
        <p:spPr>
          <a:xfrm>
            <a:off x="1298448" y="352044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Ретраї в кількох шарах одразу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бюджети часу перемножуються — «швидка відмова» на пів хвилини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38912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68096" y="456285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3" name="Shape 20"/>
          <p:cNvSpPr/>
          <p:nvPr/>
        </p:nvSpPr>
        <p:spPr>
          <a:xfrm rot="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4" name="Shape 21"/>
          <p:cNvSpPr/>
          <p:nvPr/>
        </p:nvSpPr>
        <p:spPr>
          <a:xfrm rot="-2700000">
            <a:off x="871789" y="473913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5" name="Text 22"/>
          <p:cNvSpPr/>
          <p:nvPr/>
        </p:nvSpPr>
        <p:spPr>
          <a:xfrm>
            <a:off x="1298448" y="4389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Breaker без half-open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лишається деградованою після того, як усе полагодилося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566928" y="5257800"/>
            <a:ext cx="11064240" cy="731520"/>
          </a:xfrm>
          <a:prstGeom prst="roundRect">
            <a:avLst>
              <a:gd name="adj" fmla="val 125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8096" y="5431536"/>
            <a:ext cx="384048" cy="384048"/>
          </a:xfrm>
          <a:prstGeom prst="ellipse">
            <a:avLst/>
          </a:prstGeom>
          <a:solidFill>
            <a:srgbClr val="2E1418"/>
          </a:solidFill>
          <a:ln/>
        </p:spPr>
      </p:sp>
      <p:sp>
        <p:nvSpPr>
          <p:cNvPr id="28" name="Shape 25"/>
          <p:cNvSpPr/>
          <p:nvPr/>
        </p:nvSpPr>
        <p:spPr>
          <a:xfrm rot="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29" name="Shape 26"/>
          <p:cNvSpPr/>
          <p:nvPr/>
        </p:nvSpPr>
        <p:spPr>
          <a:xfrm rot="-2700000">
            <a:off x="871789" y="5607814"/>
            <a:ext cx="176662" cy="31492"/>
          </a:xfrm>
          <a:prstGeom prst="rect">
            <a:avLst/>
          </a:prstGeom>
          <a:solidFill>
            <a:srgbClr val="FF7B7B"/>
          </a:solidFill>
          <a:ln/>
        </p:spPr>
      </p:sp>
      <p:sp>
        <p:nvSpPr>
          <p:cNvPr id="30" name="Text 27"/>
          <p:cNvSpPr/>
          <p:nvPr/>
        </p:nvSpPr>
        <p:spPr>
          <a:xfrm>
            <a:off x="1298448" y="525780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 без лічильника   </a:t>
            </a:r>
            <a:pPr indent="0" marL="0">
              <a:buNone/>
            </a:pPr>
            <a:r>
              <a:rPr lang="en-US" sz="115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проблема, що спрацювала непомітно, повертається більшою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FD6A0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02A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закріпити лабу: __fail_503 → fallback → ввічлива заглушка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переконатися, що збій швидкий і лишає чесний статус у лозі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AFA9B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проговорити свою драбину деградації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2A2010"/>
          </a:solidFill>
          <a:ln/>
        </p:spPr>
      </p:sp>
      <p:sp>
        <p:nvSpPr>
          <p:cNvPr id="10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A85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circuit breaker: 3 збої → open на 30 с, обов'язково з half-open (пробний запит раз на ~5 с) — інакше сам собі влаштуєш outage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17141F"/>
          </a:solidFill>
          <a:ln w="19050">
            <a:solidFill>
              <a:srgbClr val="C9A6FF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4 — після наступного уроку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об'єднує надійність і безпеку: сьогоднішній fallback із деградацією вже у вас в руках, після наступного уроку додасться черга підтверджень для незворотних дій — і тиждень здається одним PR.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8A82A0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reliability — не «щоб не падало», а щоб падіння було керованим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збій — значення, а не виняток: тільки так будуються ланцюги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retry і fallback вирішують різні задачі; порядок — спершу fallback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 має сходинки, а остання з них — UX-рішення з чесним статусом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інцидент без сліду в метриках повториться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17141F"/>
          </a:solidFill>
          <a:ln w="12700">
            <a:solidFill>
              <a:srgbClr val="2E2A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6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8 · Safety, guardrails і human-in-the-loop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Система переживає збій провайдера. Наступного уроку — про збої іншого роду: коли шкоду завдає не інфраструктура, а зміст. Injection, витік даних і незворотні дії, які мусить підтвердити людина — та сама «дірка», яку ми лишили відкритою на уроці 6.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7 · Reliability: fallback, деградація і circuit breaker</dc:title>
  <dc:subject>PptxGenJS Presentation</dc:subject>
  <dc:creator>LLMOps Bootcamp</dc:creator>
  <cp:lastModifiedBy>LLMOps Bootcamp</cp:lastModifiedBy>
  <cp:revision>1</cp:revision>
  <dcterms:created xsi:type="dcterms:W3CDTF">2026-08-16T15:58:30Z</dcterms:created>
  <dcterms:modified xsi:type="dcterms:W3CDTF">2026-08-16T15:58:30Z</dcterms:modified>
</cp:coreProperties>
</file>