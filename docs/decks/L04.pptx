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jpe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1000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COVER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EO_DARK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15544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ТИЖДЕНЬ 2 · УРОК 4 З 12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66928" y="1965960"/>
            <a:ext cx="8229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Токеноміка</a:t>
            </a:r>
            <a:endParaRPr lang="en-US" sz="36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36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і cost attribution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566928" y="411480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«Скільки коштує наш AI?» — питання, на яке більшість команд відповідає рахунком наприкінці місяця. Це запізно. Сьогодні система знатиме вартість кожного запиту в момент відповіді.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5806440"/>
            <a:ext cx="1646834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66928" y="5806440"/>
            <a:ext cx="164683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W1 Основа + промпти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323490" y="5806440"/>
            <a:ext cx="1502359" cy="310896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2323490" y="5806440"/>
            <a:ext cx="150235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W2 Routing + cost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3935578" y="5806440"/>
            <a:ext cx="1285646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35578" y="5806440"/>
            <a:ext cx="128564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W3 Кеш + tools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5330952" y="5806440"/>
            <a:ext cx="1935785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30952" y="5806440"/>
            <a:ext cx="193578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W4 Надійність + безпека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76465" y="5806440"/>
            <a:ext cx="2008022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76465" y="5806440"/>
            <a:ext cx="200802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W5 Observability + evals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9494215" y="5806440"/>
            <a:ext cx="1213409" cy="310896"/>
          </a:xfrm>
          <a:prstGeom prst="roundRect">
            <a:avLst>
              <a:gd name="adj" fmla="val 50000"/>
            </a:avLst>
          </a:prstGeom>
          <a:ln w="12700">
            <a:solidFill>
              <a:srgbClr val="8F72E6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94215" y="5806440"/>
            <a:ext cx="121340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W6 CI + фінал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ви зможете після уроку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П'ять дій, які перевірите руками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271016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71016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Shape 6"/>
          <p:cNvSpPr/>
          <p:nvPr/>
        </p:nvSpPr>
        <p:spPr>
          <a:xfrm>
            <a:off x="76809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0" name="Text 7"/>
          <p:cNvSpPr/>
          <p:nvPr/>
        </p:nvSpPr>
        <p:spPr>
          <a:xfrm>
            <a:off x="76809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128016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у сервісі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поруч із Route(), де ухвалюється рішення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7024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4" name="Shape 11"/>
          <p:cNvSpPr/>
          <p:nvPr/>
        </p:nvSpPr>
        <p:spPr>
          <a:xfrm>
            <a:off x="447141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447141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запиту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447141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момент відповіді, а не в рахунку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973568" y="178308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9" name="Shape 16"/>
          <p:cNvSpPr/>
          <p:nvPr/>
        </p:nvSpPr>
        <p:spPr>
          <a:xfrm>
            <a:off x="8174736" y="19659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0" name="Text 17"/>
          <p:cNvSpPr/>
          <p:nvPr/>
        </p:nvSpPr>
        <p:spPr>
          <a:xfrm>
            <a:off x="8174736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686800" y="19385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Показати різницю SELECT'ом</a:t>
            </a:r>
            <a:endParaRPr lang="en-US" sz="1450" dirty="0"/>
          </a:p>
        </p:txBody>
      </p:sp>
      <p:sp>
        <p:nvSpPr>
          <p:cNvPr id="22" name="Text 19"/>
          <p:cNvSpPr/>
          <p:nvPr/>
        </p:nvSpPr>
        <p:spPr>
          <a:xfrm>
            <a:off x="8174736" y="246888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6692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76809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76809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128016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плитку вартості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76809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із бюджетом поруч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4270248" y="352044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9" name="Shape 26"/>
          <p:cNvSpPr/>
          <p:nvPr/>
        </p:nvSpPr>
        <p:spPr>
          <a:xfrm>
            <a:off x="4471416" y="37033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0" name="Text 27"/>
          <p:cNvSpPr/>
          <p:nvPr/>
        </p:nvSpPr>
        <p:spPr>
          <a:xfrm>
            <a:off x="4471416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4983480" y="36758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Розкласти витрати</a:t>
            </a:r>
            <a:endParaRPr lang="en-US" sz="1450" dirty="0"/>
          </a:p>
        </p:txBody>
      </p:sp>
      <p:sp>
        <p:nvSpPr>
          <p:cNvPr id="32" name="Text 29"/>
          <p:cNvSpPr/>
          <p:nvPr/>
        </p:nvSpPr>
        <p:spPr>
          <a:xfrm>
            <a:off x="4471416" y="420624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 моделлю, днем і версією промпта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Маршрут на сьогодні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Рахунок як спосіб дізнатися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427024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2" name="Shape 9"/>
          <p:cNvSpPr/>
          <p:nvPr/>
        </p:nvSpPr>
        <p:spPr>
          <a:xfrm>
            <a:off x="447141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0"/>
          <p:cNvSpPr/>
          <p:nvPr/>
        </p:nvSpPr>
        <p:spPr>
          <a:xfrm>
            <a:off x="447141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498348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джерело правди</a:t>
            </a:r>
            <a:endParaRPr lang="en-US" sz="1450" dirty="0"/>
          </a:p>
        </p:txBody>
      </p:sp>
      <p:sp>
        <p:nvSpPr>
          <p:cNvPr id="15" name="Shape 12"/>
          <p:cNvSpPr/>
          <p:nvPr/>
        </p:nvSpPr>
        <p:spPr>
          <a:xfrm>
            <a:off x="7973568" y="164592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16" name="Shape 13"/>
          <p:cNvSpPr/>
          <p:nvPr/>
        </p:nvSpPr>
        <p:spPr>
          <a:xfrm>
            <a:off x="8174736" y="18288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8174736" y="1828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686800" y="18013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control plane</a:t>
            </a:r>
            <a:endParaRPr lang="en-US" sz="1450" dirty="0"/>
          </a:p>
        </p:txBody>
      </p:sp>
      <p:sp>
        <p:nvSpPr>
          <p:cNvPr id="19" name="Shape 16"/>
          <p:cNvSpPr/>
          <p:nvPr/>
        </p:nvSpPr>
        <p:spPr>
          <a:xfrm>
            <a:off x="56692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76809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76809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128016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Розрахунок: три рядки</a:t>
            </a:r>
            <a:endParaRPr lang="en-US" sz="1450" dirty="0"/>
          </a:p>
        </p:txBody>
      </p:sp>
      <p:sp>
        <p:nvSpPr>
          <p:cNvPr id="23" name="Shape 20"/>
          <p:cNvSpPr/>
          <p:nvPr/>
        </p:nvSpPr>
        <p:spPr>
          <a:xfrm>
            <a:off x="427024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4" name="Shape 21"/>
          <p:cNvSpPr/>
          <p:nvPr/>
        </p:nvSpPr>
        <p:spPr>
          <a:xfrm>
            <a:off x="447141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5" name="Text 22"/>
          <p:cNvSpPr/>
          <p:nvPr/>
        </p:nvSpPr>
        <p:spPr>
          <a:xfrm>
            <a:off x="447141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98348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</a:t>
            </a:r>
            <a:endParaRPr lang="en-US" sz="1450" dirty="0"/>
          </a:p>
        </p:txBody>
      </p:sp>
      <p:sp>
        <p:nvSpPr>
          <p:cNvPr id="27" name="Shape 24"/>
          <p:cNvSpPr/>
          <p:nvPr/>
        </p:nvSpPr>
        <p:spPr>
          <a:xfrm>
            <a:off x="7973568" y="269748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28" name="Shape 25"/>
          <p:cNvSpPr/>
          <p:nvPr/>
        </p:nvSpPr>
        <p:spPr>
          <a:xfrm>
            <a:off x="8174736" y="28803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9" name="Text 26"/>
          <p:cNvSpPr/>
          <p:nvPr/>
        </p:nvSpPr>
        <p:spPr>
          <a:xfrm>
            <a:off x="8174736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8686800" y="285292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</a:t>
            </a:r>
            <a:endParaRPr lang="en-US" sz="1450" dirty="0"/>
          </a:p>
        </p:txBody>
      </p:sp>
      <p:sp>
        <p:nvSpPr>
          <p:cNvPr id="31" name="Shape 28"/>
          <p:cNvSpPr/>
          <p:nvPr/>
        </p:nvSpPr>
        <p:spPr>
          <a:xfrm>
            <a:off x="56692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2" name="Shape 29"/>
          <p:cNvSpPr/>
          <p:nvPr/>
        </p:nvSpPr>
        <p:spPr>
          <a:xfrm>
            <a:off x="76809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3" name="Text 30"/>
          <p:cNvSpPr/>
          <p:nvPr/>
        </p:nvSpPr>
        <p:spPr>
          <a:xfrm>
            <a:off x="76809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128016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і бюджет</a:t>
            </a:r>
            <a:endParaRPr lang="en-US" sz="1450" dirty="0"/>
          </a:p>
        </p:txBody>
      </p:sp>
      <p:sp>
        <p:nvSpPr>
          <p:cNvPr id="35" name="Shape 32"/>
          <p:cNvSpPr/>
          <p:nvPr/>
        </p:nvSpPr>
        <p:spPr>
          <a:xfrm>
            <a:off x="427024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36" name="Shape 33"/>
          <p:cNvSpPr/>
          <p:nvPr/>
        </p:nvSpPr>
        <p:spPr>
          <a:xfrm>
            <a:off x="447141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37" name="Text 34"/>
          <p:cNvSpPr/>
          <p:nvPr/>
        </p:nvSpPr>
        <p:spPr>
          <a:xfrm>
            <a:off x="447141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1200" dirty="0"/>
          </a:p>
        </p:txBody>
      </p:sp>
      <p:sp>
        <p:nvSpPr>
          <p:cNvPr id="38" name="Text 35"/>
          <p:cNvSpPr/>
          <p:nvPr/>
        </p:nvSpPr>
        <p:spPr>
          <a:xfrm>
            <a:off x="498348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Routing × cost</a:t>
            </a:r>
            <a:endParaRPr lang="en-US" sz="1450" dirty="0"/>
          </a:p>
        </p:txBody>
      </p:sp>
      <p:sp>
        <p:nvSpPr>
          <p:cNvPr id="39" name="Shape 36"/>
          <p:cNvSpPr/>
          <p:nvPr/>
        </p:nvSpPr>
        <p:spPr>
          <a:xfrm>
            <a:off x="7973568" y="374904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0" name="Shape 37"/>
          <p:cNvSpPr/>
          <p:nvPr/>
        </p:nvSpPr>
        <p:spPr>
          <a:xfrm>
            <a:off x="8174736" y="393192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1" name="Text 38"/>
          <p:cNvSpPr/>
          <p:nvPr/>
        </p:nvSpPr>
        <p:spPr>
          <a:xfrm>
            <a:off x="8174736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1200" dirty="0"/>
          </a:p>
        </p:txBody>
      </p:sp>
      <p:sp>
        <p:nvSpPr>
          <p:cNvPr id="42" name="Text 39"/>
          <p:cNvSpPr/>
          <p:nvPr/>
        </p:nvSpPr>
        <p:spPr>
          <a:xfrm>
            <a:off x="8686800" y="390448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</a:t>
            </a:r>
            <a:endParaRPr lang="en-US" sz="1450" dirty="0"/>
          </a:p>
        </p:txBody>
      </p:sp>
      <p:sp>
        <p:nvSpPr>
          <p:cNvPr id="43" name="Shape 40"/>
          <p:cNvSpPr/>
          <p:nvPr/>
        </p:nvSpPr>
        <p:spPr>
          <a:xfrm>
            <a:off x="56692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4" name="Shape 41"/>
          <p:cNvSpPr/>
          <p:nvPr/>
        </p:nvSpPr>
        <p:spPr>
          <a:xfrm>
            <a:off x="76809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5" name="Text 42"/>
          <p:cNvSpPr/>
          <p:nvPr/>
        </p:nvSpPr>
        <p:spPr>
          <a:xfrm>
            <a:off x="76809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200" dirty="0"/>
          </a:p>
        </p:txBody>
      </p:sp>
      <p:sp>
        <p:nvSpPr>
          <p:cNvPr id="46" name="Text 43"/>
          <p:cNvSpPr/>
          <p:nvPr/>
        </p:nvSpPr>
        <p:spPr>
          <a:xfrm>
            <a:off x="128016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Лабораторна</a:t>
            </a:r>
            <a:endParaRPr lang="en-US" sz="1450" dirty="0"/>
          </a:p>
        </p:txBody>
      </p:sp>
      <p:sp>
        <p:nvSpPr>
          <p:cNvPr id="47" name="Shape 44"/>
          <p:cNvSpPr/>
          <p:nvPr/>
        </p:nvSpPr>
        <p:spPr>
          <a:xfrm>
            <a:off x="4270248" y="4800600"/>
            <a:ext cx="3520440" cy="868680"/>
          </a:xfrm>
          <a:prstGeom prst="roundRect">
            <a:avLst>
              <a:gd name="adj" fmla="val 12632"/>
            </a:avLst>
          </a:prstGeom>
          <a:solidFill>
            <a:srgbClr val="000000"/>
          </a:solidFill>
          <a:ln/>
        </p:spPr>
      </p:sp>
      <p:sp>
        <p:nvSpPr>
          <p:cNvPr id="48" name="Shape 45"/>
          <p:cNvSpPr/>
          <p:nvPr/>
        </p:nvSpPr>
        <p:spPr>
          <a:xfrm>
            <a:off x="4471416" y="498348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49" name="Text 46"/>
          <p:cNvSpPr/>
          <p:nvPr/>
        </p:nvSpPr>
        <p:spPr>
          <a:xfrm>
            <a:off x="4471416" y="4983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11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83480" y="495604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Антипатерни</a:t>
            </a:r>
            <a:endParaRPr lang="en-US" sz="1450" dirty="0"/>
          </a:p>
        </p:txBody>
      </p:sp>
      <p:sp>
        <p:nvSpPr>
          <p:cNvPr id="51" name="Shape 48"/>
          <p:cNvSpPr/>
          <p:nvPr/>
        </p:nvSpPr>
        <p:spPr>
          <a:xfrm>
            <a:off x="566928" y="5779008"/>
            <a:ext cx="11064240" cy="402336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786384" y="5925312"/>
            <a:ext cx="106253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 «дізналися з рахунку» — до цифри, яка з'являється разом із відповіддю.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Терміни, якими користуватимемось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66928" y="1200607"/>
            <a:ext cx="6839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Шість слів сьогоднішнього уроку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1465783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465783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9808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usage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49808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(вхід) і completion_tokens (вихід) у відповіді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4322064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4944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прайс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4504944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ціни за 1k токенів, окремо вхідних і вихідних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8077200" y="1783080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60080" y="1892808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cost_usd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8260080" y="2203704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поле лога з порахованою вартістю запиту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66928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49808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атрибуція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749808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розклад витрат за моделлю, днем, версією промпта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4322064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504944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звернення ≠ виклик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4504944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походів у модель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8077200" y="3172968"/>
            <a:ext cx="3553968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60080" y="3282696"/>
            <a:ext cx="3188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бюджет</a:t>
            </a:r>
            <a:endParaRPr lang="en-US" sz="1250" dirty="0"/>
          </a:p>
        </p:txBody>
      </p:sp>
      <p:sp>
        <p:nvSpPr>
          <p:cNvPr id="25" name="Text 22"/>
          <p:cNvSpPr/>
          <p:nvPr/>
        </p:nvSpPr>
        <p:spPr>
          <a:xfrm>
            <a:off x="8260080" y="3593592"/>
            <a:ext cx="31882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цифра, з якою порівнюється сьогоднішня витрата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566928" y="452628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786384" y="467258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Кожне побачимо в коді — тут вони лише щоб не спотикатися.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ТЕОРІЯ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9 блоків — дивимось і розбираємось, руками поки не робимо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Рахунок як спосіб дізнатися про катастрофу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FCF8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фіча злітає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рахунок ×10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археологія: хто? на чому?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30886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24028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920240"/>
            <a:ext cx="2423160" cy="777240"/>
          </a:xfrm>
          <a:prstGeom prst="roundRect">
            <a:avLst>
              <a:gd name="adj" fmla="val 11765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920240"/>
            <a:ext cx="231343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лог мовчить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68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— не константа</a:t>
            </a:r>
            <a:endParaRPr lang="en-US" sz="1450" dirty="0"/>
          </a:p>
        </p:txBody>
      </p:sp>
      <p:sp>
        <p:nvSpPr>
          <p:cNvPr id="24" name="Text 21"/>
          <p:cNvSpPr/>
          <p:nvPr/>
        </p:nvSpPr>
        <p:spPr>
          <a:xfrm>
            <a:off x="768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залежить від моделі, контексту, поведінки користувачів і склейки промпта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6281928" y="306324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26" name="Text 23"/>
          <p:cNvSpPr/>
          <p:nvPr/>
        </p:nvSpPr>
        <p:spPr>
          <a:xfrm>
            <a:off x="6483096" y="32186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Оцінювання якості теж коштує</a:t>
            </a:r>
            <a:endParaRPr lang="en-US" sz="1450" dirty="0"/>
          </a:p>
        </p:txBody>
      </p:sp>
      <p:sp>
        <p:nvSpPr>
          <p:cNvPr id="27" name="Text 24"/>
          <p:cNvSpPr/>
          <p:nvPr/>
        </p:nvSpPr>
        <p:spPr>
          <a:xfrm>
            <a:off x="6483096" y="374904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LLM-as-judge — такі самі токени; не рахувати = недооцінити рахунок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Рахується все, що ходить у модель: запити, ретраї, класифікатори, evals.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Usage — єдине джерело правди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760720" cy="1234440"/>
          </a:xfrm>
          <a:prstGeom prst="roundRect">
            <a:avLst>
              <a:gd name="adj" fmla="val 8889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532180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"usage"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"prompt_tokens"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184,</a:t>
            </a: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"completion_tokens"</a:t>
            </a:r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46 }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566928" y="3154680"/>
            <a:ext cx="5760720" cy="1005840"/>
          </a:xfrm>
          <a:prstGeom prst="roundRect">
            <a:avLst>
              <a:gd name="adj" fmla="val 10909"/>
            </a:avLst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3300984"/>
            <a:ext cx="532180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= токени × ціна моделі, окремо вхідні й вихідні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6629400" y="1737360"/>
            <a:ext cx="5001768" cy="1234440"/>
          </a:xfrm>
          <a:prstGeom prst="roundRect">
            <a:avLst>
              <a:gd name="adj" fmla="val 8889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6830568" y="189280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</a:t>
            </a:r>
            <a:endParaRPr lang="en-US" sz="1450" dirty="0"/>
          </a:p>
        </p:txBody>
      </p:sp>
      <p:sp>
        <p:nvSpPr>
          <p:cNvPr id="14" name="Text 11"/>
          <p:cNvSpPr/>
          <p:nvPr/>
        </p:nvSpPr>
        <p:spPr>
          <a:xfrm>
            <a:off x="6830568" y="242316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провайдери тарифікують їх у кілька разів вище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629400" y="3154680"/>
            <a:ext cx="5001768" cy="1005840"/>
          </a:xfrm>
          <a:prstGeom prst="roundRect">
            <a:avLst>
              <a:gd name="adj" fmla="val 10909"/>
            </a:avLst>
          </a:prstGeom>
          <a:solidFill>
            <a:srgbClr val="000000"/>
          </a:solidFill>
          <a:ln/>
        </p:spPr>
      </p:sp>
      <p:sp>
        <p:nvSpPr>
          <p:cNvPr id="16" name="Text 13"/>
          <p:cNvSpPr/>
          <p:nvPr/>
        </p:nvSpPr>
        <p:spPr>
          <a:xfrm>
            <a:off x="6830568" y="3310128"/>
            <a:ext cx="45994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prompt_tokens домінують</a:t>
            </a:r>
            <a:endParaRPr lang="en-US" sz="1450" dirty="0"/>
          </a:p>
        </p:txBody>
      </p:sp>
      <p:sp>
        <p:nvSpPr>
          <p:cNvPr id="17" name="Text 14"/>
          <p:cNvSpPr/>
          <p:nvPr/>
        </p:nvSpPr>
        <p:spPr>
          <a:xfrm>
            <a:off x="6830568" y="3840480"/>
            <a:ext cx="45994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історія та інструкції важать більше за відповідь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566928" y="44348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45628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MOCK ПОВЕРТАЄ РЕАЛІСТИЧНИЙ USAGE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481888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Оцінює токени за довжиною тексту (~4 символи на токен) — механіка тренується без ключа і без витрат; з реальним провайдером зміняться лише цифри у прайсі.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ваша мова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1280160" y="1005840"/>
            <a:ext cx="6126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3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 той самий зміст дорожчий: кирилиця гірше представлена в токенізаторах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280160" y="1490472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80160" y="1490472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6692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0" name="Shape 7"/>
          <p:cNvSpPr/>
          <p:nvPr/>
        </p:nvSpPr>
        <p:spPr>
          <a:xfrm>
            <a:off x="76809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128016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 системного промпта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6809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він їде в кожному запиті — довжина множиться на весь трафік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27024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5" name="Shape 12"/>
          <p:cNvSpPr/>
          <p:nvPr/>
        </p:nvSpPr>
        <p:spPr>
          <a:xfrm>
            <a:off x="447141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6" name="Text 13"/>
          <p:cNvSpPr/>
          <p:nvPr/>
        </p:nvSpPr>
        <p:spPr>
          <a:xfrm>
            <a:off x="447141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98348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Скільки історії тягнути</a:t>
            </a:r>
            <a:endParaRPr lang="en-US" sz="1450" dirty="0"/>
          </a:p>
        </p:txBody>
      </p:sp>
      <p:sp>
        <p:nvSpPr>
          <p:cNvPr id="18" name="Text 15"/>
          <p:cNvSpPr/>
          <p:nvPr/>
        </p:nvSpPr>
        <p:spPr>
          <a:xfrm>
            <a:off x="447141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контекст оплачується повторно на кожному кроці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973568" y="1874520"/>
            <a:ext cx="35204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0" name="Shape 17"/>
          <p:cNvSpPr/>
          <p:nvPr/>
        </p:nvSpPr>
        <p:spPr>
          <a:xfrm>
            <a:off x="8174736" y="205740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1" name="Text 18"/>
          <p:cNvSpPr/>
          <p:nvPr/>
        </p:nvSpPr>
        <p:spPr>
          <a:xfrm>
            <a:off x="8174736" y="2057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8686800" y="2029968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тримати довгі інструкції</a:t>
            </a:r>
            <a:endParaRPr lang="en-US" sz="1450" dirty="0"/>
          </a:p>
        </p:txBody>
      </p:sp>
      <p:sp>
        <p:nvSpPr>
          <p:cNvPr id="23" name="Text 20"/>
          <p:cNvSpPr/>
          <p:nvPr/>
        </p:nvSpPr>
        <p:spPr>
          <a:xfrm>
            <a:off x="8174736" y="2560320"/>
            <a:ext cx="31181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стабільне — на початок промпта, щоб підхопив кеш префікса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66928" y="3456432"/>
            <a:ext cx="11064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той самий зміст, дві мови — у токенах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566928" y="3712464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English</a:t>
            </a:r>
            <a:endParaRPr lang="en-US" sz="1250" dirty="0"/>
          </a:p>
        </p:txBody>
      </p:sp>
      <p:sp>
        <p:nvSpPr>
          <p:cNvPr id="26" name="Shape 23"/>
          <p:cNvSpPr/>
          <p:nvPr/>
        </p:nvSpPr>
        <p:spPr>
          <a:xfrm>
            <a:off x="2852928" y="3788176"/>
            <a:ext cx="1732547" cy="269199"/>
          </a:xfrm>
          <a:prstGeom prst="roundRect">
            <a:avLst>
              <a:gd name="adj" fmla="val 16984"/>
            </a:avLst>
          </a:prstGeom>
          <a:solidFill>
            <a:srgbClr val="106B41"/>
          </a:solidFill>
          <a:ln/>
        </p:spPr>
      </p:sp>
      <p:sp>
        <p:nvSpPr>
          <p:cNvPr id="27" name="Text 24"/>
          <p:cNvSpPr/>
          <p:nvPr/>
        </p:nvSpPr>
        <p:spPr>
          <a:xfrm>
            <a:off x="7196328" y="3712464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8 токенів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" y="4315968"/>
            <a:ext cx="2121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Українською</a:t>
            </a:r>
            <a:endParaRPr 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2852928" y="4391680"/>
            <a:ext cx="4114800" cy="269199"/>
          </a:xfrm>
          <a:prstGeom prst="roundRect">
            <a:avLst>
              <a:gd name="adj" fmla="val 16984"/>
            </a:avLst>
          </a:prstGeom>
          <a:solidFill>
            <a:srgbClr val="B3261E"/>
          </a:solidFill>
          <a:ln/>
        </p:spPr>
      </p:sp>
      <p:sp>
        <p:nvSpPr>
          <p:cNvPr id="30" name="Text 27"/>
          <p:cNvSpPr/>
          <p:nvPr/>
        </p:nvSpPr>
        <p:spPr>
          <a:xfrm>
            <a:off x="7196328" y="4315968"/>
            <a:ext cx="42062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19 токенів — та сама фраза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66928" y="4846320"/>
            <a:ext cx="1106424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86384" y="49743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33" name="Text 30"/>
          <p:cNvSpPr/>
          <p:nvPr/>
        </p:nvSpPr>
        <p:spPr>
          <a:xfrm>
            <a:off x="786384" y="5230368"/>
            <a:ext cx="1062532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Економія на промпті — у межах найдешевшої ставки; зміна моделі — різниця в разах.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живе в control plane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766560" cy="1828800"/>
          </a:xfrm>
          <a:prstGeom prst="roundRect">
            <a:avLst>
              <a:gd name="adj" fmla="val 6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327648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прайс за 1k токенів (in, out) — навчальні числа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prices = new Dictionary&lt;string, (decimal In, decimal Out)&gt;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["mock-mini"]   = (0.00015m, 0.0006m),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["mock-strong"] = (0.0025m,  0.01m),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635240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781544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×16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781544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strong дорожча за mini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9710928" y="1737360"/>
            <a:ext cx="192024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9857232" y="1847088"/>
            <a:ext cx="1627632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×4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9857232" y="2798064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 дорожчі за вхідні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79476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94106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Рішення визначають пропорції, не абсолютні цифри — тому routing і є важелем.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48920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0200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ЧОМУ ПОРУЧ ІЗ ROUTE()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2760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біля точки рішення: ціна — параметр вибору, не бухгалтерська довідка.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Прайс — живі дані, і цін уже не дві, а три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Застарілі ціни — систематична помилка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 разовий баг, а викривлення всіх рішень, які ви ухвалюєте за цифрами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37360"/>
            <a:ext cx="5349240" cy="1508760"/>
          </a:xfrm>
          <a:prstGeom prst="roundRect">
            <a:avLst>
              <a:gd name="adj" fmla="val 7273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89280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 токени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23160"/>
            <a:ext cx="494690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незмінний префікс промпта на повторних викликах — у рази дешевший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932688" y="3520440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кешовані вхідні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3310128" y="3602736"/>
            <a:ext cx="853440" cy="292608"/>
          </a:xfrm>
          <a:prstGeom prst="roundRect">
            <a:avLst>
              <a:gd name="adj" fmla="val 15625"/>
            </a:avLst>
          </a:prstGeom>
          <a:solidFill>
            <a:srgbClr val="106B41"/>
          </a:solidFill>
          <a:ln/>
        </p:spPr>
      </p:sp>
      <p:sp>
        <p:nvSpPr>
          <p:cNvPr id="16" name="Text 13"/>
          <p:cNvSpPr/>
          <p:nvPr/>
        </p:nvSpPr>
        <p:spPr>
          <a:xfrm>
            <a:off x="8659368" y="352044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 рази дешевші</a:t>
            </a:r>
            <a:endParaRPr lang="en-US" sz="1150" dirty="0"/>
          </a:p>
        </p:txBody>
      </p:sp>
      <p:sp>
        <p:nvSpPr>
          <p:cNvPr id="17" name="Text 14"/>
          <p:cNvSpPr/>
          <p:nvPr/>
        </p:nvSpPr>
        <p:spPr>
          <a:xfrm>
            <a:off x="932688" y="4197096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вхідні</a:t>
            </a:r>
            <a:endParaRPr lang="en-US" sz="1250" dirty="0"/>
          </a:p>
        </p:txBody>
      </p:sp>
      <p:sp>
        <p:nvSpPr>
          <p:cNvPr id="18" name="Shape 15"/>
          <p:cNvSpPr/>
          <p:nvPr/>
        </p:nvSpPr>
        <p:spPr>
          <a:xfrm>
            <a:off x="3310128" y="4279392"/>
            <a:ext cx="1877568" cy="292608"/>
          </a:xfrm>
          <a:prstGeom prst="roundRect">
            <a:avLst>
              <a:gd name="adj" fmla="val 15625"/>
            </a:avLst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8659368" y="4197096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базова ставка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932688" y="4873752"/>
            <a:ext cx="2212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вихідні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3310128" y="4956048"/>
            <a:ext cx="5120640" cy="292608"/>
          </a:xfrm>
          <a:prstGeom prst="roundRect">
            <a:avLst>
              <a:gd name="adj" fmla="val 15625"/>
            </a:avLst>
          </a:prstGeom>
          <a:solidFill>
            <a:srgbClr val="B3261E"/>
          </a:solidFill>
          <a:ln/>
        </p:spPr>
      </p:sp>
      <p:sp>
        <p:nvSpPr>
          <p:cNvPr id="22" name="Text 19"/>
          <p:cNvSpPr/>
          <p:nvPr/>
        </p:nvSpPr>
        <p:spPr>
          <a:xfrm>
            <a:off x="8659368" y="487375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найдорожчі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66928" y="534924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6384" y="54772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НЕ ПЛУТАТИ З КЕШЕМ ВІДПОВІДЕЙ (W3)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786384" y="573328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Кеш відповідей прибирає виклик цілком; кеш префікса здешевлює виклик зсередини. Вони складаються, а не конкурують.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Розрахунок: три рядки після відповіді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[W2] cost: tokens * ціна моделі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decimal? costUsd = prices.TryGetValue(model, out var pr)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Math.Round(promptTokens / 1000m * pr.In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+ completionTokens / 1000m * pr.Out, 6)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C9C4D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null;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66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68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null, а не нуль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768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— брехня «запит був безкоштовний»; null — чесне «не знаємо», яке легко знайти запитом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6281928" y="3703320"/>
            <a:ext cx="5349240" cy="1600200"/>
          </a:xfrm>
          <a:prstGeom prst="roundRect">
            <a:avLst>
              <a:gd name="adj" fmla="val 6857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385876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Округлення до 6 знаків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6483096" y="4389120"/>
            <a:ext cx="494690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збігається з типом колонки NUMERIC(10,6); неузгоджене округлення дає розбіжність із рахунком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Один запит користувача — це не один виклик моделі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62179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ретрай (урок 7)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08152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 rot="5400000">
            <a:off x="320954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2" name="Shape 9"/>
          <p:cNvSpPr/>
          <p:nvPr/>
        </p:nvSpPr>
        <p:spPr>
          <a:xfrm>
            <a:off x="344728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3" name="Text 10"/>
          <p:cNvSpPr/>
          <p:nvPr/>
        </p:nvSpPr>
        <p:spPr>
          <a:xfrm>
            <a:off x="350215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BA0F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fallback (урок 7)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596188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 rot="5400000">
            <a:off x="608990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16" name="Shape 13"/>
          <p:cNvSpPr/>
          <p:nvPr/>
        </p:nvSpPr>
        <p:spPr>
          <a:xfrm>
            <a:off x="632764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638251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tool-цикл (урок 6)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8842248" y="2240280"/>
            <a:ext cx="164592" cy="0"/>
          </a:xfrm>
          <a:prstGeom prst="line">
            <a:avLst/>
          </a:prstGeom>
          <a:noFill/>
          <a:ln w="15875">
            <a:solidFill>
              <a:srgbClr val="5A05F4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5400000">
            <a:off x="8970264" y="2171700"/>
            <a:ext cx="146304" cy="137160"/>
          </a:xfrm>
          <a:prstGeom prst="triangle">
            <a:avLst/>
          </a:prstGeom>
          <a:solidFill>
            <a:srgbClr val="5A05F4"/>
          </a:solidFill>
          <a:ln/>
        </p:spPr>
      </p:sp>
      <p:sp>
        <p:nvSpPr>
          <p:cNvPr id="20" name="Shape 17"/>
          <p:cNvSpPr/>
          <p:nvPr/>
        </p:nvSpPr>
        <p:spPr>
          <a:xfrm>
            <a:off x="9208008" y="1874520"/>
            <a:ext cx="2423160" cy="731520"/>
          </a:xfrm>
          <a:prstGeom prst="roundRect">
            <a:avLst>
              <a:gd name="adj" fmla="val 12500"/>
            </a:avLst>
          </a:prstGeom>
          <a:solidFill>
            <a:srgbClr val="000000"/>
          </a:solidFill>
          <a:ln/>
        </p:spPr>
      </p:sp>
      <p:sp>
        <p:nvSpPr>
          <p:cNvPr id="21" name="Text 18"/>
          <p:cNvSpPr/>
          <p:nvPr/>
        </p:nvSpPr>
        <p:spPr>
          <a:xfrm>
            <a:off x="9262872" y="1874520"/>
            <a:ext cx="23134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класифікатор (уроки 3 і 8)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566928" y="2926080"/>
            <a:ext cx="3566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23" name="Text 20"/>
          <p:cNvSpPr/>
          <p:nvPr/>
        </p:nvSpPr>
        <p:spPr>
          <a:xfrm>
            <a:off x="713232" y="3035808"/>
            <a:ext cx="3273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 → 4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713232" y="3721608"/>
            <a:ext cx="3273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одне питання — до чотирьох викликів і чотирьох рядків лога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4315968" y="2926080"/>
            <a:ext cx="731520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535424" y="3072384"/>
            <a:ext cx="68762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рахує виклик, а не звернення — помилка завжди в бік «дешево».</a:t>
            </a:r>
            <a:endParaRPr lang="en-US" sz="1300" dirty="0"/>
          </a:p>
        </p:txBody>
      </p:sp>
      <p:sp>
        <p:nvSpPr>
          <p:cNvPr id="27" name="Shape 24"/>
          <p:cNvSpPr/>
          <p:nvPr/>
        </p:nvSpPr>
        <p:spPr>
          <a:xfrm>
            <a:off x="566928" y="457200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6384" y="47000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ПРИНЦИП: КЛЮЧ ЗВЕРНЕННЯ ≠ КЛЮЧ ВИКЛИКУ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4956048"/>
            <a:ext cx="10625328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Групуйте за зверненням, не за рядком лога — інакше цифра занижена.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Скільки коштує результат, а не токен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Ціна вирішеного звернення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768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облік по request_id + ознака результату (ескалація сталася чи ні) — і цифра готова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281928" y="1783080"/>
            <a:ext cx="534924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6483096" y="193852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Мова, зрозуміла керівництву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6483096" y="2468880"/>
            <a:ext cx="494690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«N звернень на тиждень по X центів — проти Y хвилин оператора»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66928" y="3529584"/>
            <a:ext cx="79662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72 вирішено ботом  ·  $0.90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533181" y="3529584"/>
            <a:ext cx="3097987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28 на оператора  ·  $46</a:t>
            </a:r>
            <a:endParaRPr lang="en-US" sz="950" dirty="0"/>
          </a:p>
        </p:txBody>
      </p:sp>
      <p:sp>
        <p:nvSpPr>
          <p:cNvPr id="18" name="Text 15"/>
          <p:cNvSpPr/>
          <p:nvPr/>
        </p:nvSpPr>
        <p:spPr>
          <a:xfrm>
            <a:off x="566928" y="3273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сто звернень за день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66928" y="4261104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86384" y="4389120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ЯК ЧЕСНО ПОРІВНЯТИ ДЕШЕВУ МОДЕЛЬ ІЗ СИЛЬНОЮ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786384" y="4645152"/>
            <a:ext cx="10625328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Дешева модель, яка вдвічі частіше ескалює на людину, не економить нічого: ви зменшили ціну виклику і збільшили ціну результату. Порівнювати прайси безглуздо — порівнюйте вартість вирішеного звернення.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Атрибуція важливіша за суму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024128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024128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274320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9" name="Text 6"/>
          <p:cNvSpPr/>
          <p:nvPr/>
        </p:nvSpPr>
        <p:spPr>
          <a:xfrm>
            <a:off x="713232" y="1847088"/>
            <a:ext cx="24505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$400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713232" y="2532888"/>
            <a:ext cx="245059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тривога без дії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3493008" y="1737360"/>
            <a:ext cx="813816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2" name="Text 9"/>
          <p:cNvSpPr/>
          <p:nvPr/>
        </p:nvSpPr>
        <p:spPr>
          <a:xfrm>
            <a:off x="3639312" y="1847088"/>
            <a:ext cx="78455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$310 — ескалації на strong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3639312" y="2532888"/>
            <a:ext cx="7845552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третина могла піти на mini: рішення з порахованим ефектом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291840"/>
            <a:ext cx="6309360" cy="1600200"/>
          </a:xfrm>
          <a:prstGeom prst="roundRect">
            <a:avLst>
              <a:gd name="adj" fmla="val 6857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3438144"/>
            <a:ext cx="5870448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моделлю: чи дороге дістається складному?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count(*), SUM(cost_usd)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FROM requests GROUP BY model;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-- за днем: тренд і сплески</a:t>
            </a:r>
            <a:endParaRPr lang="en-US" sz="11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created_at::date, SUM(cost_usd) …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7178040" y="3291840"/>
            <a:ext cx="4453128" cy="1600200"/>
          </a:xfrm>
          <a:prstGeom prst="roundRect">
            <a:avLst>
              <a:gd name="adj" fmla="val 6857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397496" y="3438144"/>
            <a:ext cx="4014216" cy="1307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Записали в момент запиту — зріз коштує один GROUP BY. Ні — вже ніколи.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ТИПОВА ПОМИЛКА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45896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Міняти промпт наосліп: спершу зріз по лозі, потім зміна, потім той самий зріз.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07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GET /cost: бюджет поруч із витратою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6583680" cy="2011680"/>
          </a:xfrm>
          <a:prstGeom prst="roundRect">
            <a:avLst>
              <a:gd name="adj" fmla="val 5455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6144768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SELECT COALESCE(SUM(cost_usd), 0) FROM requests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9A94A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WHERE created_at::date = CURRENT_DATE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 Results.Json(new {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today_usd  = Math.Round(today, 4),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D8D4E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budget_usd = 5.0 });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7498080" y="1737360"/>
            <a:ext cx="4133088" cy="2011680"/>
          </a:xfrm>
          <a:prstGeom prst="roundRect">
            <a:avLst>
              <a:gd name="adj" fmla="val 545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26680" y="1920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ВАРТІСТЬ СЬОГОДНІ</a:t>
            </a:r>
            <a:endParaRPr lang="en-US" sz="950" dirty="0"/>
          </a:p>
        </p:txBody>
      </p:sp>
      <p:sp>
        <p:nvSpPr>
          <p:cNvPr id="12" name="Text 9"/>
          <p:cNvSpPr/>
          <p:nvPr/>
        </p:nvSpPr>
        <p:spPr>
          <a:xfrm>
            <a:off x="7726680" y="224028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$0.00 / $5.00</a:t>
            </a:r>
            <a:endParaRPr lang="en-US" sz="3000" dirty="0"/>
          </a:p>
        </p:txBody>
      </p:sp>
      <p:sp>
        <p:nvSpPr>
          <p:cNvPr id="13" name="Text 10"/>
          <p:cNvSpPr/>
          <p:nvPr/>
        </p:nvSpPr>
        <p:spPr>
          <a:xfrm>
            <a:off x="7726680" y="297180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була «—» з уроку 1 — тепер жива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397764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86384" y="410565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КОНСОЛЬ ОКРУГЛЮЄ ДО ЦЕНТІВ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86384" y="4361688"/>
            <a:ext cx="1062532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/cost віддає точне значення; на mock плитка часто показує $0.00 — це не баг, а округлення дрібних сум.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66928" y="507492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86384" y="5221224"/>
            <a:ext cx="1062532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поруч із витратою перетворює число на сигнал: без нього сума нічого не означає.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08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Routing × cost: важіль стає видимим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566928" y="173736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0A0810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86384" y="1883664"/>
            <a:ext cx="1062532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A98B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model, cost_usd FROM requests ORDER BY created_at DESC LIMIT 2;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32688" y="274320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FAQ → mock-mini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310128" y="2833726"/>
            <a:ext cx="571500" cy="321869"/>
          </a:xfrm>
          <a:prstGeom prst="roundRect">
            <a:avLst>
              <a:gd name="adj" fmla="val 14205"/>
            </a:avLst>
          </a:prstGeom>
          <a:solidFill>
            <a:srgbClr val="106B41"/>
          </a:solidFill>
          <a:ln/>
        </p:spPr>
      </p:sp>
      <p:sp>
        <p:nvSpPr>
          <p:cNvPr id="12" name="Text 9"/>
          <p:cNvSpPr/>
          <p:nvPr/>
        </p:nvSpPr>
        <p:spPr>
          <a:xfrm>
            <a:off x="8110728" y="274320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06B4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дешевий маршрут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932688" y="3520440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→ strong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3310128" y="3610966"/>
            <a:ext cx="4572000" cy="321869"/>
          </a:xfrm>
          <a:prstGeom prst="roundRect">
            <a:avLst>
              <a:gd name="adj" fmla="val 14205"/>
            </a:avLst>
          </a:prstGeom>
          <a:solidFill>
            <a:srgbClr val="B3261E"/>
          </a:solidFill>
          <a:ln/>
        </p:spPr>
      </p:sp>
      <p:sp>
        <p:nvSpPr>
          <p:cNvPr id="15" name="Text 12"/>
          <p:cNvSpPr/>
          <p:nvPr/>
        </p:nvSpPr>
        <p:spPr>
          <a:xfrm>
            <a:off x="8110728" y="3520440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3261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помітно дорожче при тій самій довжині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4160520"/>
            <a:ext cx="11064240" cy="914400"/>
          </a:xfrm>
          <a:prstGeom prst="roundRect">
            <a:avLst>
              <a:gd name="adj" fmla="val 12000"/>
            </a:avLst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4306824"/>
            <a:ext cx="1062532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Приберіть роутер — весь трафік піде на strong. Помножте різницю на добовий обсяг: тепер вона порахована, а не відчута.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86384" y="538581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ГОЛОВНИЙ ВИСНОВОК ТИЖНЯ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786384" y="5641848"/>
            <a:ext cx="10625328" cy="265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Маршрутизація — не «оптимізація по відчуттю», а рішення з ціною, яку видно в лозі.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02336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1280160" y="384048"/>
            <a:ext cx="61264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Budget-політика: що робити при 80%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1280160" y="1218895"/>
            <a:ext cx="777240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80160" y="1218895"/>
            <a:ext cx="777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5A05F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ТЕОРІЯ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167128" y="1218895"/>
            <a:ext cx="864108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167128" y="1218895"/>
            <a:ext cx="8641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43434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ОПЦІЙНО</a:t>
            </a:r>
            <a:endParaRPr lang="en-US" sz="9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566928" y="1828800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786384" y="1828800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4548226" y="1828800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при 80% бюджету — подія в лог; найм'якше і найчастіше достатнє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66928" y="2688336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786384" y="2688336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Деградація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4548226" y="2688336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вище порогу неескалаційний трафік іде на дешевшу модель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547872"/>
            <a:ext cx="11064240" cy="713232"/>
          </a:xfrm>
          <a:prstGeom prst="roundRect">
            <a:avLst>
              <a:gd name="adj" fmla="val 12821"/>
            </a:avLst>
          </a:prstGeom>
          <a:solidFill>
            <a:srgbClr val="000000"/>
          </a:solidFill>
          <a:ln/>
        </p:spPr>
      </p:sp>
      <p:sp>
        <p:nvSpPr>
          <p:cNvPr id="17" name="Text 14"/>
          <p:cNvSpPr/>
          <p:nvPr/>
        </p:nvSpPr>
        <p:spPr>
          <a:xfrm>
            <a:off x="786384" y="3547872"/>
            <a:ext cx="376184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Відсікання</a:t>
            </a:r>
            <a:endParaRPr lang="en-US" sz="1350" dirty="0"/>
          </a:p>
        </p:txBody>
      </p:sp>
      <p:sp>
        <p:nvSpPr>
          <p:cNvPr id="18" name="Text 15"/>
          <p:cNvSpPr/>
          <p:nvPr/>
        </p:nvSpPr>
        <p:spPr>
          <a:xfrm>
            <a:off x="4548226" y="3547872"/>
            <a:ext cx="6640373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не-критичні запити отримують заготовлену відповідь без походу в модель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66928" y="4462272"/>
            <a:ext cx="8851392" cy="402336"/>
          </a:xfrm>
          <a:prstGeom prst="rect">
            <a:avLst/>
          </a:prstGeom>
          <a:solidFill>
            <a:srgbClr val="F5F3FA"/>
          </a:solidFill>
          <a:ln w="12700">
            <a:solidFill>
              <a:srgbClr val="106B41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418320" y="4462272"/>
            <a:ext cx="1327709" cy="402336"/>
          </a:xfrm>
          <a:prstGeom prst="rect">
            <a:avLst/>
          </a:prstGeom>
          <a:solidFill>
            <a:srgbClr val="F5F3FA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746029" y="4462272"/>
            <a:ext cx="885139" cy="402336"/>
          </a:xfrm>
          <a:prstGeom prst="rect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9418320" y="4389120"/>
            <a:ext cx="0" cy="548640"/>
          </a:xfrm>
          <a:prstGeom prst="line">
            <a:avLst/>
          </a:prstGeom>
          <a:noFill/>
          <a:ln w="19050">
            <a:solidFill>
              <a:srgbClr val="1A4FBF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10746029" y="4389120"/>
            <a:ext cx="0" cy="548640"/>
          </a:xfrm>
          <a:prstGeom prst="line">
            <a:avLst/>
          </a:prstGeom>
          <a:noFill/>
          <a:ln w="19050">
            <a:solidFill>
              <a:srgbClr val="B3261E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66928" y="4956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витрачений бюджет місяця:  </a:t>
            </a:r>
            <a:pPr indent="0" marL="0">
              <a:buNone/>
            </a:pPr>
            <a:r>
              <a:rPr lang="en-US" sz="900" b="1" dirty="0">
                <a:solidFill>
                  <a:srgbClr val="106B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до 80% — норма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80% — алерт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92% — деградація</a:t>
            </a:r>
            <a:pPr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·   </a:t>
            </a:r>
            <a:pPr indent="0" marL="0">
              <a:buNone/>
            </a:pPr>
            <a:r>
              <a:rPr lang="en-US" sz="900" b="1" dirty="0">
                <a:solidFill>
                  <a:srgbClr val="B3261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100% — відсікання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66928" y="5230368"/>
            <a:ext cx="11064240" cy="868680"/>
          </a:xfrm>
          <a:prstGeom prst="roundRect">
            <a:avLst>
              <a:gd name="adj" fmla="val 12632"/>
            </a:avLst>
          </a:prstGeom>
          <a:solidFill>
            <a:srgbClr val="5A05F4"/>
          </a:solidFill>
          <a:ln/>
        </p:spPr>
      </p:sp>
      <p:sp>
        <p:nvSpPr>
          <p:cNvPr id="26" name="Text 23"/>
          <p:cNvSpPr/>
          <p:nvPr/>
        </p:nvSpPr>
        <p:spPr>
          <a:xfrm>
            <a:off x="786384" y="5358384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ФОРМА ВАЖЛИВІША ЗА МЕХАНІЗМ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86384" y="5614416"/>
            <a:ext cx="10625328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Умова на цифрі з лога → зміна поведінки control plane. Це шаблон, у який далі ляжуть і fallback (W4), і гейт якості (W6).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ПРАКТИКА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стенд наживо — і чесна межа того, що він доводить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66928" y="4773168"/>
            <a:ext cx="4224528" cy="475488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4773168"/>
            <a:ext cx="422452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→  Лабораторна: чотири частини + опційна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Зараз ви побачите — і навіщо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8" name="Shape 5"/>
          <p:cNvSpPr/>
          <p:nvPr/>
        </p:nvSpPr>
        <p:spPr>
          <a:xfrm>
            <a:off x="768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6"/>
          <p:cNvSpPr/>
          <p:nvPr/>
        </p:nvSpPr>
        <p:spPr>
          <a:xfrm>
            <a:off x="768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280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коді сервісу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768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mock-mini і mock-strong, чотири числа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281928" y="173736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3" name="Shape 10"/>
          <p:cNvSpPr/>
          <p:nvPr/>
        </p:nvSpPr>
        <p:spPr>
          <a:xfrm>
            <a:off x="6483096" y="192024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6483096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6995160" y="189280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питання обох типів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6483096" y="242316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та ескалація — роутер розводить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66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18" name="Shape 15"/>
          <p:cNvSpPr/>
          <p:nvPr/>
        </p:nvSpPr>
        <p:spPr>
          <a:xfrm>
            <a:off x="768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768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1280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SELECT model, cost_usd</a:t>
            </a:r>
            <a:endParaRPr lang="en-US" sz="1450" dirty="0"/>
          </a:p>
        </p:txBody>
      </p:sp>
      <p:sp>
        <p:nvSpPr>
          <p:cNvPr id="21" name="Text 18"/>
          <p:cNvSpPr/>
          <p:nvPr/>
        </p:nvSpPr>
        <p:spPr>
          <a:xfrm>
            <a:off x="768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 ескалації цифра помітно більша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281928" y="3383280"/>
            <a:ext cx="5532120" cy="1463040"/>
          </a:xfrm>
          <a:prstGeom prst="roundRect">
            <a:avLst>
              <a:gd name="adj" fmla="val 7500"/>
            </a:avLst>
          </a:prstGeom>
          <a:solidFill>
            <a:srgbClr val="000000"/>
          </a:solidFill>
          <a:ln/>
        </p:spPr>
      </p:sp>
      <p:sp>
        <p:nvSpPr>
          <p:cNvPr id="23" name="Shape 20"/>
          <p:cNvSpPr/>
          <p:nvPr/>
        </p:nvSpPr>
        <p:spPr>
          <a:xfrm>
            <a:off x="6483096" y="3566160"/>
            <a:ext cx="384048" cy="384048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24" name="Text 21"/>
          <p:cNvSpPr/>
          <p:nvPr/>
        </p:nvSpPr>
        <p:spPr>
          <a:xfrm>
            <a:off x="6483096" y="3566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6995160" y="3538728"/>
            <a:ext cx="4617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«Вартість сьогодні»</a:t>
            </a:r>
            <a:endParaRPr lang="en-US" sz="1450" dirty="0"/>
          </a:p>
        </p:txBody>
      </p:sp>
      <p:sp>
        <p:nvSpPr>
          <p:cNvPr id="26" name="Text 23"/>
          <p:cNvSpPr/>
          <p:nvPr/>
        </p:nvSpPr>
        <p:spPr>
          <a:xfrm>
            <a:off x="6483096" y="4069080"/>
            <a:ext cx="5129784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жива: $… / $5.00 замість «—»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66928" y="5074920"/>
            <a:ext cx="11064240" cy="1051560"/>
          </a:xfrm>
          <a:prstGeom prst="roundRect">
            <a:avLst>
              <a:gd name="adj" fmla="val 10435"/>
            </a:avLst>
          </a:prstGeom>
          <a:solidFill>
            <a:srgbClr val="5A05F4"/>
          </a:solidFill>
          <a:ln/>
        </p:spPr>
      </p:sp>
      <p:sp>
        <p:nvSpPr>
          <p:cNvPr id="28" name="Text 25"/>
          <p:cNvSpPr/>
          <p:nvPr/>
        </p:nvSpPr>
        <p:spPr>
          <a:xfrm>
            <a:off x="786384" y="5202936"/>
            <a:ext cx="106253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НАВІЩО</a:t>
            </a:r>
            <a:endParaRPr lang="en-US" sz="950" dirty="0"/>
          </a:p>
        </p:txBody>
      </p:sp>
      <p:sp>
        <p:nvSpPr>
          <p:cNvPr id="29" name="Text 26"/>
          <p:cNvSpPr/>
          <p:nvPr/>
        </p:nvSpPr>
        <p:spPr>
          <a:xfrm>
            <a:off x="786384" y="5458968"/>
            <a:ext cx="10625328" cy="5394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Побачити гроші в момент відповіді, а не в рахунку наприкінці місяця — і вперше побачити важіль роутингу порахованим у доларах.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Лабораторна: чотири частини + опційна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218895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218895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8" name="Text 5"/>
          <p:cNvSpPr/>
          <p:nvPr/>
        </p:nvSpPr>
        <p:spPr>
          <a:xfrm>
            <a:off x="566928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188720" y="182880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Завести прайс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словник цін поруч із Route() у service/Program.cs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566928" y="2670048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566928" y="26700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1188720" y="267004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Порахувати вартість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три рядки після відповіді → cost_usd у LogRequest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66928" y="3511296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4" name="Text 11"/>
          <p:cNvSpPr/>
          <p:nvPr/>
        </p:nvSpPr>
        <p:spPr>
          <a:xfrm>
            <a:off x="566928" y="35112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1188720" y="351129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Перевірити атрибуцію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GROUP BY model і за днем: цифри сходяться з очікуванням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566928" y="4352544"/>
            <a:ext cx="457200" cy="457200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7" name="Text 14"/>
          <p:cNvSpPr/>
          <p:nvPr/>
        </p:nvSpPr>
        <p:spPr>
          <a:xfrm>
            <a:off x="566928" y="43525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DE7F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1188720" y="435254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Оживити /cost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SUM за сьогодні + бюджет → плитка в консолі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566928" y="5193792"/>
            <a:ext cx="457200" cy="457200"/>
          </a:xfrm>
          <a:prstGeom prst="ellipse">
            <a:avLst/>
          </a:prstGeom>
          <a:solidFill>
            <a:srgbClr val="1A4FBF"/>
          </a:solidFill>
          <a:ln/>
        </p:spPr>
      </p:sp>
      <p:sp>
        <p:nvSpPr>
          <p:cNvPr id="20" name="Text 17"/>
          <p:cNvSpPr/>
          <p:nvPr/>
        </p:nvSpPr>
        <p:spPr>
          <a:xfrm>
            <a:off x="566928" y="51937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5F3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1188720" y="519379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4FB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Budget-політика · опційно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алерт при 80% або деградація на дешевшу модель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2487168"/>
            <a:ext cx="11064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0" dirty="0">
                <a:solidFill>
                  <a:srgbClr val="FFFFFF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РЕФЛЕКСІЯ</a:t>
            </a:r>
            <a:endParaRPr lang="en-US" sz="6500" dirty="0"/>
          </a:p>
        </p:txBody>
      </p:sp>
      <p:sp>
        <p:nvSpPr>
          <p:cNvPr id="4" name="Text 2"/>
          <p:cNvSpPr/>
          <p:nvPr/>
        </p:nvSpPr>
        <p:spPr>
          <a:xfrm>
            <a:off x="566928" y="4023360"/>
            <a:ext cx="87782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C4B3F5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що це довело · перевір себе · антипатерни тижня</a:t>
            </a:r>
            <a:endParaRPr lang="en-US" sz="15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Що це довело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8" name="Text 5"/>
          <p:cNvSpPr/>
          <p:nvPr/>
        </p:nvSpPr>
        <p:spPr>
          <a:xfrm>
            <a:off x="76809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3FCF8E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Гроші видно одразу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76809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з'являється разом із відповіддю, а не в рахунку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31596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1" name="Text 8"/>
          <p:cNvSpPr/>
          <p:nvPr/>
        </p:nvSpPr>
        <p:spPr>
          <a:xfrm>
            <a:off x="451713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Важіль порахований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451713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різниця маршрутів — у доларах, а не у відчуттях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8065008" y="173736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000000"/>
          </a:solidFill>
          <a:ln/>
        </p:spPr>
      </p:sp>
      <p:sp>
        <p:nvSpPr>
          <p:cNvPr id="14" name="Text 11"/>
          <p:cNvSpPr/>
          <p:nvPr/>
        </p:nvSpPr>
        <p:spPr>
          <a:xfrm>
            <a:off x="8266176" y="1892808"/>
            <a:ext cx="31638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Бюджет — сигнал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8266176" y="2423160"/>
            <a:ext cx="3163824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плитка порівнює витрату з межею, а не показує абстрактну суму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66928" y="397764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86384" y="4123944"/>
            <a:ext cx="10625328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Тиждень «Routing + cost» закрито: трафік розведений і порахований. Далі — найдешевший запит із можливих: той, якого не було.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Перевір себе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783080"/>
            <a:ext cx="1106424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97840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104122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0" name="Shape 7"/>
          <p:cNvSpPr/>
          <p:nvPr/>
        </p:nvSpPr>
        <p:spPr>
          <a:xfrm rot="-3000000">
            <a:off x="106902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1" name="Text 8"/>
          <p:cNvSpPr/>
          <p:nvPr/>
        </p:nvSpPr>
        <p:spPr>
          <a:xfrm>
            <a:off x="136245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заповнений ненульовими значеннями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97840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 rot="2700000">
            <a:off x="104122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4" name="Shape 11"/>
          <p:cNvSpPr/>
          <p:nvPr/>
        </p:nvSpPr>
        <p:spPr>
          <a:xfrm rot="-3000000">
            <a:off x="106902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5" name="Text 12"/>
          <p:cNvSpPr/>
          <p:nvPr/>
        </p:nvSpPr>
        <p:spPr>
          <a:xfrm>
            <a:off x="136245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ескалація дорожча за FAQ — видно SELECT'ом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6144768" y="2157984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 rot="2700000">
            <a:off x="6207587" y="2297430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8" name="Shape 15"/>
          <p:cNvSpPr/>
          <p:nvPr/>
        </p:nvSpPr>
        <p:spPr>
          <a:xfrm rot="-3000000">
            <a:off x="6235385" y="2271370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19" name="Text 16"/>
          <p:cNvSpPr/>
          <p:nvPr/>
        </p:nvSpPr>
        <p:spPr>
          <a:xfrm>
            <a:off x="6528816" y="2103120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today_usd і budget_usd</a:t>
            </a:r>
            <a:endParaRPr lang="en-US" sz="1250" dirty="0"/>
          </a:p>
        </p:txBody>
      </p:sp>
      <p:sp>
        <p:nvSpPr>
          <p:cNvPr id="20" name="Shape 17"/>
          <p:cNvSpPr/>
          <p:nvPr/>
        </p:nvSpPr>
        <p:spPr>
          <a:xfrm>
            <a:off x="6144768" y="2724912"/>
            <a:ext cx="256032" cy="256032"/>
          </a:xfrm>
          <a:prstGeom prst="roundRect">
            <a:avLst>
              <a:gd name="adj" fmla="val 21429"/>
            </a:avLst>
          </a:prstGeom>
          <a:solidFill>
            <a:srgbClr val="FFFFFF"/>
          </a:solidFill>
          <a:ln w="12700">
            <a:solidFill>
              <a:srgbClr val="5A05F4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 rot="2700000">
            <a:off x="6207587" y="2864358"/>
            <a:ext cx="58156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2" name="Shape 19"/>
          <p:cNvSpPr/>
          <p:nvPr/>
        </p:nvSpPr>
        <p:spPr>
          <a:xfrm rot="-3000000">
            <a:off x="6235385" y="2838298"/>
            <a:ext cx="121432" cy="27432"/>
          </a:xfrm>
          <a:prstGeom prst="rect">
            <a:avLst/>
          </a:prstGeom>
          <a:solidFill>
            <a:srgbClr val="5A05F4"/>
          </a:solidFill>
          <a:ln/>
        </p:spPr>
      </p:sp>
      <p:sp>
        <p:nvSpPr>
          <p:cNvPr id="23" name="Text 20"/>
          <p:cNvSpPr/>
          <p:nvPr/>
        </p:nvSpPr>
        <p:spPr>
          <a:xfrm>
            <a:off x="6528816" y="2670048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поясню, чому звернення ≠ виклик</a:t>
            </a:r>
            <a:endParaRPr lang="en-US" sz="1250" dirty="0"/>
          </a:p>
        </p:txBody>
      </p:sp>
      <p:sp>
        <p:nvSpPr>
          <p:cNvPr id="24" name="Text 21"/>
          <p:cNvSpPr/>
          <p:nvPr/>
        </p:nvSpPr>
        <p:spPr>
          <a:xfrm>
            <a:off x="566928" y="38862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B6B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Де завагалися — туди і повертайтеся. Питання — у канал потоку або на Q&amp;A.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Антипатерни тижня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1037844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1A4FB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1024128"/>
            <a:ext cx="10378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1A4FB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РЕФЛЕКСІЯ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8288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20208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 rot="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0" name="Shape 7"/>
          <p:cNvSpPr/>
          <p:nvPr/>
        </p:nvSpPr>
        <p:spPr>
          <a:xfrm rot="-2700000">
            <a:off x="871789" y="21971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1" name="Text 8"/>
          <p:cNvSpPr/>
          <p:nvPr/>
        </p:nvSpPr>
        <p:spPr>
          <a:xfrm>
            <a:off x="1298448" y="18288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Нуль замість null у cost_usd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«безкоштовний запит» — брехня, яку неможливо знайти запитом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66928" y="27432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768096" y="29352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 rot="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5" name="Shape 12"/>
          <p:cNvSpPr/>
          <p:nvPr/>
        </p:nvSpPr>
        <p:spPr>
          <a:xfrm rot="-2700000">
            <a:off x="871789" y="31115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16" name="Text 13"/>
          <p:cNvSpPr/>
          <p:nvPr/>
        </p:nvSpPr>
        <p:spPr>
          <a:xfrm>
            <a:off x="1298448" y="27432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AVG по рядках лога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рахує вартість виклику, а не звернення — завжди в бік «дешево»</a:t>
            </a:r>
            <a:endParaRPr lang="en-US" sz="1350" dirty="0"/>
          </a:p>
        </p:txBody>
      </p:sp>
      <p:sp>
        <p:nvSpPr>
          <p:cNvPr id="17" name="Shape 14"/>
          <p:cNvSpPr/>
          <p:nvPr/>
        </p:nvSpPr>
        <p:spPr>
          <a:xfrm>
            <a:off x="566928" y="36576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768096" y="38496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 rot="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0" name="Shape 17"/>
          <p:cNvSpPr/>
          <p:nvPr/>
        </p:nvSpPr>
        <p:spPr>
          <a:xfrm rot="-2700000">
            <a:off x="871789" y="40259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1" name="Text 18"/>
          <p:cNvSpPr/>
          <p:nvPr/>
        </p:nvSpPr>
        <p:spPr>
          <a:xfrm>
            <a:off x="1298448" y="36576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у голові або в вікі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застаріла ціна викривляє всі рішення, а не одне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566928" y="4572000"/>
            <a:ext cx="1106424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768096" y="4764024"/>
            <a:ext cx="384048" cy="384048"/>
          </a:xfrm>
          <a:prstGeom prst="ellipse">
            <a:avLst/>
          </a:prstGeom>
          <a:solidFill>
            <a:srgbClr val="F5F3FA"/>
          </a:solidFill>
          <a:ln w="12700">
            <a:solidFill>
              <a:srgbClr val="B3261E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 rot="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5" name="Shape 22"/>
          <p:cNvSpPr/>
          <p:nvPr/>
        </p:nvSpPr>
        <p:spPr>
          <a:xfrm rot="-2700000">
            <a:off x="871789" y="4940302"/>
            <a:ext cx="176662" cy="31492"/>
          </a:xfrm>
          <a:prstGeom prst="rect">
            <a:avLst/>
          </a:prstGeom>
          <a:solidFill>
            <a:srgbClr val="B3261E"/>
          </a:solidFill>
          <a:ln/>
        </p:spPr>
      </p:sp>
      <p:sp>
        <p:nvSpPr>
          <p:cNvPr id="26" name="Text 23"/>
          <p:cNvSpPr/>
          <p:nvPr/>
        </p:nvSpPr>
        <p:spPr>
          <a:xfrm>
            <a:off x="1298448" y="4572000"/>
            <a:ext cx="10149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Сума без атрибуції   </a:t>
            </a:r>
            <a:pPr indent="0" marL="0">
              <a:buNone/>
            </a:pPr>
            <a:r>
              <a:rPr lang="en-US" sz="1200" dirty="0">
                <a:solidFill>
                  <a:srgbClr val="434343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«$400 цього місяця» не підказує жодної дії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37744" y="192024"/>
            <a:ext cx="11713464" cy="6464808"/>
          </a:xfrm>
          <a:prstGeom prst="roundRect">
            <a:avLst>
              <a:gd name="adj" fmla="val 3960"/>
            </a:avLst>
          </a:prstGeom>
          <a:solidFill>
            <a:srgbClr val="FFFF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384048"/>
            <a:ext cx="683971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000000"/>
                </a:solidFill>
                <a:latin typeface="Unbounded" pitchFamily="34" charset="0"/>
                <a:ea typeface="Unbounded" pitchFamily="34" charset="-122"/>
                <a:cs typeface="Unbounded" pitchFamily="34" charset="-120"/>
              </a:rPr>
              <a:t>Домашнє завдання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566928" y="1024128"/>
            <a:ext cx="950976" cy="256032"/>
          </a:xfrm>
          <a:prstGeom prst="roundRect">
            <a:avLst>
              <a:gd name="adj" fmla="val 50000"/>
            </a:avLst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566928" y="1024128"/>
            <a:ext cx="9509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ПРАКТИКА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6327648"/>
            <a:ext cx="1033272" cy="3200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1691640"/>
            <a:ext cx="11064240" cy="2331720"/>
          </a:xfrm>
          <a:prstGeom prst="roundRect">
            <a:avLst>
              <a:gd name="adj" fmla="val 5490"/>
            </a:avLst>
          </a:prstGeom>
          <a:solidFill>
            <a:srgbClr val="FFFFFF"/>
          </a:solidFill>
          <a:ln w="19050">
            <a:solidFill>
              <a:srgbClr val="5A05F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8745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Обов'язково · ДЗ тижня 2: routing + cost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Обидва уроки тижня здаються одним PR: маршрутизація з уроку 3 плюс сьогоднішній облік вартості.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1248" y="2743200"/>
            <a:ext cx="10515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00" kern="0" dirty="0">
                <a:solidFill>
                  <a:srgbClr val="6B6B6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КРИТЕРІЇ ПРИЙМАННЯ КОРОТКО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841248" y="306324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звичайне питання і ескалація дають різні моделі в requests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41248" y="3355848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cost_usd заповнюється ненульовими значеннями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1248" y="3648456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5A05F4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GET /cost повертає { today_usd, budget_usd } і плитка в консолі жива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566928" y="4297680"/>
            <a:ext cx="11064240" cy="1371600"/>
          </a:xfrm>
          <a:prstGeom prst="roundRect">
            <a:avLst>
              <a:gd name="adj" fmla="val 8000"/>
            </a:avLst>
          </a:prstGeom>
          <a:solidFill>
            <a:srgbClr val="000000"/>
          </a:solidFill>
          <a:ln/>
        </p:spPr>
      </p:sp>
      <p:sp>
        <p:nvSpPr>
          <p:cNvPr id="15" name="Text 12"/>
          <p:cNvSpPr/>
          <p:nvPr/>
        </p:nvSpPr>
        <p:spPr>
          <a:xfrm>
            <a:off x="768096" y="4453128"/>
            <a:ext cx="10661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6BA0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Опційно (не оцінюється)</a:t>
            </a:r>
            <a:endParaRPr lang="en-US" sz="1450" dirty="0"/>
          </a:p>
        </p:txBody>
      </p:sp>
      <p:sp>
        <p:nvSpPr>
          <p:cNvPr id="16" name="Text 13"/>
          <p:cNvSpPr/>
          <p:nvPr/>
        </p:nvSpPr>
        <p:spPr>
          <a:xfrm>
            <a:off x="768096" y="4983480"/>
            <a:ext cx="1066190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budget-політика: при 80% бюджету — алерт у лог або деградація на дешевшу модель</a:t>
            </a:r>
            <a:endParaRPr lang="en-US" sz="12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E9E4F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• третій маршрут — окремий tier для FAQ, ескалацій і «всього іншого»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345936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50">
                <a:solidFill>
                  <a:srgbClr val="6B6B6B"/>
                </a:solidFill>
                <a:latin typeface="Courier New"/>
                <a:ea typeface="Courier New"/>
                <a:cs typeface="Courier New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NEOVERSITY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C4B3F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ПІДСУМОК УРОКУ 4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566928" y="1463040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5" name="Text 3"/>
          <p:cNvSpPr/>
          <p:nvPr/>
        </p:nvSpPr>
        <p:spPr>
          <a:xfrm>
            <a:off x="877824" y="13716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вартість з'являється в момент відповіді, а не в рахунку наприкінці місяця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121408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7" name="Text 5"/>
          <p:cNvSpPr/>
          <p:nvPr/>
        </p:nvSpPr>
        <p:spPr>
          <a:xfrm>
            <a:off x="877824" y="202996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usage — єдине джерело правди; вхідні й вихідні токени рахуються окремо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66928" y="2779776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9" name="Text 7"/>
          <p:cNvSpPr/>
          <p:nvPr/>
        </p:nvSpPr>
        <p:spPr>
          <a:xfrm>
            <a:off x="877824" y="2688336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прайс живе поруч із точкою рішення: ціна моделі — вхідний параметр вибору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66928" y="3438144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1" name="Text 9"/>
          <p:cNvSpPr/>
          <p:nvPr/>
        </p:nvSpPr>
        <p:spPr>
          <a:xfrm>
            <a:off x="877824" y="334670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звернення ≠ виклик: одне питання дає до чотирьох рядків лога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66928" y="4096512"/>
            <a:ext cx="146304" cy="146304"/>
          </a:xfrm>
          <a:prstGeom prst="ellipse">
            <a:avLst/>
          </a:prstGeom>
          <a:solidFill>
            <a:srgbClr val="5A05F4"/>
          </a:solidFill>
          <a:ln/>
        </p:spPr>
      </p:sp>
      <p:sp>
        <p:nvSpPr>
          <p:cNvPr id="13" name="Text 11"/>
          <p:cNvSpPr/>
          <p:nvPr/>
        </p:nvSpPr>
        <p:spPr>
          <a:xfrm>
            <a:off x="877824" y="4005072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атрибуція важливіша за суму: «$310 на ескалаціях» веде до дії, «$400» — ні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66928" y="4983480"/>
            <a:ext cx="11064240" cy="1234440"/>
          </a:xfrm>
          <a:prstGeom prst="roundRect">
            <a:avLst>
              <a:gd name="adj" fmla="val 10370"/>
            </a:avLst>
          </a:prstGeom>
          <a:solidFill>
            <a:srgbClr val="000000"/>
          </a:solidFill>
          <a:ln w="12700">
            <a:solidFill>
              <a:srgbClr val="5E4F8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8464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98B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Наступний крок → Урок 5 · Кешування: точний кеш, метрика і semantic cache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22960" y="5550408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Ми навчилися платити менше за той самий трафік. Наступний крок радикальніший: найдешевший запит — той, якого не було. Тиждень 3 починаємо з кешу: коли можна не ходити в модель узагалі і чому кеш без метрики — це віра, а не інженерія.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Урок 4 · Токеноміка і cost attribution</dc:title>
  <dc:subject>PptxGenJS Presentation</dc:subject>
  <dc:creator>LLMOps Bootcamp</dc:creator>
  <cp:lastModifiedBy>LLMOps Bootcamp</cp:lastModifiedBy>
  <cp:revision>1</cp:revision>
  <dcterms:created xsi:type="dcterms:W3CDTF">2026-08-17T10:31:15Z</dcterms:created>
  <dcterms:modified xsi:type="dcterms:W3CDTF">2026-08-17T10:31:15Z</dcterms:modified>
</cp:coreProperties>
</file>