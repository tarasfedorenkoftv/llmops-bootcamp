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4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Токеноміка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cost attribution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коштує наш AI?» — питання, на яке більшість команд відповідає рахунком наприкінці місяця. Це запізно. Сьогодні система знатиме вартість кожного запиту в момент відповіді.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у сервісі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поруч із Route(), де ухвалюється рішення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запиту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момент відповіді, а не в рахунку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Показати різницю SELECT'ом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плитку вартості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із бюджетом поруч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Розкласти витрати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моделлю, днем і версією промпта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джерело правди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control plane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 бюджет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«дізналися з рахунку» — до цифри, яка з'являється разом із відповіддю.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(вхід) і completion_tokens (вихід) у відповіді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прайс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ціни за 1k токенів, окремо вхідних і вихідних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 з порахованою вартістю запиту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атрибуція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розклад витрат за моделлю, днем, версією промпта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звернення ≠ виклик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походів у модель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цифра, з якою порівнюється сьогоднішня витрата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 про катастрофу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фіча злітає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2E1418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рахунок ×10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археологія: хто? на чому?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мовчить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8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— не константа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68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залежить від моделі, контексту, поведінки користувачів і склейки промпта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81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2A2010"/>
          </a:solidFill>
          <a:ln/>
        </p:spPr>
      </p:sp>
      <p:sp>
        <p:nvSpPr>
          <p:cNvPr id="25" name="Text 22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Оцінювання якості теж коштує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— такі самі токени; не рахувати = недооцінити рахунок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02A20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Рахується все, що ходить у модель: запити, ретраї, класифікатори, evals.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760720" cy="1234440"/>
          </a:xfrm>
          <a:prstGeom prst="roundRect">
            <a:avLst>
              <a:gd name="adj" fmla="val 8889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53218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"usage"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184,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"completion_tokens"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46 }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3154680"/>
            <a:ext cx="576072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3300984"/>
            <a:ext cx="5321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= токени × ціна моделі, окремо вхідні й вихідні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629400" y="1737360"/>
            <a:ext cx="5001768" cy="1234440"/>
          </a:xfrm>
          <a:prstGeom prst="roundRect">
            <a:avLst>
              <a:gd name="adj" fmla="val 8889"/>
            </a:avLst>
          </a:prstGeom>
          <a:solidFill>
            <a:srgbClr val="2A2010"/>
          </a:solidFill>
          <a:ln/>
        </p:spPr>
      </p:sp>
      <p:sp>
        <p:nvSpPr>
          <p:cNvPr id="12" name="Text 9"/>
          <p:cNvSpPr/>
          <p:nvPr/>
        </p:nvSpPr>
        <p:spPr>
          <a:xfrm>
            <a:off x="6830568" y="189280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830568" y="242316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тарифікують їх у кілька разів вище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629400" y="3154680"/>
            <a:ext cx="5001768" cy="1005840"/>
          </a:xfrm>
          <a:prstGeom prst="roundRect">
            <a:avLst>
              <a:gd name="adj" fmla="val 1090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30568" y="331012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домінують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830568" y="3840480"/>
            <a:ext cx="4599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та інструкції важать більше за відповідь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 ПОВЕРТАЄ РЕАЛІСТИЧНИЙ USAGE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Оцінює токени за довжиною тексту (~4 символи на токен) — механіка тренується без ключа і без витрат; з реальним провайдером зміняться лише цифри у прайсі.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ваша мова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 той самий зміст дорожчий: кирилиця гірше представлена в токенізаторах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5740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 системного промпта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він їде в кожному запиті — довжина множиться на весь трафік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5740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історії тягнути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 оплачується повторно на кожному кроці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5740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тримати довгі інструкції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— на початок промпта, щоб підхопив кеш префікса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3456432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зміст, дві мови — у токенах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66928" y="3712464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English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2852928" y="3788176"/>
            <a:ext cx="1732547" cy="269199"/>
          </a:xfrm>
          <a:prstGeom prst="roundRect">
            <a:avLst>
              <a:gd name="adj" fmla="val 16984"/>
            </a:avLst>
          </a:prstGeom>
          <a:solidFill>
            <a:srgbClr val="5FD6A0"/>
          </a:solidFill>
          <a:ln/>
        </p:spPr>
      </p:sp>
      <p:sp>
        <p:nvSpPr>
          <p:cNvPr id="26" name="Text 23"/>
          <p:cNvSpPr/>
          <p:nvPr/>
        </p:nvSpPr>
        <p:spPr>
          <a:xfrm>
            <a:off x="7196328" y="371246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токенів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566928" y="431596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2852928" y="4391680"/>
            <a:ext cx="4114800" cy="269199"/>
          </a:xfrm>
          <a:prstGeom prst="roundRect">
            <a:avLst>
              <a:gd name="adj" fmla="val 16984"/>
            </a:avLst>
          </a:prstGeom>
          <a:solidFill>
            <a:srgbClr val="FF7B7B"/>
          </a:solidFill>
          <a:ln/>
        </p:spPr>
      </p:sp>
      <p:sp>
        <p:nvSpPr>
          <p:cNvPr id="29" name="Text 26"/>
          <p:cNvSpPr/>
          <p:nvPr/>
        </p:nvSpPr>
        <p:spPr>
          <a:xfrm>
            <a:off x="7196328" y="431596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 токенів — та сама фраза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48463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2E1418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23036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Економія на промпті — у межах найдешевшої ставки; зміна моделі — різниця в разах.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в control plane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766560" cy="1828800"/>
          </a:xfrm>
          <a:prstGeom prst="roundRect">
            <a:avLst>
              <a:gd name="adj" fmla="val 60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32764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прайс за 1k токенів (in, out) — навчальні числа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prices = new Dictionary&lt;string, (decimal In, decimal Out)&gt;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["mock-mini"]   = (0.00015m, 0.0006m),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["mock-strong"] = (0.0025m,  0.01m),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35240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2E1418"/>
          </a:solidFill>
          <a:ln/>
        </p:spPr>
      </p:sp>
      <p:sp>
        <p:nvSpPr>
          <p:cNvPr id="10" name="Text 7"/>
          <p:cNvSpPr/>
          <p:nvPr/>
        </p:nvSpPr>
        <p:spPr>
          <a:xfrm>
            <a:off x="7781544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×16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81544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 дорожча за mini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710928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2A2010"/>
          </a:solidFill>
          <a:ln/>
        </p:spPr>
      </p:sp>
      <p:sp>
        <p:nvSpPr>
          <p:cNvPr id="13" name="Text 10"/>
          <p:cNvSpPr/>
          <p:nvPr/>
        </p:nvSpPr>
        <p:spPr>
          <a:xfrm>
            <a:off x="9857232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×4</a:t>
            </a:r>
            <a:endParaRPr lang="en-US" sz="3400" dirty="0"/>
          </a:p>
        </p:txBody>
      </p:sp>
      <p:sp>
        <p:nvSpPr>
          <p:cNvPr id="14" name="Text 11"/>
          <p:cNvSpPr/>
          <p:nvPr/>
        </p:nvSpPr>
        <p:spPr>
          <a:xfrm>
            <a:off x="9857232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 за вхідні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794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941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визначають пропорції, не абсолютні цифри — тому routing і є важелем.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ПОРУЧ ІЗ ROUTE()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біля точки рішення: ціна — параметр вибору, не бухгалтерська довідка.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— живі дані, і цін уже не дві, а три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Застарілі ціни — систематична помилка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разовий баг, а викривлення всіх рішень, які ви ухвалюєте за цифрами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 токени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префікс промпта на повторних викликах — у рази дешевший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32688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10128" y="3602736"/>
            <a:ext cx="853440" cy="292608"/>
          </a:xfrm>
          <a:prstGeom prst="roundRect">
            <a:avLst>
              <a:gd name="adj" fmla="val 15625"/>
            </a:avLst>
          </a:prstGeom>
          <a:solidFill>
            <a:srgbClr val="5FD6A0"/>
          </a:solidFill>
          <a:ln/>
        </p:spPr>
      </p:sp>
      <p:sp>
        <p:nvSpPr>
          <p:cNvPr id="15" name="Text 12"/>
          <p:cNvSpPr/>
          <p:nvPr/>
        </p:nvSpPr>
        <p:spPr>
          <a:xfrm>
            <a:off x="8659368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рази дешевші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32688" y="4197096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3310128" y="4279392"/>
            <a:ext cx="1877568" cy="292608"/>
          </a:xfrm>
          <a:prstGeom prst="roundRect">
            <a:avLst>
              <a:gd name="adj" fmla="val 15625"/>
            </a:avLst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8659368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ставка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32688" y="487375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3310128" y="4956048"/>
            <a:ext cx="5120640" cy="292608"/>
          </a:xfrm>
          <a:prstGeom prst="roundRect">
            <a:avLst>
              <a:gd name="adj" fmla="val 15625"/>
            </a:avLst>
          </a:prstGeom>
          <a:solidFill>
            <a:srgbClr val="FF7B7B"/>
          </a:solidFill>
          <a:ln/>
        </p:spPr>
      </p:sp>
      <p:sp>
        <p:nvSpPr>
          <p:cNvPr id="21" name="Text 18"/>
          <p:cNvSpPr/>
          <p:nvPr/>
        </p:nvSpPr>
        <p:spPr>
          <a:xfrm>
            <a:off x="8659368" y="4873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2A2010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5477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ПЛУТАТИ З КЕШЕМ ВІДПОВІДЕЙ (W3)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73328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відповідей прибирає виклик цілком; кеш префікса здешевлює виклик зсередини. Вони складаються, а не конкурують.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 після відповіді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cost: tokens * ціна моделі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decimal? costUsd = prices.TryGetValue(model, out var pr)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Math.Round(promptTokens / 1000m * pr.In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 completionTokens / 1000m * pr.Out, 6)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null;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2E1418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null, а не нуль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— брехня «запит був безкоштовний»; null — чесне «не знаємо», яке легко знайти запитом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Округлення до 6 знаків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збігається з типом колонки NUMERIC(10,6); неузгоджене округлення дає розбіжність із рахунком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запит користувача — це не один виклик моделі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ретрай (урок 7)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(урок 7)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tool-цикл (урок 6)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класифікатор (уроки 3 і 8)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292608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22" name="Text 19"/>
          <p:cNvSpPr/>
          <p:nvPr/>
        </p:nvSpPr>
        <p:spPr>
          <a:xfrm>
            <a:off x="713232" y="3035808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→ 4</a:t>
            </a:r>
            <a:endParaRPr lang="en-US" sz="3400" dirty="0"/>
          </a:p>
        </p:txBody>
      </p:sp>
      <p:sp>
        <p:nvSpPr>
          <p:cNvPr id="23" name="Text 20"/>
          <p:cNvSpPr/>
          <p:nvPr/>
        </p:nvSpPr>
        <p:spPr>
          <a:xfrm>
            <a:off x="713232" y="3721608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викликів і чотирьох рядків лога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315968" y="2926080"/>
            <a:ext cx="7315200" cy="1371600"/>
          </a:xfrm>
          <a:prstGeom prst="roundRect">
            <a:avLst>
              <a:gd name="adj" fmla="val 8000"/>
            </a:avLst>
          </a:prstGeom>
          <a:solidFill>
            <a:srgbClr val="2A2010"/>
          </a:solidFill>
          <a:ln/>
        </p:spPr>
      </p:sp>
      <p:sp>
        <p:nvSpPr>
          <p:cNvPr id="25" name="Text 22"/>
          <p:cNvSpPr/>
          <p:nvPr/>
        </p:nvSpPr>
        <p:spPr>
          <a:xfrm>
            <a:off x="4535424" y="3072384"/>
            <a:ext cx="68762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рахує виклик, а не звернення — помилка завжди в бік «дешево».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02A20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КЛЮЧ ЗВЕРНЕННЯ ≠ КЛЮЧ ВИКЛИКУ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Групуйте за зверненням, не за рядком лога — інакше цифра занижена.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результат, а не токен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вирішеного звернення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облік по request_id + ознака результату (ескалація сталася чи ні) — і цифра готова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Мова, зрозуміла керівництву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«N звернень на тиждень по X центів — проти Y хвилин оператора»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solidFill>
            <a:srgbClr val="102A20"/>
          </a:solidFill>
          <a:ln w="12700">
            <a:solidFill>
              <a:srgbClr val="5FD6A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 вирішено ботом  ·  $0.90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solidFill>
            <a:srgbClr val="2E1418"/>
          </a:solidFill>
          <a:ln w="12700">
            <a:solidFill>
              <a:srgbClr val="FF7B7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на оператора  ·  $46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66928" y="3273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звернень за день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66928" y="4261104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3891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 ЧЕСНО ПОРІВНЯТИ ДЕШЕВУ МОДЕЛЬ ІЗ СИЛЬНОЮ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645152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Дешева модель, яка вдвічі частіше ескалює на людину, не економить нічого: ви зменшили ціну виклику і збільшили ціну результату. Порівнювати прайси безглуздо — порівнюйте вартість вирішеного звернення.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$400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713232" y="2532888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тривога без дії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93008" y="1737360"/>
            <a:ext cx="813816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3639312" y="1847088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$310 — ескалації на strong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3639312" y="2532888"/>
            <a:ext cx="7845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третина могла піти на mini: рішення з порахованим ефектом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91840"/>
            <a:ext cx="6309360" cy="1600200"/>
          </a:xfrm>
          <a:prstGeom prst="roundRect">
            <a:avLst>
              <a:gd name="adj" fmla="val 6857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438144"/>
            <a:ext cx="587044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моделлю: чи дороге дістається складному?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count(*), SUM(cost_usd)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requests GROUP BY model;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днем: тренд і сплески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created_at::date, SUM(cost_usd) …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178040" y="3291840"/>
            <a:ext cx="44531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397496" y="3438144"/>
            <a:ext cx="401421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Записали в момент запиту — зріз коштує один GROUP BY. Ні — вже ніколи.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2E1418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45896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Міняти промпт наосліп: спершу зріз по лозі, потім зміна, потім той самий зріз.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/cost: бюджет поруч із витратою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583680" cy="2011680"/>
          </a:xfrm>
          <a:prstGeom prst="roundRect">
            <a:avLst>
              <a:gd name="adj" fmla="val 5455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14476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SELECT COALESCE(SUM(cost_usd), 0) FROM requests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WHERE created_at::date = CURRENT_DATE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Results.Json(new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today_usd  = Math.Round(today, 4),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budget_usd = 5.0 });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498080" y="1737360"/>
            <a:ext cx="4133088" cy="2011680"/>
          </a:xfrm>
          <a:prstGeom prst="roundRect">
            <a:avLst>
              <a:gd name="adj" fmla="val 545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26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СЬОГОДНІ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726680" y="2240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$0.00 / $5.00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72668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була «—» з уроку 1 — тепер жива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9776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ОКРУГЛЮЄ ДО ЦЕНТІВ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3616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/cost віддає точне значення; на mock плитка часто показує $0.00 — це не баг, а округлення дрібних сум.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02A2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поруч із витратою перетворює число на сигнал: без нього сума нічого не означає.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cost: важіль стає видимим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cost_usd FROM requests ORDER BY created_at DESC LIMIT 2;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32688" y="274320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 → mock-mini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0128" y="2833726"/>
            <a:ext cx="571500" cy="321869"/>
          </a:xfrm>
          <a:prstGeom prst="roundRect">
            <a:avLst>
              <a:gd name="adj" fmla="val 14205"/>
            </a:avLst>
          </a:prstGeom>
          <a:solidFill>
            <a:srgbClr val="5FD6A0"/>
          </a:solidFill>
          <a:ln/>
        </p:spPr>
      </p:sp>
      <p:sp>
        <p:nvSpPr>
          <p:cNvPr id="11" name="Text 8"/>
          <p:cNvSpPr/>
          <p:nvPr/>
        </p:nvSpPr>
        <p:spPr>
          <a:xfrm>
            <a:off x="8110728" y="2743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дешевий маршрут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932688" y="35204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→ strong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0128" y="3610966"/>
            <a:ext cx="4572000" cy="321869"/>
          </a:xfrm>
          <a:prstGeom prst="roundRect">
            <a:avLst>
              <a:gd name="adj" fmla="val 14205"/>
            </a:avLst>
          </a:prstGeom>
          <a:solidFill>
            <a:srgbClr val="FF7B7B"/>
          </a:solidFill>
          <a:ln/>
        </p:spPr>
      </p:sp>
      <p:sp>
        <p:nvSpPr>
          <p:cNvPr id="14" name="Text 11"/>
          <p:cNvSpPr/>
          <p:nvPr/>
        </p:nvSpPr>
        <p:spPr>
          <a:xfrm>
            <a:off x="8110728" y="3520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помітно дорожче при тій самій довжині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1605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3068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Приберіть роутер — весь трафік піде на strong. Помножте різницю на добовий обсяг: тепер вона порахована, а не відчута.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02A2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ГОЛОВНИЙ ВИСНОВОК ТИЖНЯ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64184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«оптимізація по відчуттю», а рішення з ціною, яку видно в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Budget-політика: що робити при 80%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18288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48226" y="18288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 80% бюджету — подія в лог; найм'якше і найчастіше достатнє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68833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2A2010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268833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48226" y="268833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вище порогу неескалаційний трафік іде на дешевшу модель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547872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2E1418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547872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Відсікання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48226" y="3547872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не-критичні запити отримують заготовлену відповідь без походу в модель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4462272"/>
            <a:ext cx="8851392" cy="402336"/>
          </a:xfrm>
          <a:prstGeom prst="rect">
            <a:avLst/>
          </a:prstGeom>
          <a:solidFill>
            <a:srgbClr val="102A20"/>
          </a:solidFill>
          <a:ln w="12700">
            <a:solidFill>
              <a:srgbClr val="5FD6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418320" y="4462272"/>
            <a:ext cx="1327709" cy="402336"/>
          </a:xfrm>
          <a:prstGeom prst="rect">
            <a:avLst/>
          </a:prstGeom>
          <a:solidFill>
            <a:srgbClr val="2A2010"/>
          </a:solidFill>
          <a:ln w="12700">
            <a:solidFill>
              <a:srgbClr val="E8A85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746029" y="4462272"/>
            <a:ext cx="885139" cy="402336"/>
          </a:xfrm>
          <a:prstGeom prst="rect">
            <a:avLst/>
          </a:prstGeom>
          <a:solidFill>
            <a:srgbClr val="2E1418"/>
          </a:solidFill>
          <a:ln w="12700">
            <a:solidFill>
              <a:srgbClr val="FF7B7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418320" y="4389120"/>
            <a:ext cx="0" cy="548640"/>
          </a:xfrm>
          <a:prstGeom prst="line">
            <a:avLst/>
          </a:prstGeom>
          <a:noFill/>
          <a:ln w="19050">
            <a:solidFill>
              <a:srgbClr val="E8A85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46029" y="4389120"/>
            <a:ext cx="0" cy="548640"/>
          </a:xfrm>
          <a:prstGeom prst="line">
            <a:avLst/>
          </a:prstGeom>
          <a:noFill/>
          <a:ln w="19050">
            <a:solidFill>
              <a:srgbClr val="FF7B7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4956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витрачений бюджет місяця:  </a:t>
            </a:r>
            <a:pPr indent="0" marL="0">
              <a:buNone/>
            </a:pPr>
            <a:r>
              <a:rPr lang="en-US" sz="9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 80% — норма</a:t>
            </a:r>
            <a:pPr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80% — алерт</a:t>
            </a:r>
            <a:pPr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92% — деградація</a:t>
            </a:r>
            <a:pPr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 — відсікання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ФОРМА ВАЖЛИВІША ЗА МЕХАНІЗМ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 на цифрі з лога → зміна поведінки control plane. Це шаблон, у який далі ляжуть і fallback (W4), і гейт якості (W6).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коді сервісу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mock-strong, чотири числа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та ескалація — роутер розводить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cost_usd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ескалації цифра помітно більша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«Вартість сьогодні»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жива: $… / $5.00 замість «—»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гроші в момент відповіді, а не в рахунку наприкінці місяця — і вперше побачити важіль роутингу порахованим у доларах.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словник цін поруч із Route() у service/Program.cs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після відповіді → cost_usd у LogRequest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атрибуцію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 BY model і за днем: цифри сходяться з очікуванням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/cost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 за сьогодні + бюджет → плитка в консолі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при 80% або деградація на дешевшу модель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 видно одразу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з'являється разом із відповіддю, а не в рахунку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Важіль порахований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маршрутів — у доларах, а не у відчуттях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— сигнал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порівнює витрату з межею, а не показує абстрактну суму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«Routing + cost» закрито: трафік розведений і порахований. Далі — найдешевший запит із можливих: той, якого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заповнений ненульовими значеннями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 — видно SELECT'ом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today_usd і budget_usd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звернення ≠ виклик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замість null у cost_usd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«безкоштовний запит» — брехня, яку неможливо знайти запитом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лога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 вартість виклику, а не звернення — завжди в бік «дешево»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голові або в вікі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застаріла ціна викривляє всі рішення, а не одне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 без атрибуції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«$400 цього місяця» не підказує жодної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2: routing + cost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маршрутизація з уроку 3 плюс сьогоднішній облік вартості.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 в requests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заповнюється ненульовими значеннями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{ today_usd, budget_usd } і плитка в консолі жива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budget-політика: при 80% бюджету — алерт у лог або деградація на дешевшу модель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третій маршрут — окремий tier для FAQ, ескалацій і «всього іншого»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з'являється в момент відповіді, а не в рахунку наприкінці місяця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правди; вхідні й вихідні токени рахуються окремо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поруч із точкою рішення: ціна моделі — вхідний параметр вибору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виклик: одне питання дає до чотирьох рядків лога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суму: «$310 на ескалаціях» веде до дії, «$400» — ні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5 · Кешування: точний кеш, метрика і semantic cache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 навчилися платити менше за той самий трафік. Наступний крок радикальніший: найдешевший запит — той, якого не було. Тиждень 3 починаємо з кешу: коли можна не ходити в модель узагалі і чому кеш без метрики — це віра, а не інженерія.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4 · Токеноміка і cost attribution</dc:title>
  <dc:subject>PptxGenJS Presentation</dc:subject>
  <dc:creator>LLMOps Bootcamp</dc:creator>
  <cp:lastModifiedBy>LLMOps Bootcamp</cp:lastModifiedBy>
  <cp:revision>1</cp:revision>
  <dcterms:created xsi:type="dcterms:W3CDTF">2026-08-16T15:58:29Z</dcterms:created>
  <dcterms:modified xsi:type="dcterms:W3CDTF">2026-08-16T15:58:29Z</dcterms:modified>
</cp:coreProperties>
</file>