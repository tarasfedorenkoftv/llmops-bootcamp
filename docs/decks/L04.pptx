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Токеноміка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cost attribution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2E1418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контексту, поведінки користувачів і склейки промпта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2A2010"/>
          </a:solidFill>
          <a:ln/>
        </p:spPr>
      </p:sp>
      <p:sp>
        <p:nvSpPr>
          <p:cNvPr id="25" name="Text 2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— такі самі токени; не рахувати = недооцінити рахунок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02A2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запити, ретраї, класифікатори, evals.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дорожчий: кирилиця гірше представлена в токенізаторах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345643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зміст, дві мови — у токенах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371246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English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2852928" y="3788176"/>
            <a:ext cx="1732547" cy="269199"/>
          </a:xfrm>
          <a:prstGeom prst="roundRect">
            <a:avLst>
              <a:gd name="adj" fmla="val 16984"/>
            </a:avLst>
          </a:prstGeom>
          <a:solidFill>
            <a:srgbClr val="5FD6A0"/>
          </a:solidFill>
          <a:ln/>
        </p:spPr>
      </p:sp>
      <p:sp>
        <p:nvSpPr>
          <p:cNvPr id="26" name="Text 23"/>
          <p:cNvSpPr/>
          <p:nvPr/>
        </p:nvSpPr>
        <p:spPr>
          <a:xfrm>
            <a:off x="7196328" y="371246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токенів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566928" y="431596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2852928" y="4391680"/>
            <a:ext cx="4114800" cy="269199"/>
          </a:xfrm>
          <a:prstGeom prst="roundRect">
            <a:avLst>
              <a:gd name="adj" fmla="val 16984"/>
            </a:avLst>
          </a:prstGeom>
          <a:solidFill>
            <a:srgbClr val="FF7B7B"/>
          </a:solidFill>
          <a:ln/>
        </p:spPr>
      </p:sp>
      <p:sp>
        <p:nvSpPr>
          <p:cNvPr id="29" name="Text 26"/>
          <p:cNvSpPr/>
          <p:nvPr/>
        </p:nvSpPr>
        <p:spPr>
          <a:xfrm>
            <a:off x="7196328" y="431596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 токенів — та сама фраза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48463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2E1418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23036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Економія на промпті — у межах найдешевшої ставки; зміна моделі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2E1418"/>
          </a:solidFill>
          <a:ln/>
        </p:spPr>
      </p:sp>
      <p:sp>
        <p:nvSpPr>
          <p:cNvPr id="10" name="Text 7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2A2010"/>
          </a:solidFill>
          <a:ln/>
        </p:spPr>
      </p:sp>
      <p:sp>
        <p:nvSpPr>
          <p:cNvPr id="13" name="Text 10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визначають пропорції, не абсолютні цифри — тому routing і є важелем.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біля точки рішення: ціна — параметр вибору,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5FD6A0"/>
          </a:solidFill>
          <a:ln/>
        </p:spPr>
      </p:sp>
      <p:sp>
        <p:nvSpPr>
          <p:cNvPr id="15" name="Text 12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FF7B7B"/>
          </a:solidFill>
          <a:ln/>
        </p:spPr>
      </p:sp>
      <p:sp>
        <p:nvSpPr>
          <p:cNvPr id="21" name="Text 18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2A2010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2E1418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(урок 7)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(урок 7)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(урок 6)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(уроки 3 і 8)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22" name="Text 19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3" name="Text 20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2A2010"/>
          </a:solidFill>
          <a:ln/>
        </p:spPr>
      </p:sp>
      <p:sp>
        <p:nvSpPr>
          <p:cNvPr id="25" name="Text 22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виклик, а не звернення — помилка завжди в бік «дешево».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зверненням, не за рядком лога — інакше цифра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solidFill>
            <a:srgbClr val="102A20"/>
          </a:solidFill>
          <a:ln w="12700">
            <a:solidFill>
              <a:srgbClr val="5FD6A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вирішено ботом  ·  $0.90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solidFill>
            <a:srgbClr val="2E1418"/>
          </a:solidFill>
          <a:ln w="12700">
            <a:solidFill>
              <a:srgbClr val="FF7B7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на оператора  ·  $46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66928" y="3273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звернень за день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66928" y="4261104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3891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645152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зріз коштує один GROUP BY. Ні — вже ніколи.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2E1418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45896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Міняти промпт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02A2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5FD6A0"/>
          </a:solidFill>
          <a:ln/>
        </p:spPr>
      </p:sp>
      <p:sp>
        <p:nvSpPr>
          <p:cNvPr id="11" name="Text 8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FF7B7B"/>
          </a:solidFill>
          <a:ln/>
        </p:spPr>
      </p:sp>
      <p:sp>
        <p:nvSpPr>
          <p:cNvPr id="14" name="Text 11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02A2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8288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8288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68833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2A201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268833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68833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547872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547872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547872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462272"/>
            <a:ext cx="8851392" cy="402336"/>
          </a:xfrm>
          <a:prstGeom prst="rect">
            <a:avLst/>
          </a:prstGeom>
          <a:solidFill>
            <a:srgbClr val="102A20"/>
          </a:solidFill>
          <a:ln w="12700">
            <a:solidFill>
              <a:srgbClr val="5FD6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418320" y="4462272"/>
            <a:ext cx="1327709" cy="402336"/>
          </a:xfrm>
          <a:prstGeom prst="rect">
            <a:avLst/>
          </a:prstGeom>
          <a:solidFill>
            <a:srgbClr val="2A2010"/>
          </a:solidFill>
          <a:ln w="12700">
            <a:solidFill>
              <a:srgbClr val="E8A85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746029" y="4462272"/>
            <a:ext cx="885139" cy="402336"/>
          </a:xfrm>
          <a:prstGeom prst="rect">
            <a:avLst/>
          </a:prstGeom>
          <a:solidFill>
            <a:srgbClr val="2E1418"/>
          </a:solidFill>
          <a:ln w="12700">
            <a:solidFill>
              <a:srgbClr val="FF7B7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418320" y="4389120"/>
            <a:ext cx="0" cy="548640"/>
          </a:xfrm>
          <a:prstGeom prst="line">
            <a:avLst/>
          </a:prstGeom>
          <a:noFill/>
          <a:ln w="19050">
            <a:solidFill>
              <a:srgbClr val="E8A85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46029" y="4389120"/>
            <a:ext cx="0" cy="548640"/>
          </a:xfrm>
          <a:prstGeom prst="line">
            <a:avLst/>
          </a:prstGeom>
          <a:noFill/>
          <a:ln w="19050">
            <a:solidFill>
              <a:srgbClr val="FF7B7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4956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витрачений бюджет місяця:  </a:t>
            </a:r>
            <a:pPr indent="0" marL="0">
              <a:buNone/>
            </a:pPr>
            <a:r>
              <a:rPr lang="en-US" sz="9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 80% — норма</a:t>
            </a:r>
            <a:pPr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 — алерт</a:t>
            </a:r>
            <a:pPr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92% — деградація</a:t>
            </a:r>
            <a:pPr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— відсікання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2026-08-16T15:39:51Z</dcterms:created>
  <dcterms:modified xsi:type="dcterms:W3CDTF">2026-08-16T15:39:51Z</dcterms:modified>
</cp:coreProperties>
</file>