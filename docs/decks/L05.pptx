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ТЕМА 5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Кешування: точний кеш,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метрика і semantic cache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Найшвидша і найдешевша відповідь — та, по яку не треба йти в модель. Сьогодні обгорнемо виклик кешем, зберемо ключ, який не бреше, і увімкнемо лічильники з першої хвилини.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теми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віддає збережене, miss іде в модель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ключ, що не бреше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+ промпт + повідомлення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лічильники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в одному діфі з кешем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rollback-тестом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інвалідує кеш автоматично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кешувати заборонено — і чому це коректність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Подвійний податок на повтори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Межі: що можна, що заборонено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контракт коректності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гілка miss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 і що з нього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детермінізує — двосічно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Інвалідація і TTL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Semantic cache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«кеш є, значить економимо» — до цифри, яка це доводить.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сьогоднішньої теми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/ miss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влучання і промах: hit — у модель не пішли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ratio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кешу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пошуку збереженої відповіді — контракт коректності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TTL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запису: скільки відповідь придатна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інвалідація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 записів з обігу, коли вони більше не правдиві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 cache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пошук схожого за змістом, а не точного збігу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Подвійний податок на повтори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13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 — сотні разів на день майже однаковими словами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28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6428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однакова відповідь — а користувач щоразу чекає похід у модель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66928" y="3255264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 однакових питань за день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66928" y="3511296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кешу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2670048" y="3583716"/>
            <a:ext cx="4297680" cy="257495"/>
          </a:xfrm>
          <a:prstGeom prst="roundRect">
            <a:avLst>
              <a:gd name="adj" fmla="val 17756"/>
            </a:avLst>
          </a:prstGeom>
          <a:solidFill>
            <a:srgbClr val="B3261E"/>
          </a:solidFill>
          <a:ln/>
        </p:spPr>
      </p:sp>
      <p:sp>
        <p:nvSpPr>
          <p:cNvPr id="17" name="Text 14"/>
          <p:cNvSpPr/>
          <p:nvPr/>
        </p:nvSpPr>
        <p:spPr>
          <a:xfrm>
            <a:off x="7196328" y="3511296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викликів у модель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66928" y="4096512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кешем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2670048" y="4168932"/>
            <a:ext cx="137160" cy="257495"/>
          </a:xfrm>
          <a:prstGeom prst="roundRect">
            <a:avLst>
              <a:gd name="adj" fmla="val 33333"/>
            </a:avLst>
          </a:prstGeom>
          <a:solidFill>
            <a:srgbClr val="106B41"/>
          </a:solidFill>
          <a:ln/>
        </p:spPr>
      </p:sp>
      <p:sp>
        <p:nvSpPr>
          <p:cNvPr id="20" name="Text 17"/>
          <p:cNvSpPr/>
          <p:nvPr/>
        </p:nvSpPr>
        <p:spPr>
          <a:xfrm>
            <a:off x="7196328" y="4096512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виклик + 99 hit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КЕШ ВМИКАЮТЬ — І НЕ МІРЯЮТЬ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495604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«Кеш же є, значить економимо». Скільки? На яких запитах? Без цифр — талісман.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44068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5568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ТЕМИ — MEASURE-FIRST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5824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— в одну тему і в один діф із кешем. Інакше це віра.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кешувати можна — а що заборонено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Ідеальний кандидат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детермінована і не-персональна: «Як скинути пароль?», «Які тарифи?»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відповіді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— закешували одному, віддали іншому: інцидент із чужими даними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81928" y="306324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tool-викликів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374904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зібрані зі стану зовнішньої системи в конкретну мить — за годину брешуть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4389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4544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Швидкозмінні дані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5074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залишки, статуси, ціни — застарівають швидше, ніж встигає TTL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365760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378561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ДВА РІВНІ КЕШУ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04164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кеш прибирає виклик; кеш префікса здешевлює його зсередини. Складаються.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669280"/>
            <a:ext cx="2423160" cy="438912"/>
          </a:xfrm>
          <a:prstGeom prst="roundRect">
            <a:avLst>
              <a:gd name="adj" fmla="val 20833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" y="5669280"/>
            <a:ext cx="2313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«Як скинути пароль?» ✓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3081528" y="58887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3209544" y="58201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3447288" y="5669280"/>
            <a:ext cx="2423160" cy="438912"/>
          </a:xfrm>
          <a:prstGeom prst="roundRect">
            <a:avLst>
              <a:gd name="adj" fmla="val 20833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3502152" y="5669280"/>
            <a:ext cx="2313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«Де моє замовлення?» ✕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961888" y="58887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6089904" y="58201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6327648" y="5669280"/>
            <a:ext cx="2423160" cy="438912"/>
          </a:xfrm>
          <a:prstGeom prst="roundRect">
            <a:avLst>
              <a:gd name="adj" fmla="val 20833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6382512" y="5669280"/>
            <a:ext cx="2313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результат tool-виклику ✕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8842248" y="58887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rot="5400000">
            <a:off x="8970264" y="58201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9208008" y="5669280"/>
            <a:ext cx="2423160" cy="438912"/>
          </a:xfrm>
          <a:prstGeom prst="roundRect">
            <a:avLst>
              <a:gd name="adj" fmla="val 20833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9262872" y="5669280"/>
            <a:ext cx="2313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ціни · залишки · статуси ✕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Ключ кешу — це контракт коректності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cacheKey =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$"{model}|{systemPrompt}|{body.Message}"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31455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0769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промпта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31455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0769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ЯКЩО ПРОМПТА В КЛЮЧІ НЕМАЄ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— кеш ще віддає старе; rollback полагодив, а користувач бачить старе.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1206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26694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→ інвалідація автоматична: нова версія, нові записи.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Нормалізація — рішення про еквівалентність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Зайві пробіли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безпечно: на зміст повідомлення не впливає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58775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58775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Нижній регістр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58775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майже завжди правда: регістр рідко змінює зміст питання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39242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392424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пунктуацію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392424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вже не завжди: «не працює. оплата пройшла» ≠ «не працює оплата, пройшла»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1389888" y="4443984"/>
            <a:ext cx="9418320" cy="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79346" y="4379976"/>
            <a:ext cx="128016" cy="12801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9" name="Text 16"/>
          <p:cNvSpPr/>
          <p:nvPr/>
        </p:nvSpPr>
        <p:spPr>
          <a:xfrm>
            <a:off x="1137514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пробіли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151376" y="4379976"/>
            <a:ext cx="128016" cy="128016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3209544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регістр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614002" y="4379976"/>
            <a:ext cx="128016" cy="12801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3" name="Text 20"/>
          <p:cNvSpPr/>
          <p:nvPr/>
        </p:nvSpPr>
        <p:spPr>
          <a:xfrm>
            <a:off x="8672170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пунктуація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566928" y="453542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безпечно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9802368" y="453542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змінює зміст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566928" y="4956048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0840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 САМЕ ПРАВИЛО, ЩО З КЛЮЧЕМ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340096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Нормалізація — частина контракту коректності: найдешевший спосіб підняти hit ratio і саме тому найнебезпечніший. Кожен крок має бути свідомим.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 коду: виклик моделі стає гілкою miss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423160"/>
          </a:xfrm>
          <a:prstGeom prst="roundRect">
            <a:avLst>
              <a:gd name="adj" fmla="val 452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простий in-memory кеш + лічильники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(cache.TryGetValue(cacheKey, out var cached))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cached;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stats.CacheHits);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stats.CacheMisses);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... виклик моделі, парсинг, як раніше ...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(status == 200 &amp;&amp; toolCall == null) cache[cacheKey] = answer;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572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Тільки 200 у кеш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заглушки й помилки не консервуємо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572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toolCall == null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інструментів не кешуються ніколи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572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видно в лозі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нульові токени і latency у мілісекундах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 що цей код мовчить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Пам'ять росте необмежено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унікальне питання — запис назавжди; на проді потрібна стеля або LRU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одночасні miss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підуть у модель і обидва заплатять; другий перезапише перший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Thundering herd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сотні запитів б'ють по одному холодному ключу: лок або «запит-лідер»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749040"/>
            <a:ext cx="242316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" y="3749040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 запитів одночасно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66928" y="433425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холодний ключ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3081528" y="40233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3209544" y="39547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3447288" y="3749040"/>
            <a:ext cx="242316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3502152" y="3749040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лок або «запит-лідер»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3447288" y="433425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решта чекають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5961888" y="40233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rot="5400000">
            <a:off x="6089904" y="39547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3" name="Shape 30"/>
          <p:cNvSpPr/>
          <p:nvPr/>
        </p:nvSpPr>
        <p:spPr>
          <a:xfrm>
            <a:off x="6327648" y="3749040"/>
            <a:ext cx="242316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34" name="Text 31"/>
          <p:cNvSpPr/>
          <p:nvPr/>
        </p:nvSpPr>
        <p:spPr>
          <a:xfrm>
            <a:off x="6382512" y="3749040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виклик моделі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6327648" y="433425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100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8842248" y="40233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rot="5400000">
            <a:off x="8970264" y="39547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8" name="Shape 35"/>
          <p:cNvSpPr/>
          <p:nvPr/>
        </p:nvSpPr>
        <p:spPr>
          <a:xfrm>
            <a:off x="9208008" y="3749040"/>
            <a:ext cx="242316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39" name="Text 36"/>
          <p:cNvSpPr/>
          <p:nvPr/>
        </p:nvSpPr>
        <p:spPr>
          <a:xfrm>
            <a:off x="9262872" y="3749040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99 віддано з кешу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566928" y="4846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786384" y="499262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про компроміс — обов'язково; лікувати його на нашому масштабі — ні. Ліки дорожчі за хворобу, поки трафік навчальний.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Hit ratio: що рахуємо і що з цим робимо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20040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2907792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13232" y="2559406"/>
            <a:ext cx="2907792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95020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415137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Зекономлені виклики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415137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хіти × середня вартість miss із лога = економія в доларах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55624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75741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 до / після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75741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~0 мс проти секунд походу в модель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16228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936345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Профіль трафіку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936345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низький hit ratio — привід у лог: питання унікальні чи ключ надто чутливий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3703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3831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ТОЙ САМИЙ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087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і метрика — разом; на тижні 5 лічильники стануть плиткою Cache-hit.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489204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49808" y="5239512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5239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43584" y="502005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1243584" y="5276088"/>
            <a:ext cx="10168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Перед кешем витягніть із лога топ повторів: топ-10 це 60% трафіку?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Дві метрики кешу — і межі здорової цифри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572000"/>
                <a:gridCol w="374904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метрика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міряє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де видно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hit ratio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запити, що взагалі не пішли в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в сервісі; з W5 — плитка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Кеш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токени, обслужені з кешу префікса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кешованих токенів у usage (Тема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0" name="Text 6"/>
          <p:cNvSpPr/>
          <p:nvPr/>
        </p:nvSpPr>
        <p:spPr>
          <a:xfrm>
            <a:off x="768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0% — кеш мертвий вантаж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768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шар є, ефекту немає: унікальні питання або надто чутливий ключ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281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3" name="Text 9"/>
          <p:cNvSpPr/>
          <p:nvPr/>
        </p:nvSpPr>
        <p:spPr>
          <a:xfrm>
            <a:off x="6483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Підозріло високий — теж сигнал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6483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рекордна цифра куплена застарілими або чужими відповідями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66928" y="516636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49808" y="542239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7" name="Text 13"/>
          <p:cNvSpPr/>
          <p:nvPr/>
        </p:nvSpPr>
        <p:spPr>
          <a:xfrm>
            <a:off x="749808" y="5422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1243584" y="529437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1243584" y="5550408"/>
            <a:ext cx="10168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кешувати» — теж інженерне рішення, і ухвалюють його ті самі цифри.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Кеш детермінізує систему — і це двосічно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Острівець передбачуваності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запит зафіксував відповідь — усі наступні однакові: недетермінізм зник для повторів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консервує помилку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кешу невдала відповідь випадкова, з кешем — систематична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611880"/>
            <a:ext cx="242316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" y="3611880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запит №1 → модель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66928" y="419709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відповідь X (будь-яка)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3081528" y="38862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3209544" y="38176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9" name="Shape 16"/>
          <p:cNvSpPr/>
          <p:nvPr/>
        </p:nvSpPr>
        <p:spPr>
          <a:xfrm>
            <a:off x="3447288" y="3611880"/>
            <a:ext cx="242316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20" name="Text 17"/>
          <p:cNvSpPr/>
          <p:nvPr/>
        </p:nvSpPr>
        <p:spPr>
          <a:xfrm>
            <a:off x="3502152" y="3611880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 зберіг X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3447288" y="419709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лише якщо status 200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961888" y="38862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6089904" y="38176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6327648" y="3611880"/>
            <a:ext cx="242316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6382512" y="3611880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запити №2…n → X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327648" y="419709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однакові, миттєві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8842248" y="38862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rot="5400000">
            <a:off x="8970264" y="38176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9" name="Shape 26"/>
          <p:cNvSpPr/>
          <p:nvPr/>
        </p:nvSpPr>
        <p:spPr>
          <a:xfrm>
            <a:off x="9208008" y="3611880"/>
            <a:ext cx="242316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9262872" y="3611880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заглушка → X назавжди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9208008" y="419709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систематична помилка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66928" y="452628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49808" y="485089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4" name="Text 31"/>
          <p:cNvSpPr/>
          <p:nvPr/>
        </p:nvSpPr>
        <p:spPr>
          <a:xfrm>
            <a:off x="749808" y="48508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1243584" y="465429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НЕ КЕШУЙТЕ ТЕ, У ЧОМУ НЕ ВПЕВНЕНІ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1243584" y="4910328"/>
            <a:ext cx="1016812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Пишемо в кеш лише повноцінну відповідь: сьогодні це status == 200.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566928" y="5596128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86384" y="5742432"/>
            <a:ext cx="10625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звітності підступно добре: hit ratio високий, вартість низька — а в кеші лежить сміття.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Скидання кешу — операційна процедура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ліг на 2 хв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«тимчасові проблеми»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поїхали в кеш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піднявся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ще годину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66928" y="2880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КОНТУРУ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326440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Те, що народилося у fallback-гілці (Тема 7), у кеш не потрапляє ніколи.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768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Мінімум: версія в ключі — вже є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768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автоматично робить старі записи недосяжними: найнебезпечніший сценарій закритий архітектурно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281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6483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рівень: епоха кешу</a:t>
            </a:r>
            <a:endParaRPr lang="en-US" sz="1450" dirty="0"/>
          </a:p>
        </p:txBody>
      </p:sp>
      <p:sp>
        <p:nvSpPr>
          <p:cNvPr id="34" name="Text 31"/>
          <p:cNvSpPr/>
          <p:nvPr/>
        </p:nvSpPr>
        <p:spPr>
          <a:xfrm>
            <a:off x="6483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номер, який входить у ключ: інкремент — і весь кеш недосяжний, без походу в сховище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Свіжість: віддати старе — і оновити у фоні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Жорсткий TTL — вибір із двох зол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короткий — кеш майже не влучає; довгий — роздаєте застаріле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Третій варіант: два строки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«свіжий до» — віддаємо як є; далі старе + фоновий виклик оновлює запис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310128"/>
            <a:ext cx="3706978" cy="475488"/>
          </a:xfrm>
          <a:prstGeom prst="roundRect">
            <a:avLst>
              <a:gd name="adj" fmla="val 13462"/>
            </a:avLst>
          </a:prstGeom>
          <a:solidFill>
            <a:srgbClr val="106B41"/>
          </a:solidFill>
          <a:ln/>
        </p:spPr>
      </p:sp>
      <p:sp>
        <p:nvSpPr>
          <p:cNvPr id="15" name="Text 12"/>
          <p:cNvSpPr/>
          <p:nvPr/>
        </p:nvSpPr>
        <p:spPr>
          <a:xfrm>
            <a:off x="713232" y="3310128"/>
            <a:ext cx="34143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свіжий  </a:t>
            </a:r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віддаємо як є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328770" y="3310128"/>
            <a:ext cx="4370832" cy="475488"/>
          </a:xfrm>
          <a:prstGeom prst="roundRect">
            <a:avLst>
              <a:gd name="adj" fmla="val 13462"/>
            </a:avLst>
          </a:prstGeom>
          <a:solidFill>
            <a:srgbClr val="1A4FBF"/>
          </a:solidFill>
          <a:ln/>
        </p:spPr>
      </p:sp>
      <p:sp>
        <p:nvSpPr>
          <p:cNvPr id="17" name="Text 14"/>
          <p:cNvSpPr/>
          <p:nvPr/>
        </p:nvSpPr>
        <p:spPr>
          <a:xfrm>
            <a:off x="4475074" y="3310128"/>
            <a:ext cx="4078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застарілий  </a:t>
            </a:r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віддаємо старе + фоновий рефреш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754466" y="3310128"/>
            <a:ext cx="2821838" cy="475488"/>
          </a:xfrm>
          <a:prstGeom prst="roundRect">
            <a:avLst>
              <a:gd name="adj" fmla="val 13462"/>
            </a:avLst>
          </a:prstGeom>
          <a:solidFill>
            <a:srgbClr val="B3261E"/>
          </a:solidFill>
          <a:ln/>
        </p:spPr>
      </p:sp>
      <p:sp>
        <p:nvSpPr>
          <p:cNvPr id="19" name="Text 16"/>
          <p:cNvSpPr/>
          <p:nvPr/>
        </p:nvSpPr>
        <p:spPr>
          <a:xfrm>
            <a:off x="8900770" y="3310128"/>
            <a:ext cx="25292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прострочений  </a:t>
            </a:r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 — ідемо в модель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66928" y="38221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життя запису →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66928" y="4187952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431596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ДЛЯ LLM ЦЕ ВИГІДНІШЕ, НІЖ ДЛЯ ЗВИЧАЙНОГО API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4572000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 коштує секунди й гроші, а «застаріла» інструкція не псується за годину.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1663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49808" y="546811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749808" y="5468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1243584" y="529437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ОДИН TTL НА ВСЕ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1243584" y="5550408"/>
            <a:ext cx="10168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запиту: пароль може жити добу, статус замовлення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Інвалідація і драбина сховищ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847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1901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in-memory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053328" y="24917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6181344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6419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 (advanced-профіль)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Промпт-у-ключі + TTL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механізми покривають майже всі випадки інвалідації без окремої інфраструктури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переростає пам'ять процесу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інстансів або потрібен спільний кеш — тоді Redis; ціна — ще одна залежність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49808" y="526237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2" name="Text 19"/>
          <p:cNvSpPr/>
          <p:nvPr/>
        </p:nvSpPr>
        <p:spPr>
          <a:xfrm>
            <a:off x="749808" y="52623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243584" y="511149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1243584" y="5367528"/>
            <a:ext cx="101681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Інвалідувати вручну і потім: «зайдемо і почистимо» не масштабується далі за один інцидент.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Semantic cache: коли точного збігу мало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схожості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251460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надто високий — кеш не влучає; надто низький — віддасте відповідь на інше питання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182880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251460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запит — виклик за векторами: кеш перестає бути безкоштовним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182880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й індекс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251460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вектори треба десь тримати й оновлювати — ще одна залежність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3749040"/>
            <a:ext cx="329184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621792" y="3749040"/>
            <a:ext cx="3182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«забув пароль, що робити?»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566928" y="43342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нове формулювання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3950208" y="40233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5400000">
            <a:off x="4078224" y="39547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0" name="Shape 27"/>
          <p:cNvSpPr/>
          <p:nvPr/>
        </p:nvSpPr>
        <p:spPr>
          <a:xfrm>
            <a:off x="4315968" y="374904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4370832" y="3749040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вектор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4315968" y="433425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один виклик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961888" y="40233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rot="5400000">
            <a:off x="6089904" y="39547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6327648" y="374904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6382512" y="3749040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схожість ≥ поріг?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6327648" y="433425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надто низько — чужа відповідь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7973568" y="40233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rot="5400000">
            <a:off x="8101584" y="39547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0" name="Shape 37"/>
          <p:cNvSpPr/>
          <p:nvPr/>
        </p:nvSpPr>
        <p:spPr>
          <a:xfrm>
            <a:off x="8339328" y="3749040"/>
            <a:ext cx="329184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41" name="Text 38"/>
          <p:cNvSpPr/>
          <p:nvPr/>
        </p:nvSpPr>
        <p:spPr>
          <a:xfrm>
            <a:off x="8394192" y="3749040"/>
            <a:ext cx="3182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для «Як скинути пароль?»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566928" y="48463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43" name="Text 40"/>
          <p:cNvSpPr/>
          <p:nvPr/>
        </p:nvSpPr>
        <p:spPr>
          <a:xfrm>
            <a:off x="786384" y="4974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РІШЕНЬ</a:t>
            </a:r>
            <a:endParaRPr lang="en-US" sz="950" dirty="0"/>
          </a:p>
        </p:txBody>
      </p:sp>
      <p:sp>
        <p:nvSpPr>
          <p:cNvPr id="44" name="Text 41"/>
          <p:cNvSpPr/>
          <p:nvPr/>
        </p:nvSpPr>
        <p:spPr>
          <a:xfrm>
            <a:off x="786384" y="52303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точний кеш і нормалізація, потім вимір hit ratio, і лише якщо цифра вперлася — semantic cache. Інакше Ви платите за складність наперед.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вдруге ~0 мс і нульові токени в лозі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361688" y="173736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56285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56285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074920" y="189280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562856" y="242316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робить кеш недосяжним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#10482?»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кешується — персональна відповідь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361688" y="338328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456285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56285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5074920" y="353872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4562856" y="406908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ростуть разом із кешем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8156448" y="173736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284464" y="1856232"/>
            <a:ext cx="73152" cy="7315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29" name="Shape 26"/>
          <p:cNvSpPr/>
          <p:nvPr/>
        </p:nvSpPr>
        <p:spPr>
          <a:xfrm>
            <a:off x="8430768" y="1856232"/>
            <a:ext cx="73152" cy="73152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30" name="Shape 27"/>
          <p:cNvSpPr/>
          <p:nvPr/>
        </p:nvSpPr>
        <p:spPr>
          <a:xfrm>
            <a:off x="8577072" y="1856232"/>
            <a:ext cx="73152" cy="73152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31" name="Text 28"/>
          <p:cNvSpPr/>
          <p:nvPr/>
        </p:nvSpPr>
        <p:spPr>
          <a:xfrm>
            <a:off x="8759952" y="1737360"/>
            <a:ext cx="2761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Чат · localhost:4200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8156448" y="2048256"/>
            <a:ext cx="3474720" cy="0"/>
          </a:xfrm>
          <a:prstGeom prst="line">
            <a:avLst/>
          </a:prstGeom>
          <a:noFill/>
          <a:ln w="9525">
            <a:solidFill>
              <a:srgbClr val="2A243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811158" y="2176272"/>
            <a:ext cx="2710282" cy="306095"/>
          </a:xfrm>
          <a:prstGeom prst="roundRect">
            <a:avLst>
              <a:gd name="adj" fmla="val 29873"/>
            </a:avLst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920886" y="2176272"/>
            <a:ext cx="2490826" cy="306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скинути пароль?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8266176" y="2582951"/>
            <a:ext cx="2710282" cy="484175"/>
          </a:xfrm>
          <a:prstGeom prst="roundRect">
            <a:avLst>
              <a:gd name="adj" fmla="val 18886"/>
            </a:avLst>
          </a:prstGeom>
          <a:solidFill>
            <a:srgbClr val="1E1A2B"/>
          </a:solidFill>
          <a:ln/>
        </p:spPr>
      </p:sp>
      <p:sp>
        <p:nvSpPr>
          <p:cNvPr id="36" name="Text 33"/>
          <p:cNvSpPr/>
          <p:nvPr/>
        </p:nvSpPr>
        <p:spPr>
          <a:xfrm>
            <a:off x="8375904" y="2582951"/>
            <a:ext cx="2490826" cy="484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Надішліть запит на email підтримки — інструкція прийде листом.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8302752" y="3112846"/>
            <a:ext cx="27102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miss · 1.2 s · 84 токени</a:t>
            </a:r>
            <a:endParaRPr lang="en-US" sz="750" dirty="0"/>
          </a:p>
        </p:txBody>
      </p:sp>
      <p:sp>
        <p:nvSpPr>
          <p:cNvPr id="38" name="Shape 35"/>
          <p:cNvSpPr/>
          <p:nvPr/>
        </p:nvSpPr>
        <p:spPr>
          <a:xfrm>
            <a:off x="8811158" y="3368878"/>
            <a:ext cx="2710282" cy="306095"/>
          </a:xfrm>
          <a:prstGeom prst="roundRect">
            <a:avLst>
              <a:gd name="adj" fmla="val 29873"/>
            </a:avLst>
          </a:prstGeom>
          <a:solidFill>
            <a:srgbClr val="5A05F4"/>
          </a:solidFill>
          <a:ln/>
        </p:spPr>
      </p:sp>
      <p:sp>
        <p:nvSpPr>
          <p:cNvPr id="39" name="Text 36"/>
          <p:cNvSpPr/>
          <p:nvPr/>
        </p:nvSpPr>
        <p:spPr>
          <a:xfrm>
            <a:off x="8920886" y="3368878"/>
            <a:ext cx="2490826" cy="306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скинути пароль?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8266176" y="3775558"/>
            <a:ext cx="2710282" cy="484175"/>
          </a:xfrm>
          <a:prstGeom prst="roundRect">
            <a:avLst>
              <a:gd name="adj" fmla="val 18886"/>
            </a:avLst>
          </a:prstGeom>
          <a:solidFill>
            <a:srgbClr val="1E1A2B"/>
          </a:solidFill>
          <a:ln/>
        </p:spPr>
      </p:sp>
      <p:sp>
        <p:nvSpPr>
          <p:cNvPr id="41" name="Text 38"/>
          <p:cNvSpPr/>
          <p:nvPr/>
        </p:nvSpPr>
        <p:spPr>
          <a:xfrm>
            <a:off x="8375904" y="3775558"/>
            <a:ext cx="2490826" cy="484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Надішліть запит на email підтримки — інструкція прийде листом.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8302752" y="4305452"/>
            <a:ext cx="27102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· 0 мс · 0 токенів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44" name="Shape 41"/>
          <p:cNvSpPr/>
          <p:nvPr/>
        </p:nvSpPr>
        <p:spPr>
          <a:xfrm>
            <a:off x="749808" y="544525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749808" y="54452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43584" y="52029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47" name="Text 44"/>
          <p:cNvSpPr/>
          <p:nvPr/>
        </p:nvSpPr>
        <p:spPr>
          <a:xfrm>
            <a:off x="1243584" y="545896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кеш — не «швидше», а «дешевше і передбачувано», і що ключ вирішує коректність: одна зміна версії промпта прибирає весь старий кеш.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гілка hit/miss у service/Program.cs + лічильники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ефект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двічі: latency і токени в лозі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іншої версії → кеш недосяжний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межі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заборонити кеш для персональних і tool-відповідей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 й перезапит після протухання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перевірте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7223760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6821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Метрика, а не віра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6821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ростуть на очах: економія порахована, а не заявлена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2926080"/>
            <a:ext cx="7223760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081528"/>
            <a:ext cx="6821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вирішує коректність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3611880"/>
            <a:ext cx="6821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— і rollback не залишає стару поведінку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114800"/>
            <a:ext cx="7223760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4270248"/>
            <a:ext cx="6821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проведена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4800600"/>
            <a:ext cx="6821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 й tool-відповіді не кешуються ніколи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156448" y="1737360"/>
            <a:ext cx="3474720" cy="3429000"/>
          </a:xfrm>
          <a:prstGeom prst="roundRect">
            <a:avLst>
              <a:gd name="adj" fmla="val 213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84464" y="1856232"/>
            <a:ext cx="73152" cy="7315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8" name="Shape 15"/>
          <p:cNvSpPr/>
          <p:nvPr/>
        </p:nvSpPr>
        <p:spPr>
          <a:xfrm>
            <a:off x="8430768" y="1856232"/>
            <a:ext cx="73152" cy="73152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577072" y="1856232"/>
            <a:ext cx="73152" cy="73152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20" name="Text 17"/>
          <p:cNvSpPr/>
          <p:nvPr/>
        </p:nvSpPr>
        <p:spPr>
          <a:xfrm>
            <a:off x="8759952" y="1737360"/>
            <a:ext cx="2761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 · після Теми 5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8156448" y="2048256"/>
            <a:ext cx="3474720" cy="0"/>
          </a:xfrm>
          <a:prstGeom prst="line">
            <a:avLst/>
          </a:prstGeom>
          <a:noFill/>
          <a:ln w="9525">
            <a:solidFill>
              <a:srgbClr val="2A243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266176" y="2139696"/>
            <a:ext cx="1011936" cy="142189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339328" y="2176272"/>
            <a:ext cx="865632" cy="369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</a:t>
            </a:r>
            <a:endParaRPr lang="en-US" sz="750" dirty="0"/>
          </a:p>
        </p:txBody>
      </p:sp>
      <p:sp>
        <p:nvSpPr>
          <p:cNvPr id="24" name="Text 21"/>
          <p:cNvSpPr/>
          <p:nvPr/>
        </p:nvSpPr>
        <p:spPr>
          <a:xfrm>
            <a:off x="8339328" y="2623139"/>
            <a:ext cx="865632" cy="8246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9387840" y="2139696"/>
            <a:ext cx="1011936" cy="142189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460992" y="2176272"/>
            <a:ext cx="865632" cy="369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9460992" y="2623139"/>
            <a:ext cx="865632" cy="8246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$0.0045 / $5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10509504" y="2139696"/>
            <a:ext cx="1011936" cy="142189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0582656" y="2176272"/>
            <a:ext cx="865632" cy="369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10582656" y="2623139"/>
            <a:ext cx="865632" cy="8246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8266176" y="3653028"/>
            <a:ext cx="1011936" cy="142189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339328" y="3689604"/>
            <a:ext cx="865632" cy="369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8339328" y="4136471"/>
            <a:ext cx="865632" cy="8246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9387840" y="3653028"/>
            <a:ext cx="1011936" cy="142189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460992" y="3689604"/>
            <a:ext cx="865632" cy="369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9460992" y="4136471"/>
            <a:ext cx="865632" cy="8246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50%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10509504" y="3653028"/>
            <a:ext cx="1011936" cy="142189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0582656" y="3689604"/>
            <a:ext cx="865632" cy="369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750" dirty="0"/>
          </a:p>
        </p:txBody>
      </p:sp>
      <p:sp>
        <p:nvSpPr>
          <p:cNvPr id="39" name="Text 36"/>
          <p:cNvSpPr/>
          <p:nvPr/>
        </p:nvSpPr>
        <p:spPr>
          <a:xfrm>
            <a:off x="10582656" y="4136471"/>
            <a:ext cx="865632" cy="8246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566928" y="53492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86384" y="54955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було. У наступній темі бот почне діяти, і там межа «tool-відповіді не кешуємо» перестане бути теорією.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Перевірте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запит відповідає ~миттєво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ростуть правильно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інвалідує кеш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кешувати заборонено — і чому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без лічильників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«начебто економимо» — цифри немає, рішення теж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поза ключем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полагодив регресію, а користувачі бачать стару поведінку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персональні відповіді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продуктивність, це чужі дані в чужих руках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TTL на все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неправильний для половини трафіку за визначенням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повторний запит ~0 мс, лічильники ростуть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перевірити rollback-експеримент — промпт у ключі рятує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список «що в моїй системі кешувати заборонено»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 для записів кешу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подивитися на Redis у профілі advanced — місце для винесеного кешу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3 — після наступної теми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об'єднає кеш та інструменти: сьогоднішня частина вже у Вас в руках, після наступної теми додадуться tool-виклики з таймаутом та ідемпотентністю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ТЕМИ 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було: кеш прибирає виклик цілком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метрика з'являються одним діфом: без цифри це віра, а не механізм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модель + промпт + повідомлення — це контракт коректності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персональне, tool-відповіді і швидкозмінні дані не кешуються ніколи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запиту, а не глобальне налаштування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Тема 6 · Tool calls: коли модель починає діяти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Досі бот тільки говорив — найгірше, що він міг, це відповісти неправильно. У наступній темі він почне діяти: tool-виклики, зовнішні інтеграції, реальні наслідки. Дія потребує схеми, таймаута та ідемпотентності — а незворотна дія ще й людини, яка скаже «так».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5 · Кешування: точний кеш, метрика і semantic cache</dc:title>
  <dc:subject>PptxGenJS Presentation</dc:subject>
  <dc:creator>LLMOps Bootcamp</dc:creator>
  <cp:lastModifiedBy>LLMOps Bootcamp</cp:lastModifiedBy>
  <cp:revision>1</cp:revision>
  <dcterms:created xsi:type="dcterms:W3CDTF">2026-09-08T17:14:04Z</dcterms:created>
  <dcterms:modified xsi:type="dcterms:W3CDTF">2026-09-08T17:14:04Z</dcterms:modified>
</cp:coreProperties>
</file>