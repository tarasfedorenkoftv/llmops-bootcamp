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9098280" y="1234440"/>
            <a:ext cx="2743200" cy="2743200"/>
          </a:xfrm>
          <a:prstGeom prst="roundRect">
            <a:avLst>
              <a:gd name="adj" fmla="val 5333"/>
            </a:avLst>
          </a:prstGeom>
          <a:ln w="12700">
            <a:solidFill>
              <a:srgbClr val="9B7BE8">
                <a:alpha val="24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82328" y="1618488"/>
            <a:ext cx="1975104" cy="1975104"/>
          </a:xfrm>
          <a:prstGeom prst="roundRect">
            <a:avLst>
              <a:gd name="adj" fmla="val 7407"/>
            </a:avLst>
          </a:prstGeom>
          <a:ln w="12700">
            <a:solidFill>
              <a:srgbClr val="9B7BE8">
                <a:alpha val="4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66376" y="2002536"/>
            <a:ext cx="1207008" cy="1207008"/>
          </a:xfrm>
          <a:prstGeom prst="roundRect">
            <a:avLst>
              <a:gd name="adj" fmla="val 12121"/>
            </a:avLst>
          </a:prstGeom>
          <a:ln w="12700">
            <a:solidFill>
              <a:srgbClr val="9B7BE8">
                <a:alpha val="66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3 · УРОК 5 З 12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Кешування: точний кеш,</a:t>
            </a:r>
            <a:endParaRPr lang="en-US" sz="40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метрика і semantic cache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9B8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Найшвидша і найдешевша відповідь — та, по яку не треба йти в модель. Сьогодні обгорнемо виклик кешем, зберемо ключ, який не бреше, і увімкнемо лічильники з першої хвилини.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4" name="Text 12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Обгорнути виклик кешем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 віддає збережене, miss іде в модель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Зібрати ключ, що не бреше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+ промпт + повідомлення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Увімкнути лічильники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hit/miss в одному діфі з кешем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Довести rollback-тестом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зміна промпта інвалідує кеш автоматично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Провести межу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кешувати заборонено — і чому це коректність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Подвійний податок на повтори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Межі: що можна, що заборонено</a:t>
            </a:r>
            <a:endParaRPr lang="en-US" sz="1450" dirty="0"/>
          </a:p>
        </p:txBody>
      </p:sp>
      <p:sp>
        <p:nvSpPr>
          <p:cNvPr id="14" name="Shape 11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= контракт коректності</a:t>
            </a:r>
            <a:endParaRPr lang="en-US" sz="1450" dirty="0"/>
          </a:p>
        </p:txBody>
      </p:sp>
      <p:sp>
        <p:nvSpPr>
          <p:cNvPr id="18" name="Shape 15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Розтин: гілка miss</a:t>
            </a:r>
            <a:endParaRPr lang="en-US" sz="1450" dirty="0"/>
          </a:p>
        </p:txBody>
      </p:sp>
      <p:sp>
        <p:nvSpPr>
          <p:cNvPr id="22" name="Shape 19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 ratio і що з нього</a:t>
            </a:r>
            <a:endParaRPr lang="en-US" sz="1450" dirty="0"/>
          </a:p>
        </p:txBody>
      </p:sp>
      <p:sp>
        <p:nvSpPr>
          <p:cNvPr id="26" name="Shape 23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детермінізує — двосічно</a:t>
            </a:r>
            <a:endParaRPr lang="en-US" sz="1450" dirty="0"/>
          </a:p>
        </p:txBody>
      </p:sp>
      <p:sp>
        <p:nvSpPr>
          <p:cNvPr id="30" name="Shape 27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2" name="Text 29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Інвалідація і TTL</a:t>
            </a:r>
            <a:endParaRPr lang="en-US" sz="1450" dirty="0"/>
          </a:p>
        </p:txBody>
      </p:sp>
      <p:sp>
        <p:nvSpPr>
          <p:cNvPr id="34" name="Shape 31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2A2010"/>
          </a:solidFill>
          <a:ln/>
        </p:spPr>
      </p:sp>
      <p:sp>
        <p:nvSpPr>
          <p:cNvPr id="35" name="Shape 32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E8A857"/>
          </a:solidFill>
          <a:ln/>
        </p:spPr>
      </p:sp>
      <p:sp>
        <p:nvSpPr>
          <p:cNvPr id="36" name="Text 33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Semantic cache · опційно</a:t>
            </a:r>
            <a:endParaRPr lang="en-US" sz="1450" dirty="0"/>
          </a:p>
        </p:txBody>
      </p:sp>
      <p:sp>
        <p:nvSpPr>
          <p:cNvPr id="38" name="Shape 35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0" name="Text 37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1" name="Text 38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42" name="Shape 39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4" name="Text 41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5" name="Text 42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46" name="Shape 43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«кеш є, значить економимо» — до цифри, яка це доводить.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hit / miss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влучання і промах: hit — у модель не пішли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hit ratio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частка запитів, що обійшлися без моделі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ключ кешу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рядок пошуку збереженої відповіді — контракт коректності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TTL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 життя запису: скільки відповідь придатна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інвалідація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вихід записів з обігу, коли вони більше не правдиві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semantic cache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пошук схожого за змістом, а не точного збігу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коді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Подвійний податок на повтори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2E1418"/>
          </a:solidFill>
          <a:ln/>
        </p:spPr>
      </p:sp>
      <p:sp>
        <p:nvSpPr>
          <p:cNvPr id="8" name="Text 5"/>
          <p:cNvSpPr/>
          <p:nvPr/>
        </p:nvSpPr>
        <p:spPr>
          <a:xfrm>
            <a:off x="713232" y="1847088"/>
            <a:ext cx="50566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Гроші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713232" y="2532888"/>
            <a:ext cx="505663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«Як скинути пароль?» — сотні разів на день майже однаковими словами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81928" y="173736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2A2010"/>
          </a:solidFill>
          <a:ln/>
        </p:spPr>
      </p:sp>
      <p:sp>
        <p:nvSpPr>
          <p:cNvPr id="11" name="Text 8"/>
          <p:cNvSpPr/>
          <p:nvPr/>
        </p:nvSpPr>
        <p:spPr>
          <a:xfrm>
            <a:off x="6428232" y="1847088"/>
            <a:ext cx="50566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</a:t>
            </a:r>
            <a:endParaRPr lang="en-US" sz="3000" dirty="0"/>
          </a:p>
        </p:txBody>
      </p:sp>
      <p:sp>
        <p:nvSpPr>
          <p:cNvPr id="12" name="Text 9"/>
          <p:cNvSpPr/>
          <p:nvPr/>
        </p:nvSpPr>
        <p:spPr>
          <a:xfrm>
            <a:off x="6428232" y="2532888"/>
            <a:ext cx="505663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однакова відповідь — а користувач щоразу чекає похід у модель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566928" y="3255264"/>
            <a:ext cx="11064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сто однакових питань за день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566928" y="3511296"/>
            <a:ext cx="19385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без кешу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2670048" y="3583716"/>
            <a:ext cx="4297680" cy="257495"/>
          </a:xfrm>
          <a:prstGeom prst="roundRect">
            <a:avLst>
              <a:gd name="adj" fmla="val 17756"/>
            </a:avLst>
          </a:prstGeom>
          <a:solidFill>
            <a:srgbClr val="FF7B7B"/>
          </a:solidFill>
          <a:ln/>
        </p:spPr>
      </p:sp>
      <p:sp>
        <p:nvSpPr>
          <p:cNvPr id="16" name="Text 13"/>
          <p:cNvSpPr/>
          <p:nvPr/>
        </p:nvSpPr>
        <p:spPr>
          <a:xfrm>
            <a:off x="7196328" y="3511296"/>
            <a:ext cx="4206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100 викликів у модель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566928" y="4096512"/>
            <a:ext cx="19385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 кешем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2670048" y="4168932"/>
            <a:ext cx="137160" cy="257495"/>
          </a:xfrm>
          <a:prstGeom prst="roundRect">
            <a:avLst>
              <a:gd name="adj" fmla="val 33333"/>
            </a:avLst>
          </a:prstGeom>
          <a:solidFill>
            <a:srgbClr val="5FD6A0"/>
          </a:solidFill>
          <a:ln/>
        </p:spPr>
      </p:sp>
      <p:sp>
        <p:nvSpPr>
          <p:cNvPr id="19" name="Text 16"/>
          <p:cNvSpPr/>
          <p:nvPr/>
        </p:nvSpPr>
        <p:spPr>
          <a:xfrm>
            <a:off x="7196328" y="4096512"/>
            <a:ext cx="4206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виклик + 99 hit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457200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2E1418"/>
          </a:solidFill>
          <a:ln/>
        </p:spPr>
      </p:sp>
      <p:sp>
        <p:nvSpPr>
          <p:cNvPr id="21" name="Text 18"/>
          <p:cNvSpPr/>
          <p:nvPr/>
        </p:nvSpPr>
        <p:spPr>
          <a:xfrm>
            <a:off x="786384" y="47000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ПАСТКА: КЕШ ВМИКАЮТЬ — І НЕ МІРЯЮТЬ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786384" y="495604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«Кеш же є, значить економимо». Скільки? На яких запитах? Без цифр — талісман.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566928" y="544068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102A20"/>
          </a:solidFill>
          <a:ln/>
        </p:spPr>
      </p:sp>
      <p:sp>
        <p:nvSpPr>
          <p:cNvPr id="24" name="Text 21"/>
          <p:cNvSpPr/>
          <p:nvPr/>
        </p:nvSpPr>
        <p:spPr>
          <a:xfrm>
            <a:off x="786384" y="55686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ПРАВИЛО УРОКУ — MEASURE-FIRST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786384" y="582472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Лічильники hit/miss — в один урок і в один діф із кешем. Інакше це віра.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кешувати можна — а що заборонено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349240" cy="1691640"/>
          </a:xfrm>
          <a:prstGeom prst="roundRect">
            <a:avLst>
              <a:gd name="adj" fmla="val 6486"/>
            </a:avLst>
          </a:prstGeom>
          <a:solidFill>
            <a:srgbClr val="102A2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Ідеальний кандидат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49469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детермінована і не-персональна: «Як скинути пароль?», «Які тарифи?»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3736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2E1418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Персональні відповіді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23160"/>
            <a:ext cx="4946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«Де моє замовлення?» — закешували одному, віддали іншому: інцидент із чужими даними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281928" y="306324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2E1418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32186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Результати tool-викликів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483096" y="3749040"/>
            <a:ext cx="4946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зібрані зі стану зовнішньої системи в конкретну мить — за годину брешуть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281928" y="438912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2E1418"/>
          </a:solidFill>
          <a:ln/>
        </p:spPr>
      </p:sp>
      <p:sp>
        <p:nvSpPr>
          <p:cNvPr id="17" name="Text 14"/>
          <p:cNvSpPr/>
          <p:nvPr/>
        </p:nvSpPr>
        <p:spPr>
          <a:xfrm>
            <a:off x="6483096" y="45445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Швидкозмінні дані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6483096" y="5074920"/>
            <a:ext cx="4946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залишки, статуси, ціни — застарівають швидше, ніж встигає TTL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566928" y="3657600"/>
            <a:ext cx="5349240" cy="1691640"/>
          </a:xfrm>
          <a:prstGeom prst="roundRect">
            <a:avLst>
              <a:gd name="adj" fmla="val 6486"/>
            </a:avLst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786384" y="3785616"/>
            <a:ext cx="4910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ДВА РІВНІ КЕШУ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786384" y="4041648"/>
            <a:ext cx="4910328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Наш кеш прибирає виклик; кеш префікса здешевлює його зсередини. Складаються.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66928" y="553212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86384" y="567842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Межа кешування — питання коректності, а не продуктивності.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кешу — це контракт коректності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12101A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cacheKey =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7FD9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$"{model}|{systemPrompt}|{body.Message}"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66928" y="2788920"/>
            <a:ext cx="3383280" cy="713232"/>
          </a:xfrm>
          <a:prstGeom prst="roundRect">
            <a:avLst>
              <a:gd name="adj" fmla="val 12821"/>
            </a:avLst>
          </a:prstGeom>
          <a:solidFill>
            <a:srgbClr val="1C1140"/>
          </a:solidFill>
          <a:ln/>
        </p:spPr>
      </p:sp>
      <p:sp>
        <p:nvSpPr>
          <p:cNvPr id="10" name="Text 7"/>
          <p:cNvSpPr/>
          <p:nvPr/>
        </p:nvSpPr>
        <p:spPr>
          <a:xfrm>
            <a:off x="621792" y="2788920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модель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041648" y="3145536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5400000">
            <a:off x="4169664" y="3076956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3" name="Shape 10"/>
          <p:cNvSpPr/>
          <p:nvPr/>
        </p:nvSpPr>
        <p:spPr>
          <a:xfrm>
            <a:off x="4407408" y="2788920"/>
            <a:ext cx="3383280" cy="713232"/>
          </a:xfrm>
          <a:prstGeom prst="roundRect">
            <a:avLst>
              <a:gd name="adj" fmla="val 12821"/>
            </a:avLst>
          </a:prstGeom>
          <a:solidFill>
            <a:srgbClr val="1C1140"/>
          </a:solidFill>
          <a:ln/>
        </p:spPr>
      </p:sp>
      <p:sp>
        <p:nvSpPr>
          <p:cNvPr id="14" name="Text 11"/>
          <p:cNvSpPr/>
          <p:nvPr/>
        </p:nvSpPr>
        <p:spPr>
          <a:xfrm>
            <a:off x="4462272" y="2788920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текст промпта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7882128" y="3145536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5400000">
            <a:off x="8010144" y="3076956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7" name="Shape 14"/>
          <p:cNvSpPr/>
          <p:nvPr/>
        </p:nvSpPr>
        <p:spPr>
          <a:xfrm>
            <a:off x="8247888" y="2788920"/>
            <a:ext cx="3383280" cy="713232"/>
          </a:xfrm>
          <a:prstGeom prst="roundRect">
            <a:avLst>
              <a:gd name="adj" fmla="val 12821"/>
            </a:avLst>
          </a:prstGeom>
          <a:solidFill>
            <a:srgbClr val="1C1140"/>
          </a:solidFill>
          <a:ln/>
        </p:spPr>
      </p:sp>
      <p:sp>
        <p:nvSpPr>
          <p:cNvPr id="18" name="Text 15"/>
          <p:cNvSpPr/>
          <p:nvPr/>
        </p:nvSpPr>
        <p:spPr>
          <a:xfrm>
            <a:off x="8302752" y="2788920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повідомлення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66928" y="37490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2E1418"/>
          </a:solidFill>
          <a:ln/>
        </p:spPr>
      </p:sp>
      <p:sp>
        <p:nvSpPr>
          <p:cNvPr id="20" name="Text 17"/>
          <p:cNvSpPr/>
          <p:nvPr/>
        </p:nvSpPr>
        <p:spPr>
          <a:xfrm>
            <a:off x="786384" y="3877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ЯКЩО ПРОМПТА В КЛЮЧІ НЕМАЄ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786384" y="413308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Promote — кеш ще віддає старе; rollback полагодив, а користувач бачить старе.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66928" y="512064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102A20"/>
          </a:solidFill>
          <a:ln/>
        </p:spPr>
      </p:sp>
      <p:sp>
        <p:nvSpPr>
          <p:cNvPr id="23" name="Text 20"/>
          <p:cNvSpPr/>
          <p:nvPr/>
        </p:nvSpPr>
        <p:spPr>
          <a:xfrm>
            <a:off x="786384" y="526694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у ключі → інвалідація автоматична: нова версія, нові записи.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Нормалізація — рішення про еквівалентність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102A20"/>
          </a:solidFill>
          <a:ln/>
        </p:spPr>
      </p:sp>
      <p:sp>
        <p:nvSpPr>
          <p:cNvPr id="8" name="Text 5"/>
          <p:cNvSpPr/>
          <p:nvPr/>
        </p:nvSpPr>
        <p:spPr>
          <a:xfrm>
            <a:off x="786384" y="1783080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Зайві пробіли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4548226" y="1783080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безпечно: на зміст повідомлення не впливає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2587752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2587752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Нижній регістр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4548226" y="2587752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майже завжди правда: регістр рідко змінює зміст питання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66928" y="3392424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2E1418"/>
          </a:solidFill>
          <a:ln/>
        </p:spPr>
      </p:sp>
      <p:sp>
        <p:nvSpPr>
          <p:cNvPr id="14" name="Text 11"/>
          <p:cNvSpPr/>
          <p:nvPr/>
        </p:nvSpPr>
        <p:spPr>
          <a:xfrm>
            <a:off x="786384" y="3392424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Прибрати пунктуацію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4548226" y="3392424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вже не завжди: «не працює. оплата пройшла» ≠ «не працює оплата, пройшла»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1389888" y="4443984"/>
            <a:ext cx="9418320" cy="0"/>
          </a:xfrm>
          <a:prstGeom prst="line">
            <a:avLst/>
          </a:prstGeom>
          <a:noFill/>
          <a:ln w="19050">
            <a:solidFill>
              <a:srgbClr val="2E2A3A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079346" y="4379976"/>
            <a:ext cx="128016" cy="128016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18" name="Text 15"/>
          <p:cNvSpPr/>
          <p:nvPr/>
        </p:nvSpPr>
        <p:spPr>
          <a:xfrm>
            <a:off x="1137514" y="4114800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пробіли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4151376" y="4379976"/>
            <a:ext cx="128016" cy="128016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20" name="Text 17"/>
          <p:cNvSpPr/>
          <p:nvPr/>
        </p:nvSpPr>
        <p:spPr>
          <a:xfrm>
            <a:off x="3209544" y="4114800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регістр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9614002" y="4379976"/>
            <a:ext cx="128016" cy="128016"/>
          </a:xfrm>
          <a:prstGeom prst="ellipse">
            <a:avLst/>
          </a:prstGeom>
          <a:solidFill>
            <a:srgbClr val="FF7B7B"/>
          </a:solidFill>
          <a:ln/>
        </p:spPr>
      </p:sp>
      <p:sp>
        <p:nvSpPr>
          <p:cNvPr id="22" name="Text 19"/>
          <p:cNvSpPr/>
          <p:nvPr/>
        </p:nvSpPr>
        <p:spPr>
          <a:xfrm>
            <a:off x="8672170" y="4114800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пунктуація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566928" y="4535424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безпечно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9802368" y="453542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змінює зміст</a:t>
            </a:r>
            <a:endParaRPr lang="en-US" sz="850" dirty="0"/>
          </a:p>
        </p:txBody>
      </p:sp>
      <p:sp>
        <p:nvSpPr>
          <p:cNvPr id="25" name="Shape 22"/>
          <p:cNvSpPr/>
          <p:nvPr/>
        </p:nvSpPr>
        <p:spPr>
          <a:xfrm>
            <a:off x="566928" y="4956048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5A05F4"/>
          </a:solidFill>
          <a:ln/>
        </p:spPr>
      </p:sp>
      <p:sp>
        <p:nvSpPr>
          <p:cNvPr id="26" name="Text 23"/>
          <p:cNvSpPr/>
          <p:nvPr/>
        </p:nvSpPr>
        <p:spPr>
          <a:xfrm>
            <a:off x="786384" y="5084064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 САМЕ ПРАВИЛО, ЩО З КЛЮЧЕМ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786384" y="5340096"/>
            <a:ext cx="106253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Нормалізація — частина контракту коректності: найдешевший спосіб підняти hit ratio і саме тому найнебезпечніший. Кожен крок має бути свідомим.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Розтин коду: виклик моделі стає гілкою miss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2423160"/>
          </a:xfrm>
          <a:prstGeom prst="roundRect">
            <a:avLst>
              <a:gd name="adj" fmla="val 4528"/>
            </a:avLst>
          </a:prstGeom>
          <a:solidFill>
            <a:srgbClr val="12101A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[W3] простий in-memory кеш + лічильники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(cache.TryGetValue(cacheKey, out var cached))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answer = cached;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7FD9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Interlocked.Increment(ref stats.CacheHits);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 else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0B3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Interlocked.Increment(ref stats.CacheMisses);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// ... виклик моделі, парсинг, як раніше ...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(status == 200 &amp;&amp; toolCall == null) cache[cacheKey] = answer;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66928" y="438912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102A20"/>
          </a:solidFill>
          <a:ln/>
        </p:spPr>
      </p:sp>
      <p:sp>
        <p:nvSpPr>
          <p:cNvPr id="10" name="Shape 7"/>
          <p:cNvSpPr/>
          <p:nvPr/>
        </p:nvSpPr>
        <p:spPr>
          <a:xfrm>
            <a:off x="768096" y="457200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4572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280160" y="4544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Тільки 200 у кеш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768096" y="507492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заглушки й помилки не консервуємо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270248" y="438912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102A20"/>
          </a:solidFill>
          <a:ln/>
        </p:spPr>
      </p:sp>
      <p:sp>
        <p:nvSpPr>
          <p:cNvPr id="15" name="Shape 12"/>
          <p:cNvSpPr/>
          <p:nvPr/>
        </p:nvSpPr>
        <p:spPr>
          <a:xfrm>
            <a:off x="4471416" y="457200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16" name="Text 13"/>
          <p:cNvSpPr/>
          <p:nvPr/>
        </p:nvSpPr>
        <p:spPr>
          <a:xfrm>
            <a:off x="4471416" y="4572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983480" y="4544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toolCall == null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4471416" y="507492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результати інструментів не кешуються ніколи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973568" y="438912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102A20"/>
          </a:solidFill>
          <a:ln/>
        </p:spPr>
      </p:sp>
      <p:sp>
        <p:nvSpPr>
          <p:cNvPr id="20" name="Shape 17"/>
          <p:cNvSpPr/>
          <p:nvPr/>
        </p:nvSpPr>
        <p:spPr>
          <a:xfrm>
            <a:off x="8174736" y="457200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21" name="Text 18"/>
          <p:cNvSpPr/>
          <p:nvPr/>
        </p:nvSpPr>
        <p:spPr>
          <a:xfrm>
            <a:off x="8174736" y="4572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686800" y="4544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Хіт видно в лозі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8174736" y="507492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нульові токени і latency у мілісекундах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 що цей код мовчить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2A201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2011680"/>
            <a:ext cx="384048" cy="384048"/>
          </a:xfrm>
          <a:prstGeom prst="ellipse">
            <a:avLst/>
          </a:prstGeom>
          <a:solidFill>
            <a:srgbClr val="E8A857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Пам'ять росте необмежено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5146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унікальне питання — запис назавжди; на проді потрібна стеля або LRU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8288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2A2010"/>
          </a:solidFill>
          <a:ln/>
        </p:spPr>
      </p:sp>
      <p:sp>
        <p:nvSpPr>
          <p:cNvPr id="13" name="Shape 10"/>
          <p:cNvSpPr/>
          <p:nvPr/>
        </p:nvSpPr>
        <p:spPr>
          <a:xfrm>
            <a:off x="4471416" y="2011680"/>
            <a:ext cx="384048" cy="384048"/>
          </a:xfrm>
          <a:prstGeom prst="ellipse">
            <a:avLst/>
          </a:prstGeom>
          <a:solidFill>
            <a:srgbClr val="E8A857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одночасні miss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5146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обидва підуть у модель і обидва заплатять; другий перезапише перший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8288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2A2010"/>
          </a:solidFill>
          <a:ln/>
        </p:spPr>
      </p:sp>
      <p:sp>
        <p:nvSpPr>
          <p:cNvPr id="18" name="Shape 15"/>
          <p:cNvSpPr/>
          <p:nvPr/>
        </p:nvSpPr>
        <p:spPr>
          <a:xfrm>
            <a:off x="8174736" y="2011680"/>
            <a:ext cx="384048" cy="384048"/>
          </a:xfrm>
          <a:prstGeom prst="ellipse">
            <a:avLst/>
          </a:prstGeom>
          <a:solidFill>
            <a:srgbClr val="E8A857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Thundering herd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5146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сотні запитів б'ють по одному холодному ключу: лок або «запит-лідер»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406908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786384" y="421538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Знати про компроміс — обов'язково; лікувати його на нашому масштабі — ні. Ліки дорожчі за хворобу, поки трафік навчальний.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 ratio: що рахуємо і що з цим робимо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200400" cy="1417320"/>
          </a:xfrm>
          <a:prstGeom prst="roundRect">
            <a:avLst>
              <a:gd name="adj" fmla="val 7742"/>
            </a:avLst>
          </a:prstGeom>
          <a:solidFill>
            <a:srgbClr val="1C1140"/>
          </a:solidFill>
          <a:ln/>
        </p:spPr>
      </p:sp>
      <p:sp>
        <p:nvSpPr>
          <p:cNvPr id="8" name="Text 5"/>
          <p:cNvSpPr/>
          <p:nvPr/>
        </p:nvSpPr>
        <p:spPr>
          <a:xfrm>
            <a:off x="713232" y="1847088"/>
            <a:ext cx="2907792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 ratio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713232" y="2559406"/>
            <a:ext cx="2907792" cy="5102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частка запитів, що обійшлися без моделі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950208" y="1737360"/>
            <a:ext cx="2423160" cy="1417320"/>
          </a:xfrm>
          <a:prstGeom prst="roundRect">
            <a:avLst>
              <a:gd name="adj" fmla="val 774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151376" y="1892808"/>
            <a:ext cx="2020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Зекономлені виклики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4151376" y="2423160"/>
            <a:ext cx="202082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хіти × середня вартість miss із лога = економія в доларах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556248" y="1737360"/>
            <a:ext cx="2423160" cy="1417320"/>
          </a:xfrm>
          <a:prstGeom prst="roundRect">
            <a:avLst>
              <a:gd name="adj" fmla="val 774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757416" y="1892808"/>
            <a:ext cx="2020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Latency до / після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757416" y="2423160"/>
            <a:ext cx="202082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хіт ~0 мс проти сотень мілісекунд походу в модель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9162288" y="1737360"/>
            <a:ext cx="2423160" cy="1417320"/>
          </a:xfrm>
          <a:prstGeom prst="roundRect">
            <a:avLst>
              <a:gd name="adj" fmla="val 774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363456" y="1892808"/>
            <a:ext cx="2020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Профіль трафіку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9363456" y="2423160"/>
            <a:ext cx="202082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низький hit ratio — привід у лог: питання унікальні чи ключ надто чутливий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566928" y="370332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786384" y="38313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ПОРЯДОК ТОЙ САМИЙ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786384" y="4087368"/>
            <a:ext cx="106253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Механізм і метрика — разом; на тижні 5 лічильники стануть плиткою Cache-hit.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66928" y="489204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86384" y="5020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786384" y="5276088"/>
            <a:ext cx="106253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Перед кешем витягніть із лога топ повторів: топ-10 це 60% трафіку?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Дві метрики кешу — і межі здорової цифри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572000"/>
                <a:gridCol w="374904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AFA9B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метрика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AFA9B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міряє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AFA9B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де видно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C9A6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Ваш hit ratio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1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запити, що взагалі не пішли в модель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1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лічильники в сервісі; з W5 — плитка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14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Кеш провайдера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токени, обслужені з кешу префікса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частка кешованих токенів у usage (урок 4)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66928" y="342900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2E1418"/>
          </a:solidFill>
          <a:ln/>
        </p:spPr>
      </p:sp>
      <p:sp>
        <p:nvSpPr>
          <p:cNvPr id="9" name="Text 5"/>
          <p:cNvSpPr/>
          <p:nvPr/>
        </p:nvSpPr>
        <p:spPr>
          <a:xfrm>
            <a:off x="768096" y="35844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0% — кеш мертвий вантаж</a:t>
            </a:r>
            <a:endParaRPr lang="en-US" sz="1450" dirty="0"/>
          </a:p>
        </p:txBody>
      </p:sp>
      <p:sp>
        <p:nvSpPr>
          <p:cNvPr id="10" name="Text 6"/>
          <p:cNvSpPr/>
          <p:nvPr/>
        </p:nvSpPr>
        <p:spPr>
          <a:xfrm>
            <a:off x="768096" y="411480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шар є, ефекту немає: унікальні питання або надто чутливий ключ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6281928" y="342900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2A2010"/>
          </a:solidFill>
          <a:ln/>
        </p:spPr>
      </p:sp>
      <p:sp>
        <p:nvSpPr>
          <p:cNvPr id="12" name="Text 8"/>
          <p:cNvSpPr/>
          <p:nvPr/>
        </p:nvSpPr>
        <p:spPr>
          <a:xfrm>
            <a:off x="6483096" y="35844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Підозріло високий — теж сигнал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6483096" y="411480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рекордна цифра куплена застарілими або чужими відповідями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566928" y="5166360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102A20"/>
          </a:solidFill>
          <a:ln/>
        </p:spPr>
      </p:sp>
      <p:sp>
        <p:nvSpPr>
          <p:cNvPr id="15" name="Text 11"/>
          <p:cNvSpPr/>
          <p:nvPr/>
        </p:nvSpPr>
        <p:spPr>
          <a:xfrm>
            <a:off x="786384" y="5294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6" name="Text 12"/>
          <p:cNvSpPr/>
          <p:nvPr/>
        </p:nvSpPr>
        <p:spPr>
          <a:xfrm>
            <a:off x="786384" y="5550408"/>
            <a:ext cx="10625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«Не кешувати» — теж інженерне рішення, і ухвалюють його ті самі цифри.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детермінізує систему — і це двосічно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102A2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Острівець передбачуваності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перший запит зафіксував відповідь — усі наступні однакові: недетермінізм зник для повторів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2E1418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консервує помилку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без кешу невдала відповідь випадкова, з кешем — систематична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657600"/>
            <a:ext cx="11064240" cy="1463040"/>
          </a:xfrm>
          <a:prstGeom prst="roundRect">
            <a:avLst>
              <a:gd name="adj" fmla="val 7500"/>
            </a:avLst>
          </a:prstGeom>
          <a:solidFill>
            <a:srgbClr val="102A20"/>
          </a:solidFill>
          <a:ln/>
        </p:spPr>
      </p:sp>
      <p:sp>
        <p:nvSpPr>
          <p:cNvPr id="14" name="Text 11"/>
          <p:cNvSpPr/>
          <p:nvPr/>
        </p:nvSpPr>
        <p:spPr>
          <a:xfrm>
            <a:off x="786384" y="37856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ПРИНЦИП: НЕ КЕШУЙТЕ ТЕ, У ЧОМУ НЕ ВПЕВНЕНІ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786384" y="4041648"/>
            <a:ext cx="1062532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Пишемо в кеш лише повноцінну відповідь: сьогодні це status == 200.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66928" y="530352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2A2010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" y="544982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звітності підступно добре: hit ratio високий, вартість низька — а в кеші лежить сміття.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Скидання кешу — операційна процедура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92024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2E1418"/>
          </a:solidFill>
          <a:ln/>
        </p:spPr>
      </p:sp>
      <p:sp>
        <p:nvSpPr>
          <p:cNvPr id="8" name="Text 5"/>
          <p:cNvSpPr/>
          <p:nvPr/>
        </p:nvSpPr>
        <p:spPr>
          <a:xfrm>
            <a:off x="621792" y="19202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провайдер ліг на 2 хв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2505456" y="228600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rot="5400000">
            <a:off x="2633472" y="221742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1" name="Shape 8"/>
          <p:cNvSpPr/>
          <p:nvPr/>
        </p:nvSpPr>
        <p:spPr>
          <a:xfrm>
            <a:off x="2871216" y="192024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2A2010"/>
          </a:solidFill>
          <a:ln/>
        </p:spPr>
      </p:sp>
      <p:sp>
        <p:nvSpPr>
          <p:cNvPr id="12" name="Text 9"/>
          <p:cNvSpPr/>
          <p:nvPr/>
        </p:nvSpPr>
        <p:spPr>
          <a:xfrm>
            <a:off x="2926080" y="19202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заглушки «тимчасові проблеми»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809744" y="228600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4937760" y="221742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5" name="Shape 12"/>
          <p:cNvSpPr/>
          <p:nvPr/>
        </p:nvSpPr>
        <p:spPr>
          <a:xfrm>
            <a:off x="5175504" y="192024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2E1418"/>
          </a:solidFill>
          <a:ln/>
        </p:spPr>
      </p:sp>
      <p:sp>
        <p:nvSpPr>
          <p:cNvPr id="16" name="Text 13"/>
          <p:cNvSpPr/>
          <p:nvPr/>
        </p:nvSpPr>
        <p:spPr>
          <a:xfrm>
            <a:off x="5230368" y="19202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поїхали в кеш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7114032" y="228600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rot="5400000">
            <a:off x="7242048" y="221742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9" name="Shape 16"/>
          <p:cNvSpPr/>
          <p:nvPr/>
        </p:nvSpPr>
        <p:spPr>
          <a:xfrm>
            <a:off x="7479792" y="192024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102A20"/>
          </a:solidFill>
          <a:ln/>
        </p:spPr>
      </p:sp>
      <p:sp>
        <p:nvSpPr>
          <p:cNvPr id="20" name="Text 17"/>
          <p:cNvSpPr/>
          <p:nvPr/>
        </p:nvSpPr>
        <p:spPr>
          <a:xfrm>
            <a:off x="7534656" y="19202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провайдер піднявся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9418320" y="228600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 rot="5400000">
            <a:off x="9546336" y="221742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23" name="Shape 20"/>
          <p:cNvSpPr/>
          <p:nvPr/>
        </p:nvSpPr>
        <p:spPr>
          <a:xfrm>
            <a:off x="9784080" y="192024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2E1418"/>
          </a:solidFill>
          <a:ln/>
        </p:spPr>
      </p:sp>
      <p:sp>
        <p:nvSpPr>
          <p:cNvPr id="24" name="Text 21"/>
          <p:cNvSpPr/>
          <p:nvPr/>
        </p:nvSpPr>
        <p:spPr>
          <a:xfrm>
            <a:off x="9838944" y="19202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заглушки ще годину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566928" y="288036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102A20"/>
          </a:solidFill>
          <a:ln/>
        </p:spPr>
      </p:sp>
      <p:sp>
        <p:nvSpPr>
          <p:cNvPr id="26" name="Text 23"/>
          <p:cNvSpPr/>
          <p:nvPr/>
        </p:nvSpPr>
        <p:spPr>
          <a:xfrm>
            <a:off x="786384" y="3008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ПРАВИЛО КОНТУРУ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786384" y="3264408"/>
            <a:ext cx="106253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Те, що народилося у fallback-гілці (урок 7), у кеш не потрапляє ніколи.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566928" y="388620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1C1140"/>
          </a:solidFill>
          <a:ln/>
        </p:spPr>
      </p:sp>
      <p:sp>
        <p:nvSpPr>
          <p:cNvPr id="29" name="Text 26"/>
          <p:cNvSpPr/>
          <p:nvPr/>
        </p:nvSpPr>
        <p:spPr>
          <a:xfrm>
            <a:off x="768096" y="40416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Мінімум: версія в ключі — вже є</a:t>
            </a:r>
            <a:endParaRPr lang="en-US" sz="1450" dirty="0"/>
          </a:p>
        </p:txBody>
      </p:sp>
      <p:sp>
        <p:nvSpPr>
          <p:cNvPr id="30" name="Text 27"/>
          <p:cNvSpPr/>
          <p:nvPr/>
        </p:nvSpPr>
        <p:spPr>
          <a:xfrm>
            <a:off x="768096" y="457200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зміна промпта автоматично робить старі записи недосяжними: найнебезпечніший сценарій закритий архітектурно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6281928" y="388620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6483096" y="40416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рівень: епоха кешу</a:t>
            </a:r>
            <a:endParaRPr lang="en-US" sz="1450" dirty="0"/>
          </a:p>
        </p:txBody>
      </p:sp>
      <p:sp>
        <p:nvSpPr>
          <p:cNvPr id="33" name="Text 30"/>
          <p:cNvSpPr/>
          <p:nvPr/>
        </p:nvSpPr>
        <p:spPr>
          <a:xfrm>
            <a:off x="6483096" y="457200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номер, який входить у ключ: інкремент — і весь кеш недосяжний, без походу в сховище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Свіжість: віддати старе — і оновити у фоні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5349240" cy="1325880"/>
          </a:xfrm>
          <a:prstGeom prst="roundRect">
            <a:avLst>
              <a:gd name="adj" fmla="val 8276"/>
            </a:avLst>
          </a:prstGeom>
          <a:solidFill>
            <a:srgbClr val="2A201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Жорсткий TTL — вибір із двох зол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68880"/>
            <a:ext cx="49469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короткий — кеш майже не влучає; довгий — роздаєте застаріле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83080"/>
            <a:ext cx="5349240" cy="1325880"/>
          </a:xfrm>
          <a:prstGeom prst="roundRect">
            <a:avLst>
              <a:gd name="adj" fmla="val 8276"/>
            </a:avLst>
          </a:prstGeom>
          <a:solidFill>
            <a:srgbClr val="102A20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Третій варіант: два строки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68880"/>
            <a:ext cx="49469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«свіжий до» — віддаємо як є; далі старе + фоновий виклик оновлює запис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310128"/>
            <a:ext cx="3706978" cy="475488"/>
          </a:xfrm>
          <a:prstGeom prst="roundRect">
            <a:avLst>
              <a:gd name="adj" fmla="val 13462"/>
            </a:avLst>
          </a:prstGeom>
          <a:solidFill>
            <a:srgbClr val="102A20"/>
          </a:solidFill>
          <a:ln/>
        </p:spPr>
      </p:sp>
      <p:sp>
        <p:nvSpPr>
          <p:cNvPr id="14" name="Text 11"/>
          <p:cNvSpPr/>
          <p:nvPr/>
        </p:nvSpPr>
        <p:spPr>
          <a:xfrm>
            <a:off x="713232" y="3310128"/>
            <a:ext cx="341437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свіжий  </a:t>
            </a:r>
            <a:pPr indent="0" marL="0">
              <a:buNone/>
            </a:pPr>
            <a:r>
              <a:rPr lang="en-US" sz="11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віддаємо як є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4328770" y="3310128"/>
            <a:ext cx="4370832" cy="475488"/>
          </a:xfrm>
          <a:prstGeom prst="roundRect">
            <a:avLst>
              <a:gd name="adj" fmla="val 13462"/>
            </a:avLst>
          </a:prstGeom>
          <a:solidFill>
            <a:srgbClr val="2A2010"/>
          </a:solidFill>
          <a:ln/>
        </p:spPr>
      </p:sp>
      <p:sp>
        <p:nvSpPr>
          <p:cNvPr id="16" name="Text 13"/>
          <p:cNvSpPr/>
          <p:nvPr/>
        </p:nvSpPr>
        <p:spPr>
          <a:xfrm>
            <a:off x="4475074" y="3310128"/>
            <a:ext cx="40782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застарілий  </a:t>
            </a:r>
            <a:pPr indent="0" marL="0">
              <a:buNone/>
            </a:pPr>
            <a:r>
              <a:rPr lang="en-US" sz="11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віддаємо старе + фоновий рефреш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8754466" y="3310128"/>
            <a:ext cx="2821838" cy="475488"/>
          </a:xfrm>
          <a:prstGeom prst="roundRect">
            <a:avLst>
              <a:gd name="adj" fmla="val 13462"/>
            </a:avLst>
          </a:prstGeom>
          <a:solidFill>
            <a:srgbClr val="2E1418"/>
          </a:solidFill>
          <a:ln/>
        </p:spPr>
      </p:sp>
      <p:sp>
        <p:nvSpPr>
          <p:cNvPr id="18" name="Text 15"/>
          <p:cNvSpPr/>
          <p:nvPr/>
        </p:nvSpPr>
        <p:spPr>
          <a:xfrm>
            <a:off x="8900770" y="3310128"/>
            <a:ext cx="25292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прострочений  </a:t>
            </a:r>
            <a:pPr indent="0" marL="0">
              <a:buNone/>
            </a:pPr>
            <a:r>
              <a:rPr lang="en-US" sz="11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miss — ідемо в модель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566928" y="382219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час життя запису →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566928" y="4187952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86384" y="431596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ЧОМУ ДЛЯ LLM ЦЕ ВИГІДНІШЕ, НІЖ ДЛЯ ЗВИЧАЙНОГО API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786384" y="4572000"/>
            <a:ext cx="10625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Miss коштує секунди й гроші, а «застаріла» інструкція не псується за годину.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566928" y="516636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2E1418"/>
          </a:solidFill>
          <a:ln/>
        </p:spPr>
      </p:sp>
      <p:sp>
        <p:nvSpPr>
          <p:cNvPr id="24" name="Text 21"/>
          <p:cNvSpPr/>
          <p:nvPr/>
        </p:nvSpPr>
        <p:spPr>
          <a:xfrm>
            <a:off x="786384" y="5294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ПОМИЛКА: ОДИН TTL НА ВСЕ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786384" y="5550408"/>
            <a:ext cx="10625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TTL — властивість класу запиту: пароль може жити добу, статус замовлення — ні.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Інвалідація і драбина сховищ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847088" y="2103120"/>
            <a:ext cx="4114800" cy="777240"/>
          </a:xfrm>
          <a:prstGeom prst="roundRect">
            <a:avLst>
              <a:gd name="adj" fmla="val 11765"/>
            </a:avLst>
          </a:prstGeom>
          <a:solidFill>
            <a:srgbClr val="1C1140"/>
          </a:solidFill>
          <a:ln/>
        </p:spPr>
      </p:sp>
      <p:sp>
        <p:nvSpPr>
          <p:cNvPr id="8" name="Text 5"/>
          <p:cNvSpPr/>
          <p:nvPr/>
        </p:nvSpPr>
        <p:spPr>
          <a:xfrm>
            <a:off x="1901952" y="2103120"/>
            <a:ext cx="40050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in-memory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053328" y="249174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rot="5400000">
            <a:off x="6181344" y="242316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1" name="Shape 8"/>
          <p:cNvSpPr/>
          <p:nvPr/>
        </p:nvSpPr>
        <p:spPr>
          <a:xfrm>
            <a:off x="6419088" y="2103120"/>
            <a:ext cx="4114800" cy="777240"/>
          </a:xfrm>
          <a:prstGeom prst="roundRect">
            <a:avLst>
              <a:gd name="adj" fmla="val 11765"/>
            </a:avLst>
          </a:prstGeom>
          <a:solidFill>
            <a:srgbClr val="102A20"/>
          </a:solidFill>
          <a:ln/>
        </p:spPr>
      </p:sp>
      <p:sp>
        <p:nvSpPr>
          <p:cNvPr id="12" name="Text 9"/>
          <p:cNvSpPr/>
          <p:nvPr/>
        </p:nvSpPr>
        <p:spPr>
          <a:xfrm>
            <a:off x="6473952" y="2103120"/>
            <a:ext cx="40050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Redis (advanced-профіль)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20040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68096" y="33558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Промпт-у-ключі + TTL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768096" y="388620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механізми покривають майже всі випадки інвалідації без окремої інфраструктури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281928" y="320040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2A2010"/>
          </a:solidFill>
          <a:ln/>
        </p:spPr>
      </p:sp>
      <p:sp>
        <p:nvSpPr>
          <p:cNvPr id="17" name="Text 14"/>
          <p:cNvSpPr/>
          <p:nvPr/>
        </p:nvSpPr>
        <p:spPr>
          <a:xfrm>
            <a:off x="6483096" y="33558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Коли переростає пам'ять процесу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6483096" y="388620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кілька інстансів або потрібен спільний кеш — тоді Redis; ціна — ще одна залежність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566928" y="498348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2E1418"/>
          </a:solidFill>
          <a:ln/>
        </p:spPr>
      </p:sp>
      <p:sp>
        <p:nvSpPr>
          <p:cNvPr id="20" name="Text 17"/>
          <p:cNvSpPr/>
          <p:nvPr/>
        </p:nvSpPr>
        <p:spPr>
          <a:xfrm>
            <a:off x="786384" y="51114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786384" y="5367528"/>
            <a:ext cx="1062532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Інвалідувати вручну і потім: «зайдемо і почистимо» не масштабується далі за один інцидент.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Semantic cache: коли точного збігу мало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167128" y="1193140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2A2010"/>
          </a:solidFill>
          <a:ln/>
        </p:spPr>
      </p:sp>
      <p:sp>
        <p:nvSpPr>
          <p:cNvPr id="7" name="Text 5"/>
          <p:cNvSpPr/>
          <p:nvPr/>
        </p:nvSpPr>
        <p:spPr>
          <a:xfrm>
            <a:off x="2167128" y="1193140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182880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2A2010"/>
          </a:solidFill>
          <a:ln/>
        </p:spPr>
      </p:sp>
      <p:sp>
        <p:nvSpPr>
          <p:cNvPr id="10" name="Shape 7"/>
          <p:cNvSpPr/>
          <p:nvPr/>
        </p:nvSpPr>
        <p:spPr>
          <a:xfrm>
            <a:off x="768096" y="2011680"/>
            <a:ext cx="384048" cy="384048"/>
          </a:xfrm>
          <a:prstGeom prst="ellipse">
            <a:avLst/>
          </a:prstGeom>
          <a:solidFill>
            <a:srgbClr val="E8A857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28016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Поріг схожості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768096" y="2514600"/>
            <a:ext cx="31181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надто високий — кеш не влучає; надто низький — віддасте відповідь на інше питання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270248" y="182880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2A2010"/>
          </a:solidFill>
          <a:ln/>
        </p:spPr>
      </p:sp>
      <p:sp>
        <p:nvSpPr>
          <p:cNvPr id="15" name="Shape 12"/>
          <p:cNvSpPr/>
          <p:nvPr/>
        </p:nvSpPr>
        <p:spPr>
          <a:xfrm>
            <a:off x="4471416" y="2011680"/>
            <a:ext cx="384048" cy="384048"/>
          </a:xfrm>
          <a:prstGeom prst="ellipse">
            <a:avLst/>
          </a:prstGeom>
          <a:solidFill>
            <a:srgbClr val="E8A857"/>
          </a:solidFill>
          <a:ln/>
        </p:spPr>
      </p:sp>
      <p:sp>
        <p:nvSpPr>
          <p:cNvPr id="16" name="Text 13"/>
          <p:cNvSpPr/>
          <p:nvPr/>
        </p:nvSpPr>
        <p:spPr>
          <a:xfrm>
            <a:off x="447141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98348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Вартість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4471416" y="2514600"/>
            <a:ext cx="31181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кожен запит — виклик за векторами: кеш перестає бути безкоштовним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973568" y="182880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2A2010"/>
          </a:solidFill>
          <a:ln/>
        </p:spPr>
      </p:sp>
      <p:sp>
        <p:nvSpPr>
          <p:cNvPr id="20" name="Shape 17"/>
          <p:cNvSpPr/>
          <p:nvPr/>
        </p:nvSpPr>
        <p:spPr>
          <a:xfrm>
            <a:off x="8174736" y="2011680"/>
            <a:ext cx="384048" cy="384048"/>
          </a:xfrm>
          <a:prstGeom prst="ellipse">
            <a:avLst/>
          </a:prstGeom>
          <a:solidFill>
            <a:srgbClr val="E8A857"/>
          </a:solidFill>
          <a:ln/>
        </p:spPr>
      </p:sp>
      <p:sp>
        <p:nvSpPr>
          <p:cNvPr id="21" name="Text 18"/>
          <p:cNvSpPr/>
          <p:nvPr/>
        </p:nvSpPr>
        <p:spPr>
          <a:xfrm>
            <a:off x="817473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68680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Сховище й індекс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8174736" y="2514600"/>
            <a:ext cx="31181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вектори треба десь тримати й оновлювати — ще одна залежність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566928" y="402336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86384" y="4151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ПОРЯДОК РІШЕНЬ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786384" y="440740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Спершу точний кеш і нормалізація, потім вимір hit ratio, і лише якщо цифра вперлася — semantic cache. Інакше ви платите за складність наперед.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FD6A0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102A20"/>
          </a:solidFill>
          <a:ln/>
        </p:spPr>
      </p:sp>
      <p:sp>
        <p:nvSpPr>
          <p:cNvPr id="7" name="Shape 4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 саме питання двічі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вдруге ~0 мс і нульові токени в лозі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102A20"/>
          </a:solidFill>
          <a:ln/>
        </p:spPr>
      </p:sp>
      <p:sp>
        <p:nvSpPr>
          <p:cNvPr id="12" name="Shape 9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13" name="Text 10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rollback-тест ключа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зміна версії промпта робить кеш недосяжним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2E1418"/>
          </a:solidFill>
          <a:ln/>
        </p:spPr>
      </p:sp>
      <p:sp>
        <p:nvSpPr>
          <p:cNvPr id="17" name="Shape 14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FF7B7B"/>
          </a:solidFill>
          <a:ln/>
        </p:spPr>
      </p:sp>
      <p:sp>
        <p:nvSpPr>
          <p:cNvPr id="18" name="Text 15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14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«Де моє замовлення #10482?»</a:t>
            </a:r>
            <a:endParaRPr lang="en-US" sz="1450" dirty="0"/>
          </a:p>
        </p:txBody>
      </p:sp>
      <p:sp>
        <p:nvSpPr>
          <p:cNvPr id="20" name="Text 17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кешується — персональна відповідь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102A20"/>
          </a:solidFill>
          <a:ln/>
        </p:spPr>
      </p:sp>
      <p:sp>
        <p:nvSpPr>
          <p:cNvPr id="22" name="Shape 19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23" name="Text 20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лічильники hit/miss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цифри ростуть разом із кешем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27" name="Text 24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786384" y="545896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Побачити, що кеш — не «швидше», а «дешевше і передбачувано», і що ключ вирішує коректність: одна зміна версії промпта прибирає весь старий кеш.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Лабораторна: чотири частини + опційна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FD6A0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7" name="Text 4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Обгорнути виклик кешем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гілка hit/miss у service/Program.cs + лічильники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10" name="Text 7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 ефект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 саме питання двічі: latency і токени в лозі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13" name="Text 10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Rollback-тест ключа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іншої версії → кеш недосяжний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16" name="Text 13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Провести межі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заборонити кеш для персональних і tool-відповідей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E8A857"/>
          </a:solidFill>
          <a:ln/>
        </p:spPr>
      </p:sp>
      <p:sp>
        <p:nvSpPr>
          <p:cNvPr id="19" name="Text 16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TTL · опційно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 життя запису й перезапит після протухання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E8A857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102A20"/>
          </a:solidFill>
          <a:ln/>
        </p:spPr>
      </p:sp>
      <p:sp>
        <p:nvSpPr>
          <p:cNvPr id="7" name="Text 4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Метрика, а не віра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6809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hit/miss ростуть на очах: економія порахована, а не заявлена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31596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1C1140"/>
          </a:solidFill>
          <a:ln/>
        </p:spPr>
      </p:sp>
      <p:sp>
        <p:nvSpPr>
          <p:cNvPr id="10" name="Text 7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вирішує коректність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451713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у ключі — і rollback не залишає стару поведінку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06500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2E1418"/>
          </a:solidFill>
          <a:ln/>
        </p:spPr>
      </p:sp>
      <p:sp>
        <p:nvSpPr>
          <p:cNvPr id="13" name="Text 10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Межа проведена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826617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персональне й tool-відповіді не кешуються ніколи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66928" y="39776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86384" y="412394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Найдешевший запит — той, якого не було. Наступного уроку бот почне діяти, і там межа «tool-відповіді не кешуємо» перестане бути теорією.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E8A857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8308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rot="2700000">
            <a:off x="1041227" y="2297430"/>
            <a:ext cx="58156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9" name="Shape 6"/>
          <p:cNvSpPr/>
          <p:nvPr/>
        </p:nvSpPr>
        <p:spPr>
          <a:xfrm rot="-3000000">
            <a:off x="1069025" y="2271370"/>
            <a:ext cx="121432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0" name="Text 7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повторний запит відповідає ~миттєво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2700000">
            <a:off x="1041227" y="2864358"/>
            <a:ext cx="58156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3" name="Shape 10"/>
          <p:cNvSpPr/>
          <p:nvPr/>
        </p:nvSpPr>
        <p:spPr>
          <a:xfrm rot="-3000000">
            <a:off x="1069025" y="2838298"/>
            <a:ext cx="121432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4" name="Text 11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лічильники hit/miss ростуть правильно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2700000">
            <a:off x="6207587" y="2297430"/>
            <a:ext cx="58156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7" name="Shape 14"/>
          <p:cNvSpPr/>
          <p:nvPr/>
        </p:nvSpPr>
        <p:spPr>
          <a:xfrm rot="-3000000">
            <a:off x="6235385" y="2271370"/>
            <a:ext cx="121432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8" name="Text 15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зміна версії промпта інвалідує кеш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2700000">
            <a:off x="6207587" y="2864358"/>
            <a:ext cx="58156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21" name="Shape 18"/>
          <p:cNvSpPr/>
          <p:nvPr/>
        </p:nvSpPr>
        <p:spPr>
          <a:xfrm rot="-3000000">
            <a:off x="6235385" y="2838298"/>
            <a:ext cx="121432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22" name="Text 19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назву, що кешувати заборонено — і чому</a:t>
            </a:r>
            <a:endParaRPr lang="en-US" sz="1250" dirty="0"/>
          </a:p>
        </p:txBody>
      </p:sp>
      <p:sp>
        <p:nvSpPr>
          <p:cNvPr id="23" name="Text 20"/>
          <p:cNvSpPr/>
          <p:nvPr/>
        </p:nvSpPr>
        <p:spPr>
          <a:xfrm>
            <a:off x="566928" y="3886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82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E8A857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8288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2020824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8" name="Shape 5"/>
          <p:cNvSpPr/>
          <p:nvPr/>
        </p:nvSpPr>
        <p:spPr>
          <a:xfrm rot="2700000">
            <a:off x="871789" y="2197102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9" name="Shape 6"/>
          <p:cNvSpPr/>
          <p:nvPr/>
        </p:nvSpPr>
        <p:spPr>
          <a:xfrm rot="-2700000">
            <a:off x="871789" y="2197102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10" name="Text 7"/>
          <p:cNvSpPr/>
          <p:nvPr/>
        </p:nvSpPr>
        <p:spPr>
          <a:xfrm>
            <a:off x="1298448" y="18288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без лічильників 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«начебто економимо» — цифри немає, рішення теж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566928" y="27432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68096" y="2935224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13" name="Shape 10"/>
          <p:cNvSpPr/>
          <p:nvPr/>
        </p:nvSpPr>
        <p:spPr>
          <a:xfrm rot="2700000">
            <a:off x="871789" y="3111502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14" name="Shape 11"/>
          <p:cNvSpPr/>
          <p:nvPr/>
        </p:nvSpPr>
        <p:spPr>
          <a:xfrm rot="-2700000">
            <a:off x="871789" y="3111502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15" name="Text 12"/>
          <p:cNvSpPr/>
          <p:nvPr/>
        </p:nvSpPr>
        <p:spPr>
          <a:xfrm>
            <a:off x="1298448" y="27432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поза ключем 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 полагодив регресію, а користувачі бачать стару поведінку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566928" y="36576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68096" y="3849624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18" name="Shape 15"/>
          <p:cNvSpPr/>
          <p:nvPr/>
        </p:nvSpPr>
        <p:spPr>
          <a:xfrm rot="2700000">
            <a:off x="871789" y="4025902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19" name="Shape 16"/>
          <p:cNvSpPr/>
          <p:nvPr/>
        </p:nvSpPr>
        <p:spPr>
          <a:xfrm rot="-2700000">
            <a:off x="871789" y="4025902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20" name="Text 17"/>
          <p:cNvSpPr/>
          <p:nvPr/>
        </p:nvSpPr>
        <p:spPr>
          <a:xfrm>
            <a:off x="1298448" y="36576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Кешувати персональні відповіді 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 не продуктивність, це чужі дані в чужих руках</a:t>
            </a:r>
            <a:endParaRPr lang="en-US" sz="1350" dirty="0"/>
          </a:p>
        </p:txBody>
      </p:sp>
      <p:sp>
        <p:nvSpPr>
          <p:cNvPr id="21" name="Shape 18"/>
          <p:cNvSpPr/>
          <p:nvPr/>
        </p:nvSpPr>
        <p:spPr>
          <a:xfrm>
            <a:off x="566928" y="45720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68096" y="4764024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23" name="Shape 20"/>
          <p:cNvSpPr/>
          <p:nvPr/>
        </p:nvSpPr>
        <p:spPr>
          <a:xfrm rot="2700000">
            <a:off x="871789" y="4940302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24" name="Shape 21"/>
          <p:cNvSpPr/>
          <p:nvPr/>
        </p:nvSpPr>
        <p:spPr>
          <a:xfrm rot="-2700000">
            <a:off x="871789" y="4940302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25" name="Text 22"/>
          <p:cNvSpPr/>
          <p:nvPr/>
        </p:nvSpPr>
        <p:spPr>
          <a:xfrm>
            <a:off x="1298448" y="45720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TTL на все 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неправильний для половини трафіку за визначенням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FD6A0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— без здачі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68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закріпити лабу: повторний запит ~0 мс, лічильники ростуть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перевірити rollback-експеримент — промпт у ключі рятує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сформулювати список «що в моїй системі кешувати заборонено»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281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2A2010"/>
          </a:solidFill>
          <a:ln/>
        </p:spPr>
      </p:sp>
      <p:sp>
        <p:nvSpPr>
          <p:cNvPr id="10" name="Text 7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6483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TTL для записів кешу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подивитися на Redis у профілі advanced — місце для винесеного кешу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66928" y="4206240"/>
            <a:ext cx="11064240" cy="1463040"/>
          </a:xfrm>
          <a:prstGeom prst="roundRect">
            <a:avLst>
              <a:gd name="adj" fmla="val 8750"/>
            </a:avLst>
          </a:prstGeom>
          <a:solidFill>
            <a:srgbClr val="17141F"/>
          </a:solidFill>
          <a:ln w="19050">
            <a:solidFill>
              <a:srgbClr val="C9A6F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41248" y="4389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ДЗ тижня 3 — після наступного уроку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841248" y="48006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Воно об'єднає кеш та інструменти: сьогоднішня частина вже у вас в руках, після наступного уроку додадуться tool-виклики з таймаутом та ідемпотентністю — і тиждень здається одним PR.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5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найдешевший запит — той, якого не було: кеш прибирає виклик цілком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і метрика з'являються одним діфом: без цифри це віра, а не механізм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= модель + промпт + повідомлення — це контракт коректності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персональне, tool-відповіді і швидкозмінні дані не кешуються ніколи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TTL — властивість класу запиту, а не глобальне налаштування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6 · Tool calls: коли модель починає діяти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Досі бот тільки говорив — найгірше, що він міг, це відповісти неправильно. Наступного уроку він почне діяти: tool-виклики, зовнішні інтеграції, реальні наслідки. Дія потребує схеми, таймаута та ідемпотентності — а незворотна дія ще й людини, яка скаже «так».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5 · Кешування: точний кеш, метрика і semantic cache</dc:title>
  <dc:subject>PptxGenJS Presentation</dc:subject>
  <dc:creator>LLMOps Bootcamp</dc:creator>
  <cp:lastModifiedBy>LLMOps Bootcamp</cp:lastModifiedBy>
  <cp:revision>1</cp:revision>
  <dcterms:created xsi:type="dcterms:W3CDTF">2026-08-16T16:28:38Z</dcterms:created>
  <dcterms:modified xsi:type="dcterms:W3CDTF">2026-08-16T16:28:38Z</dcterms:modified>
</cp:coreProperties>
</file>