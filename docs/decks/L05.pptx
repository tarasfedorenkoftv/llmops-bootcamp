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5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Кешування: точний кеш,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метрика і semantic cache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Найшвидша і найдешевша відповідь — та, по яку не треба йти в модель. Сьогодні обгорнемо виклик кешем, зберемо ключ, який не бреше, і увімкнемо лічильники з першої хвилини.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віддає збережене, miss іде в модель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ключ, що не бреше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+ промпт + повідомлення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лічильники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в одному діфі з кешем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rollback-тестом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інвалідує кеш автоматично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заборонено — і чому це коректність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Межі: що можна, що заборонено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контракт коректності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гілка miss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 і що з нього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— двосічно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TTL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«кеш є, значить економимо» — до цифри, яка це доводить.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/ miss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влучання і промах: hit — у модель не пішли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ratio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кешу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пошуку збереженої відповіді — контракт коректності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TTL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запису: скільки відповідь придатна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інвалідація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 записів з обігу, коли вони більше не правдиві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 cache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пошук схожого за змістом, а не точного збігу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Подвійний податок на повтори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13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 — сотні разів на день майже однаковими словами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2A2010"/>
          </a:solidFill>
          <a:ln/>
        </p:spPr>
      </p:sp>
      <p:sp>
        <p:nvSpPr>
          <p:cNvPr id="11" name="Text 8"/>
          <p:cNvSpPr/>
          <p:nvPr/>
        </p:nvSpPr>
        <p:spPr>
          <a:xfrm>
            <a:off x="6428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428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однакова відповідь — а користувач щоразу чекає похід у модель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66928" y="3255264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однакових питань за день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66928" y="3511296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2670048" y="3583716"/>
            <a:ext cx="4297680" cy="257495"/>
          </a:xfrm>
          <a:prstGeom prst="roundRect">
            <a:avLst>
              <a:gd name="adj" fmla="val 17756"/>
            </a:avLst>
          </a:prstGeom>
          <a:solidFill>
            <a:srgbClr val="FF7B7B"/>
          </a:solidFill>
          <a:ln/>
        </p:spPr>
      </p:sp>
      <p:sp>
        <p:nvSpPr>
          <p:cNvPr id="16" name="Text 13"/>
          <p:cNvSpPr/>
          <p:nvPr/>
        </p:nvSpPr>
        <p:spPr>
          <a:xfrm>
            <a:off x="7196328" y="3511296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викликів у модель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66928" y="4096512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кешем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2670048" y="4168932"/>
            <a:ext cx="137160" cy="257495"/>
          </a:xfrm>
          <a:prstGeom prst="roundRect">
            <a:avLst>
              <a:gd name="adj" fmla="val 33333"/>
            </a:avLst>
          </a:prstGeom>
          <a:solidFill>
            <a:srgbClr val="5FD6A0"/>
          </a:solidFill>
          <a:ln/>
        </p:spPr>
      </p:sp>
      <p:sp>
        <p:nvSpPr>
          <p:cNvPr id="19" name="Text 16"/>
          <p:cNvSpPr/>
          <p:nvPr/>
        </p:nvSpPr>
        <p:spPr>
          <a:xfrm>
            <a:off x="7196328" y="4096512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виклик + 99 hit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57200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2E1418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КЕШ ВМИКАЮТЬ — І НЕ МІРЯЮТЬ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95604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«Кеш же є, значить економимо». Скільки? На яких запитах? Без цифр — талісман.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102A20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5568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УРОКУ — MEASURE-FIRST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824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— в один урок і в один діф із кешем. Інакше це віра.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кешувати можна — а що заборонено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Ідеальний кандидат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детермінована і не-персональна: «Як скинути пароль?», «Які тарифи?»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відповіді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— закешували одному, віддали іншому: інцидент із чужими даними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06324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2E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tool-викликів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374904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зібрані зі стану зовнішньої системи в конкретну мить — за годину брешуть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4389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2E1418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4544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Швидкозмінні дані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5074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залишки, статуси, ціни — застарівають швидше, ніж встигає TTL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65760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78561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ДВА РІВНІ КЕШУ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04164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кеш прибирає виклик; кеш префікса здешевлює його зсередини. Складаються.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кешування — питання коректності, а не продуктивності.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Ключ кешу — це контракт коректності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cacheKey =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$"{model}|{systemPrompt}|{body.Message}"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62179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041648" y="314553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07695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1C1140"/>
          </a:solidFill>
          <a:ln/>
        </p:spPr>
      </p:sp>
      <p:sp>
        <p:nvSpPr>
          <p:cNvPr id="14" name="Text 11"/>
          <p:cNvSpPr/>
          <p:nvPr/>
        </p:nvSpPr>
        <p:spPr>
          <a:xfrm>
            <a:off x="446227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промпта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82128" y="3145536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076956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1C1140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2E1418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ЯКЩО ПРОМПТА В КЛЮЧІ НЕМАЄ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— кеш ще віддає старе; rollback полагодив, а користувач бачить старе.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1206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02A20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526694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→ інвалідація автоматична: нова версія, нові записи.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Нормалізація — рішення про еквівалентність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Зайві пробіли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безпечно: на зміст повідомлення не впливає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587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587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Нижній регістр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587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завжди правда: регістр рідко змінює зміст питання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39242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2E1418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39242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пунктуацію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39242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вже не завжди: «не працює. оплата пройшла» ≠ «не працює оплата, пройшла»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1389888" y="4443984"/>
            <a:ext cx="9418320" cy="0"/>
          </a:xfrm>
          <a:prstGeom prst="line">
            <a:avLst/>
          </a:prstGeom>
          <a:noFill/>
          <a:ln w="1905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79346" y="4379976"/>
            <a:ext cx="128016" cy="128016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8" name="Text 15"/>
          <p:cNvSpPr/>
          <p:nvPr/>
        </p:nvSpPr>
        <p:spPr>
          <a:xfrm>
            <a:off x="113751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пробіли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151376" y="4379976"/>
            <a:ext cx="128016" cy="128016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0" name="Text 17"/>
          <p:cNvSpPr/>
          <p:nvPr/>
        </p:nvSpPr>
        <p:spPr>
          <a:xfrm>
            <a:off x="320954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регістр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9614002" y="4379976"/>
            <a:ext cx="128016" cy="128016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22" name="Text 19"/>
          <p:cNvSpPr/>
          <p:nvPr/>
        </p:nvSpPr>
        <p:spPr>
          <a:xfrm>
            <a:off x="8672170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пунктуація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566928" y="453542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безпечно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9802368" y="453542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змінює зміст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566928" y="4956048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0840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 САМЕ ПРАВИЛО, ЩО З КЛЮЧЕМ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5340096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частина контракту коректності: найдешевший спосіб підняти hit ratio і саме тому найнебезпечніший. Кожен крок має бути свідомим.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коду: виклик моделі стає гілкою miss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простий in-memory кеш + лічильники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(cache.TryGetValue(cacheKey, out var cached))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cached;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stats.CacheHits);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stats.CacheMisses);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... виклик моделі, парсинг, як раніше ...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(status == 200 &amp;&amp; toolCall == null) cache[cacheKey] = answer;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5720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Тільки 200 у кеш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заглушки й помилки не консервуємо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5720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toolCall == null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інструментів не кешуються ніколи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57200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видно в лозі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нульові токени і latency у мілісекундах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 що цей код мовчить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2A201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Пам'ять росте необмежено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унікальне питання — запис назавжди; на проді потрібна стеля або LRU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2A201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одночасні miss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підуть у модель і обидва заплатять; другий перезапише перший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2A201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Thundering herd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сотні запитів б'ють по одному холодному ключу: лок або «запит-лідер»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40690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2153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про компроміс — обов'язково; лікувати його на нашому масштабі — ні. Ліки дорожчі за хворобу, поки трафік навчальний.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Hit ratio: що рахуємо і що з цим робимо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200400" cy="1417320"/>
          </a:xfrm>
          <a:prstGeom prst="roundRect">
            <a:avLst>
              <a:gd name="adj" fmla="val 7742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290779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713232" y="2559406"/>
            <a:ext cx="2907792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95020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15137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Зекономлені виклики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15137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хіти × середня вартість miss із лога = економія в доларах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55624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75741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 до / після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75741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~0 мс проти сотень мілісекунд походу в модель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916228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36345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Профіль трафіку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936345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низький hit ratio — привід у лог: питання унікальні чи ключ надто чутливий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703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831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ТОЙ САМИЙ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087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і метрика — разом; на тижні 5 лічильники стануть плиткою Cache-hit.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89204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527608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Перед кешем витягніть із лога топ повторів: топ-10 це 60% трафіку?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метрики кешу — і межі здорової цифри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метрика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міряє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де видно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hit ratio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запити, що взагалі не пішли в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в сервісі; з W5 — плитка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Кеш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токени, обслужені з кешу префікса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кешованих токенів у usage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2E1418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0% — кеш мертвий вантаж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768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шар є, ефекту немає: унікальні питання або надто чутливий ключ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281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2A2010"/>
          </a:solidFill>
          <a:ln/>
        </p:spPr>
      </p:sp>
      <p:sp>
        <p:nvSpPr>
          <p:cNvPr id="12" name="Text 8"/>
          <p:cNvSpPr/>
          <p:nvPr/>
        </p:nvSpPr>
        <p:spPr>
          <a:xfrm>
            <a:off x="6483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Підозріло високий — теж сигнал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483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рекордна цифра куплена застарілими або чужими відповідями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516636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15" name="Text 11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786384" y="555040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кешувати» — теж інженерне рішення, і ухвалюють його ті самі цифри.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Кеш детермінізує систему — і це двосічно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102A2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Острівець передбачуваності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зафіксував відповідь — усі наступні однакові: недетермінізм зник для повторів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2E1418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консервує помилку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 невдала відповідь випадкова, з кешем — систематична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НЕ КЕШУЙТЕ ТЕ, У ЧОМУ НЕ ВПЕВНЕНІ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04164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Пишемо в кеш лише повноцінну відповідь: сьогодні це status == 200.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3035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2A2010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4498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звітності підступно добре: hit ratio високий, вартість низька — а в кеші лежить сміття.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Скидання кешу — операційна процедура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ліг на 2 хв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2860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2174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2A2010"/>
          </a:solidFill>
          <a:ln/>
        </p:spPr>
      </p:sp>
      <p:sp>
        <p:nvSpPr>
          <p:cNvPr id="12" name="Text 9"/>
          <p:cNvSpPr/>
          <p:nvPr/>
        </p:nvSpPr>
        <p:spPr>
          <a:xfrm>
            <a:off x="2926080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«тимчасові проблеми»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2860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2174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16" name="Text 13"/>
          <p:cNvSpPr/>
          <p:nvPr/>
        </p:nvSpPr>
        <p:spPr>
          <a:xfrm>
            <a:off x="5230368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поїхали в кеш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2860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2174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102A20"/>
          </a:solidFill>
          <a:ln/>
        </p:spPr>
      </p:sp>
      <p:sp>
        <p:nvSpPr>
          <p:cNvPr id="20" name="Text 17"/>
          <p:cNvSpPr/>
          <p:nvPr/>
        </p:nvSpPr>
        <p:spPr>
          <a:xfrm>
            <a:off x="7534656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піднявся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28600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21742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24" name="Text 21"/>
          <p:cNvSpPr/>
          <p:nvPr/>
        </p:nvSpPr>
        <p:spPr>
          <a:xfrm>
            <a:off x="9838944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ще годину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2880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02A20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КОНТУРУ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326440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Те, що народилося у fallback-гілці (урок 7), у кеш не потрапляє ніколи.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66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C1140"/>
          </a:solidFill>
          <a:ln/>
        </p:spPr>
      </p:sp>
      <p:sp>
        <p:nvSpPr>
          <p:cNvPr id="29" name="Text 26"/>
          <p:cNvSpPr/>
          <p:nvPr/>
        </p:nvSpPr>
        <p:spPr>
          <a:xfrm>
            <a:off x="768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Мінімум: версія в ключі — вже є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768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автоматично робить старі записи недосяжними: найнебезпечніший сценарій закритий архітектурно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281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83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рівень: епоха кешу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6483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номер, який входить у ключ: інкремент — і весь кеш недосяжний, без походу в сховище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Свіжість: віддати старе — і оновити у фоні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2A201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Жорсткий TTL — вибір із двох зол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короткий — кеш майже не влучає; довгий — роздаєте застаріле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102A2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варіант: два строки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«свіжий до» — віддаємо як є; далі старе + фоновий виклик оновлює запис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310128"/>
            <a:ext cx="3706978" cy="475488"/>
          </a:xfrm>
          <a:prstGeom prst="roundRect">
            <a:avLst>
              <a:gd name="adj" fmla="val 13462"/>
            </a:avLst>
          </a:prstGeom>
          <a:solidFill>
            <a:srgbClr val="102A20"/>
          </a:solidFill>
          <a:ln/>
        </p:spPr>
      </p:sp>
      <p:sp>
        <p:nvSpPr>
          <p:cNvPr id="14" name="Text 11"/>
          <p:cNvSpPr/>
          <p:nvPr/>
        </p:nvSpPr>
        <p:spPr>
          <a:xfrm>
            <a:off x="713232" y="3310128"/>
            <a:ext cx="34143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свіжий  </a:t>
            </a:r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як є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328770" y="3310128"/>
            <a:ext cx="4370832" cy="475488"/>
          </a:xfrm>
          <a:prstGeom prst="roundRect">
            <a:avLst>
              <a:gd name="adj" fmla="val 13462"/>
            </a:avLst>
          </a:prstGeom>
          <a:solidFill>
            <a:srgbClr val="2A2010"/>
          </a:solidFill>
          <a:ln/>
        </p:spPr>
      </p:sp>
      <p:sp>
        <p:nvSpPr>
          <p:cNvPr id="16" name="Text 13"/>
          <p:cNvSpPr/>
          <p:nvPr/>
        </p:nvSpPr>
        <p:spPr>
          <a:xfrm>
            <a:off x="4475074" y="3310128"/>
            <a:ext cx="4078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застарілий  </a:t>
            </a:r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старе + фоновий рефреш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754466" y="3310128"/>
            <a:ext cx="2821838" cy="475488"/>
          </a:xfrm>
          <a:prstGeom prst="roundRect">
            <a:avLst>
              <a:gd name="adj" fmla="val 13462"/>
            </a:avLst>
          </a:prstGeom>
          <a:solidFill>
            <a:srgbClr val="2E1418"/>
          </a:solidFill>
          <a:ln/>
        </p:spPr>
      </p:sp>
      <p:sp>
        <p:nvSpPr>
          <p:cNvPr id="18" name="Text 15"/>
          <p:cNvSpPr/>
          <p:nvPr/>
        </p:nvSpPr>
        <p:spPr>
          <a:xfrm>
            <a:off x="8900770" y="3310128"/>
            <a:ext cx="25292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прострочений  </a:t>
            </a:r>
            <a:pPr indent="0" marL="0">
              <a:buNone/>
            </a:pPr>
            <a:r>
              <a:rPr lang="en-US" sz="11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— ідемо в модель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66928" y="38221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життя запису →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566928" y="4187952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ДЛЯ LLM ЦЕ ВИГІДНІШЕ, НІЖ ДЛЯ ЗВИЧАЙНОГО API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572000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коштує секунди й гроші, а «застаріла» інструкція не псується за годину.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2E1418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ОДИН TTL НА ВСЕ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запиту: пароль може жити добу, статус замовлення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Інвалідація і драбина сховищ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847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1901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in-memory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053328" y="249174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6181344" y="242316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6419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102A20"/>
          </a:solidFill>
          <a:ln/>
        </p:spPr>
      </p:sp>
      <p:sp>
        <p:nvSpPr>
          <p:cNvPr id="12" name="Text 9"/>
          <p:cNvSpPr/>
          <p:nvPr/>
        </p:nvSpPr>
        <p:spPr>
          <a:xfrm>
            <a:off x="6473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 (advanced-профіль)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Промпт-у-ключі + TTL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механізми покривають майже всі випадки інвалідації без окремої інфраструктури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2A2010"/>
          </a:solidFill>
          <a:ln/>
        </p:spPr>
      </p:sp>
      <p:sp>
        <p:nvSpPr>
          <p:cNvPr id="17" name="Text 14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переростає пам'ять процесу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інстансів або потрібен спільний кеш — тоді Redis; ціна — ще одна залежність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2E1418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Інвалідувати вручну і потім: «зайдемо і почистимо» не масштабується далі за один інцидент.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Semantic cache: коли точного збігу мало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2A201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схожості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надто високий — кеш не влучає; надто низький — віддасте відповідь на інше питання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2A201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запит — виклик за векторами: кеш перестає бути безкоштовним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2A201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й індекс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вектори треба десь тримати й оновлювати — ще одна залежність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РІШЕНЬ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4074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точний кеш і нормалізація, потім вимір hit ratio, і лише якщо цифра вперлася — semantic cache. Інакше ви платите за складність наперед.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вдруге ~0 мс і нульові токени в лозі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робить кеш недосяжним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#10482?»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кешується — персональна відповідь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ростуть разом із кешем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кеш — не «швидше», а «дешевше і передбачувано», і що ключ вирішує коректність: одна зміна версії промпта прибирає весь старий кеш.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гілка hit/miss у service/Program.cs + лічильники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ефект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двічі: latency і токени в лозі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іншої версії → кеш недосяжний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межі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заборонити кеш для персональних і tool-відповідей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 й перезапит після протухання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Метрика, а не віра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ростуть на очах: економія порахована, а не заявлена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вирішує коректність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— і rollback не залишає стару поведінку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2E1418"/>
          </a:solidFill>
          <a:ln/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проведена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 й tool-відповіді не кешуються ніколи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було. Наступного уроку бот почне діяти, і там межа «tool-відповіді не кешуємо» перестане бути теорією.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запит відповідає ~миттєво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ростуть правильно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інвалідує кеш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кешувати заборонено — і чому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без лічильників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«начебто економимо» — цифри немає, рішення теж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поза ключем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полагодив регресію, а користувачі бачать стару поведінку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персональні відповіді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продуктивність, це чужі дані в чужих руках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TTL на все 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неправильний для половини трафіку за визначенням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повторний запит ~0 мс, лічильники ростуть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перевірити rollback-експеримент — промпт у ключі рятує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список «що в моїй системі кешувати заборонено»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 для записів кешу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подивитися на Redis у профілі advanced — місце для винесеного кешу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3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об'єднає кеш та інструменти: сьогоднішня частина вже у вас в руках, після наступного уроку додадуться tool-виклики з таймаутом та ідемпотентністю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було: кеш прибирає виклик цілком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метрика з'являються одним діфом: без цифри це віра, а не механізм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модель + промпт + повідомлення — це контракт коректності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персональне, tool-відповіді і швидкозмінні дані не кешуються ніколи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запиту, а не глобальне налаштування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6 · Tool calls: коли модель починає діяти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Досі бот тільки говорив — найгірше, що він міг, це відповісти неправильно. Наступного уроку він почне діяти: tool-виклики, зовнішні інтеграції, реальні наслідки. Дія потребує схеми, таймаута та ідемпотентності — а незворотна дія ще й людини, яка скаже «так».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5 · Кешування: точний кеш, метрика і semantic cache</dc:title>
  <dc:subject>PptxGenJS Presentation</dc:subject>
  <dc:creator>LLMOps Bootcamp</dc:creator>
  <cp:lastModifiedBy>LLMOps Bootcamp</cp:lastModifiedBy>
  <cp:revision>1</cp:revision>
  <dcterms:created xsi:type="dcterms:W3CDTF">2026-08-16T21:08:20Z</dcterms:created>
  <dcterms:modified xsi:type="dcterms:W3CDTF">2026-08-16T21:08:20Z</dcterms:modified>
</cp:coreProperties>
</file>