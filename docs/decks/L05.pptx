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ТИЖДЕНЬ 3 · ТЕМА 5 З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Кешування: точний кеш,</a:t>
            </a:r>
            <a:endParaRPr lang="en-US" sz="3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метрика і semantic cache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66928" y="4114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Найшвидша і найдешевша відповідь — та, по яку не треба йти в модель. Сьогодні обгорнемо виклик кешем, зберемо ключ, який не бреше, і увімкнемо лічильники з першої хвилини.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5806440"/>
            <a:ext cx="1646834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806440"/>
            <a:ext cx="16468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3490" y="5806440"/>
            <a:ext cx="150235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23490" y="5806440"/>
            <a:ext cx="15023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5578" y="5806440"/>
            <a:ext cx="1285646" cy="310896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3935578" y="5806440"/>
            <a:ext cx="12856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30952" y="5806440"/>
            <a:ext cx="1935785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5806440"/>
            <a:ext cx="1935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76465" y="5806440"/>
            <a:ext cx="2008022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6465" y="5806440"/>
            <a:ext cx="20080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94215" y="5806440"/>
            <a:ext cx="1213409" cy="310896"/>
          </a:xfrm>
          <a:prstGeom prst="roundRect">
            <a:avLst>
              <a:gd name="adj" fmla="val 50000"/>
            </a:avLst>
          </a:prstGeom>
          <a:ln w="12700">
            <a:solidFill>
              <a:srgbClr val="8F72E6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4215" y="5806440"/>
            <a:ext cx="12134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Ви зможете після теми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П'ять дій, які перевірите руками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271016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710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Обгорнути виклик кешем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 віддає збережене, miss іде в модель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Зібрати ключ, що не бреше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+ промпт + повідомлення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78308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19659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385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Увімкнути лічильники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46888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hit/miss в одному діфі з кешем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76809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76809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8016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Довести rollback-тестом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6809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промпта інвалідує кеш автоматично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70248" y="38862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000000"/>
          </a:solidFill>
          <a:ln/>
        </p:spPr>
      </p:sp>
      <p:sp>
        <p:nvSpPr>
          <p:cNvPr id="29" name="Shape 26"/>
          <p:cNvSpPr/>
          <p:nvPr/>
        </p:nvSpPr>
        <p:spPr>
          <a:xfrm>
            <a:off x="4471416" y="40690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0" name="Text 27"/>
          <p:cNvSpPr/>
          <p:nvPr/>
        </p:nvSpPr>
        <p:spPr>
          <a:xfrm>
            <a:off x="4471416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40416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межу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471416" y="4572000"/>
            <a:ext cx="3118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кешувати заборонено — і чому це коректність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Маршрут на сьогодні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Подвійний податок на повтори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27024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7141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0"/>
          <p:cNvSpPr/>
          <p:nvPr/>
        </p:nvSpPr>
        <p:spPr>
          <a:xfrm>
            <a:off x="447141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Межі: що можна, що заборонено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973568" y="164592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74736" y="18288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1747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0" y="18013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= контракт коректності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6692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0" name="Shape 17"/>
          <p:cNvSpPr/>
          <p:nvPr/>
        </p:nvSpPr>
        <p:spPr>
          <a:xfrm>
            <a:off x="76809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28016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Розтин: гілка miss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427024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4" name="Shape 21"/>
          <p:cNvSpPr/>
          <p:nvPr/>
        </p:nvSpPr>
        <p:spPr>
          <a:xfrm>
            <a:off x="447141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5" name="Text 22"/>
          <p:cNvSpPr/>
          <p:nvPr/>
        </p:nvSpPr>
        <p:spPr>
          <a:xfrm>
            <a:off x="447141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 ratio і що з нього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7973568" y="269748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28" name="Shape 25"/>
          <p:cNvSpPr/>
          <p:nvPr/>
        </p:nvSpPr>
        <p:spPr>
          <a:xfrm>
            <a:off x="8174736" y="28803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9" name="Text 26"/>
          <p:cNvSpPr/>
          <p:nvPr/>
        </p:nvSpPr>
        <p:spPr>
          <a:xfrm>
            <a:off x="8174736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686800" y="28529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детермінізує — двосічно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56692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809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28016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Інвалідація і TTL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427024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36" name="Shape 33"/>
          <p:cNvSpPr/>
          <p:nvPr/>
        </p:nvSpPr>
        <p:spPr>
          <a:xfrm>
            <a:off x="447141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37" name="Text 34"/>
          <p:cNvSpPr/>
          <p:nvPr/>
        </p:nvSpPr>
        <p:spPr>
          <a:xfrm>
            <a:off x="447141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98348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cache · опційно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7973568" y="374904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8174736" y="393192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8174736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686800" y="39044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Лабораторна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566928" y="4800600"/>
            <a:ext cx="3520440" cy="868680"/>
          </a:xfrm>
          <a:prstGeom prst="roundRect">
            <a:avLst>
              <a:gd name="adj" fmla="val 12632"/>
            </a:avLst>
          </a:prstGeom>
          <a:solidFill>
            <a:srgbClr val="000000"/>
          </a:solidFill>
          <a:ln/>
        </p:spPr>
      </p:sp>
      <p:sp>
        <p:nvSpPr>
          <p:cNvPr id="44" name="Shape 41"/>
          <p:cNvSpPr/>
          <p:nvPr/>
        </p:nvSpPr>
        <p:spPr>
          <a:xfrm>
            <a:off x="768096" y="49834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45" name="Text 42"/>
          <p:cNvSpPr/>
          <p:nvPr/>
        </p:nvSpPr>
        <p:spPr>
          <a:xfrm>
            <a:off x="768096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1280160" y="49560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Антипатерни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566928" y="5779008"/>
            <a:ext cx="110642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86384" y="5925312"/>
            <a:ext cx="10625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 «кеш є, значить економимо» — до цифри, яка це доводить.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Терміни, якими користуватимемось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200607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Шість слів сьогоднішньої теми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465783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5783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 / miss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влучання і промах: hit — у модель не пішли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22064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4944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 ratio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04944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частка запитів, що обійшлися без моделі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7200" y="1783080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0080" y="1892808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 кешу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60080" y="2203704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рядок пошуку збереженої відповіді — контракт коректності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 життя запису: скільки відповідь придатна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22064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04944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інвалідація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504944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вихід записів з обігу, коли вони більше не правдиві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77200" y="3465576"/>
            <a:ext cx="3553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60080" y="3575304"/>
            <a:ext cx="3188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cache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60080" y="3886200"/>
            <a:ext cx="31882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пошук схожого за змістом, а не точного збігу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5138928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5285232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побачимо в коді — тут вони лише щоб не спотикатися.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ТЕОРІЯ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блоків — дивимось і розбираємось, руками поки не робимо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Подвійний податок на повтори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847088"/>
            <a:ext cx="5056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Гроші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13232" y="2532888"/>
            <a:ext cx="5056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«Як скинути пароль?» — сотні разів на день майже однаковими словами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1847088"/>
            <a:ext cx="5056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428232" y="2532888"/>
            <a:ext cx="5056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однакова відповідь — а користувач щоразу чекає похід у модель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3255264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сто однакових питань за день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66928" y="351129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кешу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670048" y="3583716"/>
            <a:ext cx="4297680" cy="257495"/>
          </a:xfrm>
          <a:prstGeom prst="roundRect">
            <a:avLst>
              <a:gd name="adj" fmla="val 17756"/>
            </a:avLst>
          </a:prstGeom>
          <a:solidFill>
            <a:srgbClr val="B3261E"/>
          </a:solidFill>
          <a:ln/>
        </p:spPr>
      </p:sp>
      <p:sp>
        <p:nvSpPr>
          <p:cNvPr id="17" name="Text 14"/>
          <p:cNvSpPr/>
          <p:nvPr/>
        </p:nvSpPr>
        <p:spPr>
          <a:xfrm>
            <a:off x="7196328" y="35112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викликів у модель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409651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 кешем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670048" y="4168932"/>
            <a:ext cx="137160" cy="257495"/>
          </a:xfrm>
          <a:prstGeom prst="roundRect">
            <a:avLst>
              <a:gd name="adj" fmla="val 33333"/>
            </a:avLst>
          </a:prstGeom>
          <a:solidFill>
            <a:srgbClr val="106B41"/>
          </a:solidFill>
          <a:ln/>
        </p:spPr>
      </p:sp>
      <p:sp>
        <p:nvSpPr>
          <p:cNvPr id="20" name="Text 17"/>
          <p:cNvSpPr/>
          <p:nvPr/>
        </p:nvSpPr>
        <p:spPr>
          <a:xfrm>
            <a:off x="7196328" y="40965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6B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виклик + 99 hit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457200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" y="470001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ПАСТКА: КЕШ ВМИКАЮТЬ — І НЕ МІРЯЮТЬ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86384" y="4956048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«Кеш же є, значить економимо». Скільки? На яких запитах? Без цифр — талісман.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556869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 ТЕМИ — MEASURE-FIRST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86384" y="5824728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Лічильники hit/miss — в одну тему і в один діф із кешем. Інакше це віра.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кешувати можна — а що заборонено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Ідеальний кандидат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23160"/>
            <a:ext cx="49469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детермінована і не-персональна: «Як скинути пароль?», «Які тарифи?»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3736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Персональні відповіді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2316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«Де моє замовлення?» — закешували одному, віддали іншому: інцидент із чужими даними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81928" y="306324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483096" y="321868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Результати tool-викликів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83096" y="374904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зібрані зі стану зовнішньої системи в конкретну мить — за годину брешуть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81928" y="438912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454456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Швидкозмінні дані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83096" y="5074920"/>
            <a:ext cx="4946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залишки, статуси, ціни — застарівають швидше, ніж встигає TTL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365760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3785616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ДВА РІВНІ КЕШУ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6384" y="4041648"/>
            <a:ext cx="491032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 кеш прибирає виклик; кеш префікса здешевлює його зсередини. Складаються.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" y="5669280"/>
            <a:ext cx="2423160" cy="438912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566928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«Як скинути пароль?» ✓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081528" y="58887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rot="5400000">
            <a:off x="3209544" y="58201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7" name="Shape 24"/>
          <p:cNvSpPr/>
          <p:nvPr/>
        </p:nvSpPr>
        <p:spPr>
          <a:xfrm>
            <a:off x="3447288" y="5669280"/>
            <a:ext cx="2423160" cy="438912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/>
        </p:spPr>
      </p:sp>
      <p:sp>
        <p:nvSpPr>
          <p:cNvPr id="28" name="Text 25"/>
          <p:cNvSpPr/>
          <p:nvPr/>
        </p:nvSpPr>
        <p:spPr>
          <a:xfrm>
            <a:off x="3502152" y="566928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«Де моє замовлення?» ✕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61888" y="58887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5400000">
            <a:off x="6089904" y="58201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1" name="Shape 28"/>
          <p:cNvSpPr/>
          <p:nvPr/>
        </p:nvSpPr>
        <p:spPr>
          <a:xfrm>
            <a:off x="6327648" y="5669280"/>
            <a:ext cx="2423160" cy="438912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/>
        </p:spPr>
      </p:sp>
      <p:sp>
        <p:nvSpPr>
          <p:cNvPr id="32" name="Text 29"/>
          <p:cNvSpPr/>
          <p:nvPr/>
        </p:nvSpPr>
        <p:spPr>
          <a:xfrm>
            <a:off x="6382512" y="566928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tool-виклику 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842248" y="58887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5400000">
            <a:off x="8970264" y="58201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5" name="Shape 32"/>
          <p:cNvSpPr/>
          <p:nvPr/>
        </p:nvSpPr>
        <p:spPr>
          <a:xfrm>
            <a:off x="9208008" y="5669280"/>
            <a:ext cx="2423160" cy="438912"/>
          </a:xfrm>
          <a:prstGeom prst="roundRect">
            <a:avLst>
              <a:gd name="adj" fmla="val 20833"/>
            </a:avLst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9262872" y="566928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ціни · залишки · статуси 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Ключ кешу — це контракт коректності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cacheKey =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$"{model}|{systemPrompt}|{body.Message}"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278892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" y="278892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41648" y="31455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4169664" y="30769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>
            <a:off x="4407408" y="278892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4462272" y="278892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текст промпта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82128" y="3145536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5400000">
            <a:off x="8010144" y="3076956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>
            <a:off x="8247888" y="278892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8302752" y="2788920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повідомлення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37490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6384" y="387705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ЯКЩО ПРОМПТА В КЛЮЧІ НЕМАЄ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6384" y="4133088"/>
            <a:ext cx="106253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— кеш ще віддає старе; rollback полагодив, а користувач бачить старе.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" y="512064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6384" y="5266944"/>
            <a:ext cx="1062532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у ключі → інвалідація автоматична: нова версія, нові записи.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Нормалізація — рішення про еквівалентність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1783080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Зайві пробіли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48226" y="1783080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безпечно: на зміст повідомлення не впливає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258775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587752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Нижній регістр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48226" y="2587752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майже завжди правда: регістр рідко змінює зміст питання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39242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" y="3392424"/>
            <a:ext cx="37618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Прибрати пунктуацію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48226" y="3392424"/>
            <a:ext cx="664037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вже не завжди: «не працює. оплата пройшла» ≠ «не працює оплата, пройшла»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389888" y="4443984"/>
            <a:ext cx="941832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79346" y="4379976"/>
            <a:ext cx="128016" cy="12801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9" name="Text 16"/>
          <p:cNvSpPr/>
          <p:nvPr/>
        </p:nvSpPr>
        <p:spPr>
          <a:xfrm>
            <a:off x="1137514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пробіли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151376" y="4379976"/>
            <a:ext cx="128016" cy="128016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3209544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регістр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614002" y="4379976"/>
            <a:ext cx="128016" cy="12801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3" name="Text 20"/>
          <p:cNvSpPr/>
          <p:nvPr/>
        </p:nvSpPr>
        <p:spPr>
          <a:xfrm>
            <a:off x="8672170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пунктуація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6928" y="4535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безпечно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802368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змінює зміст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66928" y="4956048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5A05F4"/>
          </a:solidFill>
          <a:ln/>
        </p:spPr>
      </p:sp>
      <p:sp>
        <p:nvSpPr>
          <p:cNvPr id="27" name="Text 24"/>
          <p:cNvSpPr/>
          <p:nvPr/>
        </p:nvSpPr>
        <p:spPr>
          <a:xfrm>
            <a:off x="786384" y="5084064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 САМЕ ПРАВИЛО, ЩО З КЛЮЧЕМ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86384" y="5340096"/>
            <a:ext cx="10625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Нормалізація — частина контракту коректності: найдешевший спосіб підняти hit ratio і саме тому найнебезпечніший. Кожен крок має бути свідомим.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Розтин коду: виклик моделі стає гілкою miss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11064240" cy="2423160"/>
          </a:xfrm>
          <a:prstGeom prst="roundRect">
            <a:avLst>
              <a:gd name="adj" fmla="val 4528"/>
            </a:avLst>
          </a:prstGeom>
          <a:solidFill>
            <a:srgbClr val="0A0810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1883664"/>
            <a:ext cx="10625328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[W3] простий in-memory кеш + лічильники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(cache.TryGetValue(cacheKey, out var cached))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cached;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Interlocked.Increment(ref stats.CacheHits);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4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Interlocked.Increment(ref stats.CacheMisses);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A9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виклик моделі, парсинг, як раніше ...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8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(status == 200 &amp;&amp; toolCall == null) cache[cacheKey] = answer;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389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45720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4544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Тільки 200 у кеш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507492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заглушки й помилки не консервуємо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4389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45720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4544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toolCall == null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507492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результати інструментів не кешуються ніколи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438912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457200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4544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Хіт видно в лозі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5074920"/>
            <a:ext cx="3118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нульові токени і latency у мілісекундах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 що цей код мовчить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8288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76809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Пам'ять росте необмежено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68096" y="251460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кожне унікальне питання — запис назавжди; на проді потрібна стеля або LRU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70248" y="18288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4" name="Shape 11"/>
          <p:cNvSpPr/>
          <p:nvPr/>
        </p:nvSpPr>
        <p:spPr>
          <a:xfrm>
            <a:off x="447141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44714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348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одночасні miss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471416" y="251460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обидва підуть у модель і обидва заплатять; другий перезапише перший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973568" y="18288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9" name="Shape 16"/>
          <p:cNvSpPr/>
          <p:nvPr/>
        </p:nvSpPr>
        <p:spPr>
          <a:xfrm>
            <a:off x="817473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0" name="Text 17"/>
          <p:cNvSpPr/>
          <p:nvPr/>
        </p:nvSpPr>
        <p:spPr>
          <a:xfrm>
            <a:off x="81747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Thundering herd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74736" y="251460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сотні запитів б'ють по одному холодному ключу: лок або «запит-лідер»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66928" y="37490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37490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запитів одночасно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66928" y="4334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холодний ключ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081528" y="40233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rot="5400000">
            <a:off x="3209544" y="39547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3447288" y="37490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3502152" y="37490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лок або «запит-лідер»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447288" y="4334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решта чекають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61888" y="40233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rot="5400000">
            <a:off x="6089904" y="39547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3" name="Shape 30"/>
          <p:cNvSpPr/>
          <p:nvPr/>
        </p:nvSpPr>
        <p:spPr>
          <a:xfrm>
            <a:off x="6327648" y="37490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6382512" y="37490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виклик моделі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27648" y="4334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замість 100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842248" y="40233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rot="5400000">
            <a:off x="8970264" y="39547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8" name="Shape 35"/>
          <p:cNvSpPr/>
          <p:nvPr/>
        </p:nvSpPr>
        <p:spPr>
          <a:xfrm>
            <a:off x="9208008" y="374904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9" name="Text 36"/>
          <p:cNvSpPr/>
          <p:nvPr/>
        </p:nvSpPr>
        <p:spPr>
          <a:xfrm>
            <a:off x="9262872" y="374904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віддано з кешу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66928" y="48463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5A05F4"/>
          </a:solidFill>
          <a:ln/>
        </p:spPr>
      </p:sp>
      <p:sp>
        <p:nvSpPr>
          <p:cNvPr id="41" name="Text 38"/>
          <p:cNvSpPr/>
          <p:nvPr/>
        </p:nvSpPr>
        <p:spPr>
          <a:xfrm>
            <a:off x="786384" y="4992624"/>
            <a:ext cx="10625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Знати про компроміс — обов'язково; лікувати його на нашому масштабі — ні. Ліки дорожчі за хворобу, поки трафік навчальний.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Hit ratio: що рахуємо і що з цим робимо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320040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1847088"/>
            <a:ext cx="290779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 ratio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13232" y="2559406"/>
            <a:ext cx="290779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частка запитів, що обійшлися без моделі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50208" y="173736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4151376" y="1892808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Зекономлені виклики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151376" y="2423160"/>
            <a:ext cx="20208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хіти × середня вартість miss із лога = економія в доларах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56248" y="173736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757416" y="1892808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 до / після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757416" y="2423160"/>
            <a:ext cx="20208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хіт ~0 мс проти секунд походу в модель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62288" y="173736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9363456" y="1892808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Профіль трафіку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363456" y="2423160"/>
            <a:ext cx="20208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низький hit ratio — привід у лог: питання унікальні чи ключ надто чутливий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370332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5A05F4"/>
          </a:solidFill>
          <a:ln/>
        </p:spPr>
      </p:sp>
      <p:sp>
        <p:nvSpPr>
          <p:cNvPr id="21" name="Text 18"/>
          <p:cNvSpPr/>
          <p:nvPr/>
        </p:nvSpPr>
        <p:spPr>
          <a:xfrm>
            <a:off x="786384" y="38313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ПОРЯДОК ТОЙ САМИЙ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6384" y="4087368"/>
            <a:ext cx="10625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Механізм і метрика — разом; на тижні 5 лічильники стануть плиткою Cache-hit.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66928" y="48920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9808" y="5239512"/>
            <a:ext cx="310896" cy="310896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243584" y="502005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ПОРАДА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243584" y="5276088"/>
            <a:ext cx="10168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Перед кешем витягніть із лога топ повторів: топ-10 це 60% трафіку?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Дві метрики кешу — і межі здорової цифри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метрика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міряє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де видно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5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Ваш hit ratio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запити, що взагалі не пішли в модель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05F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лічильники в сервісі; з W5 — плитка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Кеш провайдера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токени, обслужені з кешу префікса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частка кешованих токенів у usage (Тема 4)</a:t>
                      </a:r>
                      <a:endParaRPr lang="en-US" sz="11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34290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0" name="Text 6"/>
          <p:cNvSpPr/>
          <p:nvPr/>
        </p:nvSpPr>
        <p:spPr>
          <a:xfrm>
            <a:off x="768096" y="35844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0% — кеш мертвий вантаж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68096" y="411480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шар є, ефекту немає: унікальні питання або надто чутливий ключ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81928" y="34290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3" name="Text 9"/>
          <p:cNvSpPr/>
          <p:nvPr/>
        </p:nvSpPr>
        <p:spPr>
          <a:xfrm>
            <a:off x="6483096" y="35844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Підозріло високий — теж сигнал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83096" y="411480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рекордна цифра куплена застарілими або чужими відповідями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516636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542239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17" name="Text 13"/>
          <p:cNvSpPr/>
          <p:nvPr/>
        </p:nvSpPr>
        <p:spPr>
          <a:xfrm>
            <a:off x="749808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243584" y="52943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243584" y="5550408"/>
            <a:ext cx="10168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«Не кешувати» — теж інженерне рішення, і ухвалюють його ті самі цифри.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Кеш детермінізує систему — і це двосічно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Острівець передбачуваності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перший запит зафіксував відповідь — усі наступні однакові: недетермінізм зник для повторів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консервує помилку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кешу невдала відповідь випадкова, з кешем — систематична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запит №1 → модель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відповідь X (будь-яка)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081528" y="38862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rot="5400000">
            <a:off x="3209544" y="38176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9" name="Shape 16"/>
          <p:cNvSpPr/>
          <p:nvPr/>
        </p:nvSpPr>
        <p:spPr>
          <a:xfrm>
            <a:off x="344728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350215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кеш зберіг X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4728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лише якщо status 200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61888" y="38862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6089904" y="38176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632764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638251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запити №2…n → X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2764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однакові, миттєві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842248" y="38862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rot="5400000">
            <a:off x="8970264" y="38176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9" name="Shape 26"/>
          <p:cNvSpPr/>
          <p:nvPr/>
        </p:nvSpPr>
        <p:spPr>
          <a:xfrm>
            <a:off x="9208008" y="3611880"/>
            <a:ext cx="242316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9262872" y="3611880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заглушка → X назавжди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208008" y="41970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систематична помилка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" y="452628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" y="4850892"/>
            <a:ext cx="310896" cy="310896"/>
          </a:xfrm>
          <a:prstGeom prst="ellipse">
            <a:avLst/>
          </a:prstGeom>
          <a:solidFill>
            <a:srgbClr val="106B41"/>
          </a:solidFill>
          <a:ln/>
        </p:spPr>
      </p:sp>
      <p:sp>
        <p:nvSpPr>
          <p:cNvPr id="34" name="Text 31"/>
          <p:cNvSpPr/>
          <p:nvPr/>
        </p:nvSpPr>
        <p:spPr>
          <a:xfrm>
            <a:off x="749808" y="48508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243584" y="46542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ПРИНЦИП: НЕ КЕШУЙТЕ ТЕ, У ЧОМУ НЕ ВПЕВНЕНІ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243584" y="4910328"/>
            <a:ext cx="101681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Пишемо в кеш лише повноцінну відповідь: сьогодні це status == 200.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66928" y="5596128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6384" y="5742432"/>
            <a:ext cx="10625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звітності підступно добре: hit ratio високий, вартість низька — а в кеші лежить сміття.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Скидання кешу — операційна процедура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2024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провайдер ліг на 2 хв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05456" y="22860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2633472" y="22174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2871216" y="192024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заглушки «тимчасові проблеми»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09744" y="22860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rot="5400000">
            <a:off x="4937760" y="22174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5175504" y="192024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230368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поїхали в кеш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14032" y="22860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5400000">
            <a:off x="7242048" y="22174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7479792" y="192024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534656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провайдер піднявся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18320" y="228600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rot="5400000">
            <a:off x="9546336" y="221742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24" name="Shape 21"/>
          <p:cNvSpPr/>
          <p:nvPr/>
        </p:nvSpPr>
        <p:spPr>
          <a:xfrm>
            <a:off x="9784080" y="1920240"/>
            <a:ext cx="1847088" cy="73152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838944" y="1920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заглушки ще годину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66928" y="288036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106B4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6384" y="30083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6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ПРАВИЛО КОНТУРУ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86384" y="3264408"/>
            <a:ext cx="10625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Те, що народилося у fallback-гілці (Тема 7), у кеш не потрапляє ніколи.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66928" y="38862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96" y="40416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Мінімум: версія в ключі — вже є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768096" y="457200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промпта автоматично робить старі записи недосяжними: найнебезпечніший сценарій закритий архітектурно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81928" y="38862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6483096" y="40416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рівень: епоха кешу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6483096" y="4572000"/>
            <a:ext cx="49469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номер, який входить у ключ: інкремент — і весь кеш недосяжний, без походу в сховище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Свіжість: віддати старе — і оновити у фоні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8308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Жорсткий TTL — вибір із двох зол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2468880"/>
            <a:ext cx="49469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короткий — кеш майже не влучає; довгий — роздаєте застаріле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1325880"/>
          </a:xfrm>
          <a:prstGeom prst="roundRect">
            <a:avLst>
              <a:gd name="adj" fmla="val 8276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83096" y="193852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Третій варіант: два строки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83096" y="2468880"/>
            <a:ext cx="49469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«свіжий до» — віддаємо як є; далі старе + фоновий виклик оновлює запис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310128"/>
            <a:ext cx="3706978" cy="475488"/>
          </a:xfrm>
          <a:prstGeom prst="roundRect">
            <a:avLst>
              <a:gd name="adj" fmla="val 13462"/>
            </a:avLst>
          </a:prstGeom>
          <a:solidFill>
            <a:srgbClr val="106B41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3310128"/>
            <a:ext cx="34143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свіжий  </a:t>
            </a:r>
            <a:pPr indent="0" marL="0">
              <a:buNone/>
            </a:pPr>
            <a:r>
              <a:rPr lang="en-US" sz="11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віддаємо як є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28770" y="3310128"/>
            <a:ext cx="4370832" cy="475488"/>
          </a:xfrm>
          <a:prstGeom prst="roundRect">
            <a:avLst>
              <a:gd name="adj" fmla="val 13462"/>
            </a:avLst>
          </a:prstGeom>
          <a:solidFill>
            <a:srgbClr val="1A4FBF"/>
          </a:solidFill>
          <a:ln/>
        </p:spPr>
      </p:sp>
      <p:sp>
        <p:nvSpPr>
          <p:cNvPr id="17" name="Text 14"/>
          <p:cNvSpPr/>
          <p:nvPr/>
        </p:nvSpPr>
        <p:spPr>
          <a:xfrm>
            <a:off x="4475074" y="3310128"/>
            <a:ext cx="4078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застарілий  </a:t>
            </a:r>
            <a:pPr indent="0" marL="0">
              <a:buNone/>
            </a:pPr>
            <a:r>
              <a:rPr lang="en-US" sz="11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віддаємо старе + фоновий рефреш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54466" y="3310128"/>
            <a:ext cx="2821838" cy="475488"/>
          </a:xfrm>
          <a:prstGeom prst="roundRect">
            <a:avLst>
              <a:gd name="adj" fmla="val 13462"/>
            </a:avLst>
          </a:prstGeom>
          <a:solidFill>
            <a:srgbClr val="B3261E"/>
          </a:solidFill>
          <a:ln/>
        </p:spPr>
      </p:sp>
      <p:sp>
        <p:nvSpPr>
          <p:cNvPr id="19" name="Text 16"/>
          <p:cNvSpPr/>
          <p:nvPr/>
        </p:nvSpPr>
        <p:spPr>
          <a:xfrm>
            <a:off x="8900770" y="3310128"/>
            <a:ext cx="25292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прострочений  </a:t>
            </a:r>
            <a:pPr indent="0" marL="0">
              <a:buNone/>
            </a:pPr>
            <a:r>
              <a:rPr lang="en-US" sz="11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 — ідемо в модель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3822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час життя запису →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6928" y="4187952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4315968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ДЛЯ LLM ЦЕ ВИГІДНІШЕ, НІЖ ДЛЯ ЗВИЧАЙНОГО API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86384" y="4572000"/>
            <a:ext cx="10625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 коштує секунди й гроші, а «застаріла» інструкція не псується за годину.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6928" y="51663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9808" y="546811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749808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43584" y="529437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ПОМИЛКА: ОДИН TTL НА ВСЕ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243584" y="5550408"/>
            <a:ext cx="10168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TTL — властивість класу запиту: пароль може жити добу, статус замовлення — ні.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Інвалідація і драбина сховищ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02412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024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47088" y="21031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901952" y="2103120"/>
            <a:ext cx="4005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in-memory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53328" y="249174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5400000">
            <a:off x="6181344" y="242316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12" name="Shape 9"/>
          <p:cNvSpPr/>
          <p:nvPr/>
        </p:nvSpPr>
        <p:spPr>
          <a:xfrm>
            <a:off x="6419088" y="2103120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2103120"/>
            <a:ext cx="4005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 (advanced-профіль)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2004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" y="33558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Промпт-у-ключі + TTL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68096" y="388620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механізми покривають майже всі випадки інвалідації без окремої інфраструктури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81928" y="320040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6483096" y="335584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 переростає пам'ять процесу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83096" y="3886200"/>
            <a:ext cx="4946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кілька інстансів або потрібен спільний кеш — тоді Redis; ціна — ще одна залежність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9808" y="5262372"/>
            <a:ext cx="310896" cy="310896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2" name="Text 19"/>
          <p:cNvSpPr/>
          <p:nvPr/>
        </p:nvSpPr>
        <p:spPr>
          <a:xfrm>
            <a:off x="749808" y="5262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43584" y="511149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243584" y="5367528"/>
            <a:ext cx="10168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Інвалідувати вручну і потім: «зайдемо і почистимо» не масштабується далі за один інцидент.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0233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Semantic cache: коли точного збігу мало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80160" y="1218895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18895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A05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ТЕОРІЯ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67128" y="1218895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67128" y="1218895"/>
            <a:ext cx="8641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343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18288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016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Поріг схожості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" y="251460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надто високий — кеш не влучає; надто низький — віддасте відповідь на інше питання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70248" y="18288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47141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447141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Вартість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471416" y="251460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кожен запит — виклик за векторами: кеш перестає бути безкоштовним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73568" y="182880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000000"/>
          </a:solidFill>
          <a:ln/>
        </p:spPr>
      </p:sp>
      <p:sp>
        <p:nvSpPr>
          <p:cNvPr id="21" name="Shape 18"/>
          <p:cNvSpPr/>
          <p:nvPr/>
        </p:nvSpPr>
        <p:spPr>
          <a:xfrm>
            <a:off x="8174736" y="201168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2" name="Text 19"/>
          <p:cNvSpPr/>
          <p:nvPr/>
        </p:nvSpPr>
        <p:spPr>
          <a:xfrm>
            <a:off x="8174736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0" y="19842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Сховище й індекс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174736" y="2514600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вектори треба десь тримати й оновлювати — ще одна залежність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6928" y="37490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" y="374904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«забув пароль, що робити?»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6928" y="43342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нове формулювання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950208" y="40233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5400000">
            <a:off x="4078224" y="39547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0" name="Shape 27"/>
          <p:cNvSpPr/>
          <p:nvPr/>
        </p:nvSpPr>
        <p:spPr>
          <a:xfrm>
            <a:off x="4315968" y="374904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4370832" y="37490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вектор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31596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ще один виклик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961888" y="40233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rot="5400000">
            <a:off x="6089904" y="39547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35" name="Shape 32"/>
          <p:cNvSpPr/>
          <p:nvPr/>
        </p:nvSpPr>
        <p:spPr>
          <a:xfrm>
            <a:off x="6327648" y="3749040"/>
            <a:ext cx="155448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36" name="Text 33"/>
          <p:cNvSpPr/>
          <p:nvPr/>
        </p:nvSpPr>
        <p:spPr>
          <a:xfrm>
            <a:off x="6382512" y="37490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A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схожість ≥ поріг?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32764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надто низько — чужа відповідь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73568" y="4023360"/>
            <a:ext cx="164592" cy="0"/>
          </a:xfrm>
          <a:prstGeom prst="line">
            <a:avLst/>
          </a:prstGeom>
          <a:noFill/>
          <a:ln w="15875">
            <a:solidFill>
              <a:srgbClr val="5A05F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rot="5400000">
            <a:off x="8101584" y="3954780"/>
            <a:ext cx="146304" cy="137160"/>
          </a:xfrm>
          <a:prstGeom prst="triangle">
            <a:avLst/>
          </a:prstGeom>
          <a:solidFill>
            <a:srgbClr val="5A05F4"/>
          </a:solidFill>
          <a:ln/>
        </p:spPr>
      </p:sp>
      <p:sp>
        <p:nvSpPr>
          <p:cNvPr id="40" name="Shape 37"/>
          <p:cNvSpPr/>
          <p:nvPr/>
        </p:nvSpPr>
        <p:spPr>
          <a:xfrm>
            <a:off x="8339328" y="37490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8394192" y="374904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відповідь для «Як скинути пароль?»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66928" y="48463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43" name="Text 40"/>
          <p:cNvSpPr/>
          <p:nvPr/>
        </p:nvSpPr>
        <p:spPr>
          <a:xfrm>
            <a:off x="786384" y="497433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ПОРЯДОК РІШЕНЬ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786384" y="5230368"/>
            <a:ext cx="106253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Спершу точний кеш і нормалізація, потім вимір hit ratio, і лише якщо цифра вперлася — semantic cache. Інакше Ви платите за складність наперед.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ПРАКТИКА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стенд наживо — і чесна межа того, що він доводить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773168"/>
            <a:ext cx="4224528" cy="475488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773168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 Лабораторна: чотири частини + опційна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Зараз Ви побачите — і навіщо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189280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 саме питання двічі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68096" y="242316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вдруге ~0 мс і нульові токени в лозі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81928" y="173736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83096" y="192024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64830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95160" y="189280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rollback-тест ключа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83096" y="242316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версії промпта робить кеш недосяжним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38328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18" name="Shape 15"/>
          <p:cNvSpPr/>
          <p:nvPr/>
        </p:nvSpPr>
        <p:spPr>
          <a:xfrm>
            <a:off x="768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80160" y="353872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«Де моє замовлення #10482?»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68096" y="406908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кешується — персональна відповідь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81928" y="3383280"/>
            <a:ext cx="5532120" cy="1463040"/>
          </a:xfrm>
          <a:prstGeom prst="roundRect">
            <a:avLst>
              <a:gd name="adj" fmla="val 7500"/>
            </a:avLst>
          </a:prstGeom>
          <a:solidFill>
            <a:srgbClr val="000000"/>
          </a:solidFill>
          <a:ln/>
        </p:spPr>
      </p:sp>
      <p:sp>
        <p:nvSpPr>
          <p:cNvPr id="23" name="Shape 20"/>
          <p:cNvSpPr/>
          <p:nvPr/>
        </p:nvSpPr>
        <p:spPr>
          <a:xfrm>
            <a:off x="6483096" y="3566160"/>
            <a:ext cx="384048" cy="384048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24" name="Text 21"/>
          <p:cNvSpPr/>
          <p:nvPr/>
        </p:nvSpPr>
        <p:spPr>
          <a:xfrm>
            <a:off x="6483096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353872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лічильники hit/miss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483096" y="4069080"/>
            <a:ext cx="5129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цифри ростуть разом із кешем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66928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5A05F4"/>
          </a:solidFill>
          <a:ln/>
        </p:spPr>
      </p:sp>
      <p:sp>
        <p:nvSpPr>
          <p:cNvPr id="28" name="Shape 25"/>
          <p:cNvSpPr/>
          <p:nvPr/>
        </p:nvSpPr>
        <p:spPr>
          <a:xfrm>
            <a:off x="749808" y="54452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49808" y="5445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243584" y="5202936"/>
            <a:ext cx="10168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243584" y="5458968"/>
            <a:ext cx="101681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Побачити, що кеш — не «швидше», а «дешевше і передбачувано», і що ключ вирішує коректність: одна зміна версії промпта прибирає весь старий кеш.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Лабораторна: чотири частини + опційна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18895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18895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Обгорнути виклик кешем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гілка hit/miss у service/Program.cs + лічильники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Побачити ефект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 саме питання двічі: latency і токени в лозі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" y="3511296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51129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Rollback-тест ключа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 іншої версії → кеш недосяжний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66928" y="4352544"/>
            <a:ext cx="457200" cy="457200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7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88720" y="435254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Провести межі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заборонити кеш для персональних і tool-відповідей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66928" y="5193792"/>
            <a:ext cx="457200" cy="457200"/>
          </a:xfrm>
          <a:prstGeom prst="ellipse">
            <a:avLst/>
          </a:prstGeom>
          <a:solidFill>
            <a:srgbClr val="1A4FBF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51937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TTL · опційно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 життя запису й перезапит після протухання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РЕФЛЕКСІЯ</a:t>
            </a:r>
            <a:endParaRPr lang="en-US" sz="6500" dirty="0"/>
          </a:p>
        </p:txBody>
      </p:sp>
      <p:sp>
        <p:nvSpPr>
          <p:cNvPr id="4" name="Text 2"/>
          <p:cNvSpPr/>
          <p:nvPr/>
        </p:nvSpPr>
        <p:spPr>
          <a:xfrm>
            <a:off x="566928" y="402336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B3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що це довело · перевір себе · антипатерни тижня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Що це довело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CF8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Метрика, а не віра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hit/miss ростуть на очах: економія порахована, а не заявлена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451713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вирішує коректність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1713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у ключі — і rollback не залишає стару поведінку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65008" y="17373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1892808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Межа проведена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66176" y="2423160"/>
            <a:ext cx="316382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персональне й tool-відповіді не кешуються ніколи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" y="429768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443984"/>
            <a:ext cx="106253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Найдешевший запит — той, якого не було. У наступній темі бот почне діяти, і там межа «tool-відповіді не кешуємо» перестане бути теорією.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Перевір себе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8308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7840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104122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0" name="Shape 7"/>
          <p:cNvSpPr/>
          <p:nvPr/>
        </p:nvSpPr>
        <p:spPr>
          <a:xfrm rot="-3000000">
            <a:off x="106902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1" name="Text 8"/>
          <p:cNvSpPr/>
          <p:nvPr/>
        </p:nvSpPr>
        <p:spPr>
          <a:xfrm>
            <a:off x="136245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повторний запит відповідає ~миттєво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840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2700000">
            <a:off x="104122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4" name="Shape 11"/>
          <p:cNvSpPr/>
          <p:nvPr/>
        </p:nvSpPr>
        <p:spPr>
          <a:xfrm rot="-3000000">
            <a:off x="106902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45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лічильники hit/miss ростуть правильно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44768" y="270662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2700000">
            <a:off x="6207587" y="284607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8" name="Shape 15"/>
          <p:cNvSpPr/>
          <p:nvPr/>
        </p:nvSpPr>
        <p:spPr>
          <a:xfrm rot="-3000000">
            <a:off x="6235385" y="282001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19" name="Text 16"/>
          <p:cNvSpPr/>
          <p:nvPr/>
        </p:nvSpPr>
        <p:spPr>
          <a:xfrm>
            <a:off x="6528816" y="250545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зміна версії промпта інвалідує кеш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4169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5A05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2700000">
            <a:off x="6207587" y="4309110"/>
            <a:ext cx="58156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2" name="Shape 19"/>
          <p:cNvSpPr/>
          <p:nvPr/>
        </p:nvSpPr>
        <p:spPr>
          <a:xfrm rot="-3000000">
            <a:off x="6235385" y="4283050"/>
            <a:ext cx="121432" cy="27432"/>
          </a:xfrm>
          <a:prstGeom prst="rect">
            <a:avLst/>
          </a:prstGeom>
          <a:solidFill>
            <a:srgbClr val="5A05F4"/>
          </a:solidFill>
          <a:ln/>
        </p:spPr>
      </p:sp>
      <p:sp>
        <p:nvSpPr>
          <p:cNvPr id="23" name="Text 20"/>
          <p:cNvSpPr/>
          <p:nvPr/>
        </p:nvSpPr>
        <p:spPr>
          <a:xfrm>
            <a:off x="6528816" y="3968496"/>
            <a:ext cx="4617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назву, що кешувати заборонено — і чому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Антипатерни тижня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10378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4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24128"/>
            <a:ext cx="1037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4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РЕФЛЕКСІЯ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828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" y="20208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0" name="Shape 7"/>
          <p:cNvSpPr/>
          <p:nvPr/>
        </p:nvSpPr>
        <p:spPr>
          <a:xfrm rot="-2700000">
            <a:off x="871789" y="21971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1828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без лічильників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«начебто економимо» — цифри немає, рішення теж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2743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8096" y="29352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Shape 12"/>
          <p:cNvSpPr/>
          <p:nvPr/>
        </p:nvSpPr>
        <p:spPr>
          <a:xfrm rot="-2700000">
            <a:off x="871789" y="31115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6" name="Text 13"/>
          <p:cNvSpPr/>
          <p:nvPr/>
        </p:nvSpPr>
        <p:spPr>
          <a:xfrm>
            <a:off x="1298448" y="27432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 поза ключем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rollback полагодив регресію, а користувачі бачать стару поведінку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657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38496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rot="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Shape 17"/>
          <p:cNvSpPr/>
          <p:nvPr/>
        </p:nvSpPr>
        <p:spPr>
          <a:xfrm rot="-2700000">
            <a:off x="871789" y="40259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1" name="Text 18"/>
          <p:cNvSpPr/>
          <p:nvPr/>
        </p:nvSpPr>
        <p:spPr>
          <a:xfrm>
            <a:off x="1298448" y="36576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Кешувати персональні відповіді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 не продуктивність, це чужі дані в чужих руках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66928" y="4572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" y="4764024"/>
            <a:ext cx="384048" cy="384048"/>
          </a:xfrm>
          <a:prstGeom prst="ellipse">
            <a:avLst/>
          </a:prstGeom>
          <a:solidFill>
            <a:srgbClr val="F5F3FA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5" name="Shape 22"/>
          <p:cNvSpPr/>
          <p:nvPr/>
        </p:nvSpPr>
        <p:spPr>
          <a:xfrm rot="-2700000">
            <a:off x="871789" y="4940302"/>
            <a:ext cx="176662" cy="3149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 23"/>
          <p:cNvSpPr/>
          <p:nvPr/>
        </p:nvSpPr>
        <p:spPr>
          <a:xfrm>
            <a:off x="1298448" y="45720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TTL на все   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неправильний для половини трафіку за визначенням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" y="192024"/>
            <a:ext cx="11713464" cy="646480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6839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Домашнє завдання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241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241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27648"/>
            <a:ext cx="1033272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Обов'язково — без здачі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закріпити лабу: повторний запит ~0 мс, лічильники ростуть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перевірити rollback-експеримент — промпт у ключі рятує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сформулювати список «що в моїй системі кешувати заборонено»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81928" y="1737360"/>
            <a:ext cx="5349240" cy="219456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483096" y="1892808"/>
            <a:ext cx="4946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A0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Опційно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3096" y="2423160"/>
            <a:ext cx="494690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TTL для записів кешу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9E4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подивитися на Redis у профілі advanced — місце для винесеного кешу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420624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5A05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05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ДЗ тижня 3 — після наступної теми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Воно об'єднає кеш та інструменти: сьогоднішня частина вже у Вас в руках, після наступної теми додадуться tool-виклики з таймаутом та ідемпотентністю — і тиждень здається одним PR.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31575" y="6345936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B6B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B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ТЕМИ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5" name="Text 3"/>
          <p:cNvSpPr/>
          <p:nvPr/>
        </p:nvSpPr>
        <p:spPr>
          <a:xfrm>
            <a:off x="877824" y="13716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найдешевший запит — той, якого не було: кеш прибирає виклик цілком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20299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кеш і метрика з'являються одним діфом: без цифри це віра, а не механізм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6883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 = модель + промпт + повідомлення — це контракт коректності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438144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346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персональне, tool-відповіді і швидкозмінні дані не кешуються ніколи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4096512"/>
            <a:ext cx="146304" cy="146304"/>
          </a:xfrm>
          <a:prstGeom prst="ellipse">
            <a:avLst/>
          </a:prstGeom>
          <a:solidFill>
            <a:srgbClr val="5A0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40050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TTL — властивість класу запиту, а не глобальне налаштування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10370"/>
            </a:avLst>
          </a:prstGeom>
          <a:solidFill>
            <a:srgbClr val="000000"/>
          </a:solidFill>
          <a:ln w="12700">
            <a:solidFill>
              <a:srgbClr val="5E4F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846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Наступний крок → Тема 6 · Tool calls: коли модель починає діяти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Досі бот тільки говорив — найгірше, що він міг, це відповісти неправильно. У наступній темі він почне діяти: tool-виклики, зовнішні інтеграції, реальні наслідки. Дія потребує схеми, таймаута та ідемпотентності — а незворотна дія ще й людини, яка скаже «так».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NEOVERSITY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28346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ДЯКУЮ</a:t>
            </a:r>
            <a:endParaRPr lang="en-US" sz="7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5 · Кешування: точний кеш, метрика і semantic cache</dc:title>
  <dc:subject>PptxGenJS Presentation</dc:subject>
  <dc:creator>LLMOps Bootcamp</dc:creator>
  <cp:lastModifiedBy>LLMOps Bootcamp</cp:lastModifiedBy>
  <cp:revision>1</cp:revision>
  <dcterms:created xsi:type="dcterms:W3CDTF">2026-09-08T09:14:32Z</dcterms:created>
  <dcterms:modified xsi:type="dcterms:W3CDTF">2026-09-08T09:14:32Z</dcterms:modified>
</cp:coreProperties>
</file>