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 · УРОК 5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Кешування: точний кеш,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і semantic cache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Найшвидша і найдешевша відповідь — та, по яку не треба йти в модель. Сьогодні обгорнемо виклик кешем, зберемо ключ, який не бреше, і увімкнемо лічильники з першої хвилини.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Обгорнути виклик кешем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віддає збережене, miss іде в модель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Зібрати ключ, що не бреше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+ промпт + повідомлення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лічильники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hit/miss в одному діфі з кешем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Довести rollback-тестом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інвалідує кеш автоматично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межу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кешувати заборонено — і чому це коректність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Подвійний податок на повтори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Межі: що можна, що заборонено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= контракт коректності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Розтин: гілка miss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 і що з нього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детермінізує — двосічно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Інвалідація і TTL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Semantic cache · опційно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«кеш є, значить економимо» — до цифри, яка це доводить.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/ miss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влучання і промах: hit — у модель не пішли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ratio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ключ кешу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пошуку збереженої відповіді — контракт коректності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TTL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життя запису: скільки відповідь придатна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інвалідація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 записів з обігу, коли вони більше не правдиві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semantic cache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пошук схожого за змістом, а не точного збігу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Подвійний податок на повтори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713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«Як скинути пароль?» — сотні разів на день майже однаковими словами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8F0E2"/>
          </a:solidFill>
          <a:ln/>
        </p:spPr>
      </p:sp>
      <p:sp>
        <p:nvSpPr>
          <p:cNvPr id="11" name="Text 8"/>
          <p:cNvSpPr/>
          <p:nvPr/>
        </p:nvSpPr>
        <p:spPr>
          <a:xfrm>
            <a:off x="6428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6428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однакова відповідь — а користувач щоразу чекає похід у модель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3375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BE9E9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4655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ПАСТКА: КЕШ ВМИКАЮТЬ — І НЕ МІРЯЮТЬ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372160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«Ну, кеш же є, значить економимо». Скільки? На яких запитах? Чи не віддаємо застаріле після зміни промпта? Без цифр кеш — талісман, а не механізм.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45720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4EF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УРОКУ — MEASURE-FIRST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49560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 з'являються разом із кешем: в один урок і в один діф. Кеш без метрики — віра, а не інженерія.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кешувати можна — а що заборонено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Ідеальний кандидат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детермінована (завжди відповідаємо так) і не-персональна: «Як скинути пароль?», «Які у вас тарифи?»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відповіді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замовлення?» — закешували одному, віддали іншому: інцидент із чужими даними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306324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BE9E9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Результати tool-викликів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374904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зібрані зі стану зовнішньої системи в конкретну мить — за годину брешуть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281928" y="4389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BE9E9"/>
          </a:solidFill>
          <a:ln/>
        </p:spPr>
      </p:sp>
      <p:sp>
        <p:nvSpPr>
          <p:cNvPr id="17" name="Text 14"/>
          <p:cNvSpPr/>
          <p:nvPr/>
        </p:nvSpPr>
        <p:spPr>
          <a:xfrm>
            <a:off x="6483096" y="4544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Швидкозмінні дані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483096" y="5074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залишки, статуси, ціни — застарівають швидше, ніж встигає TTL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365760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378561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ДВА РІВНІ КЕШУ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04164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кеш прибирає виклик цілком. Кеш префікса у провайдера (урок 4) здешевлює виклик зсередини. Вони складаються.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55321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56784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кешування — питання коректності, а не продуктивності.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кешу — це контракт коректності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cacheKey =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$"{model}|{systemPrompt}|{body.Message}"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6692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62179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041648" y="314553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307695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14" name="Text 11"/>
          <p:cNvSpPr/>
          <p:nvPr/>
        </p:nvSpPr>
        <p:spPr>
          <a:xfrm>
            <a:off x="446227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 промпта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82128" y="314553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307695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повідомлення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ЯКЩО ПРОМПТА В КЛЮЧІ НЕМАЄ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нової версії — кеш далі віддає відповіді старої. Дзеркально і підступніше: rollback полагодив регресію, а користувачі ще годину бачать стару поведінку.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51206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E9F4EF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526694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ключі → інвалідація автоматична: змінили версію — старі записи стали недосяжними самі.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Нормалізація — рішення про еквівалентність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Зайві пробіли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безпечно: на зміст повідомлення не впливає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Нижній регістр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майже завжди правда: регістр рідко змінює зміст питання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BE9E9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пунктуацію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вже не завжди: «не працює. оплата пройшла» ≠ «не працює оплата, пройшла»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 САМЕ ПРАВИЛО, ЩО З КЛЮЧЕМ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Нормалізація — частина контракту коректності: найдешевший спосіб підняти hit ratio і саме тому найнебезпечніший. Кожен крок має бути свідомим.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коду: виклик моделі стає гілкою miss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423160"/>
          </a:xfrm>
          <a:prstGeom prst="roundRect">
            <a:avLst>
              <a:gd name="adj" fmla="val 4528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[W3] простий in-memory кеш + лічильники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(cache.TryGetValue(cacheKey, out var cached))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= cached;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stats.CacheHits);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stats.CacheMisses);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... виклик моделі, парсинг, як раніше ...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(status == 200 &amp;&amp; toolCall == null) cache[cacheKey] = answer;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45720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Тільки 200 у кеш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заглушки й помилки не консервуємо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45720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toolCall == null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результати інструментів не кешуються ніколи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457200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 видно в лозі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нульові токени і latency у мілісекундах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 що цей код мовчить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8F0E2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Пам'ять росте необмежено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унікальне питання — запис назавжди; на проді потрібна стеля або LRU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8F0E2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одночасні miss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підуть у модель і обидва заплатять; другий перезапише перший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8F0E2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Thundering herd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сотні запитів б'ють по одному холодному ключу: лок або «запит-лідер»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40690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2153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Знати про компроміс — обов'язково; лікувати його на нашому масштабі — ні. Ліки дорожчі за хворобу, поки трафік навчальний.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ratio: що рахуємо і що з цим робимо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200400" cy="1417320"/>
          </a:xfrm>
          <a:prstGeom prst="roundRect">
            <a:avLst>
              <a:gd name="adj" fmla="val 7742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847088"/>
            <a:ext cx="2907792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713232" y="2559406"/>
            <a:ext cx="2907792" cy="510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95020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15137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Зекономлені виклики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15137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хіти × середня вартість miss із лога = економія в доларах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55624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75741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Latency до / після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75741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 ~0 мс проти сотень мілісекунд походу в модель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916228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36345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Профіль трафіку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936345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низький hit ratio — привід у лог: питання унікальні чи ключ надто чутливий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3703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3831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ТОЙ САМИЙ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0873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і метрика — разом; вітрина — коли з'явиться шар вітрини: на тижні 5 лічильники стануть плиткою Cache-hit.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89204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527608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 ніж вмикати кеш — витягніть із лога топ повторюваних питань. Топ-10 це 60% трафіку? Окупиться першого ж дня.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метрики кешу — і межі здорової цифри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572000"/>
                <a:gridCol w="3749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метрика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міряє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де видно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Ваш hit ratio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запити, що взагалі не пішли в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лічильники в сервісі; з W5 — плитка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F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Кеш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токени, обслужені з кешу префікса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частка кешованих токенів у usage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34290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BE9E9"/>
          </a:solidFill>
          <a:ln/>
        </p:spPr>
      </p:sp>
      <p:sp>
        <p:nvSpPr>
          <p:cNvPr id="9" name="Text 5"/>
          <p:cNvSpPr/>
          <p:nvPr/>
        </p:nvSpPr>
        <p:spPr>
          <a:xfrm>
            <a:off x="768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0% — кеш мертвий вантаж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768096" y="41148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шар є, ефекту немає: або питання справді унікальні, або ключ надто чутливий до формулювання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281928" y="34290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8F0E2"/>
          </a:solidFill>
          <a:ln/>
        </p:spPr>
      </p:sp>
      <p:sp>
        <p:nvSpPr>
          <p:cNvPr id="12" name="Text 8"/>
          <p:cNvSpPr/>
          <p:nvPr/>
        </p:nvSpPr>
        <p:spPr>
          <a:xfrm>
            <a:off x="6483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Підозріло високий — теж сигнал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6483096" y="41148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рекордна цифра буває куплена ціною застарілих або чужих відповідей: перевірте, що саме потрапляє в кеш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66928" y="516636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E9F4EF"/>
          </a:solidFill>
          <a:ln/>
        </p:spPr>
      </p:sp>
      <p:sp>
        <p:nvSpPr>
          <p:cNvPr id="15" name="Text 11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786384" y="555040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 кешувати» — теж інженерне рішення, і ухвалюється воно тими самими цифрами, що й «кешувати». Метрика без розуміння меж — та сама віра, просто з цифрою.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детермінізує систему — і це двосічно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Острівець передбачуваності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запит зафіксував відповідь — усі наступні однакові: недетермінізм зник для повторів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консервує помилку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невдала відповідь роздається всім до кінця TTL: без кешу вона випадкова, з кешем — систематична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65760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785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ПРИНЦИП: НЕ КЕШУЙТЕ ТЕ, У ЧОМУ НЕ ВПЕВНЕНІ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041648"/>
            <a:ext cx="10625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Фільтр перед записом: відповідь дійшла нормально, не заглушка деградації, не відмова фільтра безпеки, не порожня. Сьогодні це status == 200.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53035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8F0E2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4498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звітності підступно добре: hit ratio високий, вартість низька — а в кеші лежить сміття.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Скидання кешу — операційна процедура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ліг на 2 хв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05456" y="22860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633472" y="22174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2871216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2" name="Text 9"/>
          <p:cNvSpPr/>
          <p:nvPr/>
        </p:nvSpPr>
        <p:spPr>
          <a:xfrm>
            <a:off x="2926080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«тимчасові проблеми»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09744" y="22860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937760" y="22174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5175504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16" name="Text 13"/>
          <p:cNvSpPr/>
          <p:nvPr/>
        </p:nvSpPr>
        <p:spPr>
          <a:xfrm>
            <a:off x="5230368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поїхали в кеш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114032" y="22860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242048" y="22174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7479792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E9F4EF"/>
          </a:solidFill>
          <a:ln/>
        </p:spPr>
      </p:sp>
      <p:sp>
        <p:nvSpPr>
          <p:cNvPr id="20" name="Text 17"/>
          <p:cNvSpPr/>
          <p:nvPr/>
        </p:nvSpPr>
        <p:spPr>
          <a:xfrm>
            <a:off x="7534656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піднявся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418320" y="22860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9546336" y="22174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3" name="Shape 20"/>
          <p:cNvSpPr/>
          <p:nvPr/>
        </p:nvSpPr>
        <p:spPr>
          <a:xfrm>
            <a:off x="9784080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24" name="Text 21"/>
          <p:cNvSpPr/>
          <p:nvPr/>
        </p:nvSpPr>
        <p:spPr>
          <a:xfrm>
            <a:off x="9838944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ще годину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2880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E9F4EF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3008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КОНТУРУ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326440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Те, що народилося у fallback-гілці (урок 7), у кеш не потрапляє ніколи.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66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FEAFE"/>
          </a:solidFill>
          <a:ln/>
        </p:spPr>
      </p:sp>
      <p:sp>
        <p:nvSpPr>
          <p:cNvPr id="29" name="Text 26"/>
          <p:cNvSpPr/>
          <p:nvPr/>
        </p:nvSpPr>
        <p:spPr>
          <a:xfrm>
            <a:off x="768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Мінімум: версія в ключі — вже є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768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автоматично робить старі записи недосяжними: найнебезпечніший сценарій закритий архітектурно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281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483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рівень: епоха кешу</a:t>
            </a:r>
            <a:endParaRPr lang="en-US" sz="1450" dirty="0"/>
          </a:p>
        </p:txBody>
      </p:sp>
      <p:sp>
        <p:nvSpPr>
          <p:cNvPr id="33" name="Text 30"/>
          <p:cNvSpPr/>
          <p:nvPr/>
        </p:nvSpPr>
        <p:spPr>
          <a:xfrm>
            <a:off x="6483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номер, який входить у ключ: інкремент — і весь кеш недосяжний, без походу в сховище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Свіжість: віддати старе — і оновити у фоні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8F0E2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Жорсткий TTL — вибір із двох зол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короткий — кеш майже не влучає; довгий — роздаєте застаріле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9F4EF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Третій варіант: два строки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«свіжий до» — віддаємо як є; далі віддаємо старе + фоновий виклик оновлює запис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5661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6941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ДЛЯ LLM ЦЕ ВИГІДНІШЕ, НІЖ ДЛЯ ЗВИЧАЙНОГО API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395020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miss'а — секунди очікування і реальні гроші, а «застаріла» інструкція не псується за годину. Виграш: hit ratio росте, p95 не стрибає.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470916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BE9E9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8371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ОДИН TTL НА ВСЕ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509320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«Як скинути пароль» може жити добу; статус замовлення — не має права жити й хвилини. TTL — властивість класу запиту, а не налаштування кеша.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Інвалідація і драбина сховищ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847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1901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in-memory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053328" y="24917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6181344" y="24231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6419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E9F4EF"/>
          </a:solidFill>
          <a:ln/>
        </p:spPr>
      </p:sp>
      <p:sp>
        <p:nvSpPr>
          <p:cNvPr id="12" name="Text 9"/>
          <p:cNvSpPr/>
          <p:nvPr/>
        </p:nvSpPr>
        <p:spPr>
          <a:xfrm>
            <a:off x="6473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Redis (advanced-профіль)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68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Промпт-у-ключі + TTL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механізми покривають майже всі випадки інвалідації без окремої інфраструктури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281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8F0E2"/>
          </a:solidFill>
          <a:ln/>
        </p:spPr>
      </p:sp>
      <p:sp>
        <p:nvSpPr>
          <p:cNvPr id="17" name="Text 14"/>
          <p:cNvSpPr/>
          <p:nvPr/>
        </p:nvSpPr>
        <p:spPr>
          <a:xfrm>
            <a:off x="6483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Коли переростає пам'ять процесу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483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інстансів або потрібен спільний кеш — тоді Redis; ціна — ще одна залежність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Інвалідувати вручну і потім: «зайдемо і почистимо» не масштабується далі за один інцидент.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Semantic cache: коли точного збігу мало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8F0E2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схожості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надто високий — кеш не влучає; надто низький — віддасте відповідь на інше питання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8F0E2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запит — виклик за векторами: кеш перестає бути безкоштовним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8F0E2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Сховище й індекс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вектори треба десь тримати й оновлювати — ще одна залежність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4023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РІШЕНЬ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40740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точний кеш і нормалізація, потім вимір hit ratio, і лише якщо цифра вперлася — semantic cache. Інакше ви платите за складність наперед.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вдруге ~0 мс і нульові токени в лозі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rollback-тест ключа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версії промпта робить кеш недосяжним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 #10482?»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кешується — персональна відповідь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цифри ростуть разом із кешем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що кеш — не «швидше», а «дешевше і передбачувано», і що ключ вирішує коректність: одна зміна версії промпта прибирає весь старий кеш.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Обгорнути виклик кешем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гілка hit/miss у service/Program.cs + лічильники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ефект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двічі: latency і токени в лозі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Rollback-тест ключа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іншої версії → кеш недосяжний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межі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заборонити кеш для персональних і tool-відповідей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життя запису й перезапит після протухання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Метрика, а не віра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hit/miss ростуть на очах: економія порахована, а не заявлена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вирішує коректність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ключі — і rollback не залишає стару поведінку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BE9E9"/>
          </a:solidFill>
          <a:ln/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проведена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персональне й tool-відповіді не кешуються ніколи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Найдешевший запит — той, якого не було. Наступного уроку бот почне діяти, і там межа «tool-відповіді не кешуємо» перестане бути теорією.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запит відповідає ~миттєво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 ростуть правильно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версії промпта інвалідує кеш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назву, що кешувати заборонено — і чому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2020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без лічильників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«начебто економимо» — цифри немає, рішення теж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поза ключем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полагодив регресію, а користувачі бачать стару поведінку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3849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Кешувати персональні відповіді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не продуктивність, це чужі дані в чужих руках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4764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TTL на все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неправильний для половини трафіку за визначенням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повторний запит ~0 мс, лічильники ростуть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перевірити rollback-експеримент — промпт у ключі рятує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список «що в моїй системі кешувати заборонено»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8F0E2"/>
          </a:solidFill>
          <a:ln/>
        </p:spPr>
      </p:sp>
      <p:sp>
        <p:nvSpPr>
          <p:cNvPr id="10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TTL для записів кешу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подивитися на Redis у профілі advanced — місце для винесеного кешу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3 — після наступного уроку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об'єднає кеш та інструменти: сьогоднішня частина вже у вас в руках, після наступного уроку додадуться tool-виклики з таймаутом та ідемпотентністю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найдешевший запит — той, якого не було: кеш прибирає виклик цілком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і метрика з'являються одним діфом: без цифри це віра, а не механізм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= модель + промпт + повідомлення — це контракт коректності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персональне, tool-відповіді і швидкозмінні дані не кешуються ніколи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— властивість класу запиту, а не глобальне налаштування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6 · Tool calls: коли модель починає діяти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Досі бот тільки говорив — найгірше, що він міг, це відповісти неправильно. Наступного уроку він почне діяти: tool-виклики, зовнішні інтеграції, реальні наслідки. Дія потребує схеми, таймаута та ідемпотентності — а незворотна дія ще й людини, яка скаже «так».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5 · Кешування: точний кеш, метрика і semantic cache</dc:title>
  <dc:subject>PptxGenJS Presentation</dc:subject>
  <dc:creator>LLMOps Bootcamp</dc:creator>
  <cp:lastModifiedBy>LLMOps Bootcamp</cp:lastModifiedBy>
  <cp:revision>1</cp:revision>
  <dcterms:created xsi:type="dcterms:W3CDTF">2026-08-11T20:37:40Z</dcterms:created>
  <dcterms:modified xsi:type="dcterms:W3CDTF">2026-08-11T20:37:40Z</dcterms:modified>
</cp:coreProperties>
</file>