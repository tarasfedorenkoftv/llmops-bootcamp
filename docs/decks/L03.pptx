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15400" y="1417320"/>
            <a:ext cx="2834640" cy="2834640"/>
          </a:xfrm>
          <a:prstGeom prst="roundRect">
            <a:avLst>
              <a:gd name="adj" fmla="val 5161"/>
            </a:avLst>
          </a:prstGeom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99448" y="1801368"/>
            <a:ext cx="2066544" cy="2066544"/>
          </a:xfrm>
          <a:prstGeom prst="roundRect">
            <a:avLst>
              <a:gd name="adj" fmla="val 7080"/>
            </a:avLst>
          </a:prstGeom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83496" y="2185416"/>
            <a:ext cx="1298448" cy="1298448"/>
          </a:xfrm>
          <a:prstGeom prst="roundRect">
            <a:avLst>
              <a:gd name="adj" fmla="val 11268"/>
            </a:avLst>
          </a:prstGeom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3 З 12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" y="182880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Мультипровайдерний gateway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 маршрутизація моделей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41248" y="379476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модель на все — найдорожчий і найкрихкіший спосіб жити. Сьогодні сервіс навчиться обирати модель під задачу, а додати провайдера коштуватиме рядків у YAML, а не рефакторингу.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1248" y="544068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544068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97810" y="544068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2597810" y="544068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09898" y="544068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9898" y="544068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05272" y="544068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05272" y="544068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650785" y="544068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50785" y="544068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768535" y="544068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68535" y="544068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ви зможете після уроку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Написати Route()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роутер на десять рядків: ескалації — окремо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Пояснити межу ролей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рішення в сервісі, виконання в адаптері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Додати провайдера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одним YAML-блоком, без зміни коду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Розрізнити alias і snapshot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 пояснити, чому модель пінять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9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Записати fallback-порядок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політика, що оживе на тижні 4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на сьогодні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біди однієї моделі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2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Сервіс вирішує, адаптер виконує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6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Розтин конфіга; alias vs snapshot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Route(): одна точка рішення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за задачею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8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Ціна самого рішення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2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Fallback-порядок як політика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6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Додати провайдера без коду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9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0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Tier-система · опційно</a:t>
            </a:r>
            <a:endParaRPr lang="en-US" sz="1450" dirty="0"/>
          </a:p>
        </p:txBody>
      </p:sp>
      <p:sp>
        <p:nvSpPr>
          <p:cNvPr id="42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4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8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8"/>
          <p:cNvSpPr/>
          <p:nvPr/>
        </p:nvSpPr>
        <p:spPr>
          <a:xfrm>
            <a:off x="566928" y="58521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786384" y="59984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«одна модель на все» — до розведеного трафіку, який видно в базі.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Терміни, якими користуватимемось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єдиний вихід до провайдерів: виклик, ключі, згладжування API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роутер · Route()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точка рішення в сервісі: повідомлення → ім'я моделі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рухома назва «остання версія сімейства»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зафіксована версія з датою чи ідентифікатором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fallback-порядок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оголошена черга моделей на випадок збою (механізм — W4)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рівень обслуговування: які питання яку модель отримують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біди однієї моделі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9E9E8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різниця між дешевою і сильною на масовому трафіку — порядок вартості, не «трохи дорожче»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9E9E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Залежність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провайдер — одна точка відмови, яка вам не належить; плану Б не існує теоретично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8F0E2"/>
          </a:solidFill>
          <a:ln/>
        </p:spPr>
      </p:sp>
      <p:sp>
        <p:nvSpPr>
          <p:cNvPr id="18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Несумісність у дрібницях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«сумісні за стандартом» провайдери розходяться в деталях полів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ECEBFB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Маршрутизація — перший механізм тижня «гроші»: вона розводить трафік за задачами, і саме на ній тримається все, що рахуватимемо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Сервіс вирішує. Адаптер виконує.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4038C4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41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Сервіс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41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яку модель викликати — код, який можна прочитати, протестувати й залогувати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81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56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556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Адаптер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556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 помилок, автентифікація, ліміти на поля — нормалізує адаптер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E9F3EE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86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Рішення — це код: його читають, тестують, логують і пояснюють на розборі. Конфіг чужого інструмента — рішення, яке ви орендуєте.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81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9E9E8"/>
          </a:solidFill>
          <a:ln/>
        </p:spPr>
      </p:sp>
      <p:sp>
        <p:nvSpPr>
          <p:cNvPr id="19" name="Text 17"/>
          <p:cNvSpPr/>
          <p:nvPr/>
        </p:nvSpPr>
        <p:spPr>
          <a:xfrm>
            <a:off x="6501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501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Побачити роутинг у документації адаптера і віддати рішення туди: механізми переносяться, прапорці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Розтин конфіга: дві «моделі» на одному mock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6400800" cy="3200400"/>
          </a:xfrm>
          <a:prstGeom prst="roundRect">
            <a:avLst>
              <a:gd name="adj" fmla="val 3429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5961888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model_list: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http://mock-provider:9000/v1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той самий 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litellm_settings: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drop_params: true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num_retries: 0 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збої йдуть у сервіс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223760" y="169164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24928" y="184708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Той самий mock — навмисно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424928" y="237744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механіка роутингу справжня, рахунок нульовий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223760" y="278892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E9F3EE"/>
          </a:solidFill>
          <a:ln/>
        </p:spPr>
      </p:sp>
      <p:sp>
        <p:nvSpPr>
          <p:cNvPr id="13" name="Text 11"/>
          <p:cNvSpPr/>
          <p:nvPr/>
        </p:nvSpPr>
        <p:spPr>
          <a:xfrm>
            <a:off x="7424928" y="294436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drop_params: true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424928" y="347472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адаптер відкидає поля, яких провайдер не приймає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223760" y="388620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F8F0E2"/>
          </a:solidFill>
          <a:ln/>
        </p:spPr>
      </p:sp>
      <p:sp>
        <p:nvSpPr>
          <p:cNvPr id="16" name="Text 14"/>
          <p:cNvSpPr/>
          <p:nvPr/>
        </p:nvSpPr>
        <p:spPr>
          <a:xfrm>
            <a:off x="7424928" y="404164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num_retries: 0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424928" y="457200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збої долітають до сервісу — він вирішує, що робити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51663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786384" y="53126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Реальний ключ змінить лише праві частини YAML — код сервісу не побачить різниці.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«Модель» за назвою — не та сама модель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F8F0E2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Alias — «остання версія сімейства»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231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автоматично отримуєте покращення — і небезпечно тихі зміни поведінки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373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E9F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— зафіксована версія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231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змінюється під вами, але й не оновлюється сама — і колись її виведуть з обігу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74904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8F0E2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86384" y="413308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Той самий принцип, що з образами контейнерів: у прод не котять latest. Ми і gateway пінимо за digest'ом, а не за рухомим тегом.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5257800"/>
            <a:ext cx="11064240" cy="621792"/>
          </a:xfrm>
          <a:prstGeom prst="roundRect">
            <a:avLst>
              <a:gd name="adj" fmla="val 17647"/>
            </a:avLst>
          </a:prstGeom>
          <a:solidFill>
            <a:srgbClr val="ECEBFB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5404104"/>
            <a:ext cx="10625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production: у конфізі — snapshot; оновлення версії — окрема свідома зміна.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Route(): роутер на десять рядків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routing: ескалація → сильна, решта → дешева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 Route(string message, string def)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(def != "mock") return def;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реальний ключ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var u = message.ToLowerInvariant();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bool escalation = u.Contains("поверн") || u.Contains("терміново")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|| u.Contains("refund")  || u.Contains("скарг");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escalation ? "mock-strong" : "mock-mini";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041648" y="4526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169664" y="4457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3" name="Shape 11"/>
          <p:cNvSpPr/>
          <p:nvPr/>
        </p:nvSpPr>
        <p:spPr>
          <a:xfrm>
            <a:off x="440740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CEBFB"/>
          </a:solidFill>
          <a:ln/>
        </p:spPr>
      </p:sp>
      <p:sp>
        <p:nvSpPr>
          <p:cNvPr id="14" name="Text 12"/>
          <p:cNvSpPr/>
          <p:nvPr/>
        </p:nvSpPr>
        <p:spPr>
          <a:xfrm>
            <a:off x="446227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маркери ескалації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882128" y="4526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5400000">
            <a:off x="8010144" y="4457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7" name="Shape 15"/>
          <p:cNvSpPr/>
          <p:nvPr/>
        </p:nvSpPr>
        <p:spPr>
          <a:xfrm>
            <a:off x="824788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18" name="Text 16"/>
          <p:cNvSpPr/>
          <p:nvPr/>
        </p:nvSpPr>
        <p:spPr>
          <a:xfrm>
            <a:off x="830275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9F3EE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лише дефолт: жорстке ім'я моделі зникло зі шляху рішення й лишилося в одному місці.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ще каже цей код — до того, як вкусить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E9F3EE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Чиста функція = дешеві тести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рядок на вході, ім'я моделі на виході: десяток assert'ів без стека й бази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Конфлікти маркерів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сумнів — на користь дорожчого: «дякую, але хочу повернути гроші» їде на strong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18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Маркери двомовні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«поверн» і «refund» навмисно: у проді словники розповзаються по мовах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ECEBFB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 ОДНИМ РЕАЛЬНИМ КЛЮЧЕМ РОУТЕР ВИРОДЖУЄТЬСЯ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Щойно MODEL не «mock», Route() повертає задану модель — другої в конфізі немає. Це чесний стан контуру з одним провайдером, а не «роутинг вимкнули».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— за задачею, не за текстом-в-лоб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 рівень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маркери в тексті: дешево, прозоро, зрозуміло на розборі; ламається на перефразуванні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ECEBFB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Доросліше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тенант, фіча, пріоритет клієнта, ліміт бюджету — текст лише один із сигналів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8F0E2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Режим мислення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 сама модель у глибокому режимі коштує в рази більше — вмикати за явним критерієм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9F3EE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Дешеве — дешевій моделі, складне — сильній, рішення — задокументоване. Якщо не можете пояснити маршрут словами, у вас не політика, а випадковість.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Скільки коштує саме рішення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1148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спосіб вирішити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додає до кожного запиту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коли доречний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7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 / маркери в тексті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частки мілісекунди, нуль токенів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класів мало, описуються словником — наш випадок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Дешева модель-класифікатор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додатковий виклик: латентність і токени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словники розповзлися по мовах, класів більше трьох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Класифікація за схожістю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виклик за векторами + сховище й індекс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класів десятки і вони змінюються без релізу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2062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ECEBFB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43525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Арифметика проста: якщо рішення коштує дорожче за різницю між моделями — воно не окупається. Починайте з найдешевшого способу і ускладнюйте за сигналом.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користувач — один маршрут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1 → сильна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041648" y="22860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4169664" y="22174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440740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10"/>
          <p:cNvSpPr/>
          <p:nvPr/>
        </p:nvSpPr>
        <p:spPr>
          <a:xfrm>
            <a:off x="446227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2 → дешева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882128" y="22860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8010144" y="22174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824788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830275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3 → сильна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66928" y="2788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співрозмовник у користувача змінюється посеред розмови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291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3EE"/>
          </a:solidFill>
          <a:ln/>
        </p:spPr>
      </p:sp>
      <p:sp>
        <p:nvSpPr>
          <p:cNvPr id="19" name="Text 17"/>
          <p:cNvSpPr/>
          <p:nvPr/>
        </p:nvSpPr>
        <p:spPr>
          <a:xfrm>
            <a:off x="786384" y="3419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ЛІКУВАННЯ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86384" y="3675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Маршрут, який не диктується задачею, тримайте стабільним у межах сесії: вибір за хешем ідентифікатора розмови, а не заново на кожну репліку. Ескалація — виняток.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66928" y="470916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9E9E8"/>
          </a:solidFill>
          <a:ln/>
        </p:spPr>
      </p:sp>
      <p:sp>
        <p:nvSpPr>
          <p:cNvPr id="22" name="Text 20"/>
          <p:cNvSpPr/>
          <p:nvPr/>
        </p:nvSpPr>
        <p:spPr>
          <a:xfrm>
            <a:off x="786384" y="48371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86384" y="509320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Роутинг за випадковим числом «щоб рівномірно розподілити»: непередбачувано для користувача і невідтворювано для вас.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«У нас одна модель» — усе одно є що маршрутизувати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06240"/>
                <a:gridCol w="429768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маршрутизуємо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 рішення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max_tokens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коротка відповідь на FAQ, довга на скаргу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стеля вартості на клас запиту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temperature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мінімальна для довідкових, вища для формулювань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передбачуваність там, де потрібна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Версія промпта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ескалації — свій промпт, FAQ — свій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той самий реєстр з уроку 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Набір інструментів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read-only для загальних, повний для авторизованих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менша поверхня для injection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Маршрутизація — не про кількість провайдерів, а про те, що рішення про виклик ухвалюється свідомо.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Fallback-порядок: політика, яку сьогодні оголосимо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93852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ECEBFB"/>
          </a:solidFill>
          <a:ln/>
        </p:spPr>
      </p:sp>
      <p:sp>
        <p:nvSpPr>
          <p:cNvPr id="8" name="Text 6"/>
          <p:cNvSpPr/>
          <p:nvPr/>
        </p:nvSpPr>
        <p:spPr>
          <a:xfrm>
            <a:off x="199339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53328" y="24231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6181344" y="23545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641908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E9F3EE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66928" y="3017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разі збою сильної — краще відповісти дешевшою, ніж не відповісти взагалі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ECEBFB"/>
          </a:solidFill>
          <a:ln/>
        </p:spPr>
      </p:sp>
      <p:sp>
        <p:nvSpPr>
          <p:cNvPr id="15" name="Text 13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Сьогодні рішення, на W4 механізм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68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чергу фіксуємо поруч із роутером і обговорюємо з командою: політика без механізму — текст, механізм без політики — імпровізація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81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E9F3EE"/>
          </a:solidFill>
          <a:ln/>
        </p:spPr>
      </p:sp>
      <p:sp>
        <p:nvSpPr>
          <p:cNvPr id="18" name="Text 16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словник імен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483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і fallback читають той самий конфіг: ім'я поза конфігом — джерело нічних сюрпризів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Додати провайдера — без зміни коду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azure-gpt-4o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azure/gpt-4o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os.environ/AZURE_API_BASE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api_key:  os.environ/AZURE_API_KEY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9F3EE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блок у YAML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041648" y="4151376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169664" y="4082796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3" name="Shape 11"/>
          <p:cNvSpPr/>
          <p:nvPr/>
        </p:nvSpPr>
        <p:spPr>
          <a:xfrm>
            <a:off x="440740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6227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рядок у Route()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882128" y="4151376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5400000">
            <a:off x="8010144" y="4082796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7" name="Shape 15"/>
          <p:cNvSpPr/>
          <p:nvPr/>
        </p:nvSpPr>
        <p:spPr>
          <a:xfrm>
            <a:off x="824788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CEBFB"/>
          </a:solidFill>
          <a:ln/>
        </p:spPr>
      </p:sp>
      <p:sp>
        <p:nvSpPr>
          <p:cNvPr id="18" name="Text 16"/>
          <p:cNvSpPr/>
          <p:nvPr/>
        </p:nvSpPr>
        <p:spPr>
          <a:xfrm>
            <a:off x="830275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 виклику не змінився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8F0E2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Називайте моделі за роллю, а не за брендом: mock-mini, mock-strong. Тоді заміна провайдера — правка конфіга, а не пошук імені по всьому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Третій маршрут: tier-система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411919" y="5303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9411919" y="5303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66928" y="1828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CEBFB"/>
          </a:solidFill>
          <a:ln/>
        </p:spPr>
      </p:sp>
      <p:sp>
        <p:nvSpPr>
          <p:cNvPr id="10" name="Shape 8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FAQ-tier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68096" y="2514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типові питання: найдешевша модель або заготовлені відповіді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70248" y="1828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CEBFB"/>
          </a:solidFill>
          <a:ln/>
        </p:spPr>
      </p:sp>
      <p:sp>
        <p:nvSpPr>
          <p:cNvPr id="15" name="Shape 13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Standard-tier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471416" y="2514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звичайний діалог: робоча модель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973568" y="1828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CEBFB"/>
          </a:solidFill>
          <a:ln/>
        </p:spPr>
      </p:sp>
      <p:sp>
        <p:nvSpPr>
          <p:cNvPr id="20" name="Shape 18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1" name="Text 19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Escalation-tier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8174736" y="2514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скарги, повернення, юридично чутливе: найсильніша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374904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8096" y="39044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Механічно — дешево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68096" y="443484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ще одна гілка в Route() і ще одне ім'я в конфізі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281928" y="374904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28" name="Text 26"/>
          <p:cNvSpPr/>
          <p:nvPr/>
        </p:nvSpPr>
        <p:spPr>
          <a:xfrm>
            <a:off x="6483096" y="39044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Змістовно — вправа на політику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6483096" y="443484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межі між рівнями і як захистити рішення цифрами з лога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Зараз ви побачите — і навіщо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конфіг gateway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mock-mini і mock-strong — дві «моделі» на одному mock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2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Route() у сервісі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точка рішення на десять рядків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7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8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звичайні + ескалації («поверніть гроші, терміново»)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22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3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у БД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model, count(*) FROM requests GROUP BY model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Побачити перший операційний доказ, що routing працює: не «код написаний», а «трафік розведений». Різниця між цими формулюваннями і є темою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Лабораторна: чотири частини + опційна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Прочитати конфіг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gateway/litellm-config.yaml: mock-mini і mock-strong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Написати роутер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маркери → mock-strong, решта → mock-mini; MODEL лише дефолт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Побачити розподіл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питання обох типів → SELECT model, count(*) GROUP BY model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Додати «третього» на папері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YAML-блок + місце у fallback-порядку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межі рівнів + частка трафіку кожного з лога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це довело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3EE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Трафік розведений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дві моделі, різні лічильники — доказ, а не «код написаний»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CEBFB"/>
          </a:solidFill>
          <a:ln/>
        </p:spPr>
      </p:sp>
      <p:sp>
        <p:nvSpPr>
          <p:cNvPr id="10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Рішення читається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уся політика в одній функції; кожен вибір — подія в лозі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Розширення дешеве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«третій провайдер» = один YAML-блок і нуль рядків коду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 фундамент тижня «Routing + cost»: наступного уроку на те саме поле model ляже вартість кожного запиту — і розподіл трафіку стане розподілом грошей.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 себе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звичайне питання і ескалація дають різні моделі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поясню, чому рішення в сервісі, а не в адаптері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додам провайдера, не чіпаючи код сервісу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мій fallback-порядок записаний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тижня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Рішення про модель — у конфізі адаптера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прапорці не переносяться між інструментами, механізми — так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Жорстке ім'я моделі по всьому коду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заміна провайдера перетворюється на пошук рядків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3849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Роутинг за випадковим числом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непередбачувано для користувача, невідтворювано для вас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4764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Alias у проді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оновлюється під вами без жодної вашої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роутер працює: GROUP BY model показує дві моделі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жорстке ім'я моделі лишилося тільки в точці рішення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записати свій fallback-порядок — знадобиться на тижні 4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0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сформулювати tier-політику на три рівні і оцінити по лозі частку трафіку кожного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4038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ДЗ тижня 2 — після наступного уроку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Воно об'єднує routing і cost: сьогоднішня частина вже у вас в руках, після уроку 4 додасться облік вартості — і тиждень здається одним PR.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3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41248" y="1371600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модель на все — найдорожчий і найкрихкіший спосіб жити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41248" y="2029968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133856" y="193852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сервіс вирішує, адаптер виконує: рішення — код, а не прапорець у чужому конфізі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41248" y="2688336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133856" y="259689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Route() — одна точка рішення; MODEL лишається тільки дефолтом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41248" y="3346704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133856" y="3255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маршрутизувати можна навіть з однією моделлю: max_tokens, temperature, промпт, інструменти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41248" y="4005072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33856" y="39136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fallback-порядок оголошуємо сьогодні — механізм з'явиться на тижні 4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41248" y="4892040"/>
            <a:ext cx="1069848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9848" y="509320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крок → Урок 4 · Токеноміка і cost attribution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69848" y="5458968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Трафік розведений — тепер порахуємо, скільки він коштує. Наступного уроку на поле model ляже вартість кожного запиту: звідки беруться цифри, чому «звернення» дорожче за «виклик» і як за три GROUP BY знайти, куди пішов бюджет.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1248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A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3 · Мультипровайдерний gateway і маршрутизація моделей</dc:title>
  <dc:subject>PptxGenJS Presentation</dc:subject>
  <dc:creator>LLMOps Bootcamp</dc:creator>
  <cp:lastModifiedBy>LLMOps Bootcamp</cp:lastModifiedBy>
  <cp:revision>1</cp:revision>
  <dcterms:created xsi:type="dcterms:W3CDTF">2026-08-10T19:56:48Z</dcterms:created>
  <dcterms:modified xsi:type="dcterms:W3CDTF">2026-08-10T19:56:48Z</dcterms:modified>
</cp:coreProperties>
</file>