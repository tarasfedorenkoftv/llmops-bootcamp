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</p:sldIdLst>
  <p:notesMasterIdLst>
    <p:notesMasterId r:id="rId26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notesMaster" Target="notesMasters/notesMaster1.xml"/><Relationship Id="rId27" Type="http://schemas.openxmlformats.org/officeDocument/2006/relationships/presProps" Target="presProps.xml"/><Relationship Id="rId28" Type="http://schemas.openxmlformats.org/officeDocument/2006/relationships/viewProps" Target="viewProps.xml"/><Relationship Id="rId29" Type="http://schemas.openxmlformats.org/officeDocument/2006/relationships/theme" Target="theme/theme1.xml"/><Relationship Id="rId30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68735" y="643737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9AA1AD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1000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68735" y="643737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9AA1AD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null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8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9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0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4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B094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84048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400" kern="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NEOVERSITY</a:t>
            </a:r>
            <a:endParaRPr lang="en-US" sz="1200" dirty="0"/>
          </a:p>
        </p:txBody>
      </p:sp>
      <p:sp>
        <p:nvSpPr>
          <p:cNvPr id="3" name="Shape 1"/>
          <p:cNvSpPr/>
          <p:nvPr/>
        </p:nvSpPr>
        <p:spPr>
          <a:xfrm>
            <a:off x="9098280" y="1234440"/>
            <a:ext cx="2743200" cy="2743200"/>
          </a:xfrm>
          <a:prstGeom prst="roundRect">
            <a:avLst>
              <a:gd name="adj" fmla="val 5333"/>
            </a:avLst>
          </a:prstGeom>
          <a:ln w="12700">
            <a:solidFill>
              <a:srgbClr val="C9B8FB">
                <a:alpha val="24000"/>
              </a:srgbClr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9482328" y="1618488"/>
            <a:ext cx="1975104" cy="1975104"/>
          </a:xfrm>
          <a:prstGeom prst="roundRect">
            <a:avLst>
              <a:gd name="adj" fmla="val 7407"/>
            </a:avLst>
          </a:prstGeom>
          <a:ln w="12700">
            <a:solidFill>
              <a:srgbClr val="C9B8FB">
                <a:alpha val="42000"/>
              </a:srgbClr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9866376" y="2002536"/>
            <a:ext cx="1207008" cy="1207008"/>
          </a:xfrm>
          <a:prstGeom prst="roundRect">
            <a:avLst>
              <a:gd name="adj" fmla="val 12121"/>
            </a:avLst>
          </a:prstGeom>
          <a:ln w="12700">
            <a:solidFill>
              <a:srgbClr val="C9B8FB">
                <a:alpha val="66000"/>
              </a:srgbClr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566928" y="155448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C9B8F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ТИЖДЕНЬ 2 · УРОК 3 З 12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566928" y="1965960"/>
            <a:ext cx="822960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2000"/>
              </a:lnSpc>
              <a:buNone/>
            </a:pPr>
            <a:r>
              <a:rPr lang="en-US" sz="400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Мультипровайдерний gateway</a:t>
            </a:r>
            <a:endParaRPr lang="en-US" sz="4000" dirty="0"/>
          </a:p>
          <a:p>
            <a:pPr indent="0" marL="0">
              <a:lnSpc>
                <a:spcPct val="102000"/>
              </a:lnSpc>
              <a:buNone/>
            </a:pPr>
            <a:r>
              <a:rPr lang="en-US" sz="400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і маршрутизація моделей</a:t>
            </a:r>
            <a:endParaRPr lang="en-US" sz="4000" dirty="0"/>
          </a:p>
        </p:txBody>
      </p:sp>
      <p:sp>
        <p:nvSpPr>
          <p:cNvPr id="8" name="Text 6"/>
          <p:cNvSpPr/>
          <p:nvPr/>
        </p:nvSpPr>
        <p:spPr>
          <a:xfrm>
            <a:off x="566928" y="4114800"/>
            <a:ext cx="768096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500" dirty="0">
                <a:solidFill>
                  <a:srgbClr val="C9B8FB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Одна модель на все — найдорожчий і найкрихкіший спосіб жити. Сьогодні сервіс навчиться обирати модель під задачу, а додати провайдера коштуватиме рядків у YAML, а не рефакторингу.</a:t>
            </a:r>
            <a:endParaRPr lang="en-US" sz="1500" dirty="0"/>
          </a:p>
        </p:txBody>
      </p:sp>
      <p:sp>
        <p:nvSpPr>
          <p:cNvPr id="9" name="Shape 7"/>
          <p:cNvSpPr/>
          <p:nvPr/>
        </p:nvSpPr>
        <p:spPr>
          <a:xfrm>
            <a:off x="566928" y="5806440"/>
            <a:ext cx="1646834" cy="310896"/>
          </a:xfrm>
          <a:prstGeom prst="roundRect">
            <a:avLst>
              <a:gd name="adj" fmla="val 50000"/>
            </a:avLst>
          </a:prstGeom>
          <a:ln w="12700">
            <a:solidFill>
              <a:srgbClr val="C9B8FB">
                <a:alpha val="60000"/>
              </a:srgbClr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566928" y="5806440"/>
            <a:ext cx="164683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C9B8F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W1 Основа + промпти</a:t>
            </a:r>
            <a:endParaRPr lang="en-US" sz="900" dirty="0"/>
          </a:p>
        </p:txBody>
      </p:sp>
      <p:sp>
        <p:nvSpPr>
          <p:cNvPr id="11" name="Shape 9"/>
          <p:cNvSpPr/>
          <p:nvPr/>
        </p:nvSpPr>
        <p:spPr>
          <a:xfrm>
            <a:off x="2323490" y="5806440"/>
            <a:ext cx="1502359" cy="310896"/>
          </a:xfrm>
          <a:prstGeom prst="roundRect">
            <a:avLst>
              <a:gd name="adj" fmla="val 50000"/>
            </a:avLst>
          </a:prstGeom>
          <a:solidFill>
            <a:srgbClr val="5A05F4"/>
          </a:solidFill>
          <a:ln/>
        </p:spPr>
      </p:sp>
      <p:sp>
        <p:nvSpPr>
          <p:cNvPr id="12" name="Text 10"/>
          <p:cNvSpPr/>
          <p:nvPr/>
        </p:nvSpPr>
        <p:spPr>
          <a:xfrm>
            <a:off x="2323490" y="5806440"/>
            <a:ext cx="1502359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W2 Routing + cost</a:t>
            </a:r>
            <a:endParaRPr lang="en-US" sz="900" dirty="0"/>
          </a:p>
        </p:txBody>
      </p:sp>
      <p:sp>
        <p:nvSpPr>
          <p:cNvPr id="13" name="Shape 11"/>
          <p:cNvSpPr/>
          <p:nvPr/>
        </p:nvSpPr>
        <p:spPr>
          <a:xfrm>
            <a:off x="3935578" y="5806440"/>
            <a:ext cx="1285646" cy="310896"/>
          </a:xfrm>
          <a:prstGeom prst="roundRect">
            <a:avLst>
              <a:gd name="adj" fmla="val 50000"/>
            </a:avLst>
          </a:prstGeom>
          <a:ln w="12700">
            <a:solidFill>
              <a:srgbClr val="C9B8FB">
                <a:alpha val="60000"/>
              </a:srgbClr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3935578" y="5806440"/>
            <a:ext cx="128564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C9B8F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W3 Кеш + tools</a:t>
            </a:r>
            <a:endParaRPr lang="en-US" sz="900" dirty="0"/>
          </a:p>
        </p:txBody>
      </p:sp>
      <p:sp>
        <p:nvSpPr>
          <p:cNvPr id="15" name="Shape 13"/>
          <p:cNvSpPr/>
          <p:nvPr/>
        </p:nvSpPr>
        <p:spPr>
          <a:xfrm>
            <a:off x="5330952" y="5806440"/>
            <a:ext cx="1935785" cy="310896"/>
          </a:xfrm>
          <a:prstGeom prst="roundRect">
            <a:avLst>
              <a:gd name="adj" fmla="val 50000"/>
            </a:avLst>
          </a:prstGeom>
          <a:ln w="12700">
            <a:solidFill>
              <a:srgbClr val="C9B8FB">
                <a:alpha val="60000"/>
              </a:srgbClr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5330952" y="5806440"/>
            <a:ext cx="1935785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C9B8F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W4 Надійність + безпека</a:t>
            </a:r>
            <a:endParaRPr lang="en-US" sz="900" dirty="0"/>
          </a:p>
        </p:txBody>
      </p:sp>
      <p:sp>
        <p:nvSpPr>
          <p:cNvPr id="17" name="Shape 15"/>
          <p:cNvSpPr/>
          <p:nvPr/>
        </p:nvSpPr>
        <p:spPr>
          <a:xfrm>
            <a:off x="7376465" y="5806440"/>
            <a:ext cx="2008022" cy="310896"/>
          </a:xfrm>
          <a:prstGeom prst="roundRect">
            <a:avLst>
              <a:gd name="adj" fmla="val 50000"/>
            </a:avLst>
          </a:prstGeom>
          <a:ln w="12700">
            <a:solidFill>
              <a:srgbClr val="C9B8FB">
                <a:alpha val="60000"/>
              </a:srgbClr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7376465" y="5806440"/>
            <a:ext cx="200802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C9B8F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W5 Observability + evals</a:t>
            </a:r>
            <a:endParaRPr lang="en-US" sz="900" dirty="0"/>
          </a:p>
        </p:txBody>
      </p:sp>
      <p:sp>
        <p:nvSpPr>
          <p:cNvPr id="19" name="Shape 17"/>
          <p:cNvSpPr/>
          <p:nvPr/>
        </p:nvSpPr>
        <p:spPr>
          <a:xfrm>
            <a:off x="9494215" y="5806440"/>
            <a:ext cx="1213409" cy="310896"/>
          </a:xfrm>
          <a:prstGeom prst="roundRect">
            <a:avLst>
              <a:gd name="adj" fmla="val 50000"/>
            </a:avLst>
          </a:prstGeom>
          <a:ln w="12700">
            <a:solidFill>
              <a:srgbClr val="C9B8FB">
                <a:alpha val="60000"/>
              </a:srgbClr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9494215" y="5806440"/>
            <a:ext cx="1213409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C9B8F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W6 CI + фінал</a:t>
            </a:r>
            <a:endParaRPr lang="en-US" sz="9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84048"/>
            <a:ext cx="6839712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Що ви зможете після уроку</a:t>
            </a:r>
            <a:endParaRPr lang="en-US" sz="2400" dirty="0"/>
          </a:p>
        </p:txBody>
      </p:sp>
      <p:sp>
        <p:nvSpPr>
          <p:cNvPr id="3" name="Text 1"/>
          <p:cNvSpPr/>
          <p:nvPr/>
        </p:nvSpPr>
        <p:spPr>
          <a:xfrm>
            <a:off x="566928" y="1005840"/>
            <a:ext cx="683971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1300" dirty="0">
                <a:solidFill>
                  <a:srgbClr val="555B66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П'ять дій, які перевірите руками</a:t>
            </a:r>
            <a:endParaRPr lang="en-US" sz="1300" dirty="0"/>
          </a:p>
        </p:txBody>
      </p:sp>
      <p:sp>
        <p:nvSpPr>
          <p:cNvPr id="4" name="Shape 2"/>
          <p:cNvSpPr/>
          <p:nvPr/>
        </p:nvSpPr>
        <p:spPr>
          <a:xfrm>
            <a:off x="566928" y="1271016"/>
            <a:ext cx="777240" cy="256032"/>
          </a:xfrm>
          <a:prstGeom prst="roundRect">
            <a:avLst>
              <a:gd name="adj" fmla="val 50000"/>
            </a:avLst>
          </a:prstGeom>
          <a:solidFill>
            <a:srgbClr val="5A05F4"/>
          </a:solidFill>
          <a:ln/>
        </p:spPr>
      </p:sp>
      <p:sp>
        <p:nvSpPr>
          <p:cNvPr id="5" name="Text 3"/>
          <p:cNvSpPr/>
          <p:nvPr/>
        </p:nvSpPr>
        <p:spPr>
          <a:xfrm>
            <a:off x="566928" y="1271016"/>
            <a:ext cx="777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ТЕОРІЯ</a:t>
            </a:r>
            <a:endParaRPr lang="en-US" sz="900" dirty="0"/>
          </a:p>
        </p:txBody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6254496"/>
            <a:ext cx="1481328" cy="457200"/>
          </a:xfrm>
          <a:prstGeom prst="rect">
            <a:avLst/>
          </a:prstGeom>
        </p:spPr>
      </p:pic>
      <p:sp>
        <p:nvSpPr>
          <p:cNvPr id="7" name="Shape 4"/>
          <p:cNvSpPr/>
          <p:nvPr/>
        </p:nvSpPr>
        <p:spPr>
          <a:xfrm>
            <a:off x="566928" y="1783080"/>
            <a:ext cx="3520440" cy="1463040"/>
          </a:xfrm>
          <a:prstGeom prst="roundRect">
            <a:avLst>
              <a:gd name="adj" fmla="val 7500"/>
            </a:avLst>
          </a:prstGeom>
          <a:solidFill>
            <a:srgbClr val="FFFFFF"/>
          </a:solidFill>
          <a:ln w="12700">
            <a:solidFill>
              <a:srgbClr val="E6E7EC"/>
            </a:solidFill>
            <a:prstDash val="solid"/>
          </a:ln>
        </p:spPr>
      </p:sp>
      <p:sp>
        <p:nvSpPr>
          <p:cNvPr id="8" name="Shape 5"/>
          <p:cNvSpPr/>
          <p:nvPr/>
        </p:nvSpPr>
        <p:spPr>
          <a:xfrm>
            <a:off x="768096" y="196596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9" name="Text 6"/>
          <p:cNvSpPr/>
          <p:nvPr/>
        </p:nvSpPr>
        <p:spPr>
          <a:xfrm>
            <a:off x="768096" y="196596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</a:t>
            </a:r>
            <a:endParaRPr lang="en-US" sz="1200" dirty="0"/>
          </a:p>
        </p:txBody>
      </p:sp>
      <p:sp>
        <p:nvSpPr>
          <p:cNvPr id="10" name="Text 7"/>
          <p:cNvSpPr/>
          <p:nvPr/>
        </p:nvSpPr>
        <p:spPr>
          <a:xfrm>
            <a:off x="1280160" y="193852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Написати Route()</a:t>
            </a:r>
            <a:endParaRPr lang="en-US" sz="1450" dirty="0"/>
          </a:p>
        </p:txBody>
      </p:sp>
      <p:sp>
        <p:nvSpPr>
          <p:cNvPr id="11" name="Text 8"/>
          <p:cNvSpPr/>
          <p:nvPr/>
        </p:nvSpPr>
        <p:spPr>
          <a:xfrm>
            <a:off x="768096" y="2468880"/>
            <a:ext cx="3118104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555B66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роутер на десять рядків: ескалації — окремо</a:t>
            </a:r>
            <a:endParaRPr lang="en-US" sz="1200" dirty="0"/>
          </a:p>
        </p:txBody>
      </p:sp>
      <p:sp>
        <p:nvSpPr>
          <p:cNvPr id="12" name="Shape 9"/>
          <p:cNvSpPr/>
          <p:nvPr/>
        </p:nvSpPr>
        <p:spPr>
          <a:xfrm>
            <a:off x="4270248" y="1783080"/>
            <a:ext cx="3520440" cy="1463040"/>
          </a:xfrm>
          <a:prstGeom prst="roundRect">
            <a:avLst>
              <a:gd name="adj" fmla="val 7500"/>
            </a:avLst>
          </a:prstGeom>
          <a:solidFill>
            <a:srgbClr val="FFFFFF"/>
          </a:solidFill>
          <a:ln w="12700">
            <a:solidFill>
              <a:srgbClr val="E6E7EC"/>
            </a:solidFill>
            <a:prstDash val="solid"/>
          </a:ln>
        </p:spPr>
      </p:sp>
      <p:sp>
        <p:nvSpPr>
          <p:cNvPr id="13" name="Shape 10"/>
          <p:cNvSpPr/>
          <p:nvPr/>
        </p:nvSpPr>
        <p:spPr>
          <a:xfrm>
            <a:off x="4471416" y="196596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14" name="Text 11"/>
          <p:cNvSpPr/>
          <p:nvPr/>
        </p:nvSpPr>
        <p:spPr>
          <a:xfrm>
            <a:off x="4471416" y="196596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</a:t>
            </a:r>
            <a:endParaRPr lang="en-US" sz="1200" dirty="0"/>
          </a:p>
        </p:txBody>
      </p:sp>
      <p:sp>
        <p:nvSpPr>
          <p:cNvPr id="15" name="Text 12"/>
          <p:cNvSpPr/>
          <p:nvPr/>
        </p:nvSpPr>
        <p:spPr>
          <a:xfrm>
            <a:off x="4983480" y="193852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Пояснити межу ролей</a:t>
            </a:r>
            <a:endParaRPr lang="en-US" sz="1450" dirty="0"/>
          </a:p>
        </p:txBody>
      </p:sp>
      <p:sp>
        <p:nvSpPr>
          <p:cNvPr id="16" name="Text 13"/>
          <p:cNvSpPr/>
          <p:nvPr/>
        </p:nvSpPr>
        <p:spPr>
          <a:xfrm>
            <a:off x="4471416" y="2468880"/>
            <a:ext cx="3118104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555B66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рішення в сервісі, виконання в адаптері</a:t>
            </a:r>
            <a:endParaRPr lang="en-US" sz="1200" dirty="0"/>
          </a:p>
        </p:txBody>
      </p:sp>
      <p:sp>
        <p:nvSpPr>
          <p:cNvPr id="17" name="Shape 14"/>
          <p:cNvSpPr/>
          <p:nvPr/>
        </p:nvSpPr>
        <p:spPr>
          <a:xfrm>
            <a:off x="7973568" y="1783080"/>
            <a:ext cx="3520440" cy="1463040"/>
          </a:xfrm>
          <a:prstGeom prst="roundRect">
            <a:avLst>
              <a:gd name="adj" fmla="val 7500"/>
            </a:avLst>
          </a:prstGeom>
          <a:solidFill>
            <a:srgbClr val="FFFFFF"/>
          </a:solidFill>
          <a:ln w="12700">
            <a:solidFill>
              <a:srgbClr val="E6E7EC"/>
            </a:solidFill>
            <a:prstDash val="solid"/>
          </a:ln>
        </p:spPr>
      </p:sp>
      <p:sp>
        <p:nvSpPr>
          <p:cNvPr id="18" name="Shape 15"/>
          <p:cNvSpPr/>
          <p:nvPr/>
        </p:nvSpPr>
        <p:spPr>
          <a:xfrm>
            <a:off x="8174736" y="196596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19" name="Text 16"/>
          <p:cNvSpPr/>
          <p:nvPr/>
        </p:nvSpPr>
        <p:spPr>
          <a:xfrm>
            <a:off x="8174736" y="196596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3</a:t>
            </a:r>
            <a:endParaRPr lang="en-US" sz="1200" dirty="0"/>
          </a:p>
        </p:txBody>
      </p:sp>
      <p:sp>
        <p:nvSpPr>
          <p:cNvPr id="20" name="Text 17"/>
          <p:cNvSpPr/>
          <p:nvPr/>
        </p:nvSpPr>
        <p:spPr>
          <a:xfrm>
            <a:off x="8686800" y="193852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Додати провайдера</a:t>
            </a:r>
            <a:endParaRPr lang="en-US" sz="1450" dirty="0"/>
          </a:p>
        </p:txBody>
      </p:sp>
      <p:sp>
        <p:nvSpPr>
          <p:cNvPr id="21" name="Text 18"/>
          <p:cNvSpPr/>
          <p:nvPr/>
        </p:nvSpPr>
        <p:spPr>
          <a:xfrm>
            <a:off x="8174736" y="2468880"/>
            <a:ext cx="3118104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555B66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одним YAML-блоком, без зміни коду</a:t>
            </a:r>
            <a:endParaRPr lang="en-US" sz="1200" dirty="0"/>
          </a:p>
        </p:txBody>
      </p:sp>
      <p:sp>
        <p:nvSpPr>
          <p:cNvPr id="22" name="Shape 19"/>
          <p:cNvSpPr/>
          <p:nvPr/>
        </p:nvSpPr>
        <p:spPr>
          <a:xfrm>
            <a:off x="566928" y="3520440"/>
            <a:ext cx="3520440" cy="1463040"/>
          </a:xfrm>
          <a:prstGeom prst="roundRect">
            <a:avLst>
              <a:gd name="adj" fmla="val 7500"/>
            </a:avLst>
          </a:prstGeom>
          <a:solidFill>
            <a:srgbClr val="FFFFFF"/>
          </a:solidFill>
          <a:ln w="12700">
            <a:solidFill>
              <a:srgbClr val="E6E7EC"/>
            </a:solidFill>
            <a:prstDash val="solid"/>
          </a:ln>
        </p:spPr>
      </p:sp>
      <p:sp>
        <p:nvSpPr>
          <p:cNvPr id="23" name="Shape 20"/>
          <p:cNvSpPr/>
          <p:nvPr/>
        </p:nvSpPr>
        <p:spPr>
          <a:xfrm>
            <a:off x="768096" y="370332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24" name="Text 21"/>
          <p:cNvSpPr/>
          <p:nvPr/>
        </p:nvSpPr>
        <p:spPr>
          <a:xfrm>
            <a:off x="768096" y="370332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4</a:t>
            </a:r>
            <a:endParaRPr lang="en-US" sz="1200" dirty="0"/>
          </a:p>
        </p:txBody>
      </p:sp>
      <p:sp>
        <p:nvSpPr>
          <p:cNvPr id="25" name="Text 22"/>
          <p:cNvSpPr/>
          <p:nvPr/>
        </p:nvSpPr>
        <p:spPr>
          <a:xfrm>
            <a:off x="1280160" y="367588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Розрізнити alias і snapshot</a:t>
            </a:r>
            <a:endParaRPr lang="en-US" sz="1450" dirty="0"/>
          </a:p>
        </p:txBody>
      </p:sp>
      <p:sp>
        <p:nvSpPr>
          <p:cNvPr id="26" name="Text 23"/>
          <p:cNvSpPr/>
          <p:nvPr/>
        </p:nvSpPr>
        <p:spPr>
          <a:xfrm>
            <a:off x="768096" y="4206240"/>
            <a:ext cx="3118104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555B66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і пояснити, чому модель пінять</a:t>
            </a:r>
            <a:endParaRPr lang="en-US" sz="1200" dirty="0"/>
          </a:p>
        </p:txBody>
      </p:sp>
      <p:sp>
        <p:nvSpPr>
          <p:cNvPr id="27" name="Shape 24"/>
          <p:cNvSpPr/>
          <p:nvPr/>
        </p:nvSpPr>
        <p:spPr>
          <a:xfrm>
            <a:off x="4270248" y="3520440"/>
            <a:ext cx="3520440" cy="1463040"/>
          </a:xfrm>
          <a:prstGeom prst="roundRect">
            <a:avLst>
              <a:gd name="adj" fmla="val 7500"/>
            </a:avLst>
          </a:prstGeom>
          <a:solidFill>
            <a:srgbClr val="FFFFFF"/>
          </a:solidFill>
          <a:ln w="12700">
            <a:solidFill>
              <a:srgbClr val="E6E7EC"/>
            </a:solidFill>
            <a:prstDash val="solid"/>
          </a:ln>
        </p:spPr>
      </p:sp>
      <p:sp>
        <p:nvSpPr>
          <p:cNvPr id="28" name="Shape 25"/>
          <p:cNvSpPr/>
          <p:nvPr/>
        </p:nvSpPr>
        <p:spPr>
          <a:xfrm>
            <a:off x="4471416" y="370332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29" name="Text 26"/>
          <p:cNvSpPr/>
          <p:nvPr/>
        </p:nvSpPr>
        <p:spPr>
          <a:xfrm>
            <a:off x="4471416" y="370332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5</a:t>
            </a:r>
            <a:endParaRPr lang="en-US" sz="1200" dirty="0"/>
          </a:p>
        </p:txBody>
      </p:sp>
      <p:sp>
        <p:nvSpPr>
          <p:cNvPr id="30" name="Text 27"/>
          <p:cNvSpPr/>
          <p:nvPr/>
        </p:nvSpPr>
        <p:spPr>
          <a:xfrm>
            <a:off x="4983480" y="367588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Записати fallback-порядок</a:t>
            </a:r>
            <a:endParaRPr lang="en-US" sz="1450" dirty="0"/>
          </a:p>
        </p:txBody>
      </p:sp>
      <p:sp>
        <p:nvSpPr>
          <p:cNvPr id="31" name="Text 28"/>
          <p:cNvSpPr/>
          <p:nvPr/>
        </p:nvSpPr>
        <p:spPr>
          <a:xfrm>
            <a:off x="4471416" y="4206240"/>
            <a:ext cx="3118104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555B66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політика, що оживе на тижні 4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68735" y="643737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9AA1AD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2</a:t>
            </a:fld>
            <a:endParaRPr lang="en-US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84048"/>
            <a:ext cx="6839712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Маршрут на сьогодні</a:t>
            </a:r>
            <a:endParaRPr lang="en-US" sz="2400" dirty="0"/>
          </a:p>
        </p:txBody>
      </p:sp>
      <p:sp>
        <p:nvSpPr>
          <p:cNvPr id="3" name="Shape 1"/>
          <p:cNvSpPr/>
          <p:nvPr/>
        </p:nvSpPr>
        <p:spPr>
          <a:xfrm>
            <a:off x="566928" y="1024128"/>
            <a:ext cx="777240" cy="256032"/>
          </a:xfrm>
          <a:prstGeom prst="roundRect">
            <a:avLst>
              <a:gd name="adj" fmla="val 50000"/>
            </a:avLst>
          </a:prstGeom>
          <a:solidFill>
            <a:srgbClr val="5A05F4"/>
          </a:solidFill>
          <a:ln/>
        </p:spPr>
      </p:sp>
      <p:sp>
        <p:nvSpPr>
          <p:cNvPr id="4" name="Text 2"/>
          <p:cNvSpPr/>
          <p:nvPr/>
        </p:nvSpPr>
        <p:spPr>
          <a:xfrm>
            <a:off x="566928" y="1024128"/>
            <a:ext cx="777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ТЕОРІЯ</a:t>
            </a:r>
            <a:endParaRPr lang="en-US" sz="900" dirty="0"/>
          </a:p>
        </p:txBody>
      </p:sp>
      <p:pic>
        <p:nvPicPr>
          <p:cNvPr id="5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6254496"/>
            <a:ext cx="1481328" cy="457200"/>
          </a:xfrm>
          <a:prstGeom prst="rect">
            <a:avLst/>
          </a:prstGeom>
        </p:spPr>
      </p:pic>
      <p:sp>
        <p:nvSpPr>
          <p:cNvPr id="6" name="Shape 3"/>
          <p:cNvSpPr/>
          <p:nvPr/>
        </p:nvSpPr>
        <p:spPr>
          <a:xfrm>
            <a:off x="566928" y="1645920"/>
            <a:ext cx="3520440" cy="868680"/>
          </a:xfrm>
          <a:prstGeom prst="roundRect">
            <a:avLst>
              <a:gd name="adj" fmla="val 12632"/>
            </a:avLst>
          </a:prstGeom>
          <a:solidFill>
            <a:srgbClr val="FFFFFF"/>
          </a:solidFill>
          <a:ln w="12700">
            <a:solidFill>
              <a:srgbClr val="E6E7EC"/>
            </a:solidFill>
            <a:prstDash val="solid"/>
          </a:ln>
        </p:spPr>
      </p:sp>
      <p:sp>
        <p:nvSpPr>
          <p:cNvPr id="7" name="Shape 4"/>
          <p:cNvSpPr/>
          <p:nvPr/>
        </p:nvSpPr>
        <p:spPr>
          <a:xfrm>
            <a:off x="768096" y="182880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8" name="Text 5"/>
          <p:cNvSpPr/>
          <p:nvPr/>
        </p:nvSpPr>
        <p:spPr>
          <a:xfrm>
            <a:off x="768096" y="18288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01</a:t>
            </a:r>
            <a:endParaRPr lang="en-US" sz="1200" dirty="0"/>
          </a:p>
        </p:txBody>
      </p:sp>
      <p:sp>
        <p:nvSpPr>
          <p:cNvPr id="9" name="Text 6"/>
          <p:cNvSpPr/>
          <p:nvPr/>
        </p:nvSpPr>
        <p:spPr>
          <a:xfrm>
            <a:off x="1280160" y="180136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Три біди однієї моделі</a:t>
            </a:r>
            <a:endParaRPr lang="en-US" sz="1450" dirty="0"/>
          </a:p>
        </p:txBody>
      </p:sp>
      <p:sp>
        <p:nvSpPr>
          <p:cNvPr id="10" name="Shape 7"/>
          <p:cNvSpPr/>
          <p:nvPr/>
        </p:nvSpPr>
        <p:spPr>
          <a:xfrm>
            <a:off x="4270248" y="1645920"/>
            <a:ext cx="3520440" cy="868680"/>
          </a:xfrm>
          <a:prstGeom prst="roundRect">
            <a:avLst>
              <a:gd name="adj" fmla="val 12632"/>
            </a:avLst>
          </a:prstGeom>
          <a:solidFill>
            <a:srgbClr val="FFFFFF"/>
          </a:solidFill>
          <a:ln w="12700">
            <a:solidFill>
              <a:srgbClr val="E6E7EC"/>
            </a:solidFill>
            <a:prstDash val="solid"/>
          </a:ln>
        </p:spPr>
      </p:sp>
      <p:sp>
        <p:nvSpPr>
          <p:cNvPr id="11" name="Shape 8"/>
          <p:cNvSpPr/>
          <p:nvPr/>
        </p:nvSpPr>
        <p:spPr>
          <a:xfrm>
            <a:off x="4471416" y="182880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12" name="Text 9"/>
          <p:cNvSpPr/>
          <p:nvPr/>
        </p:nvSpPr>
        <p:spPr>
          <a:xfrm>
            <a:off x="4471416" y="18288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02</a:t>
            </a:r>
            <a:endParaRPr lang="en-US" sz="1200" dirty="0"/>
          </a:p>
        </p:txBody>
      </p:sp>
      <p:sp>
        <p:nvSpPr>
          <p:cNvPr id="13" name="Text 10"/>
          <p:cNvSpPr/>
          <p:nvPr/>
        </p:nvSpPr>
        <p:spPr>
          <a:xfrm>
            <a:off x="4983480" y="180136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Сервіс вирішує, адаптер виконує</a:t>
            </a:r>
            <a:endParaRPr lang="en-US" sz="1450" dirty="0"/>
          </a:p>
        </p:txBody>
      </p:sp>
      <p:sp>
        <p:nvSpPr>
          <p:cNvPr id="14" name="Shape 11"/>
          <p:cNvSpPr/>
          <p:nvPr/>
        </p:nvSpPr>
        <p:spPr>
          <a:xfrm>
            <a:off x="7973568" y="1645920"/>
            <a:ext cx="3520440" cy="868680"/>
          </a:xfrm>
          <a:prstGeom prst="roundRect">
            <a:avLst>
              <a:gd name="adj" fmla="val 12632"/>
            </a:avLst>
          </a:prstGeom>
          <a:solidFill>
            <a:srgbClr val="FFFFFF"/>
          </a:solidFill>
          <a:ln w="12700">
            <a:solidFill>
              <a:srgbClr val="E6E7EC"/>
            </a:solidFill>
            <a:prstDash val="solid"/>
          </a:ln>
        </p:spPr>
      </p:sp>
      <p:sp>
        <p:nvSpPr>
          <p:cNvPr id="15" name="Shape 12"/>
          <p:cNvSpPr/>
          <p:nvPr/>
        </p:nvSpPr>
        <p:spPr>
          <a:xfrm>
            <a:off x="8174736" y="182880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16" name="Text 13"/>
          <p:cNvSpPr/>
          <p:nvPr/>
        </p:nvSpPr>
        <p:spPr>
          <a:xfrm>
            <a:off x="8174736" y="18288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03</a:t>
            </a:r>
            <a:endParaRPr lang="en-US" sz="1200" dirty="0"/>
          </a:p>
        </p:txBody>
      </p:sp>
      <p:sp>
        <p:nvSpPr>
          <p:cNvPr id="17" name="Text 14"/>
          <p:cNvSpPr/>
          <p:nvPr/>
        </p:nvSpPr>
        <p:spPr>
          <a:xfrm>
            <a:off x="8686800" y="180136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Розтин конфіга; alias vs snapshot</a:t>
            </a:r>
            <a:endParaRPr lang="en-US" sz="1450" dirty="0"/>
          </a:p>
        </p:txBody>
      </p:sp>
      <p:sp>
        <p:nvSpPr>
          <p:cNvPr id="18" name="Shape 15"/>
          <p:cNvSpPr/>
          <p:nvPr/>
        </p:nvSpPr>
        <p:spPr>
          <a:xfrm>
            <a:off x="566928" y="2697480"/>
            <a:ext cx="3520440" cy="868680"/>
          </a:xfrm>
          <a:prstGeom prst="roundRect">
            <a:avLst>
              <a:gd name="adj" fmla="val 12632"/>
            </a:avLst>
          </a:prstGeom>
          <a:solidFill>
            <a:srgbClr val="FFFFFF"/>
          </a:solidFill>
          <a:ln w="12700">
            <a:solidFill>
              <a:srgbClr val="E6E7EC"/>
            </a:solidFill>
            <a:prstDash val="solid"/>
          </a:ln>
        </p:spPr>
      </p:sp>
      <p:sp>
        <p:nvSpPr>
          <p:cNvPr id="19" name="Shape 16"/>
          <p:cNvSpPr/>
          <p:nvPr/>
        </p:nvSpPr>
        <p:spPr>
          <a:xfrm>
            <a:off x="768096" y="288036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20" name="Text 17"/>
          <p:cNvSpPr/>
          <p:nvPr/>
        </p:nvSpPr>
        <p:spPr>
          <a:xfrm>
            <a:off x="768096" y="288036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04</a:t>
            </a:r>
            <a:endParaRPr lang="en-US" sz="1200" dirty="0"/>
          </a:p>
        </p:txBody>
      </p:sp>
      <p:sp>
        <p:nvSpPr>
          <p:cNvPr id="21" name="Text 18"/>
          <p:cNvSpPr/>
          <p:nvPr/>
        </p:nvSpPr>
        <p:spPr>
          <a:xfrm>
            <a:off x="1280160" y="285292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Route(): одна точка рішення</a:t>
            </a:r>
            <a:endParaRPr lang="en-US" sz="1450" dirty="0"/>
          </a:p>
        </p:txBody>
      </p:sp>
      <p:sp>
        <p:nvSpPr>
          <p:cNvPr id="22" name="Shape 19"/>
          <p:cNvSpPr/>
          <p:nvPr/>
        </p:nvSpPr>
        <p:spPr>
          <a:xfrm>
            <a:off x="4270248" y="2697480"/>
            <a:ext cx="3520440" cy="868680"/>
          </a:xfrm>
          <a:prstGeom prst="roundRect">
            <a:avLst>
              <a:gd name="adj" fmla="val 12632"/>
            </a:avLst>
          </a:prstGeom>
          <a:solidFill>
            <a:srgbClr val="FFFFFF"/>
          </a:solidFill>
          <a:ln w="12700">
            <a:solidFill>
              <a:srgbClr val="E6E7EC"/>
            </a:solidFill>
            <a:prstDash val="solid"/>
          </a:ln>
        </p:spPr>
      </p:sp>
      <p:sp>
        <p:nvSpPr>
          <p:cNvPr id="23" name="Shape 20"/>
          <p:cNvSpPr/>
          <p:nvPr/>
        </p:nvSpPr>
        <p:spPr>
          <a:xfrm>
            <a:off x="4471416" y="288036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24" name="Text 21"/>
          <p:cNvSpPr/>
          <p:nvPr/>
        </p:nvSpPr>
        <p:spPr>
          <a:xfrm>
            <a:off x="4471416" y="288036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05</a:t>
            </a:r>
            <a:endParaRPr lang="en-US" sz="1200" dirty="0"/>
          </a:p>
        </p:txBody>
      </p:sp>
      <p:sp>
        <p:nvSpPr>
          <p:cNvPr id="25" name="Text 22"/>
          <p:cNvSpPr/>
          <p:nvPr/>
        </p:nvSpPr>
        <p:spPr>
          <a:xfrm>
            <a:off x="4983480" y="285292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Маршрут за задачею</a:t>
            </a:r>
            <a:endParaRPr lang="en-US" sz="1450" dirty="0"/>
          </a:p>
        </p:txBody>
      </p:sp>
      <p:sp>
        <p:nvSpPr>
          <p:cNvPr id="26" name="Shape 23"/>
          <p:cNvSpPr/>
          <p:nvPr/>
        </p:nvSpPr>
        <p:spPr>
          <a:xfrm>
            <a:off x="7973568" y="2697480"/>
            <a:ext cx="3520440" cy="868680"/>
          </a:xfrm>
          <a:prstGeom prst="roundRect">
            <a:avLst>
              <a:gd name="adj" fmla="val 12632"/>
            </a:avLst>
          </a:prstGeom>
          <a:solidFill>
            <a:srgbClr val="FFFFFF"/>
          </a:solidFill>
          <a:ln w="12700">
            <a:solidFill>
              <a:srgbClr val="E6E7EC"/>
            </a:solidFill>
            <a:prstDash val="solid"/>
          </a:ln>
        </p:spPr>
      </p:sp>
      <p:sp>
        <p:nvSpPr>
          <p:cNvPr id="27" name="Shape 24"/>
          <p:cNvSpPr/>
          <p:nvPr/>
        </p:nvSpPr>
        <p:spPr>
          <a:xfrm>
            <a:off x="8174736" y="288036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28" name="Text 25"/>
          <p:cNvSpPr/>
          <p:nvPr/>
        </p:nvSpPr>
        <p:spPr>
          <a:xfrm>
            <a:off x="8174736" y="288036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06</a:t>
            </a:r>
            <a:endParaRPr lang="en-US" sz="1200" dirty="0"/>
          </a:p>
        </p:txBody>
      </p:sp>
      <p:sp>
        <p:nvSpPr>
          <p:cNvPr id="29" name="Text 26"/>
          <p:cNvSpPr/>
          <p:nvPr/>
        </p:nvSpPr>
        <p:spPr>
          <a:xfrm>
            <a:off x="8686800" y="285292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Ціна самого рішення</a:t>
            </a:r>
            <a:endParaRPr lang="en-US" sz="1450" dirty="0"/>
          </a:p>
        </p:txBody>
      </p:sp>
      <p:sp>
        <p:nvSpPr>
          <p:cNvPr id="30" name="Shape 27"/>
          <p:cNvSpPr/>
          <p:nvPr/>
        </p:nvSpPr>
        <p:spPr>
          <a:xfrm>
            <a:off x="566928" y="3749040"/>
            <a:ext cx="3520440" cy="868680"/>
          </a:xfrm>
          <a:prstGeom prst="roundRect">
            <a:avLst>
              <a:gd name="adj" fmla="val 12632"/>
            </a:avLst>
          </a:prstGeom>
          <a:solidFill>
            <a:srgbClr val="FFFFFF"/>
          </a:solidFill>
          <a:ln w="12700">
            <a:solidFill>
              <a:srgbClr val="E6E7EC"/>
            </a:solidFill>
            <a:prstDash val="solid"/>
          </a:ln>
        </p:spPr>
      </p:sp>
      <p:sp>
        <p:nvSpPr>
          <p:cNvPr id="31" name="Shape 28"/>
          <p:cNvSpPr/>
          <p:nvPr/>
        </p:nvSpPr>
        <p:spPr>
          <a:xfrm>
            <a:off x="768096" y="393192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32" name="Text 29"/>
          <p:cNvSpPr/>
          <p:nvPr/>
        </p:nvSpPr>
        <p:spPr>
          <a:xfrm>
            <a:off x="768096" y="393192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07</a:t>
            </a:r>
            <a:endParaRPr lang="en-US" sz="1200" dirty="0"/>
          </a:p>
        </p:txBody>
      </p:sp>
      <p:sp>
        <p:nvSpPr>
          <p:cNvPr id="33" name="Text 30"/>
          <p:cNvSpPr/>
          <p:nvPr/>
        </p:nvSpPr>
        <p:spPr>
          <a:xfrm>
            <a:off x="1280160" y="390448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Fallback-порядок як політика</a:t>
            </a:r>
            <a:endParaRPr lang="en-US" sz="1450" dirty="0"/>
          </a:p>
        </p:txBody>
      </p:sp>
      <p:sp>
        <p:nvSpPr>
          <p:cNvPr id="34" name="Shape 31"/>
          <p:cNvSpPr/>
          <p:nvPr/>
        </p:nvSpPr>
        <p:spPr>
          <a:xfrm>
            <a:off x="4270248" y="3749040"/>
            <a:ext cx="3520440" cy="868680"/>
          </a:xfrm>
          <a:prstGeom prst="roundRect">
            <a:avLst>
              <a:gd name="adj" fmla="val 12632"/>
            </a:avLst>
          </a:prstGeom>
          <a:solidFill>
            <a:srgbClr val="FFFFFF"/>
          </a:solidFill>
          <a:ln w="12700">
            <a:solidFill>
              <a:srgbClr val="E6E7EC"/>
            </a:solidFill>
            <a:prstDash val="solid"/>
          </a:ln>
        </p:spPr>
      </p:sp>
      <p:sp>
        <p:nvSpPr>
          <p:cNvPr id="35" name="Shape 32"/>
          <p:cNvSpPr/>
          <p:nvPr/>
        </p:nvSpPr>
        <p:spPr>
          <a:xfrm>
            <a:off x="4471416" y="393192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36" name="Text 33"/>
          <p:cNvSpPr/>
          <p:nvPr/>
        </p:nvSpPr>
        <p:spPr>
          <a:xfrm>
            <a:off x="4471416" y="393192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08</a:t>
            </a:r>
            <a:endParaRPr lang="en-US" sz="1200" dirty="0"/>
          </a:p>
        </p:txBody>
      </p:sp>
      <p:sp>
        <p:nvSpPr>
          <p:cNvPr id="37" name="Text 34"/>
          <p:cNvSpPr/>
          <p:nvPr/>
        </p:nvSpPr>
        <p:spPr>
          <a:xfrm>
            <a:off x="4983480" y="390448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Додати провайдера без коду</a:t>
            </a:r>
            <a:endParaRPr lang="en-US" sz="1450" dirty="0"/>
          </a:p>
        </p:txBody>
      </p:sp>
      <p:sp>
        <p:nvSpPr>
          <p:cNvPr id="38" name="Shape 35"/>
          <p:cNvSpPr/>
          <p:nvPr/>
        </p:nvSpPr>
        <p:spPr>
          <a:xfrm>
            <a:off x="7973568" y="3749040"/>
            <a:ext cx="3520440" cy="868680"/>
          </a:xfrm>
          <a:prstGeom prst="roundRect">
            <a:avLst>
              <a:gd name="adj" fmla="val 12632"/>
            </a:avLst>
          </a:prstGeom>
          <a:solidFill>
            <a:srgbClr val="F8F0E2"/>
          </a:solidFill>
          <a:ln/>
        </p:spPr>
      </p:sp>
      <p:sp>
        <p:nvSpPr>
          <p:cNvPr id="39" name="Shape 36"/>
          <p:cNvSpPr/>
          <p:nvPr/>
        </p:nvSpPr>
        <p:spPr>
          <a:xfrm>
            <a:off x="8174736" y="3931920"/>
            <a:ext cx="384048" cy="384048"/>
          </a:xfrm>
          <a:prstGeom prst="ellipse">
            <a:avLst/>
          </a:prstGeom>
          <a:solidFill>
            <a:srgbClr val="9A5B12"/>
          </a:solidFill>
          <a:ln/>
        </p:spPr>
      </p:sp>
      <p:sp>
        <p:nvSpPr>
          <p:cNvPr id="40" name="Text 37"/>
          <p:cNvSpPr/>
          <p:nvPr/>
        </p:nvSpPr>
        <p:spPr>
          <a:xfrm>
            <a:off x="8174736" y="393192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8F0E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09</a:t>
            </a:r>
            <a:endParaRPr lang="en-US" sz="1200" dirty="0"/>
          </a:p>
        </p:txBody>
      </p:sp>
      <p:sp>
        <p:nvSpPr>
          <p:cNvPr id="41" name="Text 38"/>
          <p:cNvSpPr/>
          <p:nvPr/>
        </p:nvSpPr>
        <p:spPr>
          <a:xfrm>
            <a:off x="8686800" y="390448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9A5B12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Tier-система · опційно</a:t>
            </a:r>
            <a:endParaRPr lang="en-US" sz="1450" dirty="0"/>
          </a:p>
        </p:txBody>
      </p:sp>
      <p:sp>
        <p:nvSpPr>
          <p:cNvPr id="42" name="Shape 39"/>
          <p:cNvSpPr/>
          <p:nvPr/>
        </p:nvSpPr>
        <p:spPr>
          <a:xfrm>
            <a:off x="566928" y="4800600"/>
            <a:ext cx="3520440" cy="868680"/>
          </a:xfrm>
          <a:prstGeom prst="roundRect">
            <a:avLst>
              <a:gd name="adj" fmla="val 12632"/>
            </a:avLst>
          </a:prstGeom>
          <a:solidFill>
            <a:srgbClr val="FFFFFF"/>
          </a:solidFill>
          <a:ln w="12700">
            <a:solidFill>
              <a:srgbClr val="E6E7EC"/>
            </a:solidFill>
            <a:prstDash val="solid"/>
          </a:ln>
        </p:spPr>
      </p:sp>
      <p:sp>
        <p:nvSpPr>
          <p:cNvPr id="43" name="Shape 40"/>
          <p:cNvSpPr/>
          <p:nvPr/>
        </p:nvSpPr>
        <p:spPr>
          <a:xfrm>
            <a:off x="768096" y="498348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44" name="Text 41"/>
          <p:cNvSpPr/>
          <p:nvPr/>
        </p:nvSpPr>
        <p:spPr>
          <a:xfrm>
            <a:off x="768096" y="498348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10</a:t>
            </a:r>
            <a:endParaRPr lang="en-US" sz="1200" dirty="0"/>
          </a:p>
        </p:txBody>
      </p:sp>
      <p:sp>
        <p:nvSpPr>
          <p:cNvPr id="45" name="Text 42"/>
          <p:cNvSpPr/>
          <p:nvPr/>
        </p:nvSpPr>
        <p:spPr>
          <a:xfrm>
            <a:off x="1280160" y="495604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Лабораторна</a:t>
            </a:r>
            <a:endParaRPr lang="en-US" sz="1450" dirty="0"/>
          </a:p>
        </p:txBody>
      </p:sp>
      <p:sp>
        <p:nvSpPr>
          <p:cNvPr id="46" name="Shape 43"/>
          <p:cNvSpPr/>
          <p:nvPr/>
        </p:nvSpPr>
        <p:spPr>
          <a:xfrm>
            <a:off x="4270248" y="4800600"/>
            <a:ext cx="3520440" cy="868680"/>
          </a:xfrm>
          <a:prstGeom prst="roundRect">
            <a:avLst>
              <a:gd name="adj" fmla="val 12632"/>
            </a:avLst>
          </a:prstGeom>
          <a:solidFill>
            <a:srgbClr val="FFFFFF"/>
          </a:solidFill>
          <a:ln w="12700">
            <a:solidFill>
              <a:srgbClr val="E6E7EC"/>
            </a:solidFill>
            <a:prstDash val="solid"/>
          </a:ln>
        </p:spPr>
      </p:sp>
      <p:sp>
        <p:nvSpPr>
          <p:cNvPr id="47" name="Shape 44"/>
          <p:cNvSpPr/>
          <p:nvPr/>
        </p:nvSpPr>
        <p:spPr>
          <a:xfrm>
            <a:off x="4471416" y="498348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48" name="Text 45"/>
          <p:cNvSpPr/>
          <p:nvPr/>
        </p:nvSpPr>
        <p:spPr>
          <a:xfrm>
            <a:off x="4471416" y="498348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11</a:t>
            </a:r>
            <a:endParaRPr lang="en-US" sz="1200" dirty="0"/>
          </a:p>
        </p:txBody>
      </p:sp>
      <p:sp>
        <p:nvSpPr>
          <p:cNvPr id="49" name="Text 46"/>
          <p:cNvSpPr/>
          <p:nvPr/>
        </p:nvSpPr>
        <p:spPr>
          <a:xfrm>
            <a:off x="4983480" y="495604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Антипатерни</a:t>
            </a:r>
            <a:endParaRPr lang="en-US" sz="1450" dirty="0"/>
          </a:p>
        </p:txBody>
      </p:sp>
      <p:sp>
        <p:nvSpPr>
          <p:cNvPr id="50" name="Shape 47"/>
          <p:cNvSpPr/>
          <p:nvPr/>
        </p:nvSpPr>
        <p:spPr>
          <a:xfrm>
            <a:off x="566928" y="5779008"/>
            <a:ext cx="11064240" cy="402336"/>
          </a:xfrm>
          <a:prstGeom prst="roundRect">
            <a:avLst>
              <a:gd name="adj" fmla="val 27273"/>
            </a:avLst>
          </a:prstGeom>
          <a:solidFill>
            <a:srgbClr val="FFFFFF"/>
          </a:solidFill>
          <a:ln w="12700">
            <a:solidFill>
              <a:srgbClr val="E6E7EC"/>
            </a:solidFill>
            <a:prstDash val="solid"/>
          </a:ln>
        </p:spPr>
      </p:sp>
      <p:sp>
        <p:nvSpPr>
          <p:cNvPr id="51" name="Text 48"/>
          <p:cNvSpPr/>
          <p:nvPr/>
        </p:nvSpPr>
        <p:spPr>
          <a:xfrm>
            <a:off x="786384" y="5925312"/>
            <a:ext cx="10625328" cy="1097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Від «одна модель на все» — до розведеного трафіку, який видно в базі.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68735" y="643737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9AA1AD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3</a:t>
            </a:fld>
            <a:endParaRPr lang="en-US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84048"/>
            <a:ext cx="6839712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Терміни, якими користуватимемось</a:t>
            </a:r>
            <a:endParaRPr lang="en-US" sz="2400" dirty="0"/>
          </a:p>
        </p:txBody>
      </p:sp>
      <p:sp>
        <p:nvSpPr>
          <p:cNvPr id="3" name="Text 1"/>
          <p:cNvSpPr/>
          <p:nvPr/>
        </p:nvSpPr>
        <p:spPr>
          <a:xfrm>
            <a:off x="566928" y="1005840"/>
            <a:ext cx="683971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1300" dirty="0">
                <a:solidFill>
                  <a:srgbClr val="555B66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Шість слів сьогоднішнього уроку</a:t>
            </a:r>
            <a:endParaRPr lang="en-US" sz="1300" dirty="0"/>
          </a:p>
        </p:txBody>
      </p:sp>
      <p:sp>
        <p:nvSpPr>
          <p:cNvPr id="4" name="Shape 2"/>
          <p:cNvSpPr/>
          <p:nvPr/>
        </p:nvSpPr>
        <p:spPr>
          <a:xfrm>
            <a:off x="566928" y="1271016"/>
            <a:ext cx="777240" cy="256032"/>
          </a:xfrm>
          <a:prstGeom prst="roundRect">
            <a:avLst>
              <a:gd name="adj" fmla="val 50000"/>
            </a:avLst>
          </a:prstGeom>
          <a:solidFill>
            <a:srgbClr val="5A05F4"/>
          </a:solidFill>
          <a:ln/>
        </p:spPr>
      </p:sp>
      <p:sp>
        <p:nvSpPr>
          <p:cNvPr id="5" name="Text 3"/>
          <p:cNvSpPr/>
          <p:nvPr/>
        </p:nvSpPr>
        <p:spPr>
          <a:xfrm>
            <a:off x="566928" y="1271016"/>
            <a:ext cx="777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ТЕОРІЯ</a:t>
            </a:r>
            <a:endParaRPr lang="en-US" sz="900" dirty="0"/>
          </a:p>
        </p:txBody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6254496"/>
            <a:ext cx="1481328" cy="457200"/>
          </a:xfrm>
          <a:prstGeom prst="rect">
            <a:avLst/>
          </a:prstGeom>
        </p:spPr>
      </p:pic>
      <p:sp>
        <p:nvSpPr>
          <p:cNvPr id="7" name="Shape 4"/>
          <p:cNvSpPr/>
          <p:nvPr/>
        </p:nvSpPr>
        <p:spPr>
          <a:xfrm>
            <a:off x="566928" y="1783080"/>
            <a:ext cx="3553968" cy="1188720"/>
          </a:xfrm>
          <a:prstGeom prst="round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E6E7EC"/>
            </a:solidFill>
            <a:prstDash val="solid"/>
          </a:ln>
        </p:spPr>
      </p:sp>
      <p:sp>
        <p:nvSpPr>
          <p:cNvPr id="8" name="Text 5"/>
          <p:cNvSpPr/>
          <p:nvPr/>
        </p:nvSpPr>
        <p:spPr>
          <a:xfrm>
            <a:off x="749808" y="1892808"/>
            <a:ext cx="318820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gateway-адаптер</a:t>
            </a:r>
            <a:endParaRPr lang="en-US" sz="1250" dirty="0"/>
          </a:p>
        </p:txBody>
      </p:sp>
      <p:sp>
        <p:nvSpPr>
          <p:cNvPr id="9" name="Text 6"/>
          <p:cNvSpPr/>
          <p:nvPr/>
        </p:nvSpPr>
        <p:spPr>
          <a:xfrm>
            <a:off x="749808" y="2203704"/>
            <a:ext cx="3188208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150" dirty="0">
                <a:solidFill>
                  <a:srgbClr val="555B66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єдиний вихід до провайдерів: виклик, ключі, згладжування API</a:t>
            </a:r>
            <a:endParaRPr lang="en-US" sz="1150" dirty="0"/>
          </a:p>
        </p:txBody>
      </p:sp>
      <p:sp>
        <p:nvSpPr>
          <p:cNvPr id="10" name="Shape 7"/>
          <p:cNvSpPr/>
          <p:nvPr/>
        </p:nvSpPr>
        <p:spPr>
          <a:xfrm>
            <a:off x="4322064" y="1783080"/>
            <a:ext cx="3553968" cy="1188720"/>
          </a:xfrm>
          <a:prstGeom prst="round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E6E7EC"/>
            </a:solidFill>
            <a:prstDash val="solid"/>
          </a:ln>
        </p:spPr>
      </p:sp>
      <p:sp>
        <p:nvSpPr>
          <p:cNvPr id="11" name="Text 8"/>
          <p:cNvSpPr/>
          <p:nvPr/>
        </p:nvSpPr>
        <p:spPr>
          <a:xfrm>
            <a:off x="4504944" y="1892808"/>
            <a:ext cx="318820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роутер · Route()</a:t>
            </a:r>
            <a:endParaRPr lang="en-US" sz="1250" dirty="0"/>
          </a:p>
        </p:txBody>
      </p:sp>
      <p:sp>
        <p:nvSpPr>
          <p:cNvPr id="12" name="Text 9"/>
          <p:cNvSpPr/>
          <p:nvPr/>
        </p:nvSpPr>
        <p:spPr>
          <a:xfrm>
            <a:off x="4504944" y="2203704"/>
            <a:ext cx="3188208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150" dirty="0">
                <a:solidFill>
                  <a:srgbClr val="555B66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точка рішення в сервісі: повідомлення → ім'я моделі</a:t>
            </a:r>
            <a:endParaRPr lang="en-US" sz="1150" dirty="0"/>
          </a:p>
        </p:txBody>
      </p:sp>
      <p:sp>
        <p:nvSpPr>
          <p:cNvPr id="13" name="Shape 10"/>
          <p:cNvSpPr/>
          <p:nvPr/>
        </p:nvSpPr>
        <p:spPr>
          <a:xfrm>
            <a:off x="8077200" y="1783080"/>
            <a:ext cx="3553968" cy="1188720"/>
          </a:xfrm>
          <a:prstGeom prst="round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E6E7EC"/>
            </a:solidFill>
            <a:prstDash val="solid"/>
          </a:ln>
        </p:spPr>
      </p:sp>
      <p:sp>
        <p:nvSpPr>
          <p:cNvPr id="14" name="Text 11"/>
          <p:cNvSpPr/>
          <p:nvPr/>
        </p:nvSpPr>
        <p:spPr>
          <a:xfrm>
            <a:off x="8260080" y="1892808"/>
            <a:ext cx="318820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alias</a:t>
            </a:r>
            <a:endParaRPr lang="en-US" sz="1250" dirty="0"/>
          </a:p>
        </p:txBody>
      </p:sp>
      <p:sp>
        <p:nvSpPr>
          <p:cNvPr id="15" name="Text 12"/>
          <p:cNvSpPr/>
          <p:nvPr/>
        </p:nvSpPr>
        <p:spPr>
          <a:xfrm>
            <a:off x="8260080" y="2203704"/>
            <a:ext cx="3188208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150" dirty="0">
                <a:solidFill>
                  <a:srgbClr val="555B66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рухома назва «остання версія сімейства»</a:t>
            </a:r>
            <a:endParaRPr lang="en-US" sz="1150" dirty="0"/>
          </a:p>
        </p:txBody>
      </p:sp>
      <p:sp>
        <p:nvSpPr>
          <p:cNvPr id="16" name="Shape 13"/>
          <p:cNvSpPr/>
          <p:nvPr/>
        </p:nvSpPr>
        <p:spPr>
          <a:xfrm>
            <a:off x="566928" y="3172968"/>
            <a:ext cx="3553968" cy="1188720"/>
          </a:xfrm>
          <a:prstGeom prst="round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E6E7EC"/>
            </a:solidFill>
            <a:prstDash val="solid"/>
          </a:ln>
        </p:spPr>
      </p:sp>
      <p:sp>
        <p:nvSpPr>
          <p:cNvPr id="17" name="Text 14"/>
          <p:cNvSpPr/>
          <p:nvPr/>
        </p:nvSpPr>
        <p:spPr>
          <a:xfrm>
            <a:off x="749808" y="3282696"/>
            <a:ext cx="318820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snapshot</a:t>
            </a:r>
            <a:endParaRPr lang="en-US" sz="1250" dirty="0"/>
          </a:p>
        </p:txBody>
      </p:sp>
      <p:sp>
        <p:nvSpPr>
          <p:cNvPr id="18" name="Text 15"/>
          <p:cNvSpPr/>
          <p:nvPr/>
        </p:nvSpPr>
        <p:spPr>
          <a:xfrm>
            <a:off x="749808" y="3593592"/>
            <a:ext cx="3188208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150" dirty="0">
                <a:solidFill>
                  <a:srgbClr val="555B66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зафіксована версія з датою чи ідентифікатором</a:t>
            </a:r>
            <a:endParaRPr lang="en-US" sz="1150" dirty="0"/>
          </a:p>
        </p:txBody>
      </p:sp>
      <p:sp>
        <p:nvSpPr>
          <p:cNvPr id="19" name="Shape 16"/>
          <p:cNvSpPr/>
          <p:nvPr/>
        </p:nvSpPr>
        <p:spPr>
          <a:xfrm>
            <a:off x="4322064" y="3172968"/>
            <a:ext cx="3553968" cy="1188720"/>
          </a:xfrm>
          <a:prstGeom prst="round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E6E7EC"/>
            </a:solidFill>
            <a:prstDash val="solid"/>
          </a:ln>
        </p:spPr>
      </p:sp>
      <p:sp>
        <p:nvSpPr>
          <p:cNvPr id="20" name="Text 17"/>
          <p:cNvSpPr/>
          <p:nvPr/>
        </p:nvSpPr>
        <p:spPr>
          <a:xfrm>
            <a:off x="4504944" y="3282696"/>
            <a:ext cx="318820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fallback-порядок</a:t>
            </a:r>
            <a:endParaRPr lang="en-US" sz="1250" dirty="0"/>
          </a:p>
        </p:txBody>
      </p:sp>
      <p:sp>
        <p:nvSpPr>
          <p:cNvPr id="21" name="Text 18"/>
          <p:cNvSpPr/>
          <p:nvPr/>
        </p:nvSpPr>
        <p:spPr>
          <a:xfrm>
            <a:off x="4504944" y="3593592"/>
            <a:ext cx="3188208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150" dirty="0">
                <a:solidFill>
                  <a:srgbClr val="555B66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оголошена черга моделей на випадок збою (механізм — W4)</a:t>
            </a:r>
            <a:endParaRPr lang="en-US" sz="1150" dirty="0"/>
          </a:p>
        </p:txBody>
      </p:sp>
      <p:sp>
        <p:nvSpPr>
          <p:cNvPr id="22" name="Shape 19"/>
          <p:cNvSpPr/>
          <p:nvPr/>
        </p:nvSpPr>
        <p:spPr>
          <a:xfrm>
            <a:off x="8077200" y="3172968"/>
            <a:ext cx="3553968" cy="1188720"/>
          </a:xfrm>
          <a:prstGeom prst="round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E6E7EC"/>
            </a:solidFill>
            <a:prstDash val="solid"/>
          </a:ln>
        </p:spPr>
      </p:sp>
      <p:sp>
        <p:nvSpPr>
          <p:cNvPr id="23" name="Text 20"/>
          <p:cNvSpPr/>
          <p:nvPr/>
        </p:nvSpPr>
        <p:spPr>
          <a:xfrm>
            <a:off x="8260080" y="3282696"/>
            <a:ext cx="318820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tier</a:t>
            </a:r>
            <a:endParaRPr lang="en-US" sz="1250" dirty="0"/>
          </a:p>
        </p:txBody>
      </p:sp>
      <p:sp>
        <p:nvSpPr>
          <p:cNvPr id="24" name="Text 21"/>
          <p:cNvSpPr/>
          <p:nvPr/>
        </p:nvSpPr>
        <p:spPr>
          <a:xfrm>
            <a:off x="8260080" y="3593592"/>
            <a:ext cx="3188208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150" dirty="0">
                <a:solidFill>
                  <a:srgbClr val="555B66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рівень обслуговування: які питання яку модель отримують</a:t>
            </a:r>
            <a:endParaRPr lang="en-US" sz="1150" dirty="0"/>
          </a:p>
        </p:txBody>
      </p:sp>
      <p:sp>
        <p:nvSpPr>
          <p:cNvPr id="25" name="Shape 22"/>
          <p:cNvSpPr/>
          <p:nvPr/>
        </p:nvSpPr>
        <p:spPr>
          <a:xfrm>
            <a:off x="566928" y="4526280"/>
            <a:ext cx="11064240" cy="777240"/>
          </a:xfrm>
          <a:prstGeom prst="roundRect">
            <a:avLst>
              <a:gd name="adj" fmla="val 14118"/>
            </a:avLst>
          </a:prstGeom>
          <a:solidFill>
            <a:srgbClr val="FFFFFF"/>
          </a:solidFill>
          <a:ln w="12700">
            <a:solidFill>
              <a:srgbClr val="E6E7EC"/>
            </a:solidFill>
            <a:prstDash val="solid"/>
          </a:ln>
        </p:spPr>
      </p:sp>
      <p:sp>
        <p:nvSpPr>
          <p:cNvPr id="26" name="Text 23"/>
          <p:cNvSpPr/>
          <p:nvPr/>
        </p:nvSpPr>
        <p:spPr>
          <a:xfrm>
            <a:off x="786384" y="4672584"/>
            <a:ext cx="10625328" cy="4846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Кожне розберемо на місці — тут вони лише щоб не спотикатися.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68735" y="643737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9AA1AD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4</a:t>
            </a:fld>
            <a:endParaRPr lang="en-US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402336"/>
            <a:ext cx="640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01</a:t>
            </a:r>
            <a:endParaRPr lang="en-US" sz="2600" dirty="0"/>
          </a:p>
        </p:txBody>
      </p:sp>
      <p:sp>
        <p:nvSpPr>
          <p:cNvPr id="3" name="Text 1"/>
          <p:cNvSpPr/>
          <p:nvPr/>
        </p:nvSpPr>
        <p:spPr>
          <a:xfrm>
            <a:off x="1280160" y="384048"/>
            <a:ext cx="61264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Три біди однієї моделі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1280160" y="1024128"/>
            <a:ext cx="777240" cy="256032"/>
          </a:xfrm>
          <a:prstGeom prst="roundRect">
            <a:avLst>
              <a:gd name="adj" fmla="val 50000"/>
            </a:avLst>
          </a:prstGeom>
          <a:solidFill>
            <a:srgbClr val="5A05F4"/>
          </a:solidFill>
          <a:ln/>
        </p:spPr>
      </p:sp>
      <p:sp>
        <p:nvSpPr>
          <p:cNvPr id="5" name="Text 3"/>
          <p:cNvSpPr/>
          <p:nvPr/>
        </p:nvSpPr>
        <p:spPr>
          <a:xfrm>
            <a:off x="1280160" y="1024128"/>
            <a:ext cx="777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ТЕОРІЯ</a:t>
            </a:r>
            <a:endParaRPr lang="en-US" sz="900" dirty="0"/>
          </a:p>
        </p:txBody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6254496"/>
            <a:ext cx="1481328" cy="457200"/>
          </a:xfrm>
          <a:prstGeom prst="rect">
            <a:avLst/>
          </a:prstGeom>
        </p:spPr>
      </p:pic>
      <p:sp>
        <p:nvSpPr>
          <p:cNvPr id="7" name="Shape 4"/>
          <p:cNvSpPr/>
          <p:nvPr/>
        </p:nvSpPr>
        <p:spPr>
          <a:xfrm>
            <a:off x="566928" y="1737360"/>
            <a:ext cx="3520440" cy="1874520"/>
          </a:xfrm>
          <a:prstGeom prst="roundRect">
            <a:avLst>
              <a:gd name="adj" fmla="val 5854"/>
            </a:avLst>
          </a:prstGeom>
          <a:solidFill>
            <a:srgbClr val="FBE9E9"/>
          </a:solidFill>
          <a:ln/>
        </p:spPr>
      </p:sp>
      <p:sp>
        <p:nvSpPr>
          <p:cNvPr id="8" name="Shape 5"/>
          <p:cNvSpPr/>
          <p:nvPr/>
        </p:nvSpPr>
        <p:spPr>
          <a:xfrm>
            <a:off x="768096" y="1920240"/>
            <a:ext cx="384048" cy="384048"/>
          </a:xfrm>
          <a:prstGeom prst="ellipse">
            <a:avLst/>
          </a:prstGeom>
          <a:solidFill>
            <a:srgbClr val="C62A2A"/>
          </a:solidFill>
          <a:ln/>
        </p:spPr>
      </p:sp>
      <p:sp>
        <p:nvSpPr>
          <p:cNvPr id="9" name="Text 6"/>
          <p:cNvSpPr/>
          <p:nvPr/>
        </p:nvSpPr>
        <p:spPr>
          <a:xfrm>
            <a:off x="768096" y="192024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BE9E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</a:t>
            </a:r>
            <a:endParaRPr lang="en-US" sz="1200" dirty="0"/>
          </a:p>
        </p:txBody>
      </p:sp>
      <p:sp>
        <p:nvSpPr>
          <p:cNvPr id="10" name="Text 7"/>
          <p:cNvSpPr/>
          <p:nvPr/>
        </p:nvSpPr>
        <p:spPr>
          <a:xfrm>
            <a:off x="1280160" y="189280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C62A2A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Гроші</a:t>
            </a:r>
            <a:endParaRPr lang="en-US" sz="1450" dirty="0"/>
          </a:p>
        </p:txBody>
      </p:sp>
      <p:sp>
        <p:nvSpPr>
          <p:cNvPr id="11" name="Text 8"/>
          <p:cNvSpPr/>
          <p:nvPr/>
        </p:nvSpPr>
        <p:spPr>
          <a:xfrm>
            <a:off x="768096" y="2423160"/>
            <a:ext cx="3118104" cy="10332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різниця між дешевою і сильною на масовому трафіку — порядок вартості, не «трохи дорожче»</a:t>
            </a:r>
            <a:endParaRPr lang="en-US" sz="1200" dirty="0"/>
          </a:p>
        </p:txBody>
      </p:sp>
      <p:sp>
        <p:nvSpPr>
          <p:cNvPr id="12" name="Shape 9"/>
          <p:cNvSpPr/>
          <p:nvPr/>
        </p:nvSpPr>
        <p:spPr>
          <a:xfrm>
            <a:off x="4270248" y="1737360"/>
            <a:ext cx="3520440" cy="1874520"/>
          </a:xfrm>
          <a:prstGeom prst="roundRect">
            <a:avLst>
              <a:gd name="adj" fmla="val 5854"/>
            </a:avLst>
          </a:prstGeom>
          <a:solidFill>
            <a:srgbClr val="FBE9E9"/>
          </a:solidFill>
          <a:ln/>
        </p:spPr>
      </p:sp>
      <p:sp>
        <p:nvSpPr>
          <p:cNvPr id="13" name="Shape 10"/>
          <p:cNvSpPr/>
          <p:nvPr/>
        </p:nvSpPr>
        <p:spPr>
          <a:xfrm>
            <a:off x="4471416" y="1920240"/>
            <a:ext cx="384048" cy="384048"/>
          </a:xfrm>
          <a:prstGeom prst="ellipse">
            <a:avLst/>
          </a:prstGeom>
          <a:solidFill>
            <a:srgbClr val="C62A2A"/>
          </a:solidFill>
          <a:ln/>
        </p:spPr>
      </p:sp>
      <p:sp>
        <p:nvSpPr>
          <p:cNvPr id="14" name="Text 11"/>
          <p:cNvSpPr/>
          <p:nvPr/>
        </p:nvSpPr>
        <p:spPr>
          <a:xfrm>
            <a:off x="4471416" y="192024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BE9E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</a:t>
            </a:r>
            <a:endParaRPr lang="en-US" sz="1200" dirty="0"/>
          </a:p>
        </p:txBody>
      </p:sp>
      <p:sp>
        <p:nvSpPr>
          <p:cNvPr id="15" name="Text 12"/>
          <p:cNvSpPr/>
          <p:nvPr/>
        </p:nvSpPr>
        <p:spPr>
          <a:xfrm>
            <a:off x="4983480" y="189280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C62A2A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Залежність</a:t>
            </a:r>
            <a:endParaRPr lang="en-US" sz="1450" dirty="0"/>
          </a:p>
        </p:txBody>
      </p:sp>
      <p:sp>
        <p:nvSpPr>
          <p:cNvPr id="16" name="Text 13"/>
          <p:cNvSpPr/>
          <p:nvPr/>
        </p:nvSpPr>
        <p:spPr>
          <a:xfrm>
            <a:off x="4471416" y="2423160"/>
            <a:ext cx="3118104" cy="10332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один провайдер — одна точка відмови, яка вам не належить; плану Б не існує теоретично</a:t>
            </a:r>
            <a:endParaRPr lang="en-US" sz="1200" dirty="0"/>
          </a:p>
        </p:txBody>
      </p:sp>
      <p:sp>
        <p:nvSpPr>
          <p:cNvPr id="17" name="Shape 14"/>
          <p:cNvSpPr/>
          <p:nvPr/>
        </p:nvSpPr>
        <p:spPr>
          <a:xfrm>
            <a:off x="7973568" y="1737360"/>
            <a:ext cx="3520440" cy="1874520"/>
          </a:xfrm>
          <a:prstGeom prst="roundRect">
            <a:avLst>
              <a:gd name="adj" fmla="val 5854"/>
            </a:avLst>
          </a:prstGeom>
          <a:solidFill>
            <a:srgbClr val="F8F0E2"/>
          </a:solidFill>
          <a:ln/>
        </p:spPr>
      </p:sp>
      <p:sp>
        <p:nvSpPr>
          <p:cNvPr id="18" name="Shape 15"/>
          <p:cNvSpPr/>
          <p:nvPr/>
        </p:nvSpPr>
        <p:spPr>
          <a:xfrm>
            <a:off x="8174736" y="1920240"/>
            <a:ext cx="384048" cy="384048"/>
          </a:xfrm>
          <a:prstGeom prst="ellipse">
            <a:avLst/>
          </a:prstGeom>
          <a:solidFill>
            <a:srgbClr val="9A5B12"/>
          </a:solidFill>
          <a:ln/>
        </p:spPr>
      </p:sp>
      <p:sp>
        <p:nvSpPr>
          <p:cNvPr id="19" name="Text 16"/>
          <p:cNvSpPr/>
          <p:nvPr/>
        </p:nvSpPr>
        <p:spPr>
          <a:xfrm>
            <a:off x="8174736" y="192024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8F0E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3</a:t>
            </a:r>
            <a:endParaRPr lang="en-US" sz="1200" dirty="0"/>
          </a:p>
        </p:txBody>
      </p:sp>
      <p:sp>
        <p:nvSpPr>
          <p:cNvPr id="20" name="Text 17"/>
          <p:cNvSpPr/>
          <p:nvPr/>
        </p:nvSpPr>
        <p:spPr>
          <a:xfrm>
            <a:off x="8686800" y="189280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9A5B12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Несумісність у дрібницях</a:t>
            </a:r>
            <a:endParaRPr lang="en-US" sz="1450" dirty="0"/>
          </a:p>
        </p:txBody>
      </p:sp>
      <p:sp>
        <p:nvSpPr>
          <p:cNvPr id="21" name="Text 18"/>
          <p:cNvSpPr/>
          <p:nvPr/>
        </p:nvSpPr>
        <p:spPr>
          <a:xfrm>
            <a:off x="8174736" y="2423160"/>
            <a:ext cx="3118104" cy="10332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«сумісні за стандартом» провайдери розходяться в деталях полів</a:t>
            </a:r>
            <a:endParaRPr lang="en-US" sz="1200" dirty="0"/>
          </a:p>
        </p:txBody>
      </p:sp>
      <p:sp>
        <p:nvSpPr>
          <p:cNvPr id="22" name="Shape 19"/>
          <p:cNvSpPr/>
          <p:nvPr/>
        </p:nvSpPr>
        <p:spPr>
          <a:xfrm>
            <a:off x="566928" y="3977640"/>
            <a:ext cx="11064240" cy="1371600"/>
          </a:xfrm>
          <a:prstGeom prst="roundRect">
            <a:avLst>
              <a:gd name="adj" fmla="val 8000"/>
            </a:avLst>
          </a:prstGeom>
          <a:solidFill>
            <a:srgbClr val="5A05F4"/>
          </a:solidFill>
          <a:ln/>
        </p:spPr>
      </p:sp>
      <p:sp>
        <p:nvSpPr>
          <p:cNvPr id="23" name="Text 20"/>
          <p:cNvSpPr/>
          <p:nvPr/>
        </p:nvSpPr>
        <p:spPr>
          <a:xfrm>
            <a:off x="786384" y="4105656"/>
            <a:ext cx="1062532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150" kern="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НАВІЩО ЦЕЙ ШАР</a:t>
            </a:r>
            <a:endParaRPr lang="en-US" sz="950" dirty="0"/>
          </a:p>
        </p:txBody>
      </p:sp>
      <p:sp>
        <p:nvSpPr>
          <p:cNvPr id="24" name="Text 21"/>
          <p:cNvSpPr/>
          <p:nvPr/>
        </p:nvSpPr>
        <p:spPr>
          <a:xfrm>
            <a:off x="786384" y="4361688"/>
            <a:ext cx="10625328" cy="8595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Маршрутизація — перший механізм тижня «гроші»: вона розводить трафік за задачами, і саме на ній тримається все, що рахуватимемо наступного уроку.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68735" y="643737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9AA1AD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5</a:t>
            </a:fld>
            <a:endParaRPr lang="en-US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402336"/>
            <a:ext cx="640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02</a:t>
            </a:r>
            <a:endParaRPr lang="en-US" sz="2600" dirty="0"/>
          </a:p>
        </p:txBody>
      </p:sp>
      <p:sp>
        <p:nvSpPr>
          <p:cNvPr id="3" name="Text 1"/>
          <p:cNvSpPr/>
          <p:nvPr/>
        </p:nvSpPr>
        <p:spPr>
          <a:xfrm>
            <a:off x="1280160" y="384048"/>
            <a:ext cx="61264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Сервіс вирішує. Адаптер виконує.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1280160" y="1024128"/>
            <a:ext cx="777240" cy="256032"/>
          </a:xfrm>
          <a:prstGeom prst="roundRect">
            <a:avLst>
              <a:gd name="adj" fmla="val 50000"/>
            </a:avLst>
          </a:prstGeom>
          <a:solidFill>
            <a:srgbClr val="5A05F4"/>
          </a:solidFill>
          <a:ln/>
        </p:spPr>
      </p:sp>
      <p:sp>
        <p:nvSpPr>
          <p:cNvPr id="5" name="Text 3"/>
          <p:cNvSpPr/>
          <p:nvPr/>
        </p:nvSpPr>
        <p:spPr>
          <a:xfrm>
            <a:off x="1280160" y="1024128"/>
            <a:ext cx="777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ТЕОРІЯ</a:t>
            </a:r>
            <a:endParaRPr lang="en-US" sz="900" dirty="0"/>
          </a:p>
        </p:txBody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6254496"/>
            <a:ext cx="1481328" cy="457200"/>
          </a:xfrm>
          <a:prstGeom prst="rect">
            <a:avLst/>
          </a:prstGeom>
        </p:spPr>
      </p:pic>
      <p:sp>
        <p:nvSpPr>
          <p:cNvPr id="7" name="Shape 4"/>
          <p:cNvSpPr/>
          <p:nvPr/>
        </p:nvSpPr>
        <p:spPr>
          <a:xfrm>
            <a:off x="566928" y="1645920"/>
            <a:ext cx="5349240" cy="1737360"/>
          </a:xfrm>
          <a:prstGeom prst="roundRect">
            <a:avLst>
              <a:gd name="adj" fmla="val 6316"/>
            </a:avLst>
          </a:prstGeom>
          <a:solidFill>
            <a:srgbClr val="5A05F4"/>
          </a:solidFill>
          <a:ln/>
        </p:spPr>
      </p:sp>
      <p:sp>
        <p:nvSpPr>
          <p:cNvPr id="8" name="Text 5"/>
          <p:cNvSpPr/>
          <p:nvPr/>
        </p:nvSpPr>
        <p:spPr>
          <a:xfrm>
            <a:off x="841248" y="1810512"/>
            <a:ext cx="47548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200" kern="0" dirty="0">
                <a:solidFill>
                  <a:srgbClr val="C9C5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ВИРІШУЄ</a:t>
            </a:r>
            <a:endParaRPr lang="en-US" sz="1050" dirty="0"/>
          </a:p>
        </p:txBody>
      </p:sp>
      <p:sp>
        <p:nvSpPr>
          <p:cNvPr id="9" name="Text 6"/>
          <p:cNvSpPr/>
          <p:nvPr/>
        </p:nvSpPr>
        <p:spPr>
          <a:xfrm>
            <a:off x="841248" y="2103120"/>
            <a:ext cx="47548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Сервіс</a:t>
            </a:r>
            <a:endParaRPr lang="en-US" sz="2400" dirty="0"/>
          </a:p>
        </p:txBody>
      </p:sp>
      <p:sp>
        <p:nvSpPr>
          <p:cNvPr id="10" name="Text 7"/>
          <p:cNvSpPr/>
          <p:nvPr/>
        </p:nvSpPr>
        <p:spPr>
          <a:xfrm>
            <a:off x="841248" y="2606040"/>
            <a:ext cx="47548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DEDAF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яку модель викликати — код, який можна прочитати, протестувати й залогувати</a:t>
            </a:r>
            <a:endParaRPr lang="en-US" sz="1200" dirty="0"/>
          </a:p>
        </p:txBody>
      </p:sp>
      <p:sp>
        <p:nvSpPr>
          <p:cNvPr id="11" name="Shape 8"/>
          <p:cNvSpPr/>
          <p:nvPr/>
        </p:nvSpPr>
        <p:spPr>
          <a:xfrm>
            <a:off x="6281928" y="1645920"/>
            <a:ext cx="5349240" cy="1737360"/>
          </a:xfrm>
          <a:prstGeom prst="roundRect">
            <a:avLst>
              <a:gd name="adj" fmla="val 6316"/>
            </a:avLst>
          </a:prstGeom>
          <a:solidFill>
            <a:srgbClr val="FFFFFF"/>
          </a:solidFill>
          <a:ln w="12700">
            <a:solidFill>
              <a:srgbClr val="E6E7EC"/>
            </a:solidFill>
            <a:prstDash val="solid"/>
          </a:ln>
        </p:spPr>
      </p:sp>
      <p:sp>
        <p:nvSpPr>
          <p:cNvPr id="12" name="Text 9"/>
          <p:cNvSpPr/>
          <p:nvPr/>
        </p:nvSpPr>
        <p:spPr>
          <a:xfrm>
            <a:off x="6556248" y="1810512"/>
            <a:ext cx="47548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200" kern="0" dirty="0">
                <a:solidFill>
                  <a:srgbClr val="9AA1A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ВИКОНУЄ</a:t>
            </a:r>
            <a:endParaRPr lang="en-US" sz="1050" dirty="0"/>
          </a:p>
        </p:txBody>
      </p:sp>
      <p:sp>
        <p:nvSpPr>
          <p:cNvPr id="13" name="Text 10"/>
          <p:cNvSpPr/>
          <p:nvPr/>
        </p:nvSpPr>
        <p:spPr>
          <a:xfrm>
            <a:off x="6556248" y="2103120"/>
            <a:ext cx="47548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Адаптер</a:t>
            </a:r>
            <a:endParaRPr lang="en-US" sz="2400" dirty="0"/>
          </a:p>
        </p:txBody>
      </p:sp>
      <p:sp>
        <p:nvSpPr>
          <p:cNvPr id="14" name="Text 11"/>
          <p:cNvSpPr/>
          <p:nvPr/>
        </p:nvSpPr>
        <p:spPr>
          <a:xfrm>
            <a:off x="6556248" y="2606040"/>
            <a:ext cx="47548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555B66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формат помилок, автентифікація, ліміти на поля — нормалізує адаптер</a:t>
            </a:r>
            <a:endParaRPr lang="en-US" sz="1200" dirty="0"/>
          </a:p>
        </p:txBody>
      </p:sp>
      <p:sp>
        <p:nvSpPr>
          <p:cNvPr id="15" name="Shape 12"/>
          <p:cNvSpPr/>
          <p:nvPr/>
        </p:nvSpPr>
        <p:spPr>
          <a:xfrm>
            <a:off x="566928" y="3611880"/>
            <a:ext cx="5349240" cy="1737360"/>
          </a:xfrm>
          <a:prstGeom prst="roundRect">
            <a:avLst>
              <a:gd name="adj" fmla="val 6316"/>
            </a:avLst>
          </a:prstGeom>
          <a:solidFill>
            <a:srgbClr val="E9F4EF"/>
          </a:solidFill>
          <a:ln/>
        </p:spPr>
      </p:sp>
      <p:sp>
        <p:nvSpPr>
          <p:cNvPr id="16" name="Text 13"/>
          <p:cNvSpPr/>
          <p:nvPr/>
        </p:nvSpPr>
        <p:spPr>
          <a:xfrm>
            <a:off x="786384" y="3739896"/>
            <a:ext cx="491032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150" kern="0" dirty="0">
                <a:solidFill>
                  <a:srgbClr val="1B8A5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ПРИНЦИП</a:t>
            </a:r>
            <a:endParaRPr lang="en-US" sz="950" dirty="0"/>
          </a:p>
        </p:txBody>
      </p:sp>
      <p:sp>
        <p:nvSpPr>
          <p:cNvPr id="17" name="Text 14"/>
          <p:cNvSpPr/>
          <p:nvPr/>
        </p:nvSpPr>
        <p:spPr>
          <a:xfrm>
            <a:off x="786384" y="3995928"/>
            <a:ext cx="4910328" cy="12252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Рішення — це код. Конфіг чужого інструмента — орендоване рішення.</a:t>
            </a:r>
            <a:endParaRPr lang="en-US" sz="1300" dirty="0"/>
          </a:p>
        </p:txBody>
      </p:sp>
      <p:sp>
        <p:nvSpPr>
          <p:cNvPr id="18" name="Shape 15"/>
          <p:cNvSpPr/>
          <p:nvPr/>
        </p:nvSpPr>
        <p:spPr>
          <a:xfrm>
            <a:off x="6281928" y="3611880"/>
            <a:ext cx="5349240" cy="1737360"/>
          </a:xfrm>
          <a:prstGeom prst="roundRect">
            <a:avLst>
              <a:gd name="adj" fmla="val 6316"/>
            </a:avLst>
          </a:prstGeom>
          <a:solidFill>
            <a:srgbClr val="FBE9E9"/>
          </a:solidFill>
          <a:ln/>
        </p:spPr>
      </p:sp>
      <p:sp>
        <p:nvSpPr>
          <p:cNvPr id="19" name="Text 16"/>
          <p:cNvSpPr/>
          <p:nvPr/>
        </p:nvSpPr>
        <p:spPr>
          <a:xfrm>
            <a:off x="6501384" y="3739896"/>
            <a:ext cx="491032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150" kern="0" dirty="0">
                <a:solidFill>
                  <a:srgbClr val="C62A2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ТИПОВА ПОМИЛКА</a:t>
            </a:r>
            <a:endParaRPr lang="en-US" sz="950" dirty="0"/>
          </a:p>
        </p:txBody>
      </p:sp>
      <p:sp>
        <p:nvSpPr>
          <p:cNvPr id="20" name="Text 17"/>
          <p:cNvSpPr/>
          <p:nvPr/>
        </p:nvSpPr>
        <p:spPr>
          <a:xfrm>
            <a:off x="6501384" y="3995928"/>
            <a:ext cx="4910328" cy="12252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Віддати роутинг адаптеру: механізми переносяться, прапорці — ні.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68735" y="643737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9AA1AD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6</a:t>
            </a:fld>
            <a:endParaRPr lang="en-US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402336"/>
            <a:ext cx="640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03</a:t>
            </a:r>
            <a:endParaRPr lang="en-US" sz="2600" dirty="0"/>
          </a:p>
        </p:txBody>
      </p:sp>
      <p:sp>
        <p:nvSpPr>
          <p:cNvPr id="3" name="Text 1"/>
          <p:cNvSpPr/>
          <p:nvPr/>
        </p:nvSpPr>
        <p:spPr>
          <a:xfrm>
            <a:off x="1280160" y="384048"/>
            <a:ext cx="61264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Розтин конфіга: дві «моделі» на одному mock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1280160" y="1193140"/>
            <a:ext cx="777240" cy="256032"/>
          </a:xfrm>
          <a:prstGeom prst="roundRect">
            <a:avLst>
              <a:gd name="adj" fmla="val 50000"/>
            </a:avLst>
          </a:prstGeom>
          <a:solidFill>
            <a:srgbClr val="5A05F4"/>
          </a:solidFill>
          <a:ln/>
        </p:spPr>
      </p:sp>
      <p:sp>
        <p:nvSpPr>
          <p:cNvPr id="5" name="Text 3"/>
          <p:cNvSpPr/>
          <p:nvPr/>
        </p:nvSpPr>
        <p:spPr>
          <a:xfrm>
            <a:off x="1280160" y="1193140"/>
            <a:ext cx="777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ТЕОРІЯ</a:t>
            </a:r>
            <a:endParaRPr lang="en-US" sz="900" dirty="0"/>
          </a:p>
        </p:txBody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6254496"/>
            <a:ext cx="1481328" cy="457200"/>
          </a:xfrm>
          <a:prstGeom prst="rect">
            <a:avLst/>
          </a:prstGeom>
        </p:spPr>
      </p:pic>
      <p:sp>
        <p:nvSpPr>
          <p:cNvPr id="7" name="Shape 4"/>
          <p:cNvSpPr/>
          <p:nvPr/>
        </p:nvSpPr>
        <p:spPr>
          <a:xfrm>
            <a:off x="566928" y="1691640"/>
            <a:ext cx="6400800" cy="3200400"/>
          </a:xfrm>
          <a:prstGeom prst="roundRect">
            <a:avLst>
              <a:gd name="adj" fmla="val 3429"/>
            </a:avLst>
          </a:prstGeom>
          <a:solidFill>
            <a:srgbClr val="F5F4FA"/>
          </a:solidFill>
          <a:ln w="12700">
            <a:solidFill>
              <a:srgbClr val="E6E7EC"/>
            </a:solidFill>
            <a:prstDash val="solid"/>
          </a:ln>
        </p:spPr>
      </p:sp>
      <p:sp>
        <p:nvSpPr>
          <p:cNvPr id="8" name="Text 5"/>
          <p:cNvSpPr/>
          <p:nvPr/>
        </p:nvSpPr>
        <p:spPr>
          <a:xfrm>
            <a:off x="786384" y="1837944"/>
            <a:ext cx="5961888" cy="2907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100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model_list:</a:t>
            </a:r>
            <a:endParaRPr lang="en-US" sz="110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100" dirty="0">
                <a:solidFill>
                  <a:srgbClr val="23262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- model_name: </a:t>
            </a:r>
            <a:pPr indent="0" marL="0">
              <a:lnSpc>
                <a:spcPct val="130000"/>
              </a:lnSpc>
              <a:buNone/>
            </a:pPr>
            <a:r>
              <a:rPr lang="en-US" sz="1100" dirty="0">
                <a:solidFill>
                  <a:srgbClr val="17724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mock-mini</a:t>
            </a:r>
            <a:endParaRPr lang="en-US" sz="110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100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litellm_params:</a:t>
            </a:r>
            <a:endParaRPr lang="en-US" sz="110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100" dirty="0">
                <a:solidFill>
                  <a:srgbClr val="23262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model: openai/mock</a:t>
            </a:r>
            <a:endParaRPr lang="en-US" sz="110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100" dirty="0">
                <a:solidFill>
                  <a:srgbClr val="23262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api_base: http://mock-provider:9000/v1</a:t>
            </a:r>
            <a:endParaRPr lang="en-US" sz="110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100" dirty="0">
                <a:solidFill>
                  <a:srgbClr val="23262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- model_name: </a:t>
            </a:r>
            <a:pPr indent="0" marL="0">
              <a:lnSpc>
                <a:spcPct val="130000"/>
              </a:lnSpc>
              <a:buNone/>
            </a:pPr>
            <a:r>
              <a:rPr lang="en-US" sz="1100" dirty="0">
                <a:solidFill>
                  <a:srgbClr val="17724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mock-strong</a:t>
            </a:r>
            <a:endParaRPr lang="en-US" sz="110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100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litellm_params:   </a:t>
            </a:r>
            <a:pPr indent="0" marL="0">
              <a:lnSpc>
                <a:spcPct val="130000"/>
              </a:lnSpc>
              <a:buNone/>
            </a:pPr>
            <a:r>
              <a:rPr lang="en-US" sz="1100" dirty="0">
                <a:solidFill>
                  <a:srgbClr val="8A7FA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той самий mock</a:t>
            </a:r>
            <a:endParaRPr lang="en-US" sz="110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100" dirty="0">
                <a:solidFill>
                  <a:srgbClr val="23262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model: openai/mock</a:t>
            </a:r>
            <a:endParaRPr lang="en-US" sz="110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100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litellm_settings:</a:t>
            </a:r>
            <a:endParaRPr lang="en-US" sz="110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100" dirty="0">
                <a:solidFill>
                  <a:srgbClr val="23262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drop_params: true</a:t>
            </a:r>
            <a:endParaRPr lang="en-US" sz="110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100" dirty="0">
                <a:solidFill>
                  <a:srgbClr val="23262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num_retries: 0    </a:t>
            </a:r>
            <a:pPr indent="0" marL="0">
              <a:lnSpc>
                <a:spcPct val="130000"/>
              </a:lnSpc>
              <a:buNone/>
            </a:pPr>
            <a:r>
              <a:rPr lang="en-US" sz="1100" dirty="0">
                <a:solidFill>
                  <a:srgbClr val="8A7FA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збої йдуть у сервіс</a:t>
            </a:r>
            <a:endParaRPr lang="en-US" sz="1100" dirty="0"/>
          </a:p>
        </p:txBody>
      </p:sp>
      <p:sp>
        <p:nvSpPr>
          <p:cNvPr id="9" name="Shape 6"/>
          <p:cNvSpPr/>
          <p:nvPr/>
        </p:nvSpPr>
        <p:spPr>
          <a:xfrm>
            <a:off x="7223760" y="1691640"/>
            <a:ext cx="4407408" cy="1005840"/>
          </a:xfrm>
          <a:prstGeom prst="roundRect">
            <a:avLst>
              <a:gd name="adj" fmla="val 10909"/>
            </a:avLst>
          </a:prstGeom>
          <a:solidFill>
            <a:srgbClr val="FFFFFF"/>
          </a:solidFill>
          <a:ln w="12700">
            <a:solidFill>
              <a:srgbClr val="E6E7EC"/>
            </a:solidFill>
            <a:prstDash val="solid"/>
          </a:ln>
        </p:spPr>
      </p:sp>
      <p:sp>
        <p:nvSpPr>
          <p:cNvPr id="10" name="Text 7"/>
          <p:cNvSpPr/>
          <p:nvPr/>
        </p:nvSpPr>
        <p:spPr>
          <a:xfrm>
            <a:off x="7424928" y="1847088"/>
            <a:ext cx="400507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Той самий mock — навмисно</a:t>
            </a:r>
            <a:endParaRPr lang="en-US" sz="1450" dirty="0"/>
          </a:p>
        </p:txBody>
      </p:sp>
      <p:sp>
        <p:nvSpPr>
          <p:cNvPr id="11" name="Text 8"/>
          <p:cNvSpPr/>
          <p:nvPr/>
        </p:nvSpPr>
        <p:spPr>
          <a:xfrm>
            <a:off x="7424928" y="2377440"/>
            <a:ext cx="4005072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555B66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механіка роутингу справжня, рахунок нульовий</a:t>
            </a:r>
            <a:endParaRPr lang="en-US" sz="1200" dirty="0"/>
          </a:p>
        </p:txBody>
      </p:sp>
      <p:sp>
        <p:nvSpPr>
          <p:cNvPr id="12" name="Shape 9"/>
          <p:cNvSpPr/>
          <p:nvPr/>
        </p:nvSpPr>
        <p:spPr>
          <a:xfrm>
            <a:off x="7223760" y="2788920"/>
            <a:ext cx="4407408" cy="1005840"/>
          </a:xfrm>
          <a:prstGeom prst="roundRect">
            <a:avLst>
              <a:gd name="adj" fmla="val 10909"/>
            </a:avLst>
          </a:prstGeom>
          <a:solidFill>
            <a:srgbClr val="E9F4EF"/>
          </a:solidFill>
          <a:ln/>
        </p:spPr>
      </p:sp>
      <p:sp>
        <p:nvSpPr>
          <p:cNvPr id="13" name="Text 10"/>
          <p:cNvSpPr/>
          <p:nvPr/>
        </p:nvSpPr>
        <p:spPr>
          <a:xfrm>
            <a:off x="7424928" y="2944368"/>
            <a:ext cx="400507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B8A5A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drop_params: true</a:t>
            </a:r>
            <a:endParaRPr lang="en-US" sz="1450" dirty="0"/>
          </a:p>
        </p:txBody>
      </p:sp>
      <p:sp>
        <p:nvSpPr>
          <p:cNvPr id="14" name="Text 11"/>
          <p:cNvSpPr/>
          <p:nvPr/>
        </p:nvSpPr>
        <p:spPr>
          <a:xfrm>
            <a:off x="7424928" y="3474720"/>
            <a:ext cx="4005072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адаптер відкидає поля, яких провайдер не приймає</a:t>
            </a:r>
            <a:endParaRPr lang="en-US" sz="1200" dirty="0"/>
          </a:p>
        </p:txBody>
      </p:sp>
      <p:sp>
        <p:nvSpPr>
          <p:cNvPr id="15" name="Shape 12"/>
          <p:cNvSpPr/>
          <p:nvPr/>
        </p:nvSpPr>
        <p:spPr>
          <a:xfrm>
            <a:off x="7223760" y="3886200"/>
            <a:ext cx="4407408" cy="1005840"/>
          </a:xfrm>
          <a:prstGeom prst="roundRect">
            <a:avLst>
              <a:gd name="adj" fmla="val 10909"/>
            </a:avLst>
          </a:prstGeom>
          <a:solidFill>
            <a:srgbClr val="F8F0E2"/>
          </a:solidFill>
          <a:ln/>
        </p:spPr>
      </p:sp>
      <p:sp>
        <p:nvSpPr>
          <p:cNvPr id="16" name="Text 13"/>
          <p:cNvSpPr/>
          <p:nvPr/>
        </p:nvSpPr>
        <p:spPr>
          <a:xfrm>
            <a:off x="7424928" y="4041648"/>
            <a:ext cx="400507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9A5B12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num_retries: 0</a:t>
            </a:r>
            <a:endParaRPr lang="en-US" sz="1450" dirty="0"/>
          </a:p>
        </p:txBody>
      </p:sp>
      <p:sp>
        <p:nvSpPr>
          <p:cNvPr id="17" name="Text 14"/>
          <p:cNvSpPr/>
          <p:nvPr/>
        </p:nvSpPr>
        <p:spPr>
          <a:xfrm>
            <a:off x="7424928" y="4572000"/>
            <a:ext cx="4005072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збої долітають до сервісу — він вирішує, що робити</a:t>
            </a:r>
            <a:endParaRPr lang="en-US" sz="1200" dirty="0"/>
          </a:p>
        </p:txBody>
      </p:sp>
      <p:sp>
        <p:nvSpPr>
          <p:cNvPr id="18" name="Shape 15"/>
          <p:cNvSpPr/>
          <p:nvPr/>
        </p:nvSpPr>
        <p:spPr>
          <a:xfrm>
            <a:off x="566928" y="5166360"/>
            <a:ext cx="11064240" cy="658368"/>
          </a:xfrm>
          <a:prstGeom prst="roundRect">
            <a:avLst>
              <a:gd name="adj" fmla="val 16667"/>
            </a:avLst>
          </a:prstGeom>
          <a:solidFill>
            <a:srgbClr val="FFFFFF"/>
          </a:solidFill>
          <a:ln w="12700">
            <a:solidFill>
              <a:srgbClr val="E6E7EC"/>
            </a:solidFill>
            <a:prstDash val="solid"/>
          </a:ln>
        </p:spPr>
      </p:sp>
      <p:sp>
        <p:nvSpPr>
          <p:cNvPr id="19" name="Text 16"/>
          <p:cNvSpPr/>
          <p:nvPr/>
        </p:nvSpPr>
        <p:spPr>
          <a:xfrm>
            <a:off x="786384" y="5312664"/>
            <a:ext cx="1062532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Реальний ключ змінить лише праві частини YAML — код сервісу не побачить різниці.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68735" y="643737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9AA1AD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7</a:t>
            </a:fld>
            <a:endParaRPr lang="en-US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402336"/>
            <a:ext cx="640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03</a:t>
            </a:r>
            <a:endParaRPr lang="en-US" sz="2600" dirty="0"/>
          </a:p>
        </p:txBody>
      </p:sp>
      <p:sp>
        <p:nvSpPr>
          <p:cNvPr id="3" name="Text 1"/>
          <p:cNvSpPr/>
          <p:nvPr/>
        </p:nvSpPr>
        <p:spPr>
          <a:xfrm>
            <a:off x="1280160" y="384048"/>
            <a:ext cx="61264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«Модель» за назвою — не та сама модель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1280160" y="1193140"/>
            <a:ext cx="777240" cy="256032"/>
          </a:xfrm>
          <a:prstGeom prst="roundRect">
            <a:avLst>
              <a:gd name="adj" fmla="val 50000"/>
            </a:avLst>
          </a:prstGeom>
          <a:solidFill>
            <a:srgbClr val="5A05F4"/>
          </a:solidFill>
          <a:ln/>
        </p:spPr>
      </p:sp>
      <p:sp>
        <p:nvSpPr>
          <p:cNvPr id="5" name="Text 3"/>
          <p:cNvSpPr/>
          <p:nvPr/>
        </p:nvSpPr>
        <p:spPr>
          <a:xfrm>
            <a:off x="1280160" y="1193140"/>
            <a:ext cx="777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ТЕОРІЯ</a:t>
            </a:r>
            <a:endParaRPr lang="en-US" sz="900" dirty="0"/>
          </a:p>
        </p:txBody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6254496"/>
            <a:ext cx="1481328" cy="457200"/>
          </a:xfrm>
          <a:prstGeom prst="rect">
            <a:avLst/>
          </a:prstGeom>
        </p:spPr>
      </p:pic>
      <p:sp>
        <p:nvSpPr>
          <p:cNvPr id="7" name="Shape 4"/>
          <p:cNvSpPr/>
          <p:nvPr/>
        </p:nvSpPr>
        <p:spPr>
          <a:xfrm>
            <a:off x="566928" y="1737360"/>
            <a:ext cx="5349240" cy="1481328"/>
          </a:xfrm>
          <a:prstGeom prst="roundRect">
            <a:avLst>
              <a:gd name="adj" fmla="val 7407"/>
            </a:avLst>
          </a:prstGeom>
          <a:solidFill>
            <a:srgbClr val="F8F0E2"/>
          </a:solidFill>
          <a:ln/>
        </p:spPr>
      </p:sp>
      <p:sp>
        <p:nvSpPr>
          <p:cNvPr id="8" name="Text 5"/>
          <p:cNvSpPr/>
          <p:nvPr/>
        </p:nvSpPr>
        <p:spPr>
          <a:xfrm>
            <a:off x="768096" y="1892808"/>
            <a:ext cx="4946904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9A5B12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Alias — «остання версія сімейства»</a:t>
            </a:r>
            <a:endParaRPr lang="en-US" sz="1450" dirty="0"/>
          </a:p>
        </p:txBody>
      </p:sp>
      <p:sp>
        <p:nvSpPr>
          <p:cNvPr id="9" name="Text 6"/>
          <p:cNvSpPr/>
          <p:nvPr/>
        </p:nvSpPr>
        <p:spPr>
          <a:xfrm>
            <a:off x="768096" y="2423160"/>
            <a:ext cx="4946904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автоматично отримуєте покращення — і небезпечно тихі зміни поведінки</a:t>
            </a:r>
            <a:endParaRPr lang="en-US" sz="1200" dirty="0"/>
          </a:p>
        </p:txBody>
      </p:sp>
      <p:sp>
        <p:nvSpPr>
          <p:cNvPr id="10" name="Shape 7"/>
          <p:cNvSpPr/>
          <p:nvPr/>
        </p:nvSpPr>
        <p:spPr>
          <a:xfrm>
            <a:off x="6281928" y="1737360"/>
            <a:ext cx="5349240" cy="1481328"/>
          </a:xfrm>
          <a:prstGeom prst="roundRect">
            <a:avLst>
              <a:gd name="adj" fmla="val 7407"/>
            </a:avLst>
          </a:prstGeom>
          <a:solidFill>
            <a:srgbClr val="E9F4EF"/>
          </a:solidFill>
          <a:ln/>
        </p:spPr>
      </p:sp>
      <p:sp>
        <p:nvSpPr>
          <p:cNvPr id="11" name="Text 8"/>
          <p:cNvSpPr/>
          <p:nvPr/>
        </p:nvSpPr>
        <p:spPr>
          <a:xfrm>
            <a:off x="6483096" y="1892808"/>
            <a:ext cx="4946904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B8A5A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Snapshot — зафіксована версія</a:t>
            </a:r>
            <a:endParaRPr lang="en-US" sz="1450" dirty="0"/>
          </a:p>
        </p:txBody>
      </p:sp>
      <p:sp>
        <p:nvSpPr>
          <p:cNvPr id="12" name="Text 9"/>
          <p:cNvSpPr/>
          <p:nvPr/>
        </p:nvSpPr>
        <p:spPr>
          <a:xfrm>
            <a:off x="6483096" y="2423160"/>
            <a:ext cx="4946904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не змінюється під вами, але й не оновлюється сама — і колись її виведуть з обігу</a:t>
            </a:r>
            <a:endParaRPr lang="en-US" sz="1200" dirty="0"/>
          </a:p>
        </p:txBody>
      </p:sp>
      <p:sp>
        <p:nvSpPr>
          <p:cNvPr id="13" name="Shape 10"/>
          <p:cNvSpPr/>
          <p:nvPr/>
        </p:nvSpPr>
        <p:spPr>
          <a:xfrm>
            <a:off x="749808" y="3931920"/>
            <a:ext cx="10515600" cy="0"/>
          </a:xfrm>
          <a:prstGeom prst="line">
            <a:avLst/>
          </a:prstGeom>
          <a:noFill/>
          <a:ln w="12700">
            <a:solidFill>
              <a:srgbClr val="E6E7EC"/>
            </a:solidFill>
            <a:prstDash val="solid"/>
          </a:ln>
        </p:spPr>
      </p:sp>
      <p:sp>
        <p:nvSpPr>
          <p:cNvPr id="14" name="Shape 11"/>
          <p:cNvSpPr/>
          <p:nvPr/>
        </p:nvSpPr>
        <p:spPr>
          <a:xfrm>
            <a:off x="1024128" y="3767328"/>
            <a:ext cx="2103120" cy="329184"/>
          </a:xfrm>
          <a:prstGeom prst="roundRect">
            <a:avLst>
              <a:gd name="adj" fmla="val 19444"/>
            </a:avLst>
          </a:prstGeom>
          <a:solidFill>
            <a:srgbClr val="FFFFFF"/>
          </a:solidFill>
          <a:ln w="12700">
            <a:solidFill>
              <a:srgbClr val="E6E7EC"/>
            </a:solidFill>
            <a:prstDash val="solid"/>
          </a:ln>
        </p:spPr>
      </p:sp>
      <p:sp>
        <p:nvSpPr>
          <p:cNvPr id="15" name="Text 12"/>
          <p:cNvSpPr/>
          <p:nvPr/>
        </p:nvSpPr>
        <p:spPr>
          <a:xfrm>
            <a:off x="1024128" y="3767328"/>
            <a:ext cx="21031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1131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…-0301</a:t>
            </a:r>
            <a:endParaRPr lang="en-US" sz="1000" dirty="0"/>
          </a:p>
        </p:txBody>
      </p:sp>
      <p:sp>
        <p:nvSpPr>
          <p:cNvPr id="16" name="Shape 13"/>
          <p:cNvSpPr/>
          <p:nvPr/>
        </p:nvSpPr>
        <p:spPr>
          <a:xfrm>
            <a:off x="4590288" y="3767328"/>
            <a:ext cx="2103120" cy="329184"/>
          </a:xfrm>
          <a:prstGeom prst="roundRect">
            <a:avLst>
              <a:gd name="adj" fmla="val 19444"/>
            </a:avLst>
          </a:prstGeom>
          <a:solidFill>
            <a:srgbClr val="FFFFFF"/>
          </a:solidFill>
          <a:ln w="12700">
            <a:solidFill>
              <a:srgbClr val="E6E7EC"/>
            </a:solidFill>
            <a:prstDash val="solid"/>
          </a:ln>
        </p:spPr>
      </p:sp>
      <p:sp>
        <p:nvSpPr>
          <p:cNvPr id="17" name="Text 14"/>
          <p:cNvSpPr/>
          <p:nvPr/>
        </p:nvSpPr>
        <p:spPr>
          <a:xfrm>
            <a:off x="4590288" y="3767328"/>
            <a:ext cx="21031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1131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…-0613</a:t>
            </a:r>
            <a:endParaRPr lang="en-US" sz="1000" dirty="0"/>
          </a:p>
        </p:txBody>
      </p:sp>
      <p:sp>
        <p:nvSpPr>
          <p:cNvPr id="18" name="Shape 15"/>
          <p:cNvSpPr/>
          <p:nvPr/>
        </p:nvSpPr>
        <p:spPr>
          <a:xfrm>
            <a:off x="8156448" y="3767328"/>
            <a:ext cx="2103120" cy="329184"/>
          </a:xfrm>
          <a:prstGeom prst="roundRect">
            <a:avLst>
              <a:gd name="adj" fmla="val 19444"/>
            </a:avLst>
          </a:prstGeom>
          <a:solidFill>
            <a:srgbClr val="EFEAFE"/>
          </a:solidFill>
          <a:ln w="12700">
            <a:solidFill>
              <a:srgbClr val="E6E7EC"/>
            </a:solidFill>
            <a:prstDash val="solid"/>
          </a:ln>
        </p:spPr>
      </p:sp>
      <p:sp>
        <p:nvSpPr>
          <p:cNvPr id="19" name="Text 16"/>
          <p:cNvSpPr/>
          <p:nvPr/>
        </p:nvSpPr>
        <p:spPr>
          <a:xfrm>
            <a:off x="8156448" y="3767328"/>
            <a:ext cx="21031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1131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…-1106</a:t>
            </a:r>
            <a:endParaRPr lang="en-US" sz="1000" dirty="0"/>
          </a:p>
        </p:txBody>
      </p:sp>
      <p:sp>
        <p:nvSpPr>
          <p:cNvPr id="20" name="Text 17"/>
          <p:cNvSpPr/>
          <p:nvPr/>
        </p:nvSpPr>
        <p:spPr>
          <a:xfrm>
            <a:off x="1024128" y="4151376"/>
            <a:ext cx="329184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1B8A5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snapshot — ви прибиті сюди</a:t>
            </a:r>
            <a:endParaRPr lang="en-US" sz="900" dirty="0"/>
          </a:p>
        </p:txBody>
      </p:sp>
      <p:sp>
        <p:nvSpPr>
          <p:cNvPr id="21" name="Text 18"/>
          <p:cNvSpPr/>
          <p:nvPr/>
        </p:nvSpPr>
        <p:spPr>
          <a:xfrm>
            <a:off x="8156448" y="4151376"/>
            <a:ext cx="384048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9A5B1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alias — ви завжди тут, і воно рухається</a:t>
            </a:r>
            <a:endParaRPr lang="en-US" sz="900" dirty="0"/>
          </a:p>
        </p:txBody>
      </p:sp>
      <p:sp>
        <p:nvSpPr>
          <p:cNvPr id="22" name="Text 19"/>
          <p:cNvSpPr/>
          <p:nvPr/>
        </p:nvSpPr>
        <p:spPr>
          <a:xfrm>
            <a:off x="749808" y="3511296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spc="100" kern="0" dirty="0">
                <a:solidFill>
                  <a:srgbClr val="9AA1A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час →</a:t>
            </a:r>
            <a:endParaRPr lang="en-US" sz="850" dirty="0"/>
          </a:p>
        </p:txBody>
      </p:sp>
      <p:sp>
        <p:nvSpPr>
          <p:cNvPr id="23" name="Shape 20"/>
          <p:cNvSpPr/>
          <p:nvPr/>
        </p:nvSpPr>
        <p:spPr>
          <a:xfrm>
            <a:off x="566928" y="4498848"/>
            <a:ext cx="11064240" cy="1051560"/>
          </a:xfrm>
          <a:prstGeom prst="roundRect">
            <a:avLst>
              <a:gd name="adj" fmla="val 10435"/>
            </a:avLst>
          </a:prstGeom>
          <a:solidFill>
            <a:srgbClr val="F8F0E2"/>
          </a:solidFill>
          <a:ln/>
        </p:spPr>
      </p:sp>
      <p:sp>
        <p:nvSpPr>
          <p:cNvPr id="24" name="Text 21"/>
          <p:cNvSpPr/>
          <p:nvPr/>
        </p:nvSpPr>
        <p:spPr>
          <a:xfrm>
            <a:off x="786384" y="4626864"/>
            <a:ext cx="1062532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150" kern="0" dirty="0">
                <a:solidFill>
                  <a:srgbClr val="9A5B1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ЛАЙФХАК</a:t>
            </a:r>
            <a:endParaRPr lang="en-US" sz="950" dirty="0"/>
          </a:p>
        </p:txBody>
      </p:sp>
      <p:sp>
        <p:nvSpPr>
          <p:cNvPr id="25" name="Text 22"/>
          <p:cNvSpPr/>
          <p:nvPr/>
        </p:nvSpPr>
        <p:spPr>
          <a:xfrm>
            <a:off x="786384" y="4882896"/>
            <a:ext cx="10625328" cy="5394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Той самий принцип, що з образами контейнерів: у прод не котять latest. Ми і gateway пінимо за digest'ом, а не за рухомим тегом.</a:t>
            </a:r>
            <a:endParaRPr lang="en-US" sz="1300" dirty="0"/>
          </a:p>
        </p:txBody>
      </p:sp>
      <p:sp>
        <p:nvSpPr>
          <p:cNvPr id="26" name="Shape 23"/>
          <p:cNvSpPr/>
          <p:nvPr/>
        </p:nvSpPr>
        <p:spPr>
          <a:xfrm>
            <a:off x="566928" y="5669280"/>
            <a:ext cx="11064240" cy="502920"/>
          </a:xfrm>
          <a:prstGeom prst="roundRect">
            <a:avLst>
              <a:gd name="adj" fmla="val 21818"/>
            </a:avLst>
          </a:prstGeom>
          <a:solidFill>
            <a:srgbClr val="5A05F4"/>
          </a:solidFill>
          <a:ln/>
        </p:spPr>
      </p:sp>
      <p:sp>
        <p:nvSpPr>
          <p:cNvPr id="27" name="Text 24"/>
          <p:cNvSpPr/>
          <p:nvPr/>
        </p:nvSpPr>
        <p:spPr>
          <a:xfrm>
            <a:off x="786384" y="5815584"/>
            <a:ext cx="10625328" cy="2103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Правило production: у конфізі — snapshot; оновлення версії — окрема свідома зміна.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68735" y="643737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9AA1AD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8</a:t>
            </a:fld>
            <a:endParaRPr lang="en-US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402336"/>
            <a:ext cx="640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04</a:t>
            </a:r>
            <a:endParaRPr lang="en-US" sz="2600" dirty="0"/>
          </a:p>
        </p:txBody>
      </p:sp>
      <p:sp>
        <p:nvSpPr>
          <p:cNvPr id="3" name="Text 1"/>
          <p:cNvSpPr/>
          <p:nvPr/>
        </p:nvSpPr>
        <p:spPr>
          <a:xfrm>
            <a:off x="1280160" y="384048"/>
            <a:ext cx="61264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Route(): роутер на десять рядків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1280160" y="1024128"/>
            <a:ext cx="777240" cy="256032"/>
          </a:xfrm>
          <a:prstGeom prst="roundRect">
            <a:avLst>
              <a:gd name="adj" fmla="val 50000"/>
            </a:avLst>
          </a:prstGeom>
          <a:solidFill>
            <a:srgbClr val="5A05F4"/>
          </a:solidFill>
          <a:ln/>
        </p:spPr>
      </p:sp>
      <p:sp>
        <p:nvSpPr>
          <p:cNvPr id="5" name="Text 3"/>
          <p:cNvSpPr/>
          <p:nvPr/>
        </p:nvSpPr>
        <p:spPr>
          <a:xfrm>
            <a:off x="1280160" y="1024128"/>
            <a:ext cx="777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ТЕОРІЯ</a:t>
            </a:r>
            <a:endParaRPr lang="en-US" sz="900" dirty="0"/>
          </a:p>
        </p:txBody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6254496"/>
            <a:ext cx="1481328" cy="457200"/>
          </a:xfrm>
          <a:prstGeom prst="rect">
            <a:avLst/>
          </a:prstGeom>
        </p:spPr>
      </p:pic>
      <p:sp>
        <p:nvSpPr>
          <p:cNvPr id="7" name="Shape 4"/>
          <p:cNvSpPr/>
          <p:nvPr/>
        </p:nvSpPr>
        <p:spPr>
          <a:xfrm>
            <a:off x="566928" y="1691640"/>
            <a:ext cx="11064240" cy="2148840"/>
          </a:xfrm>
          <a:prstGeom prst="roundRect">
            <a:avLst>
              <a:gd name="adj" fmla="val 5106"/>
            </a:avLst>
          </a:prstGeom>
          <a:solidFill>
            <a:srgbClr val="F5F4FA"/>
          </a:solidFill>
          <a:ln w="12700">
            <a:solidFill>
              <a:srgbClr val="E6E7EC"/>
            </a:solidFill>
            <a:prstDash val="solid"/>
          </a:ln>
        </p:spPr>
      </p:sp>
      <p:sp>
        <p:nvSpPr>
          <p:cNvPr id="8" name="Text 5"/>
          <p:cNvSpPr/>
          <p:nvPr/>
        </p:nvSpPr>
        <p:spPr>
          <a:xfrm>
            <a:off x="786384" y="1837944"/>
            <a:ext cx="10625328" cy="18562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8A7FA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[W2] routing: ескалація → сильна, решта → дешева</a:t>
            </a:r>
            <a:endParaRPr lang="en-US" sz="115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static string Route(string message, string def) {</a:t>
            </a:r>
            <a:endParaRPr lang="en-US" sz="115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23262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if (def != "mock") return def;   </a:t>
            </a:r>
            <a:pPr indent="0" marL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8A7FA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реальний ключ</a:t>
            </a:r>
            <a:endParaRPr lang="en-US" sz="115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23262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var u = message.ToLowerInvariant();</a:t>
            </a:r>
            <a:endParaRPr lang="en-US" sz="115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23262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bool escalation = u.Contains("поверн") || u.Contains("терміново")</a:t>
            </a:r>
            <a:endParaRPr lang="en-US" sz="115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23262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     || u.Contains("refund")  || u.Contains("скарг");</a:t>
            </a:r>
            <a:endParaRPr lang="en-US" sz="115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17724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return escalation ? "mock-strong" : "mock-mini";</a:t>
            </a:r>
            <a:endParaRPr lang="en-US" sz="115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}</a:t>
            </a:r>
            <a:endParaRPr lang="en-US" sz="1150" dirty="0"/>
          </a:p>
        </p:txBody>
      </p:sp>
      <p:sp>
        <p:nvSpPr>
          <p:cNvPr id="9" name="Shape 6"/>
          <p:cNvSpPr/>
          <p:nvPr/>
        </p:nvSpPr>
        <p:spPr>
          <a:xfrm>
            <a:off x="566928" y="4160520"/>
            <a:ext cx="3383280" cy="731520"/>
          </a:xfrm>
          <a:prstGeom prst="roundRect">
            <a:avLst>
              <a:gd name="adj" fmla="val 12500"/>
            </a:avLst>
          </a:prstGeom>
          <a:solidFill>
            <a:srgbClr val="FFFFFF"/>
          </a:solidFill>
          <a:ln w="12700">
            <a:solidFill>
              <a:srgbClr val="E6E7EC"/>
            </a:solidFill>
            <a:prstDash val="solid"/>
          </a:ln>
        </p:spPr>
      </p:sp>
      <p:sp>
        <p:nvSpPr>
          <p:cNvPr id="10" name="Text 7"/>
          <p:cNvSpPr/>
          <p:nvPr/>
        </p:nvSpPr>
        <p:spPr>
          <a:xfrm>
            <a:off x="621792" y="4160520"/>
            <a:ext cx="3273552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dirty="0">
                <a:solidFill>
                  <a:srgbClr val="11131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повідомлення</a:t>
            </a:r>
            <a:endParaRPr lang="en-US" sz="1150" dirty="0"/>
          </a:p>
        </p:txBody>
      </p:sp>
      <p:sp>
        <p:nvSpPr>
          <p:cNvPr id="11" name="Shape 8"/>
          <p:cNvSpPr/>
          <p:nvPr/>
        </p:nvSpPr>
        <p:spPr>
          <a:xfrm>
            <a:off x="4041648" y="4526280"/>
            <a:ext cx="164592" cy="0"/>
          </a:xfrm>
          <a:prstGeom prst="line">
            <a:avLst/>
          </a:prstGeom>
          <a:noFill/>
          <a:ln w="15875">
            <a:solidFill>
              <a:srgbClr val="C9B8FB"/>
            </a:solidFill>
            <a:prstDash val="solid"/>
          </a:ln>
        </p:spPr>
      </p:sp>
      <p:sp>
        <p:nvSpPr>
          <p:cNvPr id="12" name="Shape 9"/>
          <p:cNvSpPr/>
          <p:nvPr/>
        </p:nvSpPr>
        <p:spPr>
          <a:xfrm rot="5400000">
            <a:off x="4169664" y="4457700"/>
            <a:ext cx="146304" cy="137160"/>
          </a:xfrm>
          <a:prstGeom prst="triangle">
            <a:avLst/>
          </a:prstGeom>
          <a:solidFill>
            <a:srgbClr val="C9B8FB"/>
          </a:solidFill>
          <a:ln/>
        </p:spPr>
      </p:sp>
      <p:sp>
        <p:nvSpPr>
          <p:cNvPr id="13" name="Shape 10"/>
          <p:cNvSpPr/>
          <p:nvPr/>
        </p:nvSpPr>
        <p:spPr>
          <a:xfrm>
            <a:off x="4407408" y="4160520"/>
            <a:ext cx="3383280" cy="731520"/>
          </a:xfrm>
          <a:prstGeom prst="roundRect">
            <a:avLst>
              <a:gd name="adj" fmla="val 12500"/>
            </a:avLst>
          </a:prstGeom>
          <a:solidFill>
            <a:srgbClr val="EFEAFE"/>
          </a:solidFill>
          <a:ln/>
        </p:spPr>
      </p:sp>
      <p:sp>
        <p:nvSpPr>
          <p:cNvPr id="14" name="Text 11"/>
          <p:cNvSpPr/>
          <p:nvPr/>
        </p:nvSpPr>
        <p:spPr>
          <a:xfrm>
            <a:off x="4462272" y="4160520"/>
            <a:ext cx="3273552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маркери ескалації</a:t>
            </a:r>
            <a:endParaRPr lang="en-US" sz="1150" dirty="0"/>
          </a:p>
        </p:txBody>
      </p:sp>
      <p:sp>
        <p:nvSpPr>
          <p:cNvPr id="15" name="Shape 12"/>
          <p:cNvSpPr/>
          <p:nvPr/>
        </p:nvSpPr>
        <p:spPr>
          <a:xfrm>
            <a:off x="7882128" y="4526280"/>
            <a:ext cx="164592" cy="0"/>
          </a:xfrm>
          <a:prstGeom prst="line">
            <a:avLst/>
          </a:prstGeom>
          <a:noFill/>
          <a:ln w="15875">
            <a:solidFill>
              <a:srgbClr val="C9B8FB"/>
            </a:solidFill>
            <a:prstDash val="solid"/>
          </a:ln>
        </p:spPr>
      </p:sp>
      <p:sp>
        <p:nvSpPr>
          <p:cNvPr id="16" name="Shape 13"/>
          <p:cNvSpPr/>
          <p:nvPr/>
        </p:nvSpPr>
        <p:spPr>
          <a:xfrm rot="5400000">
            <a:off x="8010144" y="4457700"/>
            <a:ext cx="146304" cy="137160"/>
          </a:xfrm>
          <a:prstGeom prst="triangle">
            <a:avLst/>
          </a:prstGeom>
          <a:solidFill>
            <a:srgbClr val="C9B8FB"/>
          </a:solidFill>
          <a:ln/>
        </p:spPr>
      </p:sp>
      <p:sp>
        <p:nvSpPr>
          <p:cNvPr id="17" name="Shape 14"/>
          <p:cNvSpPr/>
          <p:nvPr/>
        </p:nvSpPr>
        <p:spPr>
          <a:xfrm>
            <a:off x="8247888" y="4160520"/>
            <a:ext cx="3383280" cy="731520"/>
          </a:xfrm>
          <a:prstGeom prst="roundRect">
            <a:avLst>
              <a:gd name="adj" fmla="val 12500"/>
            </a:avLst>
          </a:prstGeom>
          <a:solidFill>
            <a:srgbClr val="FBE9E9"/>
          </a:solidFill>
          <a:ln/>
        </p:spPr>
      </p:sp>
      <p:sp>
        <p:nvSpPr>
          <p:cNvPr id="18" name="Text 15"/>
          <p:cNvSpPr/>
          <p:nvPr/>
        </p:nvSpPr>
        <p:spPr>
          <a:xfrm>
            <a:off x="8302752" y="4160520"/>
            <a:ext cx="3273552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C62A2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mock-strong</a:t>
            </a:r>
            <a:endParaRPr lang="en-US" sz="1150" dirty="0"/>
          </a:p>
        </p:txBody>
      </p:sp>
      <p:sp>
        <p:nvSpPr>
          <p:cNvPr id="19" name="Shape 16"/>
          <p:cNvSpPr/>
          <p:nvPr/>
        </p:nvSpPr>
        <p:spPr>
          <a:xfrm>
            <a:off x="566928" y="5120640"/>
            <a:ext cx="11064240" cy="731520"/>
          </a:xfrm>
          <a:prstGeom prst="roundRect">
            <a:avLst>
              <a:gd name="adj" fmla="val 15000"/>
            </a:avLst>
          </a:prstGeom>
          <a:solidFill>
            <a:srgbClr val="E9F4EF"/>
          </a:solidFill>
          <a:ln/>
        </p:spPr>
      </p:sp>
      <p:sp>
        <p:nvSpPr>
          <p:cNvPr id="20" name="Text 17"/>
          <p:cNvSpPr/>
          <p:nvPr/>
        </p:nvSpPr>
        <p:spPr>
          <a:xfrm>
            <a:off x="786384" y="5266944"/>
            <a:ext cx="10625328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MODEL — лише дефолт: жорстке ім'я моделі зникло зі шляху рішення й лишилося в одному місці.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68735" y="643737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9AA1AD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9</a:t>
            </a:fld>
            <a:endParaRPr lang="en-US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402336"/>
            <a:ext cx="640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04</a:t>
            </a:r>
            <a:endParaRPr lang="en-US" sz="2600" dirty="0"/>
          </a:p>
        </p:txBody>
      </p:sp>
      <p:sp>
        <p:nvSpPr>
          <p:cNvPr id="3" name="Text 1"/>
          <p:cNvSpPr/>
          <p:nvPr/>
        </p:nvSpPr>
        <p:spPr>
          <a:xfrm>
            <a:off x="1280160" y="384048"/>
            <a:ext cx="61264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Що ще каже цей код — до того, як вкусить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1280160" y="1193140"/>
            <a:ext cx="777240" cy="256032"/>
          </a:xfrm>
          <a:prstGeom prst="roundRect">
            <a:avLst>
              <a:gd name="adj" fmla="val 50000"/>
            </a:avLst>
          </a:prstGeom>
          <a:solidFill>
            <a:srgbClr val="5A05F4"/>
          </a:solidFill>
          <a:ln/>
        </p:spPr>
      </p:sp>
      <p:sp>
        <p:nvSpPr>
          <p:cNvPr id="5" name="Text 3"/>
          <p:cNvSpPr/>
          <p:nvPr/>
        </p:nvSpPr>
        <p:spPr>
          <a:xfrm>
            <a:off x="1280160" y="1193140"/>
            <a:ext cx="777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ТЕОРІЯ</a:t>
            </a:r>
            <a:endParaRPr lang="en-US" sz="900" dirty="0"/>
          </a:p>
        </p:txBody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6254496"/>
            <a:ext cx="1481328" cy="457200"/>
          </a:xfrm>
          <a:prstGeom prst="rect">
            <a:avLst/>
          </a:prstGeom>
        </p:spPr>
      </p:pic>
      <p:sp>
        <p:nvSpPr>
          <p:cNvPr id="7" name="Shape 4"/>
          <p:cNvSpPr/>
          <p:nvPr/>
        </p:nvSpPr>
        <p:spPr>
          <a:xfrm>
            <a:off x="566928" y="1737360"/>
            <a:ext cx="3520440" cy="1828800"/>
          </a:xfrm>
          <a:prstGeom prst="roundRect">
            <a:avLst>
              <a:gd name="adj" fmla="val 6000"/>
            </a:avLst>
          </a:prstGeom>
          <a:solidFill>
            <a:srgbClr val="E9F4EF"/>
          </a:solidFill>
          <a:ln/>
        </p:spPr>
      </p:sp>
      <p:sp>
        <p:nvSpPr>
          <p:cNvPr id="8" name="Shape 5"/>
          <p:cNvSpPr/>
          <p:nvPr/>
        </p:nvSpPr>
        <p:spPr>
          <a:xfrm>
            <a:off x="768096" y="1920240"/>
            <a:ext cx="384048" cy="384048"/>
          </a:xfrm>
          <a:prstGeom prst="ellipse">
            <a:avLst/>
          </a:prstGeom>
          <a:solidFill>
            <a:srgbClr val="1B8A5A"/>
          </a:solidFill>
          <a:ln/>
        </p:spPr>
      </p:sp>
      <p:sp>
        <p:nvSpPr>
          <p:cNvPr id="9" name="Text 6"/>
          <p:cNvSpPr/>
          <p:nvPr/>
        </p:nvSpPr>
        <p:spPr>
          <a:xfrm>
            <a:off x="768096" y="192024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E9F4E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</a:t>
            </a:r>
            <a:endParaRPr lang="en-US" sz="1200" dirty="0"/>
          </a:p>
        </p:txBody>
      </p:sp>
      <p:sp>
        <p:nvSpPr>
          <p:cNvPr id="10" name="Text 7"/>
          <p:cNvSpPr/>
          <p:nvPr/>
        </p:nvSpPr>
        <p:spPr>
          <a:xfrm>
            <a:off x="1280160" y="189280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B8A5A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Чиста функція = дешеві тести</a:t>
            </a:r>
            <a:endParaRPr lang="en-US" sz="1450" dirty="0"/>
          </a:p>
        </p:txBody>
      </p:sp>
      <p:sp>
        <p:nvSpPr>
          <p:cNvPr id="11" name="Text 8"/>
          <p:cNvSpPr/>
          <p:nvPr/>
        </p:nvSpPr>
        <p:spPr>
          <a:xfrm>
            <a:off x="768096" y="2423160"/>
            <a:ext cx="3118104" cy="9875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рядок на вході, ім'я моделі на виході: десяток assert'ів без стека й бази</a:t>
            </a:r>
            <a:endParaRPr lang="en-US" sz="1200" dirty="0"/>
          </a:p>
        </p:txBody>
      </p:sp>
      <p:sp>
        <p:nvSpPr>
          <p:cNvPr id="12" name="Shape 9"/>
          <p:cNvSpPr/>
          <p:nvPr/>
        </p:nvSpPr>
        <p:spPr>
          <a:xfrm>
            <a:off x="4270248" y="1737360"/>
            <a:ext cx="3520440" cy="18288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6E7EC"/>
            </a:solidFill>
            <a:prstDash val="solid"/>
          </a:ln>
        </p:spPr>
      </p:sp>
      <p:sp>
        <p:nvSpPr>
          <p:cNvPr id="13" name="Shape 10"/>
          <p:cNvSpPr/>
          <p:nvPr/>
        </p:nvSpPr>
        <p:spPr>
          <a:xfrm>
            <a:off x="4471416" y="192024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14" name="Text 11"/>
          <p:cNvSpPr/>
          <p:nvPr/>
        </p:nvSpPr>
        <p:spPr>
          <a:xfrm>
            <a:off x="4471416" y="192024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</a:t>
            </a:r>
            <a:endParaRPr lang="en-US" sz="1200" dirty="0"/>
          </a:p>
        </p:txBody>
      </p:sp>
      <p:sp>
        <p:nvSpPr>
          <p:cNvPr id="15" name="Text 12"/>
          <p:cNvSpPr/>
          <p:nvPr/>
        </p:nvSpPr>
        <p:spPr>
          <a:xfrm>
            <a:off x="4983480" y="189280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Конфлікти маркерів</a:t>
            </a:r>
            <a:endParaRPr lang="en-US" sz="1450" dirty="0"/>
          </a:p>
        </p:txBody>
      </p:sp>
      <p:sp>
        <p:nvSpPr>
          <p:cNvPr id="16" name="Text 13"/>
          <p:cNvSpPr/>
          <p:nvPr/>
        </p:nvSpPr>
        <p:spPr>
          <a:xfrm>
            <a:off x="4471416" y="2423160"/>
            <a:ext cx="3118104" cy="9875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555B66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сумнів — на користь дорожчого: «дякую, але хочу повернути гроші» їде на strong</a:t>
            </a:r>
            <a:endParaRPr lang="en-US" sz="1200" dirty="0"/>
          </a:p>
        </p:txBody>
      </p:sp>
      <p:sp>
        <p:nvSpPr>
          <p:cNvPr id="17" name="Shape 14"/>
          <p:cNvSpPr/>
          <p:nvPr/>
        </p:nvSpPr>
        <p:spPr>
          <a:xfrm>
            <a:off x="7973568" y="1737360"/>
            <a:ext cx="3520440" cy="1828800"/>
          </a:xfrm>
          <a:prstGeom prst="roundRect">
            <a:avLst>
              <a:gd name="adj" fmla="val 6000"/>
            </a:avLst>
          </a:prstGeom>
          <a:solidFill>
            <a:srgbClr val="F8F0E2"/>
          </a:solidFill>
          <a:ln/>
        </p:spPr>
      </p:sp>
      <p:sp>
        <p:nvSpPr>
          <p:cNvPr id="18" name="Shape 15"/>
          <p:cNvSpPr/>
          <p:nvPr/>
        </p:nvSpPr>
        <p:spPr>
          <a:xfrm>
            <a:off x="8174736" y="1920240"/>
            <a:ext cx="384048" cy="384048"/>
          </a:xfrm>
          <a:prstGeom prst="ellipse">
            <a:avLst/>
          </a:prstGeom>
          <a:solidFill>
            <a:srgbClr val="9A5B12"/>
          </a:solidFill>
          <a:ln/>
        </p:spPr>
      </p:sp>
      <p:sp>
        <p:nvSpPr>
          <p:cNvPr id="19" name="Text 16"/>
          <p:cNvSpPr/>
          <p:nvPr/>
        </p:nvSpPr>
        <p:spPr>
          <a:xfrm>
            <a:off x="8174736" y="192024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8F0E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3</a:t>
            </a:r>
            <a:endParaRPr lang="en-US" sz="1200" dirty="0"/>
          </a:p>
        </p:txBody>
      </p:sp>
      <p:sp>
        <p:nvSpPr>
          <p:cNvPr id="20" name="Text 17"/>
          <p:cNvSpPr/>
          <p:nvPr/>
        </p:nvSpPr>
        <p:spPr>
          <a:xfrm>
            <a:off x="8686800" y="189280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9A5B12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Маркери двомовні</a:t>
            </a:r>
            <a:endParaRPr lang="en-US" sz="1450" dirty="0"/>
          </a:p>
        </p:txBody>
      </p:sp>
      <p:sp>
        <p:nvSpPr>
          <p:cNvPr id="21" name="Text 18"/>
          <p:cNvSpPr/>
          <p:nvPr/>
        </p:nvSpPr>
        <p:spPr>
          <a:xfrm>
            <a:off x="8174736" y="2423160"/>
            <a:ext cx="3118104" cy="9875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«поверн» і «refund» навмисно: у проді словники розповзаються по мовах</a:t>
            </a:r>
            <a:endParaRPr lang="en-US" sz="1200" dirty="0"/>
          </a:p>
        </p:txBody>
      </p:sp>
      <p:sp>
        <p:nvSpPr>
          <p:cNvPr id="22" name="Shape 19"/>
          <p:cNvSpPr/>
          <p:nvPr/>
        </p:nvSpPr>
        <p:spPr>
          <a:xfrm>
            <a:off x="566928" y="3977640"/>
            <a:ext cx="11064240" cy="1371600"/>
          </a:xfrm>
          <a:prstGeom prst="roundRect">
            <a:avLst>
              <a:gd name="adj" fmla="val 8000"/>
            </a:avLst>
          </a:prstGeom>
          <a:solidFill>
            <a:srgbClr val="5A05F4"/>
          </a:solidFill>
          <a:ln/>
        </p:spPr>
      </p:sp>
      <p:sp>
        <p:nvSpPr>
          <p:cNvPr id="23" name="Text 20"/>
          <p:cNvSpPr/>
          <p:nvPr/>
        </p:nvSpPr>
        <p:spPr>
          <a:xfrm>
            <a:off x="786384" y="4105656"/>
            <a:ext cx="1062532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150" kern="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З ОДНИМ РЕАЛЬНИМ КЛЮЧЕМ РОУТЕР ВИРОДЖУЄТЬСЯ</a:t>
            </a:r>
            <a:endParaRPr lang="en-US" sz="950" dirty="0"/>
          </a:p>
        </p:txBody>
      </p:sp>
      <p:sp>
        <p:nvSpPr>
          <p:cNvPr id="24" name="Text 21"/>
          <p:cNvSpPr/>
          <p:nvPr/>
        </p:nvSpPr>
        <p:spPr>
          <a:xfrm>
            <a:off x="786384" y="4361688"/>
            <a:ext cx="10625328" cy="8595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Щойно MODEL не «mock», Route() повертає задану модель — другої в конфізі немає. Це чесний стан контуру з одним провайдером, а не «роутинг вимкнули».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68735" y="643737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9AA1AD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10</a:t>
            </a:fld>
            <a:endParaRPr lang="en-US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402336"/>
            <a:ext cx="640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05</a:t>
            </a:r>
            <a:endParaRPr lang="en-US" sz="2600" dirty="0"/>
          </a:p>
        </p:txBody>
      </p:sp>
      <p:sp>
        <p:nvSpPr>
          <p:cNvPr id="3" name="Text 1"/>
          <p:cNvSpPr/>
          <p:nvPr/>
        </p:nvSpPr>
        <p:spPr>
          <a:xfrm>
            <a:off x="1280160" y="384048"/>
            <a:ext cx="61264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Маршрут — за задачею, не за текстом-в-лоб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1280160" y="1193140"/>
            <a:ext cx="777240" cy="256032"/>
          </a:xfrm>
          <a:prstGeom prst="roundRect">
            <a:avLst>
              <a:gd name="adj" fmla="val 50000"/>
            </a:avLst>
          </a:prstGeom>
          <a:solidFill>
            <a:srgbClr val="5A05F4"/>
          </a:solidFill>
          <a:ln/>
        </p:spPr>
      </p:sp>
      <p:sp>
        <p:nvSpPr>
          <p:cNvPr id="5" name="Text 3"/>
          <p:cNvSpPr/>
          <p:nvPr/>
        </p:nvSpPr>
        <p:spPr>
          <a:xfrm>
            <a:off x="1280160" y="1193140"/>
            <a:ext cx="777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ТЕОРІЯ</a:t>
            </a:r>
            <a:endParaRPr lang="en-US" sz="900" dirty="0"/>
          </a:p>
        </p:txBody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6254496"/>
            <a:ext cx="1481328" cy="457200"/>
          </a:xfrm>
          <a:prstGeom prst="rect">
            <a:avLst/>
          </a:prstGeom>
        </p:spPr>
      </p:pic>
      <p:sp>
        <p:nvSpPr>
          <p:cNvPr id="7" name="Shape 4"/>
          <p:cNvSpPr/>
          <p:nvPr/>
        </p:nvSpPr>
        <p:spPr>
          <a:xfrm>
            <a:off x="566928" y="1783080"/>
            <a:ext cx="11064240" cy="822960"/>
          </a:xfrm>
          <a:prstGeom prst="roundRect">
            <a:avLst>
              <a:gd name="adj" fmla="val 11111"/>
            </a:avLst>
          </a:prstGeom>
          <a:solidFill>
            <a:srgbClr val="FFFFFF"/>
          </a:solidFill>
          <a:ln w="12700">
            <a:solidFill>
              <a:srgbClr val="E6E7EC"/>
            </a:solidFill>
            <a:prstDash val="solid"/>
          </a:ln>
        </p:spPr>
      </p:sp>
      <p:sp>
        <p:nvSpPr>
          <p:cNvPr id="8" name="Text 5"/>
          <p:cNvSpPr/>
          <p:nvPr/>
        </p:nvSpPr>
        <p:spPr>
          <a:xfrm>
            <a:off x="786384" y="1783080"/>
            <a:ext cx="376184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Наш рівень</a:t>
            </a:r>
            <a:endParaRPr lang="en-US" sz="1350" dirty="0"/>
          </a:p>
        </p:txBody>
      </p:sp>
      <p:sp>
        <p:nvSpPr>
          <p:cNvPr id="9" name="Text 6"/>
          <p:cNvSpPr/>
          <p:nvPr/>
        </p:nvSpPr>
        <p:spPr>
          <a:xfrm>
            <a:off x="4548226" y="1783080"/>
            <a:ext cx="6640373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555B66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маркери в тексті: дешево, прозоро, зрозуміло на розборі; ламається на перефразуванні</a:t>
            </a:r>
            <a:endParaRPr lang="en-US" sz="1150" dirty="0"/>
          </a:p>
        </p:txBody>
      </p:sp>
      <p:sp>
        <p:nvSpPr>
          <p:cNvPr id="10" name="Shape 7"/>
          <p:cNvSpPr/>
          <p:nvPr/>
        </p:nvSpPr>
        <p:spPr>
          <a:xfrm>
            <a:off x="566928" y="2752344"/>
            <a:ext cx="11064240" cy="822960"/>
          </a:xfrm>
          <a:prstGeom prst="roundRect">
            <a:avLst>
              <a:gd name="adj" fmla="val 11111"/>
            </a:avLst>
          </a:prstGeom>
          <a:solidFill>
            <a:srgbClr val="EFEAFE"/>
          </a:solidFill>
          <a:ln/>
        </p:spPr>
      </p:sp>
      <p:sp>
        <p:nvSpPr>
          <p:cNvPr id="11" name="Text 8"/>
          <p:cNvSpPr/>
          <p:nvPr/>
        </p:nvSpPr>
        <p:spPr>
          <a:xfrm>
            <a:off x="786384" y="2752344"/>
            <a:ext cx="376184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5A05F4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Доросліше</a:t>
            </a:r>
            <a:endParaRPr lang="en-US" sz="1350" dirty="0"/>
          </a:p>
        </p:txBody>
      </p:sp>
      <p:sp>
        <p:nvSpPr>
          <p:cNvPr id="12" name="Text 9"/>
          <p:cNvSpPr/>
          <p:nvPr/>
        </p:nvSpPr>
        <p:spPr>
          <a:xfrm>
            <a:off x="4548226" y="2752344"/>
            <a:ext cx="6640373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тенант, фіча, пріоритет клієнта, ліміт бюджету — текст лише один із сигналів</a:t>
            </a:r>
            <a:endParaRPr lang="en-US" sz="1150" dirty="0"/>
          </a:p>
        </p:txBody>
      </p:sp>
      <p:sp>
        <p:nvSpPr>
          <p:cNvPr id="13" name="Shape 10"/>
          <p:cNvSpPr/>
          <p:nvPr/>
        </p:nvSpPr>
        <p:spPr>
          <a:xfrm>
            <a:off x="566928" y="3721608"/>
            <a:ext cx="11064240" cy="822960"/>
          </a:xfrm>
          <a:prstGeom prst="roundRect">
            <a:avLst>
              <a:gd name="adj" fmla="val 11111"/>
            </a:avLst>
          </a:prstGeom>
          <a:solidFill>
            <a:srgbClr val="F8F0E2"/>
          </a:solidFill>
          <a:ln/>
        </p:spPr>
      </p:sp>
      <p:sp>
        <p:nvSpPr>
          <p:cNvPr id="14" name="Text 11"/>
          <p:cNvSpPr/>
          <p:nvPr/>
        </p:nvSpPr>
        <p:spPr>
          <a:xfrm>
            <a:off x="786384" y="3721608"/>
            <a:ext cx="376184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9A5B12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Режим мислення</a:t>
            </a:r>
            <a:endParaRPr lang="en-US" sz="1350" dirty="0"/>
          </a:p>
        </p:txBody>
      </p:sp>
      <p:sp>
        <p:nvSpPr>
          <p:cNvPr id="15" name="Text 12"/>
          <p:cNvSpPr/>
          <p:nvPr/>
        </p:nvSpPr>
        <p:spPr>
          <a:xfrm>
            <a:off x="4548226" y="3721608"/>
            <a:ext cx="6640373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та сама модель у глибокому режимі коштує в рази більше — вмикати за явним критерієм</a:t>
            </a:r>
            <a:endParaRPr lang="en-US" sz="1150" dirty="0"/>
          </a:p>
        </p:txBody>
      </p:sp>
      <p:sp>
        <p:nvSpPr>
          <p:cNvPr id="16" name="Shape 13"/>
          <p:cNvSpPr/>
          <p:nvPr/>
        </p:nvSpPr>
        <p:spPr>
          <a:xfrm>
            <a:off x="566928" y="4754880"/>
            <a:ext cx="11064240" cy="1097280"/>
          </a:xfrm>
          <a:prstGeom prst="roundRect">
            <a:avLst>
              <a:gd name="adj" fmla="val 10000"/>
            </a:avLst>
          </a:prstGeom>
          <a:solidFill>
            <a:srgbClr val="E9F4EF"/>
          </a:solidFill>
          <a:ln/>
        </p:spPr>
      </p:sp>
      <p:sp>
        <p:nvSpPr>
          <p:cNvPr id="17" name="Text 14"/>
          <p:cNvSpPr/>
          <p:nvPr/>
        </p:nvSpPr>
        <p:spPr>
          <a:xfrm>
            <a:off x="786384" y="4882896"/>
            <a:ext cx="1062532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150" kern="0" dirty="0">
                <a:solidFill>
                  <a:srgbClr val="1B8A5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ПРИНЦИП</a:t>
            </a:r>
            <a:endParaRPr lang="en-US" sz="950" dirty="0"/>
          </a:p>
        </p:txBody>
      </p:sp>
      <p:sp>
        <p:nvSpPr>
          <p:cNvPr id="18" name="Text 15"/>
          <p:cNvSpPr/>
          <p:nvPr/>
        </p:nvSpPr>
        <p:spPr>
          <a:xfrm>
            <a:off x="786384" y="5138928"/>
            <a:ext cx="10625328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Дешеве — дешевій моделі, складне — сильній, рішення — задокументоване. Якщо не можете пояснити маршрут словами, у вас не політика, а випадковість.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68735" y="643737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9AA1AD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11</a:t>
            </a:fld>
            <a:endParaRPr lang="en-US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402336"/>
            <a:ext cx="640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06</a:t>
            </a:r>
            <a:endParaRPr lang="en-US" sz="2600" dirty="0"/>
          </a:p>
        </p:txBody>
      </p:sp>
      <p:sp>
        <p:nvSpPr>
          <p:cNvPr id="3" name="Text 1"/>
          <p:cNvSpPr/>
          <p:nvPr/>
        </p:nvSpPr>
        <p:spPr>
          <a:xfrm>
            <a:off x="1280160" y="384048"/>
            <a:ext cx="61264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Скільки коштує саме рішення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1280160" y="1024128"/>
            <a:ext cx="777240" cy="256032"/>
          </a:xfrm>
          <a:prstGeom prst="roundRect">
            <a:avLst>
              <a:gd name="adj" fmla="val 50000"/>
            </a:avLst>
          </a:prstGeom>
          <a:solidFill>
            <a:srgbClr val="5A05F4"/>
          </a:solidFill>
          <a:ln/>
        </p:spPr>
      </p:sp>
      <p:sp>
        <p:nvSpPr>
          <p:cNvPr id="5" name="Text 3"/>
          <p:cNvSpPr/>
          <p:nvPr/>
        </p:nvSpPr>
        <p:spPr>
          <a:xfrm>
            <a:off x="1280160" y="1024128"/>
            <a:ext cx="777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ТЕОРІЯ</a:t>
            </a:r>
            <a:endParaRPr lang="en-US" sz="900" dirty="0"/>
          </a:p>
        </p:txBody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6254496"/>
            <a:ext cx="1481328" cy="457200"/>
          </a:xfrm>
          <a:prstGeom prst="rect">
            <a:avLst/>
          </a:prstGeom>
        </p:spPr>
      </p:pic>
      <p:graphicFrame>
        <p:nvGraphicFramePr>
          <p:cNvPr id="13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66928" y="1737360"/>
          <a:ext cx="11064240" cy="914400"/>
        </p:xfrm>
        <a:graphic>
          <a:graphicData uri="http://schemas.openxmlformats.org/drawingml/2006/table">
            <a:tbl>
              <a:tblPr/>
              <a:tblGrid>
                <a:gridCol w="3291840"/>
                <a:gridCol w="3657600"/>
                <a:gridCol w="4114800"/>
              </a:tblGrid>
              <a:tr h="5486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spc="100" kern="0" dirty="0">
                          <a:solidFill>
                            <a:srgbClr val="9AA1AD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спосіб вирішити</a:t>
                      </a:r>
                      <a:endParaRPr lang="en-US" sz="9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5FB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spc="100" kern="0" dirty="0">
                          <a:solidFill>
                            <a:srgbClr val="9AA1AD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що додає до кожного запиту</a:t>
                      </a:r>
                      <a:endParaRPr lang="en-US" sz="9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5FB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spc="100" kern="0" dirty="0">
                          <a:solidFill>
                            <a:srgbClr val="9AA1AD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коли доречний</a:t>
                      </a:r>
                      <a:endParaRPr lang="en-US" sz="9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5FB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1B8A5A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Правила / маркери в тексті</a:t>
                      </a:r>
                      <a:endParaRPr lang="en-US" sz="115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9F4E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11318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частки мілісекунди, нуль токенів</a:t>
                      </a:r>
                      <a:endParaRPr lang="en-US" sz="115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9F4E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11318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класів мало, описуються словником — наш випадок</a:t>
                      </a:r>
                      <a:endParaRPr lang="en-US" sz="115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9F4EF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111318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Дешева модель-класифікатор</a:t>
                      </a:r>
                      <a:endParaRPr lang="en-US" sz="115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11318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додатковий виклик: латентність і токени</a:t>
                      </a:r>
                      <a:endParaRPr lang="en-US" sz="115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11318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словники розповзлися по мовах, класів більше трьох</a:t>
                      </a:r>
                      <a:endParaRPr lang="en-US" sz="115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111318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Класифікація за схожістю</a:t>
                      </a:r>
                      <a:endParaRPr lang="en-US" sz="115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11318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виклик за векторами + сховище й індекс</a:t>
                      </a:r>
                      <a:endParaRPr lang="en-US" sz="115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11318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класів десятки і вони змінюються без релізу</a:t>
                      </a:r>
                      <a:endParaRPr lang="en-US" sz="115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8" name="Shape 4"/>
          <p:cNvSpPr/>
          <p:nvPr/>
        </p:nvSpPr>
        <p:spPr>
          <a:xfrm>
            <a:off x="566928" y="4206240"/>
            <a:ext cx="11064240" cy="1188720"/>
          </a:xfrm>
          <a:prstGeom prst="roundRect">
            <a:avLst>
              <a:gd name="adj" fmla="val 9231"/>
            </a:avLst>
          </a:prstGeom>
          <a:solidFill>
            <a:srgbClr val="5A05F4"/>
          </a:solidFill>
          <a:ln/>
        </p:spPr>
      </p:sp>
      <p:sp>
        <p:nvSpPr>
          <p:cNvPr id="9" name="Text 5"/>
          <p:cNvSpPr/>
          <p:nvPr/>
        </p:nvSpPr>
        <p:spPr>
          <a:xfrm>
            <a:off x="786384" y="4352544"/>
            <a:ext cx="10625328" cy="8961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Арифметика проста: якщо рішення коштує дорожче за різницю між моделями — воно не окупається. Починайте з найдешевшого способу і ускладнюйте за сигналом.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68735" y="643737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9AA1AD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12</a:t>
            </a:fld>
            <a:endParaRPr lang="en-US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402336"/>
            <a:ext cx="640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06</a:t>
            </a:r>
            <a:endParaRPr lang="en-US" sz="2600" dirty="0"/>
          </a:p>
        </p:txBody>
      </p:sp>
      <p:sp>
        <p:nvSpPr>
          <p:cNvPr id="3" name="Text 1"/>
          <p:cNvSpPr/>
          <p:nvPr/>
        </p:nvSpPr>
        <p:spPr>
          <a:xfrm>
            <a:off x="1280160" y="384048"/>
            <a:ext cx="61264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Один користувач — один маршрут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1280160" y="1024128"/>
            <a:ext cx="777240" cy="256032"/>
          </a:xfrm>
          <a:prstGeom prst="roundRect">
            <a:avLst>
              <a:gd name="adj" fmla="val 50000"/>
            </a:avLst>
          </a:prstGeom>
          <a:solidFill>
            <a:srgbClr val="5A05F4"/>
          </a:solidFill>
          <a:ln/>
        </p:spPr>
      </p:sp>
      <p:sp>
        <p:nvSpPr>
          <p:cNvPr id="5" name="Text 3"/>
          <p:cNvSpPr/>
          <p:nvPr/>
        </p:nvSpPr>
        <p:spPr>
          <a:xfrm>
            <a:off x="1280160" y="1024128"/>
            <a:ext cx="777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ТЕОРІЯ</a:t>
            </a:r>
            <a:endParaRPr lang="en-US" sz="900" dirty="0"/>
          </a:p>
        </p:txBody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6254496"/>
            <a:ext cx="1481328" cy="457200"/>
          </a:xfrm>
          <a:prstGeom prst="rect">
            <a:avLst/>
          </a:prstGeom>
        </p:spPr>
      </p:pic>
      <p:sp>
        <p:nvSpPr>
          <p:cNvPr id="7" name="Shape 4"/>
          <p:cNvSpPr/>
          <p:nvPr/>
        </p:nvSpPr>
        <p:spPr>
          <a:xfrm>
            <a:off x="566928" y="1920240"/>
            <a:ext cx="3383280" cy="731520"/>
          </a:xfrm>
          <a:prstGeom prst="roundRect">
            <a:avLst>
              <a:gd name="adj" fmla="val 12500"/>
            </a:avLst>
          </a:prstGeom>
          <a:solidFill>
            <a:srgbClr val="FBE9E9"/>
          </a:solidFill>
          <a:ln/>
        </p:spPr>
      </p:sp>
      <p:sp>
        <p:nvSpPr>
          <p:cNvPr id="8" name="Text 5"/>
          <p:cNvSpPr/>
          <p:nvPr/>
        </p:nvSpPr>
        <p:spPr>
          <a:xfrm>
            <a:off x="621792" y="1920240"/>
            <a:ext cx="3273552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C62A2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питання 1 → сильна</a:t>
            </a:r>
            <a:endParaRPr lang="en-US" sz="1100" dirty="0"/>
          </a:p>
        </p:txBody>
      </p:sp>
      <p:sp>
        <p:nvSpPr>
          <p:cNvPr id="9" name="Shape 6"/>
          <p:cNvSpPr/>
          <p:nvPr/>
        </p:nvSpPr>
        <p:spPr>
          <a:xfrm>
            <a:off x="4041648" y="2286000"/>
            <a:ext cx="164592" cy="0"/>
          </a:xfrm>
          <a:prstGeom prst="line">
            <a:avLst/>
          </a:prstGeom>
          <a:noFill/>
          <a:ln w="15875">
            <a:solidFill>
              <a:srgbClr val="C9B8FB"/>
            </a:solidFill>
            <a:prstDash val="solid"/>
          </a:ln>
        </p:spPr>
      </p:sp>
      <p:sp>
        <p:nvSpPr>
          <p:cNvPr id="10" name="Shape 7"/>
          <p:cNvSpPr/>
          <p:nvPr/>
        </p:nvSpPr>
        <p:spPr>
          <a:xfrm rot="5400000">
            <a:off x="4169664" y="2217420"/>
            <a:ext cx="146304" cy="137160"/>
          </a:xfrm>
          <a:prstGeom prst="triangle">
            <a:avLst/>
          </a:prstGeom>
          <a:solidFill>
            <a:srgbClr val="C9B8FB"/>
          </a:solidFill>
          <a:ln/>
        </p:spPr>
      </p:sp>
      <p:sp>
        <p:nvSpPr>
          <p:cNvPr id="11" name="Shape 8"/>
          <p:cNvSpPr/>
          <p:nvPr/>
        </p:nvSpPr>
        <p:spPr>
          <a:xfrm>
            <a:off x="4407408" y="1920240"/>
            <a:ext cx="3383280" cy="731520"/>
          </a:xfrm>
          <a:prstGeom prst="roundRect">
            <a:avLst>
              <a:gd name="adj" fmla="val 12500"/>
            </a:avLst>
          </a:prstGeom>
          <a:solidFill>
            <a:srgbClr val="F8F0E2"/>
          </a:solidFill>
          <a:ln/>
        </p:spPr>
      </p:sp>
      <p:sp>
        <p:nvSpPr>
          <p:cNvPr id="12" name="Text 9"/>
          <p:cNvSpPr/>
          <p:nvPr/>
        </p:nvSpPr>
        <p:spPr>
          <a:xfrm>
            <a:off x="4462272" y="1920240"/>
            <a:ext cx="3273552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9A5B1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питання 2 → дешева</a:t>
            </a:r>
            <a:endParaRPr lang="en-US" sz="1100" dirty="0"/>
          </a:p>
        </p:txBody>
      </p:sp>
      <p:sp>
        <p:nvSpPr>
          <p:cNvPr id="13" name="Shape 10"/>
          <p:cNvSpPr/>
          <p:nvPr/>
        </p:nvSpPr>
        <p:spPr>
          <a:xfrm>
            <a:off x="7882128" y="2286000"/>
            <a:ext cx="164592" cy="0"/>
          </a:xfrm>
          <a:prstGeom prst="line">
            <a:avLst/>
          </a:prstGeom>
          <a:noFill/>
          <a:ln w="15875">
            <a:solidFill>
              <a:srgbClr val="C9B8FB"/>
            </a:solidFill>
            <a:prstDash val="solid"/>
          </a:ln>
        </p:spPr>
      </p:sp>
      <p:sp>
        <p:nvSpPr>
          <p:cNvPr id="14" name="Shape 11"/>
          <p:cNvSpPr/>
          <p:nvPr/>
        </p:nvSpPr>
        <p:spPr>
          <a:xfrm rot="5400000">
            <a:off x="8010144" y="2217420"/>
            <a:ext cx="146304" cy="137160"/>
          </a:xfrm>
          <a:prstGeom prst="triangle">
            <a:avLst/>
          </a:prstGeom>
          <a:solidFill>
            <a:srgbClr val="C9B8FB"/>
          </a:solidFill>
          <a:ln/>
        </p:spPr>
      </p:sp>
      <p:sp>
        <p:nvSpPr>
          <p:cNvPr id="15" name="Shape 12"/>
          <p:cNvSpPr/>
          <p:nvPr/>
        </p:nvSpPr>
        <p:spPr>
          <a:xfrm>
            <a:off x="8247888" y="1920240"/>
            <a:ext cx="3383280" cy="731520"/>
          </a:xfrm>
          <a:prstGeom prst="roundRect">
            <a:avLst>
              <a:gd name="adj" fmla="val 12500"/>
            </a:avLst>
          </a:prstGeom>
          <a:solidFill>
            <a:srgbClr val="FBE9E9"/>
          </a:solidFill>
          <a:ln/>
        </p:spPr>
      </p:sp>
      <p:sp>
        <p:nvSpPr>
          <p:cNvPr id="16" name="Text 13"/>
          <p:cNvSpPr/>
          <p:nvPr/>
        </p:nvSpPr>
        <p:spPr>
          <a:xfrm>
            <a:off x="8302752" y="1920240"/>
            <a:ext cx="3273552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C62A2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питання 3 → сильна</a:t>
            </a:r>
            <a:endParaRPr lang="en-US" sz="1100" dirty="0"/>
          </a:p>
        </p:txBody>
      </p:sp>
      <p:sp>
        <p:nvSpPr>
          <p:cNvPr id="17" name="Text 14"/>
          <p:cNvSpPr/>
          <p:nvPr/>
        </p:nvSpPr>
        <p:spPr>
          <a:xfrm>
            <a:off x="566928" y="2788920"/>
            <a:ext cx="10972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555B66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співрозмовник у користувача змінюється посеред розмови</a:t>
            </a:r>
            <a:endParaRPr lang="en-US" sz="1200" dirty="0"/>
          </a:p>
        </p:txBody>
      </p:sp>
      <p:sp>
        <p:nvSpPr>
          <p:cNvPr id="18" name="Shape 15"/>
          <p:cNvSpPr/>
          <p:nvPr/>
        </p:nvSpPr>
        <p:spPr>
          <a:xfrm>
            <a:off x="566928" y="3291840"/>
            <a:ext cx="11064240" cy="1234440"/>
          </a:xfrm>
          <a:prstGeom prst="roundRect">
            <a:avLst>
              <a:gd name="adj" fmla="val 8889"/>
            </a:avLst>
          </a:prstGeom>
          <a:solidFill>
            <a:srgbClr val="E9F4EF"/>
          </a:solidFill>
          <a:ln/>
        </p:spPr>
      </p:sp>
      <p:sp>
        <p:nvSpPr>
          <p:cNvPr id="19" name="Text 16"/>
          <p:cNvSpPr/>
          <p:nvPr/>
        </p:nvSpPr>
        <p:spPr>
          <a:xfrm>
            <a:off x="786384" y="3419856"/>
            <a:ext cx="1062532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150" kern="0" dirty="0">
                <a:solidFill>
                  <a:srgbClr val="1B8A5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ЛІКУВАННЯ</a:t>
            </a:r>
            <a:endParaRPr lang="en-US" sz="950" dirty="0"/>
          </a:p>
        </p:txBody>
      </p:sp>
      <p:sp>
        <p:nvSpPr>
          <p:cNvPr id="20" name="Text 17"/>
          <p:cNvSpPr/>
          <p:nvPr/>
        </p:nvSpPr>
        <p:spPr>
          <a:xfrm>
            <a:off x="786384" y="3675888"/>
            <a:ext cx="10625328" cy="7223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Маршрут стабільний у межах сесії: вибір за хешем розмови, не на кожну репліку.</a:t>
            </a:r>
            <a:endParaRPr lang="en-US" sz="1300" dirty="0"/>
          </a:p>
        </p:txBody>
      </p:sp>
      <p:sp>
        <p:nvSpPr>
          <p:cNvPr id="21" name="Shape 18"/>
          <p:cNvSpPr/>
          <p:nvPr/>
        </p:nvSpPr>
        <p:spPr>
          <a:xfrm>
            <a:off x="566928" y="4709160"/>
            <a:ext cx="11064240" cy="1143000"/>
          </a:xfrm>
          <a:prstGeom prst="roundRect">
            <a:avLst>
              <a:gd name="adj" fmla="val 9600"/>
            </a:avLst>
          </a:prstGeom>
          <a:solidFill>
            <a:srgbClr val="FBE9E9"/>
          </a:solidFill>
          <a:ln/>
        </p:spPr>
      </p:sp>
      <p:sp>
        <p:nvSpPr>
          <p:cNvPr id="22" name="Text 19"/>
          <p:cNvSpPr/>
          <p:nvPr/>
        </p:nvSpPr>
        <p:spPr>
          <a:xfrm>
            <a:off x="786384" y="4837176"/>
            <a:ext cx="1062532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150" kern="0" dirty="0">
                <a:solidFill>
                  <a:srgbClr val="C62A2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ТИПОВА ПОМИЛКА</a:t>
            </a:r>
            <a:endParaRPr lang="en-US" sz="950" dirty="0"/>
          </a:p>
        </p:txBody>
      </p:sp>
      <p:sp>
        <p:nvSpPr>
          <p:cNvPr id="23" name="Text 20"/>
          <p:cNvSpPr/>
          <p:nvPr/>
        </p:nvSpPr>
        <p:spPr>
          <a:xfrm>
            <a:off x="786384" y="5093208"/>
            <a:ext cx="10625328" cy="6309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Роутинг за випадковим числом: непередбачувано і невідтворювано.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68735" y="643737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9AA1AD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13</a:t>
            </a:fld>
            <a:endParaRPr lang="en-US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402336"/>
            <a:ext cx="640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06</a:t>
            </a:r>
            <a:endParaRPr lang="en-US" sz="2600" dirty="0"/>
          </a:p>
        </p:txBody>
      </p:sp>
      <p:sp>
        <p:nvSpPr>
          <p:cNvPr id="3" name="Text 1"/>
          <p:cNvSpPr/>
          <p:nvPr/>
        </p:nvSpPr>
        <p:spPr>
          <a:xfrm>
            <a:off x="1280160" y="384048"/>
            <a:ext cx="61264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«У нас одна модель» — усе одно є що маршрутизувати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1280160" y="1193140"/>
            <a:ext cx="777240" cy="256032"/>
          </a:xfrm>
          <a:prstGeom prst="roundRect">
            <a:avLst>
              <a:gd name="adj" fmla="val 50000"/>
            </a:avLst>
          </a:prstGeom>
          <a:solidFill>
            <a:srgbClr val="5A05F4"/>
          </a:solidFill>
          <a:ln/>
        </p:spPr>
      </p:sp>
      <p:sp>
        <p:nvSpPr>
          <p:cNvPr id="5" name="Text 3"/>
          <p:cNvSpPr/>
          <p:nvPr/>
        </p:nvSpPr>
        <p:spPr>
          <a:xfrm>
            <a:off x="1280160" y="1193140"/>
            <a:ext cx="777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ТЕОРІЯ</a:t>
            </a:r>
            <a:endParaRPr lang="en-US" sz="900" dirty="0"/>
          </a:p>
        </p:txBody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6254496"/>
            <a:ext cx="1481328" cy="457200"/>
          </a:xfrm>
          <a:prstGeom prst="rect">
            <a:avLst/>
          </a:prstGeom>
        </p:spPr>
      </p:pic>
      <p:graphicFrame>
        <p:nvGraphicFramePr>
          <p:cNvPr id="15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66928" y="1737360"/>
          <a:ext cx="11064240" cy="914400"/>
        </p:xfrm>
        <a:graphic>
          <a:graphicData uri="http://schemas.openxmlformats.org/drawingml/2006/table">
            <a:tbl>
              <a:tblPr/>
              <a:tblGrid>
                <a:gridCol w="2560320"/>
                <a:gridCol w="4206240"/>
                <a:gridCol w="4297680"/>
              </a:tblGrid>
              <a:tr h="60350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spc="100" kern="0" dirty="0">
                          <a:solidFill>
                            <a:srgbClr val="9AA1AD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що маршрутизуємо</a:t>
                      </a:r>
                      <a:endParaRPr lang="en-US" sz="9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5FB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spc="100" kern="0" dirty="0">
                          <a:solidFill>
                            <a:srgbClr val="9AA1AD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приклад рішення</a:t>
                      </a:r>
                      <a:endParaRPr lang="en-US" sz="9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5FB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spc="100" kern="0" dirty="0">
                          <a:solidFill>
                            <a:srgbClr val="9AA1AD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що дає</a:t>
                      </a:r>
                      <a:endParaRPr lang="en-US" sz="9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5FB"/>
                    </a:solidFill>
                  </a:tcPr>
                </a:tc>
              </a:tr>
              <a:tr h="60350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111318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max_tokens</a:t>
                      </a:r>
                      <a:endParaRPr lang="en-US" sz="115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11318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коротка відповідь на FAQ, довга на скаргу</a:t>
                      </a:r>
                      <a:endParaRPr lang="en-US" sz="115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11318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стеля вартості на клас запиту</a:t>
                      </a:r>
                      <a:endParaRPr lang="en-US" sz="115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60350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111318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temperature</a:t>
                      </a:r>
                      <a:endParaRPr lang="en-US" sz="115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11318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мінімальна для довідкових, вища для формулювань</a:t>
                      </a:r>
                      <a:endParaRPr lang="en-US" sz="115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11318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передбачуваність там, де потрібна</a:t>
                      </a:r>
                      <a:endParaRPr lang="en-US" sz="115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60350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111318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Версія промпта</a:t>
                      </a:r>
                      <a:endParaRPr lang="en-US" sz="115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11318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ескалації — свій промпт, FAQ — свій</a:t>
                      </a:r>
                      <a:endParaRPr lang="en-US" sz="115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11318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той самий реєстр з уроку 2</a:t>
                      </a:r>
                      <a:endParaRPr lang="en-US" sz="115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60350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111318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Набір інструментів</a:t>
                      </a:r>
                      <a:endParaRPr lang="en-US" sz="115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11318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read-only для загальних, повний для авторизованих</a:t>
                      </a:r>
                      <a:endParaRPr lang="en-US" sz="115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11318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менша поверхня для injection</a:t>
                      </a:r>
                      <a:endParaRPr lang="en-US" sz="115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8" name="Shape 4"/>
          <p:cNvSpPr/>
          <p:nvPr/>
        </p:nvSpPr>
        <p:spPr>
          <a:xfrm>
            <a:off x="566928" y="4937760"/>
            <a:ext cx="11064240" cy="91440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2700">
            <a:solidFill>
              <a:srgbClr val="E6E7EC"/>
            </a:solidFill>
            <a:prstDash val="solid"/>
          </a:ln>
        </p:spPr>
      </p:sp>
      <p:sp>
        <p:nvSpPr>
          <p:cNvPr id="9" name="Text 5"/>
          <p:cNvSpPr/>
          <p:nvPr/>
        </p:nvSpPr>
        <p:spPr>
          <a:xfrm>
            <a:off x="786384" y="5084064"/>
            <a:ext cx="10625328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Маршрутизація — не про кількість провайдерів, а про те, що рішення про виклик ухвалюється свідомо.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68735" y="643737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9AA1AD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14</a:t>
            </a:fld>
            <a:endParaRPr lang="en-US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402336"/>
            <a:ext cx="640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07</a:t>
            </a:r>
            <a:endParaRPr lang="en-US" sz="2600" dirty="0"/>
          </a:p>
        </p:txBody>
      </p:sp>
      <p:sp>
        <p:nvSpPr>
          <p:cNvPr id="3" name="Text 1"/>
          <p:cNvSpPr/>
          <p:nvPr/>
        </p:nvSpPr>
        <p:spPr>
          <a:xfrm>
            <a:off x="1280160" y="384048"/>
            <a:ext cx="61264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Fallback-порядок: політика, яку сьогодні оголосимо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1280160" y="1193140"/>
            <a:ext cx="777240" cy="256032"/>
          </a:xfrm>
          <a:prstGeom prst="roundRect">
            <a:avLst>
              <a:gd name="adj" fmla="val 50000"/>
            </a:avLst>
          </a:prstGeom>
          <a:solidFill>
            <a:srgbClr val="5A05F4"/>
          </a:solidFill>
          <a:ln/>
        </p:spPr>
      </p:sp>
      <p:sp>
        <p:nvSpPr>
          <p:cNvPr id="5" name="Text 3"/>
          <p:cNvSpPr/>
          <p:nvPr/>
        </p:nvSpPr>
        <p:spPr>
          <a:xfrm>
            <a:off x="1280160" y="1193140"/>
            <a:ext cx="777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ТЕОРІЯ</a:t>
            </a:r>
            <a:endParaRPr lang="en-US" sz="900" dirty="0"/>
          </a:p>
        </p:txBody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6254496"/>
            <a:ext cx="1481328" cy="457200"/>
          </a:xfrm>
          <a:prstGeom prst="rect">
            <a:avLst/>
          </a:prstGeom>
        </p:spPr>
      </p:pic>
      <p:sp>
        <p:nvSpPr>
          <p:cNvPr id="7" name="Shape 4"/>
          <p:cNvSpPr/>
          <p:nvPr/>
        </p:nvSpPr>
        <p:spPr>
          <a:xfrm>
            <a:off x="1938528" y="2011680"/>
            <a:ext cx="4023360" cy="822960"/>
          </a:xfrm>
          <a:prstGeom prst="roundRect">
            <a:avLst>
              <a:gd name="adj" fmla="val 11111"/>
            </a:avLst>
          </a:prstGeom>
          <a:solidFill>
            <a:srgbClr val="EFEAFE"/>
          </a:solidFill>
          <a:ln/>
        </p:spPr>
      </p:sp>
      <p:sp>
        <p:nvSpPr>
          <p:cNvPr id="8" name="Text 5"/>
          <p:cNvSpPr/>
          <p:nvPr/>
        </p:nvSpPr>
        <p:spPr>
          <a:xfrm>
            <a:off x="1993392" y="2011680"/>
            <a:ext cx="391363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mock-strong</a:t>
            </a:r>
            <a:endParaRPr lang="en-US" sz="1250" dirty="0"/>
          </a:p>
        </p:txBody>
      </p:sp>
      <p:sp>
        <p:nvSpPr>
          <p:cNvPr id="9" name="Shape 6"/>
          <p:cNvSpPr/>
          <p:nvPr/>
        </p:nvSpPr>
        <p:spPr>
          <a:xfrm>
            <a:off x="6053328" y="2423160"/>
            <a:ext cx="164592" cy="0"/>
          </a:xfrm>
          <a:prstGeom prst="line">
            <a:avLst/>
          </a:prstGeom>
          <a:noFill/>
          <a:ln w="15875">
            <a:solidFill>
              <a:srgbClr val="C9B8FB"/>
            </a:solidFill>
            <a:prstDash val="solid"/>
          </a:ln>
        </p:spPr>
      </p:sp>
      <p:sp>
        <p:nvSpPr>
          <p:cNvPr id="10" name="Shape 7"/>
          <p:cNvSpPr/>
          <p:nvPr/>
        </p:nvSpPr>
        <p:spPr>
          <a:xfrm rot="5400000">
            <a:off x="6181344" y="2354580"/>
            <a:ext cx="146304" cy="137160"/>
          </a:xfrm>
          <a:prstGeom prst="triangle">
            <a:avLst/>
          </a:prstGeom>
          <a:solidFill>
            <a:srgbClr val="C9B8FB"/>
          </a:solidFill>
          <a:ln/>
        </p:spPr>
      </p:sp>
      <p:sp>
        <p:nvSpPr>
          <p:cNvPr id="11" name="Shape 8"/>
          <p:cNvSpPr/>
          <p:nvPr/>
        </p:nvSpPr>
        <p:spPr>
          <a:xfrm>
            <a:off x="6419088" y="2011680"/>
            <a:ext cx="4023360" cy="822960"/>
          </a:xfrm>
          <a:prstGeom prst="roundRect">
            <a:avLst>
              <a:gd name="adj" fmla="val 11111"/>
            </a:avLst>
          </a:prstGeom>
          <a:solidFill>
            <a:srgbClr val="E9F4EF"/>
          </a:solidFill>
          <a:ln/>
        </p:spPr>
      </p:sp>
      <p:sp>
        <p:nvSpPr>
          <p:cNvPr id="12" name="Text 9"/>
          <p:cNvSpPr/>
          <p:nvPr/>
        </p:nvSpPr>
        <p:spPr>
          <a:xfrm>
            <a:off x="6473952" y="2011680"/>
            <a:ext cx="391363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1B8A5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mock-mini</a:t>
            </a:r>
            <a:endParaRPr lang="en-US" sz="1250" dirty="0"/>
          </a:p>
        </p:txBody>
      </p:sp>
      <p:sp>
        <p:nvSpPr>
          <p:cNvPr id="13" name="Text 10"/>
          <p:cNvSpPr/>
          <p:nvPr/>
        </p:nvSpPr>
        <p:spPr>
          <a:xfrm>
            <a:off x="566928" y="3017520"/>
            <a:ext cx="110642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i="1" dirty="0">
                <a:solidFill>
                  <a:srgbClr val="555B66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у разі збою сильної — краще відповісти дешевшою, ніж не відповісти взагалі</a:t>
            </a:r>
            <a:endParaRPr lang="en-US" sz="1250" dirty="0"/>
          </a:p>
        </p:txBody>
      </p:sp>
      <p:sp>
        <p:nvSpPr>
          <p:cNvPr id="14" name="Shape 11"/>
          <p:cNvSpPr/>
          <p:nvPr/>
        </p:nvSpPr>
        <p:spPr>
          <a:xfrm>
            <a:off x="566928" y="3611880"/>
            <a:ext cx="5349240" cy="1691640"/>
          </a:xfrm>
          <a:prstGeom prst="roundRect">
            <a:avLst>
              <a:gd name="adj" fmla="val 6486"/>
            </a:avLst>
          </a:prstGeom>
          <a:solidFill>
            <a:srgbClr val="EFEAFE"/>
          </a:solidFill>
          <a:ln/>
        </p:spPr>
      </p:sp>
      <p:sp>
        <p:nvSpPr>
          <p:cNvPr id="15" name="Text 12"/>
          <p:cNvSpPr/>
          <p:nvPr/>
        </p:nvSpPr>
        <p:spPr>
          <a:xfrm>
            <a:off x="768096" y="3767328"/>
            <a:ext cx="4946904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5A05F4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Сьогодні рішення, на W4 механізм</a:t>
            </a:r>
            <a:endParaRPr lang="en-US" sz="1450" dirty="0"/>
          </a:p>
        </p:txBody>
      </p:sp>
      <p:sp>
        <p:nvSpPr>
          <p:cNvPr id="16" name="Text 13"/>
          <p:cNvSpPr/>
          <p:nvPr/>
        </p:nvSpPr>
        <p:spPr>
          <a:xfrm>
            <a:off x="768096" y="4297680"/>
            <a:ext cx="4946904" cy="8503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чергу фіксуємо поруч із роутером і обговорюємо з командою: політика без механізму — текст, механізм без політики — імпровізація</a:t>
            </a:r>
            <a:endParaRPr lang="en-US" sz="1200" dirty="0"/>
          </a:p>
        </p:txBody>
      </p:sp>
      <p:sp>
        <p:nvSpPr>
          <p:cNvPr id="17" name="Shape 14"/>
          <p:cNvSpPr/>
          <p:nvPr/>
        </p:nvSpPr>
        <p:spPr>
          <a:xfrm>
            <a:off x="6281928" y="3611880"/>
            <a:ext cx="5349240" cy="1691640"/>
          </a:xfrm>
          <a:prstGeom prst="roundRect">
            <a:avLst>
              <a:gd name="adj" fmla="val 6486"/>
            </a:avLst>
          </a:prstGeom>
          <a:solidFill>
            <a:srgbClr val="E9F4EF"/>
          </a:solidFill>
          <a:ln/>
        </p:spPr>
      </p:sp>
      <p:sp>
        <p:nvSpPr>
          <p:cNvPr id="18" name="Text 15"/>
          <p:cNvSpPr/>
          <p:nvPr/>
        </p:nvSpPr>
        <p:spPr>
          <a:xfrm>
            <a:off x="6483096" y="3767328"/>
            <a:ext cx="4946904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B8A5A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Один словник імен</a:t>
            </a:r>
            <a:endParaRPr lang="en-US" sz="1450" dirty="0"/>
          </a:p>
        </p:txBody>
      </p:sp>
      <p:sp>
        <p:nvSpPr>
          <p:cNvPr id="19" name="Text 16"/>
          <p:cNvSpPr/>
          <p:nvPr/>
        </p:nvSpPr>
        <p:spPr>
          <a:xfrm>
            <a:off x="6483096" y="4297680"/>
            <a:ext cx="4946904" cy="8503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routing і fallback читають той самий конфіг: ім'я поза конфігом — джерело нічних сюрпризів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68735" y="643737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9AA1AD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15</a:t>
            </a:fld>
            <a:endParaRPr lang="en-US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402336"/>
            <a:ext cx="640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08</a:t>
            </a:r>
            <a:endParaRPr lang="en-US" sz="2600" dirty="0"/>
          </a:p>
        </p:txBody>
      </p:sp>
      <p:sp>
        <p:nvSpPr>
          <p:cNvPr id="3" name="Text 1"/>
          <p:cNvSpPr/>
          <p:nvPr/>
        </p:nvSpPr>
        <p:spPr>
          <a:xfrm>
            <a:off x="1280160" y="384048"/>
            <a:ext cx="61264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Додати провайдера — без зміни коду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1280160" y="1193140"/>
            <a:ext cx="777240" cy="256032"/>
          </a:xfrm>
          <a:prstGeom prst="roundRect">
            <a:avLst>
              <a:gd name="adj" fmla="val 50000"/>
            </a:avLst>
          </a:prstGeom>
          <a:solidFill>
            <a:srgbClr val="5A05F4"/>
          </a:solidFill>
          <a:ln/>
        </p:spPr>
      </p:sp>
      <p:sp>
        <p:nvSpPr>
          <p:cNvPr id="5" name="Text 3"/>
          <p:cNvSpPr/>
          <p:nvPr/>
        </p:nvSpPr>
        <p:spPr>
          <a:xfrm>
            <a:off x="1280160" y="1193140"/>
            <a:ext cx="777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ТЕОРІЯ</a:t>
            </a:r>
            <a:endParaRPr lang="en-US" sz="900" dirty="0"/>
          </a:p>
        </p:txBody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6254496"/>
            <a:ext cx="1481328" cy="457200"/>
          </a:xfrm>
          <a:prstGeom prst="rect">
            <a:avLst/>
          </a:prstGeom>
        </p:spPr>
      </p:pic>
      <p:sp>
        <p:nvSpPr>
          <p:cNvPr id="7" name="Shape 4"/>
          <p:cNvSpPr/>
          <p:nvPr/>
        </p:nvSpPr>
        <p:spPr>
          <a:xfrm>
            <a:off x="566928" y="1737360"/>
            <a:ext cx="11064240" cy="1737360"/>
          </a:xfrm>
          <a:prstGeom prst="roundRect">
            <a:avLst>
              <a:gd name="adj" fmla="val 6316"/>
            </a:avLst>
          </a:prstGeom>
          <a:solidFill>
            <a:srgbClr val="F5F4FA"/>
          </a:solidFill>
          <a:ln w="12700">
            <a:solidFill>
              <a:srgbClr val="E6E7EC"/>
            </a:solidFill>
            <a:prstDash val="solid"/>
          </a:ln>
        </p:spPr>
      </p:sp>
      <p:sp>
        <p:nvSpPr>
          <p:cNvPr id="8" name="Text 5"/>
          <p:cNvSpPr/>
          <p:nvPr/>
        </p:nvSpPr>
        <p:spPr>
          <a:xfrm>
            <a:off x="786384" y="1883664"/>
            <a:ext cx="10625328" cy="14447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200" dirty="0">
                <a:solidFill>
                  <a:srgbClr val="23262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- model_name: </a:t>
            </a:r>
            <a:pPr indent="0" marL="0">
              <a:lnSpc>
                <a:spcPct val="130000"/>
              </a:lnSpc>
              <a:buNone/>
            </a:pPr>
            <a:r>
              <a:rPr lang="en-US" sz="1200" dirty="0">
                <a:solidFill>
                  <a:srgbClr val="17724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azure-gpt-4o</a:t>
            </a:r>
            <a:endParaRPr lang="en-US" sz="120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200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litellm_params:</a:t>
            </a:r>
            <a:endParaRPr lang="en-US" sz="120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200" dirty="0">
                <a:solidFill>
                  <a:srgbClr val="23262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model: azure/gpt-4o</a:t>
            </a:r>
            <a:endParaRPr lang="en-US" sz="120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200" dirty="0">
                <a:solidFill>
                  <a:srgbClr val="23262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api_base: os.environ/AZURE_API_BASE</a:t>
            </a:r>
            <a:endParaRPr lang="en-US" sz="120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200" dirty="0">
                <a:solidFill>
                  <a:srgbClr val="23262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api_key:  os.environ/AZURE_API_KEY</a:t>
            </a:r>
            <a:endParaRPr lang="en-US" sz="1200" dirty="0"/>
          </a:p>
        </p:txBody>
      </p:sp>
      <p:sp>
        <p:nvSpPr>
          <p:cNvPr id="9" name="Shape 6"/>
          <p:cNvSpPr/>
          <p:nvPr/>
        </p:nvSpPr>
        <p:spPr>
          <a:xfrm>
            <a:off x="566928" y="3794760"/>
            <a:ext cx="3383280" cy="713232"/>
          </a:xfrm>
          <a:prstGeom prst="roundRect">
            <a:avLst>
              <a:gd name="adj" fmla="val 12821"/>
            </a:avLst>
          </a:prstGeom>
          <a:solidFill>
            <a:srgbClr val="E9F4EF"/>
          </a:solidFill>
          <a:ln/>
        </p:spPr>
      </p:sp>
      <p:sp>
        <p:nvSpPr>
          <p:cNvPr id="10" name="Text 7"/>
          <p:cNvSpPr/>
          <p:nvPr/>
        </p:nvSpPr>
        <p:spPr>
          <a:xfrm>
            <a:off x="621792" y="3794760"/>
            <a:ext cx="327355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1B8A5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+ блок у YAML</a:t>
            </a:r>
            <a:endParaRPr lang="en-US" sz="1150" dirty="0"/>
          </a:p>
        </p:txBody>
      </p:sp>
      <p:sp>
        <p:nvSpPr>
          <p:cNvPr id="11" name="Shape 8"/>
          <p:cNvSpPr/>
          <p:nvPr/>
        </p:nvSpPr>
        <p:spPr>
          <a:xfrm>
            <a:off x="4041648" y="4151376"/>
            <a:ext cx="164592" cy="0"/>
          </a:xfrm>
          <a:prstGeom prst="line">
            <a:avLst/>
          </a:prstGeom>
          <a:noFill/>
          <a:ln w="15875">
            <a:solidFill>
              <a:srgbClr val="C9B8FB"/>
            </a:solidFill>
            <a:prstDash val="solid"/>
          </a:ln>
        </p:spPr>
      </p:sp>
      <p:sp>
        <p:nvSpPr>
          <p:cNvPr id="12" name="Shape 9"/>
          <p:cNvSpPr/>
          <p:nvPr/>
        </p:nvSpPr>
        <p:spPr>
          <a:xfrm rot="5400000">
            <a:off x="4169664" y="4082796"/>
            <a:ext cx="146304" cy="137160"/>
          </a:xfrm>
          <a:prstGeom prst="triangle">
            <a:avLst/>
          </a:prstGeom>
          <a:solidFill>
            <a:srgbClr val="C9B8FB"/>
          </a:solidFill>
          <a:ln/>
        </p:spPr>
      </p:sp>
      <p:sp>
        <p:nvSpPr>
          <p:cNvPr id="13" name="Shape 10"/>
          <p:cNvSpPr/>
          <p:nvPr/>
        </p:nvSpPr>
        <p:spPr>
          <a:xfrm>
            <a:off x="4407408" y="3794760"/>
            <a:ext cx="3383280" cy="713232"/>
          </a:xfrm>
          <a:prstGeom prst="roundRect">
            <a:avLst>
              <a:gd name="adj" fmla="val 12821"/>
            </a:avLst>
          </a:prstGeom>
          <a:solidFill>
            <a:srgbClr val="FFFFFF"/>
          </a:solidFill>
          <a:ln w="12700">
            <a:solidFill>
              <a:srgbClr val="E6E7EC"/>
            </a:solidFill>
            <a:prstDash val="solid"/>
          </a:ln>
        </p:spPr>
      </p:sp>
      <p:sp>
        <p:nvSpPr>
          <p:cNvPr id="14" name="Text 11"/>
          <p:cNvSpPr/>
          <p:nvPr/>
        </p:nvSpPr>
        <p:spPr>
          <a:xfrm>
            <a:off x="4462272" y="3794760"/>
            <a:ext cx="327355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dirty="0">
                <a:solidFill>
                  <a:srgbClr val="11131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+ рядок у Route()</a:t>
            </a:r>
            <a:endParaRPr lang="en-US" sz="1150" dirty="0"/>
          </a:p>
        </p:txBody>
      </p:sp>
      <p:sp>
        <p:nvSpPr>
          <p:cNvPr id="15" name="Shape 12"/>
          <p:cNvSpPr/>
          <p:nvPr/>
        </p:nvSpPr>
        <p:spPr>
          <a:xfrm>
            <a:off x="7882128" y="4151376"/>
            <a:ext cx="164592" cy="0"/>
          </a:xfrm>
          <a:prstGeom prst="line">
            <a:avLst/>
          </a:prstGeom>
          <a:noFill/>
          <a:ln w="15875">
            <a:solidFill>
              <a:srgbClr val="C9B8FB"/>
            </a:solidFill>
            <a:prstDash val="solid"/>
          </a:ln>
        </p:spPr>
      </p:sp>
      <p:sp>
        <p:nvSpPr>
          <p:cNvPr id="16" name="Shape 13"/>
          <p:cNvSpPr/>
          <p:nvPr/>
        </p:nvSpPr>
        <p:spPr>
          <a:xfrm rot="5400000">
            <a:off x="8010144" y="4082796"/>
            <a:ext cx="146304" cy="137160"/>
          </a:xfrm>
          <a:prstGeom prst="triangle">
            <a:avLst/>
          </a:prstGeom>
          <a:solidFill>
            <a:srgbClr val="C9B8FB"/>
          </a:solidFill>
          <a:ln/>
        </p:spPr>
      </p:sp>
      <p:sp>
        <p:nvSpPr>
          <p:cNvPr id="17" name="Shape 14"/>
          <p:cNvSpPr/>
          <p:nvPr/>
        </p:nvSpPr>
        <p:spPr>
          <a:xfrm>
            <a:off x="8247888" y="3794760"/>
            <a:ext cx="3383280" cy="713232"/>
          </a:xfrm>
          <a:prstGeom prst="roundRect">
            <a:avLst>
              <a:gd name="adj" fmla="val 12821"/>
            </a:avLst>
          </a:prstGeom>
          <a:solidFill>
            <a:srgbClr val="EFEAFE"/>
          </a:solidFill>
          <a:ln/>
        </p:spPr>
      </p:sp>
      <p:sp>
        <p:nvSpPr>
          <p:cNvPr id="18" name="Text 15"/>
          <p:cNvSpPr/>
          <p:nvPr/>
        </p:nvSpPr>
        <p:spPr>
          <a:xfrm>
            <a:off x="8302752" y="3794760"/>
            <a:ext cx="327355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код виклику не змінився</a:t>
            </a:r>
            <a:endParaRPr lang="en-US" sz="1150" dirty="0"/>
          </a:p>
        </p:txBody>
      </p:sp>
      <p:sp>
        <p:nvSpPr>
          <p:cNvPr id="19" name="Shape 16"/>
          <p:cNvSpPr/>
          <p:nvPr/>
        </p:nvSpPr>
        <p:spPr>
          <a:xfrm>
            <a:off x="566928" y="4754880"/>
            <a:ext cx="11064240" cy="1097280"/>
          </a:xfrm>
          <a:prstGeom prst="roundRect">
            <a:avLst>
              <a:gd name="adj" fmla="val 10000"/>
            </a:avLst>
          </a:prstGeom>
          <a:solidFill>
            <a:srgbClr val="F8F0E2"/>
          </a:solidFill>
          <a:ln/>
        </p:spPr>
      </p:sp>
      <p:sp>
        <p:nvSpPr>
          <p:cNvPr id="20" name="Text 17"/>
          <p:cNvSpPr/>
          <p:nvPr/>
        </p:nvSpPr>
        <p:spPr>
          <a:xfrm>
            <a:off x="786384" y="4882896"/>
            <a:ext cx="1062532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150" kern="0" dirty="0">
                <a:solidFill>
                  <a:srgbClr val="9A5B1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ЛАЙФХАК</a:t>
            </a:r>
            <a:endParaRPr lang="en-US" sz="950" dirty="0"/>
          </a:p>
        </p:txBody>
      </p:sp>
      <p:sp>
        <p:nvSpPr>
          <p:cNvPr id="21" name="Text 18"/>
          <p:cNvSpPr/>
          <p:nvPr/>
        </p:nvSpPr>
        <p:spPr>
          <a:xfrm>
            <a:off x="786384" y="5138928"/>
            <a:ext cx="10625328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Називайте моделі за роллю, а не за брендом: mock-mini, mock-strong. Тоді заміна провайдера — правка конфіга, а не пошук імені по всьому коду.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68735" y="643737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9AA1AD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16</a:t>
            </a:fld>
            <a:endParaRPr lang="en-US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402336"/>
            <a:ext cx="640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09</a:t>
            </a:r>
            <a:endParaRPr lang="en-US" sz="2600" dirty="0"/>
          </a:p>
        </p:txBody>
      </p:sp>
      <p:sp>
        <p:nvSpPr>
          <p:cNvPr id="3" name="Text 1"/>
          <p:cNvSpPr/>
          <p:nvPr/>
        </p:nvSpPr>
        <p:spPr>
          <a:xfrm>
            <a:off x="1280160" y="384048"/>
            <a:ext cx="61264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Третій маршрут: tier-система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1280160" y="1024128"/>
            <a:ext cx="777240" cy="256032"/>
          </a:xfrm>
          <a:prstGeom prst="roundRect">
            <a:avLst>
              <a:gd name="adj" fmla="val 50000"/>
            </a:avLst>
          </a:prstGeom>
          <a:solidFill>
            <a:srgbClr val="5A05F4"/>
          </a:solidFill>
          <a:ln/>
        </p:spPr>
      </p:sp>
      <p:sp>
        <p:nvSpPr>
          <p:cNvPr id="5" name="Text 3"/>
          <p:cNvSpPr/>
          <p:nvPr/>
        </p:nvSpPr>
        <p:spPr>
          <a:xfrm>
            <a:off x="1280160" y="1024128"/>
            <a:ext cx="777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ТЕОРІЯ</a:t>
            </a:r>
            <a:endParaRPr lang="en-US" sz="900" dirty="0"/>
          </a:p>
        </p:txBody>
      </p:sp>
      <p:sp>
        <p:nvSpPr>
          <p:cNvPr id="6" name="Shape 4"/>
          <p:cNvSpPr/>
          <p:nvPr/>
        </p:nvSpPr>
        <p:spPr>
          <a:xfrm>
            <a:off x="2167128" y="1024128"/>
            <a:ext cx="864108" cy="256032"/>
          </a:xfrm>
          <a:prstGeom prst="roundRect">
            <a:avLst>
              <a:gd name="adj" fmla="val 50000"/>
            </a:avLst>
          </a:prstGeom>
          <a:solidFill>
            <a:srgbClr val="F8F0E2"/>
          </a:solidFill>
          <a:ln/>
        </p:spPr>
      </p:sp>
      <p:sp>
        <p:nvSpPr>
          <p:cNvPr id="7" name="Text 5"/>
          <p:cNvSpPr/>
          <p:nvPr/>
        </p:nvSpPr>
        <p:spPr>
          <a:xfrm>
            <a:off x="2167128" y="1024128"/>
            <a:ext cx="86410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9A5B1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ОПЦІЙНО</a:t>
            </a:r>
            <a:endParaRPr lang="en-US" sz="900" dirty="0"/>
          </a:p>
        </p:txBody>
      </p:sp>
      <p:pic>
        <p:nvPicPr>
          <p:cNvPr id="8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6254496"/>
            <a:ext cx="1481328" cy="457200"/>
          </a:xfrm>
          <a:prstGeom prst="rect">
            <a:avLst/>
          </a:prstGeom>
        </p:spPr>
      </p:pic>
      <p:sp>
        <p:nvSpPr>
          <p:cNvPr id="9" name="Shape 6"/>
          <p:cNvSpPr/>
          <p:nvPr/>
        </p:nvSpPr>
        <p:spPr>
          <a:xfrm>
            <a:off x="566928" y="1828800"/>
            <a:ext cx="3520440" cy="1371600"/>
          </a:xfrm>
          <a:prstGeom prst="roundRect">
            <a:avLst>
              <a:gd name="adj" fmla="val 8000"/>
            </a:avLst>
          </a:prstGeom>
          <a:solidFill>
            <a:srgbClr val="EFEAFE"/>
          </a:solidFill>
          <a:ln/>
        </p:spPr>
      </p:sp>
      <p:sp>
        <p:nvSpPr>
          <p:cNvPr id="10" name="Shape 7"/>
          <p:cNvSpPr/>
          <p:nvPr/>
        </p:nvSpPr>
        <p:spPr>
          <a:xfrm>
            <a:off x="768096" y="201168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11" name="Text 8"/>
          <p:cNvSpPr/>
          <p:nvPr/>
        </p:nvSpPr>
        <p:spPr>
          <a:xfrm>
            <a:off x="768096" y="201168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EFEA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</a:t>
            </a:r>
            <a:endParaRPr lang="en-US" sz="1200" dirty="0"/>
          </a:p>
        </p:txBody>
      </p:sp>
      <p:sp>
        <p:nvSpPr>
          <p:cNvPr id="12" name="Text 9"/>
          <p:cNvSpPr/>
          <p:nvPr/>
        </p:nvSpPr>
        <p:spPr>
          <a:xfrm>
            <a:off x="1280160" y="198424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5A05F4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FAQ-tier</a:t>
            </a:r>
            <a:endParaRPr lang="en-US" sz="1450" dirty="0"/>
          </a:p>
        </p:txBody>
      </p:sp>
      <p:sp>
        <p:nvSpPr>
          <p:cNvPr id="13" name="Text 10"/>
          <p:cNvSpPr/>
          <p:nvPr/>
        </p:nvSpPr>
        <p:spPr>
          <a:xfrm>
            <a:off x="768096" y="2514600"/>
            <a:ext cx="3118104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типові питання: найдешевша модель або заготовлені відповіді</a:t>
            </a:r>
            <a:endParaRPr lang="en-US" sz="1200" dirty="0"/>
          </a:p>
        </p:txBody>
      </p:sp>
      <p:sp>
        <p:nvSpPr>
          <p:cNvPr id="14" name="Shape 11"/>
          <p:cNvSpPr/>
          <p:nvPr/>
        </p:nvSpPr>
        <p:spPr>
          <a:xfrm>
            <a:off x="4270248" y="1828800"/>
            <a:ext cx="3520440" cy="1371600"/>
          </a:xfrm>
          <a:prstGeom prst="roundRect">
            <a:avLst>
              <a:gd name="adj" fmla="val 8000"/>
            </a:avLst>
          </a:prstGeom>
          <a:solidFill>
            <a:srgbClr val="EFEAFE"/>
          </a:solidFill>
          <a:ln/>
        </p:spPr>
      </p:sp>
      <p:sp>
        <p:nvSpPr>
          <p:cNvPr id="15" name="Shape 12"/>
          <p:cNvSpPr/>
          <p:nvPr/>
        </p:nvSpPr>
        <p:spPr>
          <a:xfrm>
            <a:off x="4471416" y="201168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16" name="Text 13"/>
          <p:cNvSpPr/>
          <p:nvPr/>
        </p:nvSpPr>
        <p:spPr>
          <a:xfrm>
            <a:off x="4471416" y="201168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EFEA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</a:t>
            </a:r>
            <a:endParaRPr lang="en-US" sz="1200" dirty="0"/>
          </a:p>
        </p:txBody>
      </p:sp>
      <p:sp>
        <p:nvSpPr>
          <p:cNvPr id="17" name="Text 14"/>
          <p:cNvSpPr/>
          <p:nvPr/>
        </p:nvSpPr>
        <p:spPr>
          <a:xfrm>
            <a:off x="4983480" y="198424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5A05F4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Standard-tier</a:t>
            </a:r>
            <a:endParaRPr lang="en-US" sz="1450" dirty="0"/>
          </a:p>
        </p:txBody>
      </p:sp>
      <p:sp>
        <p:nvSpPr>
          <p:cNvPr id="18" name="Text 15"/>
          <p:cNvSpPr/>
          <p:nvPr/>
        </p:nvSpPr>
        <p:spPr>
          <a:xfrm>
            <a:off x="4471416" y="2514600"/>
            <a:ext cx="3118104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звичайний діалог: робоча модель</a:t>
            </a:r>
            <a:endParaRPr lang="en-US" sz="1200" dirty="0"/>
          </a:p>
        </p:txBody>
      </p:sp>
      <p:sp>
        <p:nvSpPr>
          <p:cNvPr id="19" name="Shape 16"/>
          <p:cNvSpPr/>
          <p:nvPr/>
        </p:nvSpPr>
        <p:spPr>
          <a:xfrm>
            <a:off x="7973568" y="1828800"/>
            <a:ext cx="3520440" cy="1371600"/>
          </a:xfrm>
          <a:prstGeom prst="roundRect">
            <a:avLst>
              <a:gd name="adj" fmla="val 8000"/>
            </a:avLst>
          </a:prstGeom>
          <a:solidFill>
            <a:srgbClr val="EFEAFE"/>
          </a:solidFill>
          <a:ln/>
        </p:spPr>
      </p:sp>
      <p:sp>
        <p:nvSpPr>
          <p:cNvPr id="20" name="Shape 17"/>
          <p:cNvSpPr/>
          <p:nvPr/>
        </p:nvSpPr>
        <p:spPr>
          <a:xfrm>
            <a:off x="8174736" y="201168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21" name="Text 18"/>
          <p:cNvSpPr/>
          <p:nvPr/>
        </p:nvSpPr>
        <p:spPr>
          <a:xfrm>
            <a:off x="8174736" y="201168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EFEA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3</a:t>
            </a:r>
            <a:endParaRPr lang="en-US" sz="1200" dirty="0"/>
          </a:p>
        </p:txBody>
      </p:sp>
      <p:sp>
        <p:nvSpPr>
          <p:cNvPr id="22" name="Text 19"/>
          <p:cNvSpPr/>
          <p:nvPr/>
        </p:nvSpPr>
        <p:spPr>
          <a:xfrm>
            <a:off x="8686800" y="198424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5A05F4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Escalation-tier</a:t>
            </a:r>
            <a:endParaRPr lang="en-US" sz="1450" dirty="0"/>
          </a:p>
        </p:txBody>
      </p:sp>
      <p:sp>
        <p:nvSpPr>
          <p:cNvPr id="23" name="Text 20"/>
          <p:cNvSpPr/>
          <p:nvPr/>
        </p:nvSpPr>
        <p:spPr>
          <a:xfrm>
            <a:off x="8174736" y="2514600"/>
            <a:ext cx="3118104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скарги, повернення, юридично чутливе: найсильніша</a:t>
            </a:r>
            <a:endParaRPr lang="en-US" sz="1200" dirty="0"/>
          </a:p>
        </p:txBody>
      </p:sp>
      <p:sp>
        <p:nvSpPr>
          <p:cNvPr id="24" name="Shape 21"/>
          <p:cNvSpPr/>
          <p:nvPr/>
        </p:nvSpPr>
        <p:spPr>
          <a:xfrm>
            <a:off x="566928" y="3785616"/>
            <a:ext cx="3520440" cy="237744"/>
          </a:xfrm>
          <a:prstGeom prst="roundRect">
            <a:avLst>
              <a:gd name="adj" fmla="val 23077"/>
            </a:avLst>
          </a:prstGeom>
          <a:solidFill>
            <a:srgbClr val="E9F4EF"/>
          </a:solidFill>
          <a:ln w="12700">
            <a:solidFill>
              <a:srgbClr val="1B8A5A"/>
            </a:solidFill>
            <a:prstDash val="solid"/>
          </a:ln>
        </p:spPr>
      </p:sp>
      <p:sp>
        <p:nvSpPr>
          <p:cNvPr id="25" name="Text 22"/>
          <p:cNvSpPr/>
          <p:nvPr/>
        </p:nvSpPr>
        <p:spPr>
          <a:xfrm>
            <a:off x="566928" y="3785616"/>
            <a:ext cx="35204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1B8A5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найдешевша</a:t>
            </a:r>
            <a:endParaRPr lang="en-US" sz="950" dirty="0"/>
          </a:p>
        </p:txBody>
      </p:sp>
      <p:sp>
        <p:nvSpPr>
          <p:cNvPr id="26" name="Shape 23"/>
          <p:cNvSpPr/>
          <p:nvPr/>
        </p:nvSpPr>
        <p:spPr>
          <a:xfrm>
            <a:off x="4270248" y="3621024"/>
            <a:ext cx="3520440" cy="402336"/>
          </a:xfrm>
          <a:prstGeom prst="roundRect">
            <a:avLst>
              <a:gd name="adj" fmla="val 13636"/>
            </a:avLst>
          </a:prstGeom>
          <a:solidFill>
            <a:srgbClr val="EFEAFE"/>
          </a:solidFill>
          <a:ln w="12700">
            <a:solidFill>
              <a:srgbClr val="5A05F4"/>
            </a:solidFill>
            <a:prstDash val="solid"/>
          </a:ln>
        </p:spPr>
      </p:sp>
      <p:sp>
        <p:nvSpPr>
          <p:cNvPr id="27" name="Text 24"/>
          <p:cNvSpPr/>
          <p:nvPr/>
        </p:nvSpPr>
        <p:spPr>
          <a:xfrm>
            <a:off x="4270248" y="3621024"/>
            <a:ext cx="35204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робоча</a:t>
            </a:r>
            <a:endParaRPr lang="en-US" sz="950" dirty="0"/>
          </a:p>
        </p:txBody>
      </p:sp>
      <p:sp>
        <p:nvSpPr>
          <p:cNvPr id="28" name="Shape 25"/>
          <p:cNvSpPr/>
          <p:nvPr/>
        </p:nvSpPr>
        <p:spPr>
          <a:xfrm>
            <a:off x="7973568" y="3456432"/>
            <a:ext cx="3520440" cy="566928"/>
          </a:xfrm>
          <a:prstGeom prst="roundRect">
            <a:avLst>
              <a:gd name="adj" fmla="val 9677"/>
            </a:avLst>
          </a:prstGeom>
          <a:solidFill>
            <a:srgbClr val="F8F0E2"/>
          </a:solidFill>
          <a:ln w="12700">
            <a:solidFill>
              <a:srgbClr val="9A5B12"/>
            </a:solidFill>
            <a:prstDash val="solid"/>
          </a:ln>
        </p:spPr>
      </p:sp>
      <p:sp>
        <p:nvSpPr>
          <p:cNvPr id="29" name="Text 26"/>
          <p:cNvSpPr/>
          <p:nvPr/>
        </p:nvSpPr>
        <p:spPr>
          <a:xfrm>
            <a:off x="7973568" y="3456432"/>
            <a:ext cx="35204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9A5B1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найсильніша</a:t>
            </a:r>
            <a:endParaRPr lang="en-US" sz="950" dirty="0"/>
          </a:p>
        </p:txBody>
      </p:sp>
      <p:sp>
        <p:nvSpPr>
          <p:cNvPr id="30" name="Text 27"/>
          <p:cNvSpPr/>
          <p:nvPr/>
        </p:nvSpPr>
        <p:spPr>
          <a:xfrm>
            <a:off x="566928" y="4078224"/>
            <a:ext cx="45720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spc="100" kern="0" dirty="0">
                <a:solidFill>
                  <a:srgbClr val="9AA1A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вартість запиту →</a:t>
            </a:r>
            <a:endParaRPr lang="en-US" sz="850" dirty="0"/>
          </a:p>
        </p:txBody>
      </p:sp>
      <p:sp>
        <p:nvSpPr>
          <p:cNvPr id="31" name="Shape 28"/>
          <p:cNvSpPr/>
          <p:nvPr/>
        </p:nvSpPr>
        <p:spPr>
          <a:xfrm>
            <a:off x="566928" y="4434840"/>
            <a:ext cx="5349240" cy="1234440"/>
          </a:xfrm>
          <a:prstGeom prst="roundRect">
            <a:avLst>
              <a:gd name="adj" fmla="val 8889"/>
            </a:avLst>
          </a:prstGeom>
          <a:solidFill>
            <a:srgbClr val="FFFFFF"/>
          </a:solidFill>
          <a:ln w="12700">
            <a:solidFill>
              <a:srgbClr val="E6E7EC"/>
            </a:solidFill>
            <a:prstDash val="solid"/>
          </a:ln>
        </p:spPr>
      </p:sp>
      <p:sp>
        <p:nvSpPr>
          <p:cNvPr id="32" name="Text 29"/>
          <p:cNvSpPr/>
          <p:nvPr/>
        </p:nvSpPr>
        <p:spPr>
          <a:xfrm>
            <a:off x="768096" y="4590288"/>
            <a:ext cx="4946904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Механічно — дешево</a:t>
            </a:r>
            <a:endParaRPr lang="en-US" sz="1450" dirty="0"/>
          </a:p>
        </p:txBody>
      </p:sp>
      <p:sp>
        <p:nvSpPr>
          <p:cNvPr id="33" name="Text 30"/>
          <p:cNvSpPr/>
          <p:nvPr/>
        </p:nvSpPr>
        <p:spPr>
          <a:xfrm>
            <a:off x="768096" y="5120640"/>
            <a:ext cx="4946904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555B66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ще одна гілка в Route() і ще одне ім'я в конфізі</a:t>
            </a:r>
            <a:endParaRPr lang="en-US" sz="1200" dirty="0"/>
          </a:p>
        </p:txBody>
      </p:sp>
      <p:sp>
        <p:nvSpPr>
          <p:cNvPr id="34" name="Shape 31"/>
          <p:cNvSpPr/>
          <p:nvPr/>
        </p:nvSpPr>
        <p:spPr>
          <a:xfrm>
            <a:off x="6281928" y="4434840"/>
            <a:ext cx="5349240" cy="1234440"/>
          </a:xfrm>
          <a:prstGeom prst="roundRect">
            <a:avLst>
              <a:gd name="adj" fmla="val 8889"/>
            </a:avLst>
          </a:prstGeom>
          <a:solidFill>
            <a:srgbClr val="F8F0E2"/>
          </a:solidFill>
          <a:ln/>
        </p:spPr>
      </p:sp>
      <p:sp>
        <p:nvSpPr>
          <p:cNvPr id="35" name="Text 32"/>
          <p:cNvSpPr/>
          <p:nvPr/>
        </p:nvSpPr>
        <p:spPr>
          <a:xfrm>
            <a:off x="6483096" y="4590288"/>
            <a:ext cx="4946904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9A5B12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Змістовно — вправа на політику</a:t>
            </a:r>
            <a:endParaRPr lang="en-US" sz="1450" dirty="0"/>
          </a:p>
        </p:txBody>
      </p:sp>
      <p:sp>
        <p:nvSpPr>
          <p:cNvPr id="36" name="Text 33"/>
          <p:cNvSpPr/>
          <p:nvPr/>
        </p:nvSpPr>
        <p:spPr>
          <a:xfrm>
            <a:off x="6483096" y="5120640"/>
            <a:ext cx="4946904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де межі між рівнями і як захистити рішення цифрами з лога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68735" y="643737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9AA1AD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17</a:t>
            </a:fld>
            <a:endParaRPr lang="en-US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84048"/>
            <a:ext cx="6839712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Зараз ви побачите — і навіщо</a:t>
            </a:r>
            <a:endParaRPr lang="en-US" sz="2400" dirty="0"/>
          </a:p>
        </p:txBody>
      </p:sp>
      <p:sp>
        <p:nvSpPr>
          <p:cNvPr id="3" name="Shape 1"/>
          <p:cNvSpPr/>
          <p:nvPr/>
        </p:nvSpPr>
        <p:spPr>
          <a:xfrm>
            <a:off x="566928" y="1024128"/>
            <a:ext cx="950976" cy="256032"/>
          </a:xfrm>
          <a:prstGeom prst="roundRect">
            <a:avLst>
              <a:gd name="adj" fmla="val 50000"/>
            </a:avLst>
          </a:prstGeom>
          <a:solidFill>
            <a:srgbClr val="1B8A5A"/>
          </a:solidFill>
          <a:ln/>
        </p:spPr>
      </p:sp>
      <p:sp>
        <p:nvSpPr>
          <p:cNvPr id="4" name="Text 2"/>
          <p:cNvSpPr/>
          <p:nvPr/>
        </p:nvSpPr>
        <p:spPr>
          <a:xfrm>
            <a:off x="566928" y="1024128"/>
            <a:ext cx="95097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ПРАКТИКА</a:t>
            </a:r>
            <a:endParaRPr lang="en-US" sz="900" dirty="0"/>
          </a:p>
        </p:txBody>
      </p:sp>
      <p:pic>
        <p:nvPicPr>
          <p:cNvPr id="5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6254496"/>
            <a:ext cx="1481328" cy="457200"/>
          </a:xfrm>
          <a:prstGeom prst="rect">
            <a:avLst/>
          </a:prstGeom>
        </p:spPr>
      </p:pic>
      <p:sp>
        <p:nvSpPr>
          <p:cNvPr id="6" name="Shape 3"/>
          <p:cNvSpPr/>
          <p:nvPr/>
        </p:nvSpPr>
        <p:spPr>
          <a:xfrm>
            <a:off x="566928" y="1737360"/>
            <a:ext cx="5532120" cy="1463040"/>
          </a:xfrm>
          <a:prstGeom prst="roundRect">
            <a:avLst>
              <a:gd name="adj" fmla="val 7500"/>
            </a:avLst>
          </a:prstGeom>
          <a:solidFill>
            <a:srgbClr val="E9F4EF"/>
          </a:solidFill>
          <a:ln/>
        </p:spPr>
      </p:sp>
      <p:sp>
        <p:nvSpPr>
          <p:cNvPr id="7" name="Shape 4"/>
          <p:cNvSpPr/>
          <p:nvPr/>
        </p:nvSpPr>
        <p:spPr>
          <a:xfrm>
            <a:off x="768096" y="1920240"/>
            <a:ext cx="384048" cy="384048"/>
          </a:xfrm>
          <a:prstGeom prst="ellipse">
            <a:avLst/>
          </a:prstGeom>
          <a:solidFill>
            <a:srgbClr val="1B8A5A"/>
          </a:solidFill>
          <a:ln/>
        </p:spPr>
      </p:sp>
      <p:sp>
        <p:nvSpPr>
          <p:cNvPr id="8" name="Text 5"/>
          <p:cNvSpPr/>
          <p:nvPr/>
        </p:nvSpPr>
        <p:spPr>
          <a:xfrm>
            <a:off x="768096" y="192024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E9F4E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</a:t>
            </a:r>
            <a:endParaRPr lang="en-US" sz="1200" dirty="0"/>
          </a:p>
        </p:txBody>
      </p:sp>
      <p:sp>
        <p:nvSpPr>
          <p:cNvPr id="9" name="Text 6"/>
          <p:cNvSpPr/>
          <p:nvPr/>
        </p:nvSpPr>
        <p:spPr>
          <a:xfrm>
            <a:off x="1280160" y="1892808"/>
            <a:ext cx="461772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B8A5A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конфіг gateway</a:t>
            </a:r>
            <a:endParaRPr lang="en-US" sz="1450" dirty="0"/>
          </a:p>
        </p:txBody>
      </p:sp>
      <p:sp>
        <p:nvSpPr>
          <p:cNvPr id="10" name="Text 7"/>
          <p:cNvSpPr/>
          <p:nvPr/>
        </p:nvSpPr>
        <p:spPr>
          <a:xfrm>
            <a:off x="768096" y="2423160"/>
            <a:ext cx="5129784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mock-mini і mock-strong — дві «моделі» на одному mock</a:t>
            </a:r>
            <a:endParaRPr lang="en-US" sz="1200" dirty="0"/>
          </a:p>
        </p:txBody>
      </p:sp>
      <p:sp>
        <p:nvSpPr>
          <p:cNvPr id="11" name="Shape 8"/>
          <p:cNvSpPr/>
          <p:nvPr/>
        </p:nvSpPr>
        <p:spPr>
          <a:xfrm>
            <a:off x="6281928" y="1737360"/>
            <a:ext cx="5532120" cy="1463040"/>
          </a:xfrm>
          <a:prstGeom prst="roundRect">
            <a:avLst>
              <a:gd name="adj" fmla="val 7500"/>
            </a:avLst>
          </a:prstGeom>
          <a:solidFill>
            <a:srgbClr val="E9F4EF"/>
          </a:solidFill>
          <a:ln/>
        </p:spPr>
      </p:sp>
      <p:sp>
        <p:nvSpPr>
          <p:cNvPr id="12" name="Shape 9"/>
          <p:cNvSpPr/>
          <p:nvPr/>
        </p:nvSpPr>
        <p:spPr>
          <a:xfrm>
            <a:off x="6483096" y="1920240"/>
            <a:ext cx="384048" cy="384048"/>
          </a:xfrm>
          <a:prstGeom prst="ellipse">
            <a:avLst/>
          </a:prstGeom>
          <a:solidFill>
            <a:srgbClr val="1B8A5A"/>
          </a:solidFill>
          <a:ln/>
        </p:spPr>
      </p:sp>
      <p:sp>
        <p:nvSpPr>
          <p:cNvPr id="13" name="Text 10"/>
          <p:cNvSpPr/>
          <p:nvPr/>
        </p:nvSpPr>
        <p:spPr>
          <a:xfrm>
            <a:off x="6483096" y="192024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E9F4E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</a:t>
            </a:r>
            <a:endParaRPr lang="en-US" sz="1200" dirty="0"/>
          </a:p>
        </p:txBody>
      </p:sp>
      <p:sp>
        <p:nvSpPr>
          <p:cNvPr id="14" name="Text 11"/>
          <p:cNvSpPr/>
          <p:nvPr/>
        </p:nvSpPr>
        <p:spPr>
          <a:xfrm>
            <a:off x="6995160" y="1892808"/>
            <a:ext cx="461772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B8A5A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Route() у сервісі</a:t>
            </a:r>
            <a:endParaRPr lang="en-US" sz="1450" dirty="0"/>
          </a:p>
        </p:txBody>
      </p:sp>
      <p:sp>
        <p:nvSpPr>
          <p:cNvPr id="15" name="Text 12"/>
          <p:cNvSpPr/>
          <p:nvPr/>
        </p:nvSpPr>
        <p:spPr>
          <a:xfrm>
            <a:off x="6483096" y="2423160"/>
            <a:ext cx="5129784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точка рішення на десять рядків</a:t>
            </a:r>
            <a:endParaRPr lang="en-US" sz="1200" dirty="0"/>
          </a:p>
        </p:txBody>
      </p:sp>
      <p:sp>
        <p:nvSpPr>
          <p:cNvPr id="16" name="Shape 13"/>
          <p:cNvSpPr/>
          <p:nvPr/>
        </p:nvSpPr>
        <p:spPr>
          <a:xfrm>
            <a:off x="566928" y="3383280"/>
            <a:ext cx="5532120" cy="1463040"/>
          </a:xfrm>
          <a:prstGeom prst="roundRect">
            <a:avLst>
              <a:gd name="adj" fmla="val 7500"/>
            </a:avLst>
          </a:prstGeom>
          <a:solidFill>
            <a:srgbClr val="E9F4EF"/>
          </a:solidFill>
          <a:ln/>
        </p:spPr>
      </p:sp>
      <p:sp>
        <p:nvSpPr>
          <p:cNvPr id="17" name="Shape 14"/>
          <p:cNvSpPr/>
          <p:nvPr/>
        </p:nvSpPr>
        <p:spPr>
          <a:xfrm>
            <a:off x="768096" y="3566160"/>
            <a:ext cx="384048" cy="384048"/>
          </a:xfrm>
          <a:prstGeom prst="ellipse">
            <a:avLst/>
          </a:prstGeom>
          <a:solidFill>
            <a:srgbClr val="1B8A5A"/>
          </a:solidFill>
          <a:ln/>
        </p:spPr>
      </p:sp>
      <p:sp>
        <p:nvSpPr>
          <p:cNvPr id="18" name="Text 15"/>
          <p:cNvSpPr/>
          <p:nvPr/>
        </p:nvSpPr>
        <p:spPr>
          <a:xfrm>
            <a:off x="768096" y="356616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E9F4E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3</a:t>
            </a:r>
            <a:endParaRPr lang="en-US" sz="1200" dirty="0"/>
          </a:p>
        </p:txBody>
      </p:sp>
      <p:sp>
        <p:nvSpPr>
          <p:cNvPr id="19" name="Text 16"/>
          <p:cNvSpPr/>
          <p:nvPr/>
        </p:nvSpPr>
        <p:spPr>
          <a:xfrm>
            <a:off x="1280160" y="3538728"/>
            <a:ext cx="461772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B8A5A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питання обох типів</a:t>
            </a:r>
            <a:endParaRPr lang="en-US" sz="1450" dirty="0"/>
          </a:p>
        </p:txBody>
      </p:sp>
      <p:sp>
        <p:nvSpPr>
          <p:cNvPr id="20" name="Text 17"/>
          <p:cNvSpPr/>
          <p:nvPr/>
        </p:nvSpPr>
        <p:spPr>
          <a:xfrm>
            <a:off x="768096" y="4069080"/>
            <a:ext cx="5129784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звичайні + ескалації («поверніть гроші, терміново»)</a:t>
            </a:r>
            <a:endParaRPr lang="en-US" sz="1200" dirty="0"/>
          </a:p>
        </p:txBody>
      </p:sp>
      <p:sp>
        <p:nvSpPr>
          <p:cNvPr id="21" name="Shape 18"/>
          <p:cNvSpPr/>
          <p:nvPr/>
        </p:nvSpPr>
        <p:spPr>
          <a:xfrm>
            <a:off x="6281928" y="3383280"/>
            <a:ext cx="5532120" cy="1463040"/>
          </a:xfrm>
          <a:prstGeom prst="roundRect">
            <a:avLst>
              <a:gd name="adj" fmla="val 7500"/>
            </a:avLst>
          </a:prstGeom>
          <a:solidFill>
            <a:srgbClr val="E9F4EF"/>
          </a:solidFill>
          <a:ln/>
        </p:spPr>
      </p:sp>
      <p:sp>
        <p:nvSpPr>
          <p:cNvPr id="22" name="Shape 19"/>
          <p:cNvSpPr/>
          <p:nvPr/>
        </p:nvSpPr>
        <p:spPr>
          <a:xfrm>
            <a:off x="6483096" y="3566160"/>
            <a:ext cx="384048" cy="384048"/>
          </a:xfrm>
          <a:prstGeom prst="ellipse">
            <a:avLst/>
          </a:prstGeom>
          <a:solidFill>
            <a:srgbClr val="1B8A5A"/>
          </a:solidFill>
          <a:ln/>
        </p:spPr>
      </p:sp>
      <p:sp>
        <p:nvSpPr>
          <p:cNvPr id="23" name="Text 20"/>
          <p:cNvSpPr/>
          <p:nvPr/>
        </p:nvSpPr>
        <p:spPr>
          <a:xfrm>
            <a:off x="6483096" y="356616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E9F4E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4</a:t>
            </a:r>
            <a:endParaRPr lang="en-US" sz="1200" dirty="0"/>
          </a:p>
        </p:txBody>
      </p:sp>
      <p:sp>
        <p:nvSpPr>
          <p:cNvPr id="24" name="Text 21"/>
          <p:cNvSpPr/>
          <p:nvPr/>
        </p:nvSpPr>
        <p:spPr>
          <a:xfrm>
            <a:off x="6995160" y="3538728"/>
            <a:ext cx="461772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B8A5A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розподіл у БД</a:t>
            </a:r>
            <a:endParaRPr lang="en-US" sz="1450" dirty="0"/>
          </a:p>
        </p:txBody>
      </p:sp>
      <p:sp>
        <p:nvSpPr>
          <p:cNvPr id="25" name="Text 22"/>
          <p:cNvSpPr/>
          <p:nvPr/>
        </p:nvSpPr>
        <p:spPr>
          <a:xfrm>
            <a:off x="6483096" y="4069080"/>
            <a:ext cx="5129784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SELECT model, count(*) FROM requests GROUP BY model</a:t>
            </a:r>
            <a:endParaRPr lang="en-US" sz="1200" dirty="0"/>
          </a:p>
        </p:txBody>
      </p:sp>
      <p:sp>
        <p:nvSpPr>
          <p:cNvPr id="26" name="Shape 23"/>
          <p:cNvSpPr/>
          <p:nvPr/>
        </p:nvSpPr>
        <p:spPr>
          <a:xfrm>
            <a:off x="566928" y="5074920"/>
            <a:ext cx="11064240" cy="1051560"/>
          </a:xfrm>
          <a:prstGeom prst="roundRect">
            <a:avLst>
              <a:gd name="adj" fmla="val 10435"/>
            </a:avLst>
          </a:prstGeom>
          <a:solidFill>
            <a:srgbClr val="5A05F4"/>
          </a:solidFill>
          <a:ln/>
        </p:spPr>
      </p:sp>
      <p:sp>
        <p:nvSpPr>
          <p:cNvPr id="27" name="Text 24"/>
          <p:cNvSpPr/>
          <p:nvPr/>
        </p:nvSpPr>
        <p:spPr>
          <a:xfrm>
            <a:off x="786384" y="5202936"/>
            <a:ext cx="1062532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150" kern="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НАВІЩО</a:t>
            </a:r>
            <a:endParaRPr lang="en-US" sz="950" dirty="0"/>
          </a:p>
        </p:txBody>
      </p:sp>
      <p:sp>
        <p:nvSpPr>
          <p:cNvPr id="28" name="Text 25"/>
          <p:cNvSpPr/>
          <p:nvPr/>
        </p:nvSpPr>
        <p:spPr>
          <a:xfrm>
            <a:off x="786384" y="5458968"/>
            <a:ext cx="10625328" cy="5394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Побачити перший операційний доказ, що routing працює: не «код написаний», а «трафік розведений». Різниця між цими формулюваннями і є темою уроку.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68735" y="643737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9AA1AD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18</a:t>
            </a:fld>
            <a:endParaRPr lang="en-US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84048"/>
            <a:ext cx="6839712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Лабораторна: чотири частини + опційна</a:t>
            </a:r>
            <a:endParaRPr lang="en-US" sz="2400" dirty="0"/>
          </a:p>
        </p:txBody>
      </p:sp>
      <p:sp>
        <p:nvSpPr>
          <p:cNvPr id="3" name="Shape 1"/>
          <p:cNvSpPr/>
          <p:nvPr/>
        </p:nvSpPr>
        <p:spPr>
          <a:xfrm>
            <a:off x="566928" y="1024128"/>
            <a:ext cx="950976" cy="256032"/>
          </a:xfrm>
          <a:prstGeom prst="roundRect">
            <a:avLst>
              <a:gd name="adj" fmla="val 50000"/>
            </a:avLst>
          </a:prstGeom>
          <a:solidFill>
            <a:srgbClr val="1B8A5A"/>
          </a:solidFill>
          <a:ln/>
        </p:spPr>
      </p:sp>
      <p:sp>
        <p:nvSpPr>
          <p:cNvPr id="4" name="Text 2"/>
          <p:cNvSpPr/>
          <p:nvPr/>
        </p:nvSpPr>
        <p:spPr>
          <a:xfrm>
            <a:off x="566928" y="1024128"/>
            <a:ext cx="95097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ПРАКТИКА</a:t>
            </a:r>
            <a:endParaRPr lang="en-US" sz="900" dirty="0"/>
          </a:p>
        </p:txBody>
      </p:sp>
      <p:pic>
        <p:nvPicPr>
          <p:cNvPr id="5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6254496"/>
            <a:ext cx="1481328" cy="457200"/>
          </a:xfrm>
          <a:prstGeom prst="rect">
            <a:avLst/>
          </a:prstGeom>
        </p:spPr>
      </p:pic>
      <p:sp>
        <p:nvSpPr>
          <p:cNvPr id="6" name="Shape 3"/>
          <p:cNvSpPr/>
          <p:nvPr/>
        </p:nvSpPr>
        <p:spPr>
          <a:xfrm>
            <a:off x="566928" y="1828800"/>
            <a:ext cx="457200" cy="457200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7" name="Text 4"/>
          <p:cNvSpPr/>
          <p:nvPr/>
        </p:nvSpPr>
        <p:spPr>
          <a:xfrm>
            <a:off x="566928" y="182880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</a:t>
            </a:r>
            <a:endParaRPr lang="en-US" sz="1300" dirty="0"/>
          </a:p>
        </p:txBody>
      </p:sp>
      <p:sp>
        <p:nvSpPr>
          <p:cNvPr id="8" name="Text 5"/>
          <p:cNvSpPr/>
          <p:nvPr/>
        </p:nvSpPr>
        <p:spPr>
          <a:xfrm>
            <a:off x="1188720" y="1828800"/>
            <a:ext cx="10424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Прочитати конфіг  </a:t>
            </a:r>
            <a:pPr indent="0" marL="0">
              <a:buNone/>
            </a:pPr>
            <a:r>
              <a:rPr lang="en-US" sz="1200" dirty="0">
                <a:solidFill>
                  <a:srgbClr val="555B66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gateway/litellm-config.yaml: mock-mini і mock-strong</a:t>
            </a:r>
            <a:endParaRPr lang="en-US" sz="1400" dirty="0"/>
          </a:p>
        </p:txBody>
      </p:sp>
      <p:sp>
        <p:nvSpPr>
          <p:cNvPr id="9" name="Shape 6"/>
          <p:cNvSpPr/>
          <p:nvPr/>
        </p:nvSpPr>
        <p:spPr>
          <a:xfrm>
            <a:off x="566928" y="2670048"/>
            <a:ext cx="457200" cy="457200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10" name="Text 7"/>
          <p:cNvSpPr/>
          <p:nvPr/>
        </p:nvSpPr>
        <p:spPr>
          <a:xfrm>
            <a:off x="566928" y="2670048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</a:t>
            </a:r>
            <a:endParaRPr lang="en-US" sz="1300" dirty="0"/>
          </a:p>
        </p:txBody>
      </p:sp>
      <p:sp>
        <p:nvSpPr>
          <p:cNvPr id="11" name="Text 8"/>
          <p:cNvSpPr/>
          <p:nvPr/>
        </p:nvSpPr>
        <p:spPr>
          <a:xfrm>
            <a:off x="1188720" y="2670048"/>
            <a:ext cx="10424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Написати роутер  </a:t>
            </a:r>
            <a:pPr indent="0" marL="0">
              <a:buNone/>
            </a:pPr>
            <a:r>
              <a:rPr lang="en-US" sz="1200" dirty="0">
                <a:solidFill>
                  <a:srgbClr val="555B66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маркери → mock-strong, решта → mock-mini; MODEL лише дефолт</a:t>
            </a:r>
            <a:endParaRPr lang="en-US" sz="1400" dirty="0"/>
          </a:p>
        </p:txBody>
      </p:sp>
      <p:sp>
        <p:nvSpPr>
          <p:cNvPr id="12" name="Shape 9"/>
          <p:cNvSpPr/>
          <p:nvPr/>
        </p:nvSpPr>
        <p:spPr>
          <a:xfrm>
            <a:off x="566928" y="3511296"/>
            <a:ext cx="457200" cy="457200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13" name="Text 10"/>
          <p:cNvSpPr/>
          <p:nvPr/>
        </p:nvSpPr>
        <p:spPr>
          <a:xfrm>
            <a:off x="566928" y="3511296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3</a:t>
            </a:r>
            <a:endParaRPr lang="en-US" sz="1300" dirty="0"/>
          </a:p>
        </p:txBody>
      </p:sp>
      <p:sp>
        <p:nvSpPr>
          <p:cNvPr id="14" name="Text 11"/>
          <p:cNvSpPr/>
          <p:nvPr/>
        </p:nvSpPr>
        <p:spPr>
          <a:xfrm>
            <a:off x="1188720" y="3511296"/>
            <a:ext cx="10424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Побачити розподіл  </a:t>
            </a:r>
            <a:pPr indent="0" marL="0">
              <a:buNone/>
            </a:pPr>
            <a:r>
              <a:rPr lang="en-US" sz="1200" dirty="0">
                <a:solidFill>
                  <a:srgbClr val="555B66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питання обох типів → SELECT model, count(*) GROUP BY model</a:t>
            </a:r>
            <a:endParaRPr lang="en-US" sz="1400" dirty="0"/>
          </a:p>
        </p:txBody>
      </p:sp>
      <p:sp>
        <p:nvSpPr>
          <p:cNvPr id="15" name="Shape 12"/>
          <p:cNvSpPr/>
          <p:nvPr/>
        </p:nvSpPr>
        <p:spPr>
          <a:xfrm>
            <a:off x="566928" y="4352544"/>
            <a:ext cx="457200" cy="457200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16" name="Text 13"/>
          <p:cNvSpPr/>
          <p:nvPr/>
        </p:nvSpPr>
        <p:spPr>
          <a:xfrm>
            <a:off x="566928" y="4352544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4</a:t>
            </a:r>
            <a:endParaRPr lang="en-US" sz="1300" dirty="0"/>
          </a:p>
        </p:txBody>
      </p:sp>
      <p:sp>
        <p:nvSpPr>
          <p:cNvPr id="17" name="Text 14"/>
          <p:cNvSpPr/>
          <p:nvPr/>
        </p:nvSpPr>
        <p:spPr>
          <a:xfrm>
            <a:off x="1188720" y="4352544"/>
            <a:ext cx="10424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Додати «третього» на папері  </a:t>
            </a:r>
            <a:pPr indent="0" marL="0">
              <a:buNone/>
            </a:pPr>
            <a:r>
              <a:rPr lang="en-US" sz="1200" dirty="0">
                <a:solidFill>
                  <a:srgbClr val="555B66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YAML-блок + місце у fallback-порядку</a:t>
            </a:r>
            <a:endParaRPr lang="en-US" sz="1400" dirty="0"/>
          </a:p>
        </p:txBody>
      </p:sp>
      <p:sp>
        <p:nvSpPr>
          <p:cNvPr id="18" name="Shape 15"/>
          <p:cNvSpPr/>
          <p:nvPr/>
        </p:nvSpPr>
        <p:spPr>
          <a:xfrm>
            <a:off x="566928" y="5193792"/>
            <a:ext cx="457200" cy="457200"/>
          </a:xfrm>
          <a:prstGeom prst="ellipse">
            <a:avLst/>
          </a:prstGeom>
          <a:solidFill>
            <a:srgbClr val="9A5B12"/>
          </a:solidFill>
          <a:ln/>
        </p:spPr>
      </p:sp>
      <p:sp>
        <p:nvSpPr>
          <p:cNvPr id="19" name="Text 16"/>
          <p:cNvSpPr/>
          <p:nvPr/>
        </p:nvSpPr>
        <p:spPr>
          <a:xfrm>
            <a:off x="566928" y="5193792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5</a:t>
            </a:r>
            <a:endParaRPr lang="en-US" sz="1300" dirty="0"/>
          </a:p>
        </p:txBody>
      </p:sp>
      <p:sp>
        <p:nvSpPr>
          <p:cNvPr id="20" name="Text 17"/>
          <p:cNvSpPr/>
          <p:nvPr/>
        </p:nvSpPr>
        <p:spPr>
          <a:xfrm>
            <a:off x="1188720" y="5193792"/>
            <a:ext cx="10424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9A5B12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Tier-політика · опційно  </a:t>
            </a:r>
            <a:pPr indent="0" marL="0">
              <a:buNone/>
            </a:pPr>
            <a:r>
              <a:rPr lang="en-US" sz="1200" dirty="0">
                <a:solidFill>
                  <a:srgbClr val="555B66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межі рівнів + частка трафіку кожного з лога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68735" y="643737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9AA1AD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19</a:t>
            </a:fld>
            <a:endParaRPr lang="en-US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84048"/>
            <a:ext cx="6839712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Що це довело</a:t>
            </a:r>
            <a:endParaRPr lang="en-US" sz="2400" dirty="0"/>
          </a:p>
        </p:txBody>
      </p:sp>
      <p:sp>
        <p:nvSpPr>
          <p:cNvPr id="3" name="Shape 1"/>
          <p:cNvSpPr/>
          <p:nvPr/>
        </p:nvSpPr>
        <p:spPr>
          <a:xfrm>
            <a:off x="566928" y="1024128"/>
            <a:ext cx="1037844" cy="256032"/>
          </a:xfrm>
          <a:prstGeom prst="roundRect">
            <a:avLst>
              <a:gd name="adj" fmla="val 50000"/>
            </a:avLst>
          </a:prstGeom>
          <a:solidFill>
            <a:srgbClr val="9A5B12"/>
          </a:solidFill>
          <a:ln/>
        </p:spPr>
      </p:sp>
      <p:sp>
        <p:nvSpPr>
          <p:cNvPr id="4" name="Text 2"/>
          <p:cNvSpPr/>
          <p:nvPr/>
        </p:nvSpPr>
        <p:spPr>
          <a:xfrm>
            <a:off x="566928" y="1024128"/>
            <a:ext cx="103784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РЕФЛЕКСІЯ</a:t>
            </a:r>
            <a:endParaRPr lang="en-US" sz="900" dirty="0"/>
          </a:p>
        </p:txBody>
      </p:sp>
      <p:pic>
        <p:nvPicPr>
          <p:cNvPr id="5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6254496"/>
            <a:ext cx="1481328" cy="457200"/>
          </a:xfrm>
          <a:prstGeom prst="rect">
            <a:avLst/>
          </a:prstGeom>
        </p:spPr>
      </p:pic>
      <p:sp>
        <p:nvSpPr>
          <p:cNvPr id="6" name="Shape 3"/>
          <p:cNvSpPr/>
          <p:nvPr/>
        </p:nvSpPr>
        <p:spPr>
          <a:xfrm>
            <a:off x="566928" y="1737360"/>
            <a:ext cx="3566160" cy="1828800"/>
          </a:xfrm>
          <a:prstGeom prst="roundRect">
            <a:avLst>
              <a:gd name="adj" fmla="val 6000"/>
            </a:avLst>
          </a:prstGeom>
          <a:solidFill>
            <a:srgbClr val="E9F4EF"/>
          </a:solidFill>
          <a:ln/>
        </p:spPr>
      </p:sp>
      <p:sp>
        <p:nvSpPr>
          <p:cNvPr id="7" name="Text 4"/>
          <p:cNvSpPr/>
          <p:nvPr/>
        </p:nvSpPr>
        <p:spPr>
          <a:xfrm>
            <a:off x="768096" y="1892808"/>
            <a:ext cx="3163824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B8A5A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Трафік розведений</a:t>
            </a:r>
            <a:endParaRPr lang="en-US" sz="1450" dirty="0"/>
          </a:p>
        </p:txBody>
      </p:sp>
      <p:sp>
        <p:nvSpPr>
          <p:cNvPr id="8" name="Text 5"/>
          <p:cNvSpPr/>
          <p:nvPr/>
        </p:nvSpPr>
        <p:spPr>
          <a:xfrm>
            <a:off x="768096" y="2423160"/>
            <a:ext cx="3163824" cy="9875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дві моделі, різні лічильники — доказ, а не «код написаний»</a:t>
            </a:r>
            <a:endParaRPr lang="en-US" sz="1200" dirty="0"/>
          </a:p>
        </p:txBody>
      </p:sp>
      <p:sp>
        <p:nvSpPr>
          <p:cNvPr id="9" name="Shape 6"/>
          <p:cNvSpPr/>
          <p:nvPr/>
        </p:nvSpPr>
        <p:spPr>
          <a:xfrm>
            <a:off x="4315968" y="1737360"/>
            <a:ext cx="3566160" cy="1828800"/>
          </a:xfrm>
          <a:prstGeom prst="roundRect">
            <a:avLst>
              <a:gd name="adj" fmla="val 6000"/>
            </a:avLst>
          </a:prstGeom>
          <a:solidFill>
            <a:srgbClr val="EFEAFE"/>
          </a:solidFill>
          <a:ln/>
        </p:spPr>
      </p:sp>
      <p:sp>
        <p:nvSpPr>
          <p:cNvPr id="10" name="Text 7"/>
          <p:cNvSpPr/>
          <p:nvPr/>
        </p:nvSpPr>
        <p:spPr>
          <a:xfrm>
            <a:off x="4517136" y="1892808"/>
            <a:ext cx="3163824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5A05F4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Рішення читається</a:t>
            </a:r>
            <a:endParaRPr lang="en-US" sz="1450" dirty="0"/>
          </a:p>
        </p:txBody>
      </p:sp>
      <p:sp>
        <p:nvSpPr>
          <p:cNvPr id="11" name="Text 8"/>
          <p:cNvSpPr/>
          <p:nvPr/>
        </p:nvSpPr>
        <p:spPr>
          <a:xfrm>
            <a:off x="4517136" y="2423160"/>
            <a:ext cx="3163824" cy="9875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уся політика в одній функції; кожен вибір — подія в лозі</a:t>
            </a:r>
            <a:endParaRPr lang="en-US" sz="1200" dirty="0"/>
          </a:p>
        </p:txBody>
      </p:sp>
      <p:sp>
        <p:nvSpPr>
          <p:cNvPr id="12" name="Shape 9"/>
          <p:cNvSpPr/>
          <p:nvPr/>
        </p:nvSpPr>
        <p:spPr>
          <a:xfrm>
            <a:off x="8065008" y="1737360"/>
            <a:ext cx="3566160" cy="18288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6E7EC"/>
            </a:solidFill>
            <a:prstDash val="solid"/>
          </a:ln>
        </p:spPr>
      </p:sp>
      <p:sp>
        <p:nvSpPr>
          <p:cNvPr id="13" name="Text 10"/>
          <p:cNvSpPr/>
          <p:nvPr/>
        </p:nvSpPr>
        <p:spPr>
          <a:xfrm>
            <a:off x="8266176" y="1892808"/>
            <a:ext cx="3163824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Розширення дешеве</a:t>
            </a:r>
            <a:endParaRPr lang="en-US" sz="1450" dirty="0"/>
          </a:p>
        </p:txBody>
      </p:sp>
      <p:sp>
        <p:nvSpPr>
          <p:cNvPr id="14" name="Text 11"/>
          <p:cNvSpPr/>
          <p:nvPr/>
        </p:nvSpPr>
        <p:spPr>
          <a:xfrm>
            <a:off x="8266176" y="2423160"/>
            <a:ext cx="3163824" cy="9875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555B66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«третій провайдер» = один YAML-блок і нуль рядків коду</a:t>
            </a:r>
            <a:endParaRPr lang="en-US" sz="1200" dirty="0"/>
          </a:p>
        </p:txBody>
      </p:sp>
      <p:sp>
        <p:nvSpPr>
          <p:cNvPr id="15" name="Shape 12"/>
          <p:cNvSpPr/>
          <p:nvPr/>
        </p:nvSpPr>
        <p:spPr>
          <a:xfrm>
            <a:off x="566928" y="3977640"/>
            <a:ext cx="11064240" cy="1234440"/>
          </a:xfrm>
          <a:prstGeom prst="roundRect">
            <a:avLst>
              <a:gd name="adj" fmla="val 8889"/>
            </a:avLst>
          </a:prstGeom>
          <a:solidFill>
            <a:srgbClr val="FFFFFF"/>
          </a:solidFill>
          <a:ln w="12700">
            <a:solidFill>
              <a:srgbClr val="E6E7EC"/>
            </a:solidFill>
            <a:prstDash val="solid"/>
          </a:ln>
        </p:spPr>
      </p:sp>
      <p:sp>
        <p:nvSpPr>
          <p:cNvPr id="16" name="Text 13"/>
          <p:cNvSpPr/>
          <p:nvPr/>
        </p:nvSpPr>
        <p:spPr>
          <a:xfrm>
            <a:off x="786384" y="4123944"/>
            <a:ext cx="10625328" cy="9418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Це фундамент тижня «Routing + cost»: наступного уроку на те саме поле model ляже вартість кожного запиту — і розподіл трафіку стане розподілом грошей.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68735" y="643737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9AA1AD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20</a:t>
            </a:fld>
            <a:endParaRPr lang="en-US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84048"/>
            <a:ext cx="6839712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Перевір себе</a:t>
            </a:r>
            <a:endParaRPr lang="en-US" sz="2400" dirty="0"/>
          </a:p>
        </p:txBody>
      </p:sp>
      <p:sp>
        <p:nvSpPr>
          <p:cNvPr id="3" name="Shape 1"/>
          <p:cNvSpPr/>
          <p:nvPr/>
        </p:nvSpPr>
        <p:spPr>
          <a:xfrm>
            <a:off x="566928" y="1024128"/>
            <a:ext cx="1037844" cy="256032"/>
          </a:xfrm>
          <a:prstGeom prst="roundRect">
            <a:avLst>
              <a:gd name="adj" fmla="val 50000"/>
            </a:avLst>
          </a:prstGeom>
          <a:solidFill>
            <a:srgbClr val="9A5B12"/>
          </a:solidFill>
          <a:ln/>
        </p:spPr>
      </p:sp>
      <p:sp>
        <p:nvSpPr>
          <p:cNvPr id="4" name="Text 2"/>
          <p:cNvSpPr/>
          <p:nvPr/>
        </p:nvSpPr>
        <p:spPr>
          <a:xfrm>
            <a:off x="566928" y="1024128"/>
            <a:ext cx="103784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РЕФЛЕКСІЯ</a:t>
            </a:r>
            <a:endParaRPr lang="en-US" sz="900" dirty="0"/>
          </a:p>
        </p:txBody>
      </p:sp>
      <p:pic>
        <p:nvPicPr>
          <p:cNvPr id="5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6254496"/>
            <a:ext cx="1481328" cy="457200"/>
          </a:xfrm>
          <a:prstGeom prst="rect">
            <a:avLst/>
          </a:prstGeom>
        </p:spPr>
      </p:pic>
      <p:sp>
        <p:nvSpPr>
          <p:cNvPr id="6" name="Shape 3"/>
          <p:cNvSpPr/>
          <p:nvPr/>
        </p:nvSpPr>
        <p:spPr>
          <a:xfrm>
            <a:off x="566928" y="1783080"/>
            <a:ext cx="11064240" cy="1874520"/>
          </a:xfrm>
          <a:prstGeom prst="roundRect">
            <a:avLst>
              <a:gd name="adj" fmla="val 5854"/>
            </a:avLst>
          </a:prstGeom>
          <a:solidFill>
            <a:srgbClr val="FFFFFF"/>
          </a:solidFill>
          <a:ln w="12700">
            <a:solidFill>
              <a:srgbClr val="E6E7EC"/>
            </a:solidFill>
            <a:prstDash val="solid"/>
          </a:ln>
        </p:spPr>
      </p:sp>
      <p:sp>
        <p:nvSpPr>
          <p:cNvPr id="7" name="Shape 4"/>
          <p:cNvSpPr/>
          <p:nvPr/>
        </p:nvSpPr>
        <p:spPr>
          <a:xfrm>
            <a:off x="978408" y="2157984"/>
            <a:ext cx="256032" cy="256032"/>
          </a:xfrm>
          <a:prstGeom prst="roundRect">
            <a:avLst>
              <a:gd name="adj" fmla="val 21429"/>
            </a:avLst>
          </a:prstGeom>
          <a:solidFill>
            <a:srgbClr val="EFEAFE"/>
          </a:solidFill>
          <a:ln w="12700">
            <a:solidFill>
              <a:srgbClr val="5A05F4"/>
            </a:solidFill>
            <a:prstDash val="solid"/>
          </a:ln>
        </p:spPr>
      </p:sp>
      <p:sp>
        <p:nvSpPr>
          <p:cNvPr id="8" name="Shape 5"/>
          <p:cNvSpPr/>
          <p:nvPr/>
        </p:nvSpPr>
        <p:spPr>
          <a:xfrm rot="2700000">
            <a:off x="1041227" y="2297430"/>
            <a:ext cx="58156" cy="27432"/>
          </a:xfrm>
          <a:prstGeom prst="rect">
            <a:avLst/>
          </a:prstGeom>
          <a:solidFill>
            <a:srgbClr val="5A05F4"/>
          </a:solidFill>
          <a:ln/>
        </p:spPr>
      </p:sp>
      <p:sp>
        <p:nvSpPr>
          <p:cNvPr id="9" name="Shape 6"/>
          <p:cNvSpPr/>
          <p:nvPr/>
        </p:nvSpPr>
        <p:spPr>
          <a:xfrm rot="-3000000">
            <a:off x="1069025" y="2271370"/>
            <a:ext cx="121432" cy="27432"/>
          </a:xfrm>
          <a:prstGeom prst="rect">
            <a:avLst/>
          </a:prstGeom>
          <a:solidFill>
            <a:srgbClr val="5A05F4"/>
          </a:solidFill>
          <a:ln/>
        </p:spPr>
      </p:sp>
      <p:sp>
        <p:nvSpPr>
          <p:cNvPr id="10" name="Text 7"/>
          <p:cNvSpPr/>
          <p:nvPr/>
        </p:nvSpPr>
        <p:spPr>
          <a:xfrm>
            <a:off x="1362456" y="2103120"/>
            <a:ext cx="46177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звичайне питання і ескалація дають різні моделі</a:t>
            </a:r>
            <a:endParaRPr lang="en-US" sz="1250" dirty="0"/>
          </a:p>
        </p:txBody>
      </p:sp>
      <p:sp>
        <p:nvSpPr>
          <p:cNvPr id="11" name="Shape 8"/>
          <p:cNvSpPr/>
          <p:nvPr/>
        </p:nvSpPr>
        <p:spPr>
          <a:xfrm>
            <a:off x="978408" y="2724912"/>
            <a:ext cx="256032" cy="256032"/>
          </a:xfrm>
          <a:prstGeom prst="roundRect">
            <a:avLst>
              <a:gd name="adj" fmla="val 21429"/>
            </a:avLst>
          </a:prstGeom>
          <a:solidFill>
            <a:srgbClr val="EFEAFE"/>
          </a:solidFill>
          <a:ln w="12700">
            <a:solidFill>
              <a:srgbClr val="5A05F4"/>
            </a:solidFill>
            <a:prstDash val="solid"/>
          </a:ln>
        </p:spPr>
      </p:sp>
      <p:sp>
        <p:nvSpPr>
          <p:cNvPr id="12" name="Shape 9"/>
          <p:cNvSpPr/>
          <p:nvPr/>
        </p:nvSpPr>
        <p:spPr>
          <a:xfrm rot="2700000">
            <a:off x="1041227" y="2864358"/>
            <a:ext cx="58156" cy="27432"/>
          </a:xfrm>
          <a:prstGeom prst="rect">
            <a:avLst/>
          </a:prstGeom>
          <a:solidFill>
            <a:srgbClr val="5A05F4"/>
          </a:solidFill>
          <a:ln/>
        </p:spPr>
      </p:sp>
      <p:sp>
        <p:nvSpPr>
          <p:cNvPr id="13" name="Shape 10"/>
          <p:cNvSpPr/>
          <p:nvPr/>
        </p:nvSpPr>
        <p:spPr>
          <a:xfrm rot="-3000000">
            <a:off x="1069025" y="2838298"/>
            <a:ext cx="121432" cy="27432"/>
          </a:xfrm>
          <a:prstGeom prst="rect">
            <a:avLst/>
          </a:prstGeom>
          <a:solidFill>
            <a:srgbClr val="5A05F4"/>
          </a:solidFill>
          <a:ln/>
        </p:spPr>
      </p:sp>
      <p:sp>
        <p:nvSpPr>
          <p:cNvPr id="14" name="Text 11"/>
          <p:cNvSpPr/>
          <p:nvPr/>
        </p:nvSpPr>
        <p:spPr>
          <a:xfrm>
            <a:off x="1362456" y="2670048"/>
            <a:ext cx="46177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поясню, чому рішення в сервісі, а не в адаптері</a:t>
            </a:r>
            <a:endParaRPr lang="en-US" sz="1250" dirty="0"/>
          </a:p>
        </p:txBody>
      </p:sp>
      <p:sp>
        <p:nvSpPr>
          <p:cNvPr id="15" name="Shape 12"/>
          <p:cNvSpPr/>
          <p:nvPr/>
        </p:nvSpPr>
        <p:spPr>
          <a:xfrm>
            <a:off x="6144768" y="2157984"/>
            <a:ext cx="256032" cy="256032"/>
          </a:xfrm>
          <a:prstGeom prst="roundRect">
            <a:avLst>
              <a:gd name="adj" fmla="val 21429"/>
            </a:avLst>
          </a:prstGeom>
          <a:solidFill>
            <a:srgbClr val="EFEAFE"/>
          </a:solidFill>
          <a:ln w="12700">
            <a:solidFill>
              <a:srgbClr val="5A05F4"/>
            </a:solidFill>
            <a:prstDash val="solid"/>
          </a:ln>
        </p:spPr>
      </p:sp>
      <p:sp>
        <p:nvSpPr>
          <p:cNvPr id="16" name="Shape 13"/>
          <p:cNvSpPr/>
          <p:nvPr/>
        </p:nvSpPr>
        <p:spPr>
          <a:xfrm rot="2700000">
            <a:off x="6207587" y="2297430"/>
            <a:ext cx="58156" cy="27432"/>
          </a:xfrm>
          <a:prstGeom prst="rect">
            <a:avLst/>
          </a:prstGeom>
          <a:solidFill>
            <a:srgbClr val="5A05F4"/>
          </a:solidFill>
          <a:ln/>
        </p:spPr>
      </p:sp>
      <p:sp>
        <p:nvSpPr>
          <p:cNvPr id="17" name="Shape 14"/>
          <p:cNvSpPr/>
          <p:nvPr/>
        </p:nvSpPr>
        <p:spPr>
          <a:xfrm rot="-3000000">
            <a:off x="6235385" y="2271370"/>
            <a:ext cx="121432" cy="27432"/>
          </a:xfrm>
          <a:prstGeom prst="rect">
            <a:avLst/>
          </a:prstGeom>
          <a:solidFill>
            <a:srgbClr val="5A05F4"/>
          </a:solidFill>
          <a:ln/>
        </p:spPr>
      </p:sp>
      <p:sp>
        <p:nvSpPr>
          <p:cNvPr id="18" name="Text 15"/>
          <p:cNvSpPr/>
          <p:nvPr/>
        </p:nvSpPr>
        <p:spPr>
          <a:xfrm>
            <a:off x="6528816" y="2103120"/>
            <a:ext cx="46177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додам провайдера, не чіпаючи код сервісу</a:t>
            </a:r>
            <a:endParaRPr lang="en-US" sz="1250" dirty="0"/>
          </a:p>
        </p:txBody>
      </p:sp>
      <p:sp>
        <p:nvSpPr>
          <p:cNvPr id="19" name="Shape 16"/>
          <p:cNvSpPr/>
          <p:nvPr/>
        </p:nvSpPr>
        <p:spPr>
          <a:xfrm>
            <a:off x="6144768" y="2724912"/>
            <a:ext cx="256032" cy="256032"/>
          </a:xfrm>
          <a:prstGeom prst="roundRect">
            <a:avLst>
              <a:gd name="adj" fmla="val 21429"/>
            </a:avLst>
          </a:prstGeom>
          <a:solidFill>
            <a:srgbClr val="EFEAFE"/>
          </a:solidFill>
          <a:ln w="12700">
            <a:solidFill>
              <a:srgbClr val="5A05F4"/>
            </a:solidFill>
            <a:prstDash val="solid"/>
          </a:ln>
        </p:spPr>
      </p:sp>
      <p:sp>
        <p:nvSpPr>
          <p:cNvPr id="20" name="Shape 17"/>
          <p:cNvSpPr/>
          <p:nvPr/>
        </p:nvSpPr>
        <p:spPr>
          <a:xfrm rot="2700000">
            <a:off x="6207587" y="2864358"/>
            <a:ext cx="58156" cy="27432"/>
          </a:xfrm>
          <a:prstGeom prst="rect">
            <a:avLst/>
          </a:prstGeom>
          <a:solidFill>
            <a:srgbClr val="5A05F4"/>
          </a:solidFill>
          <a:ln/>
        </p:spPr>
      </p:sp>
      <p:sp>
        <p:nvSpPr>
          <p:cNvPr id="21" name="Shape 18"/>
          <p:cNvSpPr/>
          <p:nvPr/>
        </p:nvSpPr>
        <p:spPr>
          <a:xfrm rot="-3000000">
            <a:off x="6235385" y="2838298"/>
            <a:ext cx="121432" cy="27432"/>
          </a:xfrm>
          <a:prstGeom prst="rect">
            <a:avLst/>
          </a:prstGeom>
          <a:solidFill>
            <a:srgbClr val="5A05F4"/>
          </a:solidFill>
          <a:ln/>
        </p:spPr>
      </p:sp>
      <p:sp>
        <p:nvSpPr>
          <p:cNvPr id="22" name="Text 19"/>
          <p:cNvSpPr/>
          <p:nvPr/>
        </p:nvSpPr>
        <p:spPr>
          <a:xfrm>
            <a:off x="6528816" y="2670048"/>
            <a:ext cx="46177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мій fallback-порядок записаний</a:t>
            </a:r>
            <a:endParaRPr lang="en-US" sz="1250" dirty="0"/>
          </a:p>
        </p:txBody>
      </p:sp>
      <p:sp>
        <p:nvSpPr>
          <p:cNvPr id="23" name="Text 20"/>
          <p:cNvSpPr/>
          <p:nvPr/>
        </p:nvSpPr>
        <p:spPr>
          <a:xfrm>
            <a:off x="566928" y="3886200"/>
            <a:ext cx="10972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9AA1AD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Де завагалися — туди і повертайтеся. Питання — у канал потоку або на Q&amp;A.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68735" y="643737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9AA1AD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21</a:t>
            </a:fld>
            <a:endParaRPr lang="en-US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84048"/>
            <a:ext cx="6839712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Антипатерни тижня</a:t>
            </a:r>
            <a:endParaRPr lang="en-US" sz="2400" dirty="0"/>
          </a:p>
        </p:txBody>
      </p:sp>
      <p:sp>
        <p:nvSpPr>
          <p:cNvPr id="3" name="Shape 1"/>
          <p:cNvSpPr/>
          <p:nvPr/>
        </p:nvSpPr>
        <p:spPr>
          <a:xfrm>
            <a:off x="566928" y="1024128"/>
            <a:ext cx="1037844" cy="256032"/>
          </a:xfrm>
          <a:prstGeom prst="roundRect">
            <a:avLst>
              <a:gd name="adj" fmla="val 50000"/>
            </a:avLst>
          </a:prstGeom>
          <a:solidFill>
            <a:srgbClr val="9A5B12"/>
          </a:solidFill>
          <a:ln/>
        </p:spPr>
      </p:sp>
      <p:sp>
        <p:nvSpPr>
          <p:cNvPr id="4" name="Text 2"/>
          <p:cNvSpPr/>
          <p:nvPr/>
        </p:nvSpPr>
        <p:spPr>
          <a:xfrm>
            <a:off x="566928" y="1024128"/>
            <a:ext cx="103784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РЕФЛЕКСІЯ</a:t>
            </a:r>
            <a:endParaRPr lang="en-US" sz="900" dirty="0"/>
          </a:p>
        </p:txBody>
      </p:sp>
      <p:pic>
        <p:nvPicPr>
          <p:cNvPr id="5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6254496"/>
            <a:ext cx="1481328" cy="457200"/>
          </a:xfrm>
          <a:prstGeom prst="rect">
            <a:avLst/>
          </a:prstGeom>
        </p:spPr>
      </p:pic>
      <p:sp>
        <p:nvSpPr>
          <p:cNvPr id="6" name="Shape 3"/>
          <p:cNvSpPr/>
          <p:nvPr/>
        </p:nvSpPr>
        <p:spPr>
          <a:xfrm>
            <a:off x="566928" y="1828800"/>
            <a:ext cx="11064240" cy="777240"/>
          </a:xfrm>
          <a:prstGeom prst="roundRect">
            <a:avLst>
              <a:gd name="adj" fmla="val 11765"/>
            </a:avLst>
          </a:prstGeom>
          <a:solidFill>
            <a:srgbClr val="FFFFFF"/>
          </a:solidFill>
          <a:ln w="12700">
            <a:solidFill>
              <a:srgbClr val="E6E7EC"/>
            </a:solidFill>
            <a:prstDash val="solid"/>
          </a:ln>
        </p:spPr>
      </p:sp>
      <p:sp>
        <p:nvSpPr>
          <p:cNvPr id="7" name="Shape 4"/>
          <p:cNvSpPr/>
          <p:nvPr/>
        </p:nvSpPr>
        <p:spPr>
          <a:xfrm>
            <a:off x="768096" y="2020824"/>
            <a:ext cx="384048" cy="384048"/>
          </a:xfrm>
          <a:prstGeom prst="ellipse">
            <a:avLst/>
          </a:prstGeom>
          <a:solidFill>
            <a:srgbClr val="FBE9E9"/>
          </a:solidFill>
          <a:ln/>
        </p:spPr>
      </p:sp>
      <p:sp>
        <p:nvSpPr>
          <p:cNvPr id="8" name="Shape 5"/>
          <p:cNvSpPr/>
          <p:nvPr/>
        </p:nvSpPr>
        <p:spPr>
          <a:xfrm rot="2700000">
            <a:off x="871789" y="2197102"/>
            <a:ext cx="176662" cy="31492"/>
          </a:xfrm>
          <a:prstGeom prst="rect">
            <a:avLst/>
          </a:prstGeom>
          <a:solidFill>
            <a:srgbClr val="C62A2A"/>
          </a:solidFill>
          <a:ln/>
        </p:spPr>
      </p:sp>
      <p:sp>
        <p:nvSpPr>
          <p:cNvPr id="9" name="Shape 6"/>
          <p:cNvSpPr/>
          <p:nvPr/>
        </p:nvSpPr>
        <p:spPr>
          <a:xfrm rot="-2700000">
            <a:off x="871789" y="2197102"/>
            <a:ext cx="176662" cy="31492"/>
          </a:xfrm>
          <a:prstGeom prst="rect">
            <a:avLst/>
          </a:prstGeom>
          <a:solidFill>
            <a:srgbClr val="C62A2A"/>
          </a:solidFill>
          <a:ln/>
        </p:spPr>
      </p:sp>
      <p:sp>
        <p:nvSpPr>
          <p:cNvPr id="10" name="Text 7"/>
          <p:cNvSpPr/>
          <p:nvPr/>
        </p:nvSpPr>
        <p:spPr>
          <a:xfrm>
            <a:off x="1298448" y="1828800"/>
            <a:ext cx="101498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Рішення про модель — у конфізі адаптера   </a:t>
            </a:r>
            <a:pPr indent="0" marL="0">
              <a:buNone/>
            </a:pPr>
            <a:r>
              <a:rPr lang="en-US" sz="1200" dirty="0">
                <a:solidFill>
                  <a:srgbClr val="555B66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прапорці не переносяться між інструментами, механізми — так</a:t>
            </a:r>
            <a:endParaRPr lang="en-US" sz="1350" dirty="0"/>
          </a:p>
        </p:txBody>
      </p:sp>
      <p:sp>
        <p:nvSpPr>
          <p:cNvPr id="11" name="Shape 8"/>
          <p:cNvSpPr/>
          <p:nvPr/>
        </p:nvSpPr>
        <p:spPr>
          <a:xfrm>
            <a:off x="566928" y="2743200"/>
            <a:ext cx="11064240" cy="777240"/>
          </a:xfrm>
          <a:prstGeom prst="roundRect">
            <a:avLst>
              <a:gd name="adj" fmla="val 11765"/>
            </a:avLst>
          </a:prstGeom>
          <a:solidFill>
            <a:srgbClr val="FFFFFF"/>
          </a:solidFill>
          <a:ln w="12700">
            <a:solidFill>
              <a:srgbClr val="E6E7EC"/>
            </a:solidFill>
            <a:prstDash val="solid"/>
          </a:ln>
        </p:spPr>
      </p:sp>
      <p:sp>
        <p:nvSpPr>
          <p:cNvPr id="12" name="Shape 9"/>
          <p:cNvSpPr/>
          <p:nvPr/>
        </p:nvSpPr>
        <p:spPr>
          <a:xfrm>
            <a:off x="768096" y="2935224"/>
            <a:ext cx="384048" cy="384048"/>
          </a:xfrm>
          <a:prstGeom prst="ellipse">
            <a:avLst/>
          </a:prstGeom>
          <a:solidFill>
            <a:srgbClr val="FBE9E9"/>
          </a:solidFill>
          <a:ln/>
        </p:spPr>
      </p:sp>
      <p:sp>
        <p:nvSpPr>
          <p:cNvPr id="13" name="Shape 10"/>
          <p:cNvSpPr/>
          <p:nvPr/>
        </p:nvSpPr>
        <p:spPr>
          <a:xfrm rot="2700000">
            <a:off x="871789" y="3111502"/>
            <a:ext cx="176662" cy="31492"/>
          </a:xfrm>
          <a:prstGeom prst="rect">
            <a:avLst/>
          </a:prstGeom>
          <a:solidFill>
            <a:srgbClr val="C62A2A"/>
          </a:solidFill>
          <a:ln/>
        </p:spPr>
      </p:sp>
      <p:sp>
        <p:nvSpPr>
          <p:cNvPr id="14" name="Shape 11"/>
          <p:cNvSpPr/>
          <p:nvPr/>
        </p:nvSpPr>
        <p:spPr>
          <a:xfrm rot="-2700000">
            <a:off x="871789" y="3111502"/>
            <a:ext cx="176662" cy="31492"/>
          </a:xfrm>
          <a:prstGeom prst="rect">
            <a:avLst/>
          </a:prstGeom>
          <a:solidFill>
            <a:srgbClr val="C62A2A"/>
          </a:solidFill>
          <a:ln/>
        </p:spPr>
      </p:sp>
      <p:sp>
        <p:nvSpPr>
          <p:cNvPr id="15" name="Text 12"/>
          <p:cNvSpPr/>
          <p:nvPr/>
        </p:nvSpPr>
        <p:spPr>
          <a:xfrm>
            <a:off x="1298448" y="2743200"/>
            <a:ext cx="101498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Жорстке ім'я моделі по всьому коду   </a:t>
            </a:r>
            <a:pPr indent="0" marL="0">
              <a:buNone/>
            </a:pPr>
            <a:r>
              <a:rPr lang="en-US" sz="1200" dirty="0">
                <a:solidFill>
                  <a:srgbClr val="555B66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заміна провайдера перетворюється на пошук рядків</a:t>
            </a:r>
            <a:endParaRPr lang="en-US" sz="1350" dirty="0"/>
          </a:p>
        </p:txBody>
      </p:sp>
      <p:sp>
        <p:nvSpPr>
          <p:cNvPr id="16" name="Shape 13"/>
          <p:cNvSpPr/>
          <p:nvPr/>
        </p:nvSpPr>
        <p:spPr>
          <a:xfrm>
            <a:off x="566928" y="3657600"/>
            <a:ext cx="11064240" cy="777240"/>
          </a:xfrm>
          <a:prstGeom prst="roundRect">
            <a:avLst>
              <a:gd name="adj" fmla="val 11765"/>
            </a:avLst>
          </a:prstGeom>
          <a:solidFill>
            <a:srgbClr val="FFFFFF"/>
          </a:solidFill>
          <a:ln w="12700">
            <a:solidFill>
              <a:srgbClr val="E6E7EC"/>
            </a:solidFill>
            <a:prstDash val="solid"/>
          </a:ln>
        </p:spPr>
      </p:sp>
      <p:sp>
        <p:nvSpPr>
          <p:cNvPr id="17" name="Shape 14"/>
          <p:cNvSpPr/>
          <p:nvPr/>
        </p:nvSpPr>
        <p:spPr>
          <a:xfrm>
            <a:off x="768096" y="3849624"/>
            <a:ext cx="384048" cy="384048"/>
          </a:xfrm>
          <a:prstGeom prst="ellipse">
            <a:avLst/>
          </a:prstGeom>
          <a:solidFill>
            <a:srgbClr val="FBE9E9"/>
          </a:solidFill>
          <a:ln/>
        </p:spPr>
      </p:sp>
      <p:sp>
        <p:nvSpPr>
          <p:cNvPr id="18" name="Shape 15"/>
          <p:cNvSpPr/>
          <p:nvPr/>
        </p:nvSpPr>
        <p:spPr>
          <a:xfrm rot="2700000">
            <a:off x="871789" y="4025902"/>
            <a:ext cx="176662" cy="31492"/>
          </a:xfrm>
          <a:prstGeom prst="rect">
            <a:avLst/>
          </a:prstGeom>
          <a:solidFill>
            <a:srgbClr val="C62A2A"/>
          </a:solidFill>
          <a:ln/>
        </p:spPr>
      </p:sp>
      <p:sp>
        <p:nvSpPr>
          <p:cNvPr id="19" name="Shape 16"/>
          <p:cNvSpPr/>
          <p:nvPr/>
        </p:nvSpPr>
        <p:spPr>
          <a:xfrm rot="-2700000">
            <a:off x="871789" y="4025902"/>
            <a:ext cx="176662" cy="31492"/>
          </a:xfrm>
          <a:prstGeom prst="rect">
            <a:avLst/>
          </a:prstGeom>
          <a:solidFill>
            <a:srgbClr val="C62A2A"/>
          </a:solidFill>
          <a:ln/>
        </p:spPr>
      </p:sp>
      <p:sp>
        <p:nvSpPr>
          <p:cNvPr id="20" name="Text 17"/>
          <p:cNvSpPr/>
          <p:nvPr/>
        </p:nvSpPr>
        <p:spPr>
          <a:xfrm>
            <a:off x="1298448" y="3657600"/>
            <a:ext cx="101498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Роутинг за випадковим числом   </a:t>
            </a:r>
            <a:pPr indent="0" marL="0">
              <a:buNone/>
            </a:pPr>
            <a:r>
              <a:rPr lang="en-US" sz="1200" dirty="0">
                <a:solidFill>
                  <a:srgbClr val="555B66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непередбачувано для користувача, невідтворювано для вас</a:t>
            </a:r>
            <a:endParaRPr lang="en-US" sz="1350" dirty="0"/>
          </a:p>
        </p:txBody>
      </p:sp>
      <p:sp>
        <p:nvSpPr>
          <p:cNvPr id="21" name="Shape 18"/>
          <p:cNvSpPr/>
          <p:nvPr/>
        </p:nvSpPr>
        <p:spPr>
          <a:xfrm>
            <a:off x="566928" y="4572000"/>
            <a:ext cx="11064240" cy="777240"/>
          </a:xfrm>
          <a:prstGeom prst="roundRect">
            <a:avLst>
              <a:gd name="adj" fmla="val 11765"/>
            </a:avLst>
          </a:prstGeom>
          <a:solidFill>
            <a:srgbClr val="FFFFFF"/>
          </a:solidFill>
          <a:ln w="12700">
            <a:solidFill>
              <a:srgbClr val="E6E7EC"/>
            </a:solidFill>
            <a:prstDash val="solid"/>
          </a:ln>
        </p:spPr>
      </p:sp>
      <p:sp>
        <p:nvSpPr>
          <p:cNvPr id="22" name="Shape 19"/>
          <p:cNvSpPr/>
          <p:nvPr/>
        </p:nvSpPr>
        <p:spPr>
          <a:xfrm>
            <a:off x="768096" y="4764024"/>
            <a:ext cx="384048" cy="384048"/>
          </a:xfrm>
          <a:prstGeom prst="ellipse">
            <a:avLst/>
          </a:prstGeom>
          <a:solidFill>
            <a:srgbClr val="FBE9E9"/>
          </a:solidFill>
          <a:ln/>
        </p:spPr>
      </p:sp>
      <p:sp>
        <p:nvSpPr>
          <p:cNvPr id="23" name="Shape 20"/>
          <p:cNvSpPr/>
          <p:nvPr/>
        </p:nvSpPr>
        <p:spPr>
          <a:xfrm rot="2700000">
            <a:off x="871789" y="4940302"/>
            <a:ext cx="176662" cy="31492"/>
          </a:xfrm>
          <a:prstGeom prst="rect">
            <a:avLst/>
          </a:prstGeom>
          <a:solidFill>
            <a:srgbClr val="C62A2A"/>
          </a:solidFill>
          <a:ln/>
        </p:spPr>
      </p:sp>
      <p:sp>
        <p:nvSpPr>
          <p:cNvPr id="24" name="Shape 21"/>
          <p:cNvSpPr/>
          <p:nvPr/>
        </p:nvSpPr>
        <p:spPr>
          <a:xfrm rot="-2700000">
            <a:off x="871789" y="4940302"/>
            <a:ext cx="176662" cy="31492"/>
          </a:xfrm>
          <a:prstGeom prst="rect">
            <a:avLst/>
          </a:prstGeom>
          <a:solidFill>
            <a:srgbClr val="C62A2A"/>
          </a:solidFill>
          <a:ln/>
        </p:spPr>
      </p:sp>
      <p:sp>
        <p:nvSpPr>
          <p:cNvPr id="25" name="Text 22"/>
          <p:cNvSpPr/>
          <p:nvPr/>
        </p:nvSpPr>
        <p:spPr>
          <a:xfrm>
            <a:off x="1298448" y="4572000"/>
            <a:ext cx="101498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Alias у проді   </a:t>
            </a:r>
            <a:pPr indent="0" marL="0">
              <a:buNone/>
            </a:pPr>
            <a:r>
              <a:rPr lang="en-US" sz="1200" dirty="0">
                <a:solidFill>
                  <a:srgbClr val="555B66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модель оновлюється під вами без жодної вашої дії</a:t>
            </a:r>
            <a:endParaRPr lang="en-US" sz="13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68735" y="643737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9AA1AD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22</a:t>
            </a:fld>
            <a:endParaRPr lang="en-US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84048"/>
            <a:ext cx="6839712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Домашнє завдання</a:t>
            </a:r>
            <a:endParaRPr lang="en-US" sz="2400" dirty="0"/>
          </a:p>
        </p:txBody>
      </p:sp>
      <p:sp>
        <p:nvSpPr>
          <p:cNvPr id="3" name="Shape 1"/>
          <p:cNvSpPr/>
          <p:nvPr/>
        </p:nvSpPr>
        <p:spPr>
          <a:xfrm>
            <a:off x="566928" y="1024128"/>
            <a:ext cx="950976" cy="256032"/>
          </a:xfrm>
          <a:prstGeom prst="roundRect">
            <a:avLst>
              <a:gd name="adj" fmla="val 50000"/>
            </a:avLst>
          </a:prstGeom>
          <a:solidFill>
            <a:srgbClr val="1B8A5A"/>
          </a:solidFill>
          <a:ln/>
        </p:spPr>
      </p:sp>
      <p:sp>
        <p:nvSpPr>
          <p:cNvPr id="4" name="Text 2"/>
          <p:cNvSpPr/>
          <p:nvPr/>
        </p:nvSpPr>
        <p:spPr>
          <a:xfrm>
            <a:off x="566928" y="1024128"/>
            <a:ext cx="95097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ПРАКТИКА</a:t>
            </a:r>
            <a:endParaRPr lang="en-US" sz="900" dirty="0"/>
          </a:p>
        </p:txBody>
      </p:sp>
      <p:pic>
        <p:nvPicPr>
          <p:cNvPr id="5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6254496"/>
            <a:ext cx="1481328" cy="457200"/>
          </a:xfrm>
          <a:prstGeom prst="rect">
            <a:avLst/>
          </a:prstGeom>
        </p:spPr>
      </p:pic>
      <p:sp>
        <p:nvSpPr>
          <p:cNvPr id="6" name="Shape 3"/>
          <p:cNvSpPr/>
          <p:nvPr/>
        </p:nvSpPr>
        <p:spPr>
          <a:xfrm>
            <a:off x="566928" y="1737360"/>
            <a:ext cx="5349240" cy="219456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2700">
            <a:solidFill>
              <a:srgbClr val="E6E7EC"/>
            </a:solidFill>
            <a:prstDash val="solid"/>
          </a:ln>
        </p:spPr>
      </p:sp>
      <p:sp>
        <p:nvSpPr>
          <p:cNvPr id="7" name="Text 4"/>
          <p:cNvSpPr/>
          <p:nvPr/>
        </p:nvSpPr>
        <p:spPr>
          <a:xfrm>
            <a:off x="768096" y="1892808"/>
            <a:ext cx="4946904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Обов'язково — без здачі</a:t>
            </a:r>
            <a:endParaRPr lang="en-US" sz="1450" dirty="0"/>
          </a:p>
        </p:txBody>
      </p:sp>
      <p:sp>
        <p:nvSpPr>
          <p:cNvPr id="8" name="Text 5"/>
          <p:cNvSpPr/>
          <p:nvPr/>
        </p:nvSpPr>
        <p:spPr>
          <a:xfrm>
            <a:off x="768096" y="2423160"/>
            <a:ext cx="4946904" cy="13533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555B66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• роутер працює: GROUP BY model показує дві моделі</a:t>
            </a:r>
            <a:endParaRPr lang="en-US" sz="1200" dirty="0"/>
          </a:p>
          <a:p>
            <a:pPr indent="0" marL="0">
              <a:lnSpc>
                <a:spcPct val="108000"/>
              </a:lnSpc>
              <a:buNone/>
            </a:pPr>
            <a:endParaRPr lang="en-US" sz="1200" dirty="0"/>
          </a:p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555B66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• жорстке ім'я моделі лишилося тільки в точці рішення</a:t>
            </a:r>
            <a:endParaRPr lang="en-US" sz="1200" dirty="0"/>
          </a:p>
          <a:p>
            <a:pPr indent="0" marL="0">
              <a:lnSpc>
                <a:spcPct val="108000"/>
              </a:lnSpc>
              <a:buNone/>
            </a:pPr>
            <a:endParaRPr lang="en-US" sz="1200" dirty="0"/>
          </a:p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555B66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• записати свій fallback-порядок — знадобиться на тижні 4</a:t>
            </a:r>
            <a:endParaRPr lang="en-US" sz="1200" dirty="0"/>
          </a:p>
        </p:txBody>
      </p:sp>
      <p:sp>
        <p:nvSpPr>
          <p:cNvPr id="9" name="Shape 6"/>
          <p:cNvSpPr/>
          <p:nvPr/>
        </p:nvSpPr>
        <p:spPr>
          <a:xfrm>
            <a:off x="6281928" y="1737360"/>
            <a:ext cx="5349240" cy="2194560"/>
          </a:xfrm>
          <a:prstGeom prst="roundRect">
            <a:avLst>
              <a:gd name="adj" fmla="val 5000"/>
            </a:avLst>
          </a:prstGeom>
          <a:solidFill>
            <a:srgbClr val="F8F0E2"/>
          </a:solidFill>
          <a:ln/>
        </p:spPr>
      </p:sp>
      <p:sp>
        <p:nvSpPr>
          <p:cNvPr id="10" name="Text 7"/>
          <p:cNvSpPr/>
          <p:nvPr/>
        </p:nvSpPr>
        <p:spPr>
          <a:xfrm>
            <a:off x="6483096" y="1892808"/>
            <a:ext cx="4946904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9A5B12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Опційно</a:t>
            </a:r>
            <a:endParaRPr lang="en-US" sz="1450" dirty="0"/>
          </a:p>
        </p:txBody>
      </p:sp>
      <p:sp>
        <p:nvSpPr>
          <p:cNvPr id="11" name="Text 8"/>
          <p:cNvSpPr/>
          <p:nvPr/>
        </p:nvSpPr>
        <p:spPr>
          <a:xfrm>
            <a:off x="6483096" y="2423160"/>
            <a:ext cx="4946904" cy="13533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• сформулювати tier-політику на три рівні і оцінити по лозі частку трафіку кожного</a:t>
            </a:r>
            <a:endParaRPr lang="en-US" sz="1200" dirty="0"/>
          </a:p>
        </p:txBody>
      </p:sp>
      <p:sp>
        <p:nvSpPr>
          <p:cNvPr id="12" name="Shape 9"/>
          <p:cNvSpPr/>
          <p:nvPr/>
        </p:nvSpPr>
        <p:spPr>
          <a:xfrm>
            <a:off x="566928" y="4206240"/>
            <a:ext cx="11064240" cy="1463040"/>
          </a:xfrm>
          <a:prstGeom prst="roundRect">
            <a:avLst>
              <a:gd name="adj" fmla="val 8750"/>
            </a:avLst>
          </a:prstGeom>
          <a:solidFill>
            <a:srgbClr val="FFFFFF"/>
          </a:solidFill>
          <a:ln w="19050">
            <a:solidFill>
              <a:srgbClr val="5A05F4"/>
            </a:solidFill>
            <a:prstDash val="solid"/>
          </a:ln>
        </p:spPr>
      </p:sp>
      <p:sp>
        <p:nvSpPr>
          <p:cNvPr id="13" name="Text 10"/>
          <p:cNvSpPr/>
          <p:nvPr/>
        </p:nvSpPr>
        <p:spPr>
          <a:xfrm>
            <a:off x="841248" y="4389120"/>
            <a:ext cx="10515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5A05F4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ДЗ тижня 2 — після наступного уроку</a:t>
            </a:r>
            <a:endParaRPr lang="en-US" sz="1500" dirty="0"/>
          </a:p>
        </p:txBody>
      </p:sp>
      <p:sp>
        <p:nvSpPr>
          <p:cNvPr id="14" name="Text 11"/>
          <p:cNvSpPr/>
          <p:nvPr/>
        </p:nvSpPr>
        <p:spPr>
          <a:xfrm>
            <a:off x="841248" y="4800600"/>
            <a:ext cx="10515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Воно об'єднує routing і cost: сьогоднішня частина вже у вас в руках, після уроку 4 додасться облік вартості — і тиждень здається одним PR. Критерії — у файлі ДЗ після наступного уроку.</a:t>
            </a:r>
            <a:endParaRPr lang="en-US" sz="12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68735" y="643737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9AA1AD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23</a:t>
            </a:fld>
            <a:endParaRPr lang="en-US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solidFill>
          <a:srgbClr val="1B094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84048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400" kern="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NEOVERSITY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66928" y="86868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300" kern="0" dirty="0">
                <a:solidFill>
                  <a:srgbClr val="C9B8F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ПІДСУМОК УРОКУ 3</a:t>
            </a:r>
            <a:endParaRPr lang="en-US" sz="1100" dirty="0"/>
          </a:p>
        </p:txBody>
      </p:sp>
      <p:sp>
        <p:nvSpPr>
          <p:cNvPr id="4" name="Shape 2"/>
          <p:cNvSpPr/>
          <p:nvPr/>
        </p:nvSpPr>
        <p:spPr>
          <a:xfrm>
            <a:off x="566928" y="1463040"/>
            <a:ext cx="146304" cy="146304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5" name="Text 3"/>
          <p:cNvSpPr/>
          <p:nvPr/>
        </p:nvSpPr>
        <p:spPr>
          <a:xfrm>
            <a:off x="877824" y="1371600"/>
            <a:ext cx="104241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50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одна модель на все — найдорожчий і найкрихкіший спосіб жити</a:t>
            </a:r>
            <a:endParaRPr lang="en-US" sz="1500" dirty="0"/>
          </a:p>
        </p:txBody>
      </p:sp>
      <p:sp>
        <p:nvSpPr>
          <p:cNvPr id="6" name="Shape 4"/>
          <p:cNvSpPr/>
          <p:nvPr/>
        </p:nvSpPr>
        <p:spPr>
          <a:xfrm>
            <a:off x="566928" y="2121408"/>
            <a:ext cx="146304" cy="146304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7" name="Text 5"/>
          <p:cNvSpPr/>
          <p:nvPr/>
        </p:nvSpPr>
        <p:spPr>
          <a:xfrm>
            <a:off x="877824" y="2029968"/>
            <a:ext cx="104241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50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сервіс вирішує, адаптер виконує: рішення — код, а не прапорець у чужому конфізі</a:t>
            </a:r>
            <a:endParaRPr lang="en-US" sz="1500" dirty="0"/>
          </a:p>
        </p:txBody>
      </p:sp>
      <p:sp>
        <p:nvSpPr>
          <p:cNvPr id="8" name="Shape 6"/>
          <p:cNvSpPr/>
          <p:nvPr/>
        </p:nvSpPr>
        <p:spPr>
          <a:xfrm>
            <a:off x="566928" y="2779776"/>
            <a:ext cx="146304" cy="146304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9" name="Text 7"/>
          <p:cNvSpPr/>
          <p:nvPr/>
        </p:nvSpPr>
        <p:spPr>
          <a:xfrm>
            <a:off x="877824" y="2688336"/>
            <a:ext cx="104241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50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Route() — одна точка рішення; MODEL лишається тільки дефолтом</a:t>
            </a:r>
            <a:endParaRPr lang="en-US" sz="1500" dirty="0"/>
          </a:p>
        </p:txBody>
      </p:sp>
      <p:sp>
        <p:nvSpPr>
          <p:cNvPr id="10" name="Shape 8"/>
          <p:cNvSpPr/>
          <p:nvPr/>
        </p:nvSpPr>
        <p:spPr>
          <a:xfrm>
            <a:off x="566928" y="3438144"/>
            <a:ext cx="146304" cy="146304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11" name="Text 9"/>
          <p:cNvSpPr/>
          <p:nvPr/>
        </p:nvSpPr>
        <p:spPr>
          <a:xfrm>
            <a:off x="877824" y="3346704"/>
            <a:ext cx="104241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50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маршрутизувати можна навіть з однією моделлю: max_tokens, temperature, промпт, інструменти</a:t>
            </a:r>
            <a:endParaRPr lang="en-US" sz="1500" dirty="0"/>
          </a:p>
        </p:txBody>
      </p:sp>
      <p:sp>
        <p:nvSpPr>
          <p:cNvPr id="12" name="Shape 10"/>
          <p:cNvSpPr/>
          <p:nvPr/>
        </p:nvSpPr>
        <p:spPr>
          <a:xfrm>
            <a:off x="566928" y="4096512"/>
            <a:ext cx="146304" cy="146304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13" name="Text 11"/>
          <p:cNvSpPr/>
          <p:nvPr/>
        </p:nvSpPr>
        <p:spPr>
          <a:xfrm>
            <a:off x="877824" y="4005072"/>
            <a:ext cx="104241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50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fallback-порядок оголошуємо сьогодні — механізм з'явиться на тижні 4</a:t>
            </a:r>
            <a:endParaRPr lang="en-US" sz="1500" dirty="0"/>
          </a:p>
        </p:txBody>
      </p:sp>
      <p:sp>
        <p:nvSpPr>
          <p:cNvPr id="14" name="Shape 12"/>
          <p:cNvSpPr/>
          <p:nvPr/>
        </p:nvSpPr>
        <p:spPr>
          <a:xfrm>
            <a:off x="566928" y="4983480"/>
            <a:ext cx="11064240" cy="1234440"/>
          </a:xfrm>
          <a:prstGeom prst="roundRect">
            <a:avLst>
              <a:gd name="adj" fmla="val 10370"/>
            </a:avLst>
          </a:prstGeom>
          <a:solidFill>
            <a:srgbClr val="FFFFFF"/>
          </a:solidFill>
          <a:ln/>
        </p:spPr>
      </p:sp>
      <p:sp>
        <p:nvSpPr>
          <p:cNvPr id="15" name="Text 13"/>
          <p:cNvSpPr/>
          <p:nvPr/>
        </p:nvSpPr>
        <p:spPr>
          <a:xfrm>
            <a:off x="822960" y="5184648"/>
            <a:ext cx="10515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5A05F4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Наступний крок → Урок 4 · Токеноміка і cost attribution</a:t>
            </a:r>
            <a:endParaRPr lang="en-US" sz="1500" dirty="0"/>
          </a:p>
        </p:txBody>
      </p:sp>
      <p:sp>
        <p:nvSpPr>
          <p:cNvPr id="16" name="Text 14"/>
          <p:cNvSpPr/>
          <p:nvPr/>
        </p:nvSpPr>
        <p:spPr>
          <a:xfrm>
            <a:off x="822960" y="5550408"/>
            <a:ext cx="10515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250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Трафік розведений — тепер порахуємо, скільки він коштує. Наступного уроку на поле model ляже вартість кожного запиту: звідки беруться цифри, чому «звернення» дорожче за «виклик» і як за три GROUP BY знайти, куди пішов бюджет.</a:t>
            </a:r>
            <a:endParaRPr lang="en-US" sz="125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24</Slides>
  <Notes>24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24</vt:i4>
      </vt:variant>
    </vt:vector>
  </HeadingPairs>
  <TitlesOfParts>
    <vt:vector size="27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Урок 3 · Мультипровайдерний gateway і маршрутизація моделей</dc:title>
  <dc:subject>PptxGenJS Presentation</dc:subject>
  <dc:creator>LLMOps Bootcamp</dc:creator>
  <cp:lastModifiedBy>LLMOps Bootcamp</cp:lastModifiedBy>
  <cp:revision>1</cp:revision>
  <dcterms:created xsi:type="dcterms:W3CDTF">2026-08-16T12:19:21Z</dcterms:created>
  <dcterms:modified xsi:type="dcterms:W3CDTF">2026-08-16T12:19:21Z</dcterms:modified>
</cp:coreProperties>
</file>