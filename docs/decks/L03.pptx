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</p:sldIdLst>
  <p:notesMasterIdLst>
    <p:notesMasterId r:id="rId2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notesMaster" Target="notesMasters/notesMaster1.xml"/><Relationship Id="rId27" Type="http://schemas.openxmlformats.org/officeDocument/2006/relationships/presProps" Target="presProps.xml"/><Relationship Id="rId28" Type="http://schemas.openxmlformats.org/officeDocument/2006/relationships/viewProps" Target="viewProps.xml"/><Relationship Id="rId29" Type="http://schemas.openxmlformats.org/officeDocument/2006/relationships/theme" Target="theme/theme1.xml"/><Relationship Id="rId3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23015" y="6455664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90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1000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23015" y="6455664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90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4038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915400" y="1417320"/>
            <a:ext cx="2834640" cy="2834640"/>
          </a:xfrm>
          <a:prstGeom prst="roundRect">
            <a:avLst>
              <a:gd name="adj" fmla="val 5161"/>
            </a:avLst>
          </a:prstGeom>
          <a:ln w="12700">
            <a:solidFill>
              <a:srgbClr val="FFFFFF">
                <a:alpha val="22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299448" y="1801368"/>
            <a:ext cx="2066544" cy="2066544"/>
          </a:xfrm>
          <a:prstGeom prst="roundRect">
            <a:avLst>
              <a:gd name="adj" fmla="val 7080"/>
            </a:avLst>
          </a:prstGeom>
          <a:ln w="12700">
            <a:solidFill>
              <a:srgbClr val="FFFFFF">
                <a:alpha val="38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9683496" y="2185416"/>
            <a:ext cx="1298448" cy="1298448"/>
          </a:xfrm>
          <a:prstGeom prst="roundRect">
            <a:avLst>
              <a:gd name="adj" fmla="val 11268"/>
            </a:avLst>
          </a:prstGeom>
          <a:ln w="12700">
            <a:solidFill>
              <a:srgbClr val="FFFFFF">
                <a:alpha val="60000"/>
              </a:srgbClr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41248" y="14173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C9C5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ТИЖДЕНЬ 2 · УРОК 3 З 12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41248" y="1828800"/>
            <a:ext cx="813816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Мультипровайдерний gateway</a:t>
            </a:r>
            <a:endParaRPr lang="en-US" sz="4000" dirty="0"/>
          </a:p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і маршрутизація моделей</a:t>
            </a:r>
            <a:endParaRPr lang="en-US" sz="4000" dirty="0"/>
          </a:p>
        </p:txBody>
      </p:sp>
      <p:sp>
        <p:nvSpPr>
          <p:cNvPr id="7" name="Text 5"/>
          <p:cNvSpPr/>
          <p:nvPr/>
        </p:nvSpPr>
        <p:spPr>
          <a:xfrm>
            <a:off x="841248" y="3794760"/>
            <a:ext cx="76809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DEDA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Одна модель на все — найдорожчий і найкрихкіший спосіб жити. Сьогодні сервіс навчиться обирати модель під задачу, а додати провайдера коштуватиме рядків у YAML, а не рефакторингу.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841248" y="5440680"/>
            <a:ext cx="1646834" cy="310896"/>
          </a:xfrm>
          <a:prstGeom prst="roundRect">
            <a:avLst>
              <a:gd name="adj" fmla="val 50000"/>
            </a:avLst>
          </a:prstGeom>
          <a:solidFill>
            <a:srgbClr val="4038C4"/>
          </a:solidFill>
          <a:ln w="12700">
            <a:solidFill>
              <a:srgbClr val="8A83D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41248" y="5440680"/>
            <a:ext cx="164683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FCB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W1 Основа + промпти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2597810" y="5440680"/>
            <a:ext cx="1502359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/>
        </p:spPr>
      </p:sp>
      <p:sp>
        <p:nvSpPr>
          <p:cNvPr id="11" name="Text 9"/>
          <p:cNvSpPr/>
          <p:nvPr/>
        </p:nvSpPr>
        <p:spPr>
          <a:xfrm>
            <a:off x="2597810" y="5440680"/>
            <a:ext cx="150235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W2 Routing + cost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4209898" y="5440680"/>
            <a:ext cx="1285646" cy="310896"/>
          </a:xfrm>
          <a:prstGeom prst="roundRect">
            <a:avLst>
              <a:gd name="adj" fmla="val 50000"/>
            </a:avLst>
          </a:prstGeom>
          <a:solidFill>
            <a:srgbClr val="4038C4"/>
          </a:solidFill>
          <a:ln w="12700">
            <a:solidFill>
              <a:srgbClr val="8A83DC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209898" y="5440680"/>
            <a:ext cx="128564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FCB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W3 Кеш + tools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5605272" y="5440680"/>
            <a:ext cx="1935785" cy="310896"/>
          </a:xfrm>
          <a:prstGeom prst="roundRect">
            <a:avLst>
              <a:gd name="adj" fmla="val 50000"/>
            </a:avLst>
          </a:prstGeom>
          <a:solidFill>
            <a:srgbClr val="4038C4"/>
          </a:solidFill>
          <a:ln w="12700">
            <a:solidFill>
              <a:srgbClr val="8A83DC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605272" y="5440680"/>
            <a:ext cx="193578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FCB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W4 Надійність + безпека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7650785" y="5440680"/>
            <a:ext cx="2008022" cy="310896"/>
          </a:xfrm>
          <a:prstGeom prst="roundRect">
            <a:avLst>
              <a:gd name="adj" fmla="val 50000"/>
            </a:avLst>
          </a:prstGeom>
          <a:solidFill>
            <a:srgbClr val="4038C4"/>
          </a:solidFill>
          <a:ln w="12700">
            <a:solidFill>
              <a:srgbClr val="8A83DC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650785" y="5440680"/>
            <a:ext cx="200802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FCB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W5 Observability + evals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9768535" y="5440680"/>
            <a:ext cx="1213409" cy="310896"/>
          </a:xfrm>
          <a:prstGeom prst="roundRect">
            <a:avLst>
              <a:gd name="adj" fmla="val 50000"/>
            </a:avLst>
          </a:prstGeom>
          <a:solidFill>
            <a:srgbClr val="4038C4"/>
          </a:solidFill>
          <a:ln w="12700">
            <a:solidFill>
              <a:srgbClr val="8A83DC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9768535" y="5440680"/>
            <a:ext cx="121340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FCB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W6 CI + фінал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6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65760"/>
            <a:ext cx="8881567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Що ви зможете після уроку</a:t>
            </a:r>
            <a:endParaRPr lang="en-US" sz="2500" dirty="0"/>
          </a:p>
        </p:txBody>
      </p:sp>
      <p:sp>
        <p:nvSpPr>
          <p:cNvPr id="3" name="Text 1"/>
          <p:cNvSpPr/>
          <p:nvPr/>
        </p:nvSpPr>
        <p:spPr>
          <a:xfrm>
            <a:off x="566928" y="1005840"/>
            <a:ext cx="8881567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П'ять дій, які перевірите руками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10481767" y="530352"/>
            <a:ext cx="1143000" cy="274320"/>
          </a:xfrm>
          <a:prstGeom prst="roundRect">
            <a:avLst>
              <a:gd name="adj" fmla="val 50000"/>
            </a:avLst>
          </a:prstGeom>
          <a:solidFill>
            <a:srgbClr val="ECEBFB"/>
          </a:solidFill>
          <a:ln/>
        </p:spPr>
      </p:sp>
      <p:sp>
        <p:nvSpPr>
          <p:cNvPr id="5" name="Text 3"/>
          <p:cNvSpPr/>
          <p:nvPr/>
        </p:nvSpPr>
        <p:spPr>
          <a:xfrm>
            <a:off x="10481767" y="530352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566928" y="645566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0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SupportGW · LLMOps Bootcamp · Урок 3 з 12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566928" y="178308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768096" y="1965960"/>
            <a:ext cx="384048" cy="384048"/>
          </a:xfrm>
          <a:prstGeom prst="ellipse">
            <a:avLst/>
          </a:prstGeom>
          <a:solidFill>
            <a:srgbClr val="1B1D23"/>
          </a:solidFill>
          <a:ln/>
        </p:spPr>
      </p:sp>
      <p:sp>
        <p:nvSpPr>
          <p:cNvPr id="9" name="Text 7"/>
          <p:cNvSpPr/>
          <p:nvPr/>
        </p:nvSpPr>
        <p:spPr>
          <a:xfrm>
            <a:off x="768096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1280160" y="1938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Написати Route()</a:t>
            </a:r>
            <a:endParaRPr lang="en-US" sz="1450" dirty="0"/>
          </a:p>
        </p:txBody>
      </p:sp>
      <p:sp>
        <p:nvSpPr>
          <p:cNvPr id="11" name="Text 9"/>
          <p:cNvSpPr/>
          <p:nvPr/>
        </p:nvSpPr>
        <p:spPr>
          <a:xfrm>
            <a:off x="768096" y="246888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роутер на десять рядків: ескалації — окремо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4270248" y="178308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471416" y="1965960"/>
            <a:ext cx="384048" cy="384048"/>
          </a:xfrm>
          <a:prstGeom prst="ellipse">
            <a:avLst/>
          </a:prstGeom>
          <a:solidFill>
            <a:srgbClr val="1B1D23"/>
          </a:solidFill>
          <a:ln/>
        </p:spPr>
      </p:sp>
      <p:sp>
        <p:nvSpPr>
          <p:cNvPr id="14" name="Text 12"/>
          <p:cNvSpPr/>
          <p:nvPr/>
        </p:nvSpPr>
        <p:spPr>
          <a:xfrm>
            <a:off x="4471416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983480" y="1938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Пояснити межу ролей</a:t>
            </a:r>
            <a:endParaRPr lang="en-US" sz="1450" dirty="0"/>
          </a:p>
        </p:txBody>
      </p:sp>
      <p:sp>
        <p:nvSpPr>
          <p:cNvPr id="16" name="Text 14"/>
          <p:cNvSpPr/>
          <p:nvPr/>
        </p:nvSpPr>
        <p:spPr>
          <a:xfrm>
            <a:off x="4471416" y="246888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рішення в сервісі, виконання в адаптері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7973568" y="178308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8174736" y="1965960"/>
            <a:ext cx="384048" cy="384048"/>
          </a:xfrm>
          <a:prstGeom prst="ellipse">
            <a:avLst/>
          </a:prstGeom>
          <a:solidFill>
            <a:srgbClr val="1B1D23"/>
          </a:solidFill>
          <a:ln/>
        </p:spPr>
      </p:sp>
      <p:sp>
        <p:nvSpPr>
          <p:cNvPr id="19" name="Text 17"/>
          <p:cNvSpPr/>
          <p:nvPr/>
        </p:nvSpPr>
        <p:spPr>
          <a:xfrm>
            <a:off x="8174736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8686800" y="1938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Додати провайдера</a:t>
            </a:r>
            <a:endParaRPr lang="en-US" sz="1450" dirty="0"/>
          </a:p>
        </p:txBody>
      </p:sp>
      <p:sp>
        <p:nvSpPr>
          <p:cNvPr id="21" name="Text 19"/>
          <p:cNvSpPr/>
          <p:nvPr/>
        </p:nvSpPr>
        <p:spPr>
          <a:xfrm>
            <a:off x="8174736" y="246888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одним YAML-блоком, без зміни коду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566928" y="352044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68096" y="3703320"/>
            <a:ext cx="384048" cy="384048"/>
          </a:xfrm>
          <a:prstGeom prst="ellipse">
            <a:avLst/>
          </a:prstGeom>
          <a:solidFill>
            <a:srgbClr val="1B1D23"/>
          </a:solidFill>
          <a:ln/>
        </p:spPr>
      </p:sp>
      <p:sp>
        <p:nvSpPr>
          <p:cNvPr id="24" name="Text 22"/>
          <p:cNvSpPr/>
          <p:nvPr/>
        </p:nvSpPr>
        <p:spPr>
          <a:xfrm>
            <a:off x="768096" y="37033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1280160" y="36758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Розрізнити alias і snapshot</a:t>
            </a:r>
            <a:endParaRPr lang="en-US" sz="1450" dirty="0"/>
          </a:p>
        </p:txBody>
      </p:sp>
      <p:sp>
        <p:nvSpPr>
          <p:cNvPr id="26" name="Text 24"/>
          <p:cNvSpPr/>
          <p:nvPr/>
        </p:nvSpPr>
        <p:spPr>
          <a:xfrm>
            <a:off x="768096" y="420624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і пояснити, чому модель пінять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4270248" y="352044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4471416" y="3703320"/>
            <a:ext cx="384048" cy="384048"/>
          </a:xfrm>
          <a:prstGeom prst="ellipse">
            <a:avLst/>
          </a:prstGeom>
          <a:solidFill>
            <a:srgbClr val="1B1D23"/>
          </a:solidFill>
          <a:ln/>
        </p:spPr>
      </p:sp>
      <p:sp>
        <p:nvSpPr>
          <p:cNvPr id="29" name="Text 27"/>
          <p:cNvSpPr/>
          <p:nvPr/>
        </p:nvSpPr>
        <p:spPr>
          <a:xfrm>
            <a:off x="4471416" y="37033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4983480" y="36758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Записати fallback-порядок</a:t>
            </a:r>
            <a:endParaRPr lang="en-US" sz="1450" dirty="0"/>
          </a:p>
        </p:txBody>
      </p:sp>
      <p:sp>
        <p:nvSpPr>
          <p:cNvPr id="31" name="Text 29"/>
          <p:cNvSpPr/>
          <p:nvPr/>
        </p:nvSpPr>
        <p:spPr>
          <a:xfrm>
            <a:off x="4471416" y="420624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політика, що оживе на тижні 4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23015" y="6455664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90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6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65760"/>
            <a:ext cx="8881567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Маршрут на сьогодні</a:t>
            </a:r>
            <a:endParaRPr lang="en-US" sz="2500" dirty="0"/>
          </a:p>
        </p:txBody>
      </p:sp>
      <p:sp>
        <p:nvSpPr>
          <p:cNvPr id="3" name="Shape 1"/>
          <p:cNvSpPr/>
          <p:nvPr/>
        </p:nvSpPr>
        <p:spPr>
          <a:xfrm>
            <a:off x="10481767" y="530352"/>
            <a:ext cx="1143000" cy="274320"/>
          </a:xfrm>
          <a:prstGeom prst="roundRect">
            <a:avLst>
              <a:gd name="adj" fmla="val 50000"/>
            </a:avLst>
          </a:prstGeom>
          <a:solidFill>
            <a:srgbClr val="ECEBFB"/>
          </a:solidFill>
          <a:ln/>
        </p:spPr>
      </p:sp>
      <p:sp>
        <p:nvSpPr>
          <p:cNvPr id="4" name="Text 2"/>
          <p:cNvSpPr/>
          <p:nvPr/>
        </p:nvSpPr>
        <p:spPr>
          <a:xfrm>
            <a:off x="10481767" y="530352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566928" y="645566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0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SupportGW · LLMOps Bootcamp · Урок 3 з 12</a:t>
            </a:r>
            <a:endParaRPr lang="en-US" sz="850" dirty="0"/>
          </a:p>
        </p:txBody>
      </p:sp>
      <p:sp>
        <p:nvSpPr>
          <p:cNvPr id="6" name="Shape 4"/>
          <p:cNvSpPr/>
          <p:nvPr/>
        </p:nvSpPr>
        <p:spPr>
          <a:xfrm>
            <a:off x="566928" y="164592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68096" y="1828800"/>
            <a:ext cx="384048" cy="384048"/>
          </a:xfrm>
          <a:prstGeom prst="ellipse">
            <a:avLst/>
          </a:prstGeom>
          <a:solidFill>
            <a:srgbClr val="1B1D23"/>
          </a:solidFill>
          <a:ln/>
        </p:spPr>
      </p:sp>
      <p:sp>
        <p:nvSpPr>
          <p:cNvPr id="8" name="Text 6"/>
          <p:cNvSpPr/>
          <p:nvPr/>
        </p:nvSpPr>
        <p:spPr>
          <a:xfrm>
            <a:off x="768096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1280160" y="18013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Три біди однієї моделі</a:t>
            </a:r>
            <a:endParaRPr lang="en-US" sz="1450" dirty="0"/>
          </a:p>
        </p:txBody>
      </p:sp>
      <p:sp>
        <p:nvSpPr>
          <p:cNvPr id="10" name="Shape 8"/>
          <p:cNvSpPr/>
          <p:nvPr/>
        </p:nvSpPr>
        <p:spPr>
          <a:xfrm>
            <a:off x="4270248" y="164592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471416" y="1828800"/>
            <a:ext cx="384048" cy="384048"/>
          </a:xfrm>
          <a:prstGeom prst="ellipse">
            <a:avLst/>
          </a:prstGeom>
          <a:solidFill>
            <a:srgbClr val="1B1D23"/>
          </a:solidFill>
          <a:ln/>
        </p:spPr>
      </p:sp>
      <p:sp>
        <p:nvSpPr>
          <p:cNvPr id="12" name="Text 10"/>
          <p:cNvSpPr/>
          <p:nvPr/>
        </p:nvSpPr>
        <p:spPr>
          <a:xfrm>
            <a:off x="4471416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4983480" y="18013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Сервіс вирішує, адаптер виконує</a:t>
            </a:r>
            <a:endParaRPr lang="en-US" sz="1450" dirty="0"/>
          </a:p>
        </p:txBody>
      </p:sp>
      <p:sp>
        <p:nvSpPr>
          <p:cNvPr id="14" name="Shape 12"/>
          <p:cNvSpPr/>
          <p:nvPr/>
        </p:nvSpPr>
        <p:spPr>
          <a:xfrm>
            <a:off x="7973568" y="164592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8174736" y="1828800"/>
            <a:ext cx="384048" cy="384048"/>
          </a:xfrm>
          <a:prstGeom prst="ellipse">
            <a:avLst/>
          </a:prstGeom>
          <a:solidFill>
            <a:srgbClr val="1B1D23"/>
          </a:solidFill>
          <a:ln/>
        </p:spPr>
      </p:sp>
      <p:sp>
        <p:nvSpPr>
          <p:cNvPr id="16" name="Text 14"/>
          <p:cNvSpPr/>
          <p:nvPr/>
        </p:nvSpPr>
        <p:spPr>
          <a:xfrm>
            <a:off x="8174736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8686800" y="18013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Розтин конфіга; alias vs snapshot</a:t>
            </a:r>
            <a:endParaRPr lang="en-US" sz="1450" dirty="0"/>
          </a:p>
        </p:txBody>
      </p:sp>
      <p:sp>
        <p:nvSpPr>
          <p:cNvPr id="18" name="Shape 16"/>
          <p:cNvSpPr/>
          <p:nvPr/>
        </p:nvSpPr>
        <p:spPr>
          <a:xfrm>
            <a:off x="566928" y="269748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768096" y="2880360"/>
            <a:ext cx="384048" cy="384048"/>
          </a:xfrm>
          <a:prstGeom prst="ellipse">
            <a:avLst/>
          </a:prstGeom>
          <a:solidFill>
            <a:srgbClr val="1B1D23"/>
          </a:solidFill>
          <a:ln/>
        </p:spPr>
      </p:sp>
      <p:sp>
        <p:nvSpPr>
          <p:cNvPr id="20" name="Text 18"/>
          <p:cNvSpPr/>
          <p:nvPr/>
        </p:nvSpPr>
        <p:spPr>
          <a:xfrm>
            <a:off x="768096" y="2880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1280160" y="28529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Route(): одна точка рішення</a:t>
            </a:r>
            <a:endParaRPr lang="en-US" sz="1450" dirty="0"/>
          </a:p>
        </p:txBody>
      </p:sp>
      <p:sp>
        <p:nvSpPr>
          <p:cNvPr id="22" name="Shape 20"/>
          <p:cNvSpPr/>
          <p:nvPr/>
        </p:nvSpPr>
        <p:spPr>
          <a:xfrm>
            <a:off x="4270248" y="269748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4471416" y="2880360"/>
            <a:ext cx="384048" cy="384048"/>
          </a:xfrm>
          <a:prstGeom prst="ellipse">
            <a:avLst/>
          </a:prstGeom>
          <a:solidFill>
            <a:srgbClr val="1B1D23"/>
          </a:solidFill>
          <a:ln/>
        </p:spPr>
      </p:sp>
      <p:sp>
        <p:nvSpPr>
          <p:cNvPr id="24" name="Text 22"/>
          <p:cNvSpPr/>
          <p:nvPr/>
        </p:nvSpPr>
        <p:spPr>
          <a:xfrm>
            <a:off x="4471416" y="2880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05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4983480" y="28529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Маршрут за задачею</a:t>
            </a:r>
            <a:endParaRPr lang="en-US" sz="1450" dirty="0"/>
          </a:p>
        </p:txBody>
      </p:sp>
      <p:sp>
        <p:nvSpPr>
          <p:cNvPr id="26" name="Shape 24"/>
          <p:cNvSpPr/>
          <p:nvPr/>
        </p:nvSpPr>
        <p:spPr>
          <a:xfrm>
            <a:off x="7973568" y="269748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8174736" y="2880360"/>
            <a:ext cx="384048" cy="384048"/>
          </a:xfrm>
          <a:prstGeom prst="ellipse">
            <a:avLst/>
          </a:prstGeom>
          <a:solidFill>
            <a:srgbClr val="1B1D23"/>
          </a:solidFill>
          <a:ln/>
        </p:spPr>
      </p:sp>
      <p:sp>
        <p:nvSpPr>
          <p:cNvPr id="28" name="Text 26"/>
          <p:cNvSpPr/>
          <p:nvPr/>
        </p:nvSpPr>
        <p:spPr>
          <a:xfrm>
            <a:off x="8174736" y="2880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06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8686800" y="28529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Ціна самого рішення</a:t>
            </a:r>
            <a:endParaRPr lang="en-US" sz="1450" dirty="0"/>
          </a:p>
        </p:txBody>
      </p:sp>
      <p:sp>
        <p:nvSpPr>
          <p:cNvPr id="30" name="Shape 28"/>
          <p:cNvSpPr/>
          <p:nvPr/>
        </p:nvSpPr>
        <p:spPr>
          <a:xfrm>
            <a:off x="566928" y="374904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768096" y="3931920"/>
            <a:ext cx="384048" cy="384048"/>
          </a:xfrm>
          <a:prstGeom prst="ellipse">
            <a:avLst/>
          </a:prstGeom>
          <a:solidFill>
            <a:srgbClr val="1B1D23"/>
          </a:solidFill>
          <a:ln/>
        </p:spPr>
      </p:sp>
      <p:sp>
        <p:nvSpPr>
          <p:cNvPr id="32" name="Text 30"/>
          <p:cNvSpPr/>
          <p:nvPr/>
        </p:nvSpPr>
        <p:spPr>
          <a:xfrm>
            <a:off x="768096" y="3931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07</a:t>
            </a:r>
            <a:endParaRPr lang="en-US" sz="1200" dirty="0"/>
          </a:p>
        </p:txBody>
      </p:sp>
      <p:sp>
        <p:nvSpPr>
          <p:cNvPr id="33" name="Text 31"/>
          <p:cNvSpPr/>
          <p:nvPr/>
        </p:nvSpPr>
        <p:spPr>
          <a:xfrm>
            <a:off x="1280160" y="39044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Fallback-порядок як політика</a:t>
            </a:r>
            <a:endParaRPr lang="en-US" sz="1450" dirty="0"/>
          </a:p>
        </p:txBody>
      </p:sp>
      <p:sp>
        <p:nvSpPr>
          <p:cNvPr id="34" name="Shape 32"/>
          <p:cNvSpPr/>
          <p:nvPr/>
        </p:nvSpPr>
        <p:spPr>
          <a:xfrm>
            <a:off x="4270248" y="374904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4471416" y="3931920"/>
            <a:ext cx="384048" cy="384048"/>
          </a:xfrm>
          <a:prstGeom prst="ellipse">
            <a:avLst/>
          </a:prstGeom>
          <a:solidFill>
            <a:srgbClr val="1B1D23"/>
          </a:solidFill>
          <a:ln/>
        </p:spPr>
      </p:sp>
      <p:sp>
        <p:nvSpPr>
          <p:cNvPr id="36" name="Text 34"/>
          <p:cNvSpPr/>
          <p:nvPr/>
        </p:nvSpPr>
        <p:spPr>
          <a:xfrm>
            <a:off x="4471416" y="3931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08</a:t>
            </a:r>
            <a:endParaRPr lang="en-US" sz="1200" dirty="0"/>
          </a:p>
        </p:txBody>
      </p:sp>
      <p:sp>
        <p:nvSpPr>
          <p:cNvPr id="37" name="Text 35"/>
          <p:cNvSpPr/>
          <p:nvPr/>
        </p:nvSpPr>
        <p:spPr>
          <a:xfrm>
            <a:off x="4983480" y="39044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Додати провайдера без коду</a:t>
            </a:r>
            <a:endParaRPr lang="en-US" sz="1450" dirty="0"/>
          </a:p>
        </p:txBody>
      </p:sp>
      <p:sp>
        <p:nvSpPr>
          <p:cNvPr id="38" name="Shape 36"/>
          <p:cNvSpPr/>
          <p:nvPr/>
        </p:nvSpPr>
        <p:spPr>
          <a:xfrm>
            <a:off x="7973568" y="374904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F8F0E2"/>
          </a:solidFill>
          <a:ln/>
        </p:spPr>
      </p:sp>
      <p:sp>
        <p:nvSpPr>
          <p:cNvPr id="39" name="Shape 37"/>
          <p:cNvSpPr/>
          <p:nvPr/>
        </p:nvSpPr>
        <p:spPr>
          <a:xfrm>
            <a:off x="8174736" y="3931920"/>
            <a:ext cx="384048" cy="384048"/>
          </a:xfrm>
          <a:prstGeom prst="ellipse">
            <a:avLst/>
          </a:prstGeom>
          <a:solidFill>
            <a:srgbClr val="9A5B12"/>
          </a:solidFill>
          <a:ln/>
        </p:spPr>
      </p:sp>
      <p:sp>
        <p:nvSpPr>
          <p:cNvPr id="40" name="Text 38"/>
          <p:cNvSpPr/>
          <p:nvPr/>
        </p:nvSpPr>
        <p:spPr>
          <a:xfrm>
            <a:off x="8174736" y="3931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8F0E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09</a:t>
            </a:r>
            <a:endParaRPr lang="en-US" sz="1200" dirty="0"/>
          </a:p>
        </p:txBody>
      </p:sp>
      <p:sp>
        <p:nvSpPr>
          <p:cNvPr id="41" name="Text 39"/>
          <p:cNvSpPr/>
          <p:nvPr/>
        </p:nvSpPr>
        <p:spPr>
          <a:xfrm>
            <a:off x="8686800" y="39044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9A5B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Tier-система · опційно</a:t>
            </a:r>
            <a:endParaRPr lang="en-US" sz="1450" dirty="0"/>
          </a:p>
        </p:txBody>
      </p:sp>
      <p:sp>
        <p:nvSpPr>
          <p:cNvPr id="42" name="Shape 40"/>
          <p:cNvSpPr/>
          <p:nvPr/>
        </p:nvSpPr>
        <p:spPr>
          <a:xfrm>
            <a:off x="566928" y="480060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768096" y="4983480"/>
            <a:ext cx="384048" cy="384048"/>
          </a:xfrm>
          <a:prstGeom prst="ellipse">
            <a:avLst/>
          </a:prstGeom>
          <a:solidFill>
            <a:srgbClr val="1B1D23"/>
          </a:solidFill>
          <a:ln/>
        </p:spPr>
      </p:sp>
      <p:sp>
        <p:nvSpPr>
          <p:cNvPr id="44" name="Text 42"/>
          <p:cNvSpPr/>
          <p:nvPr/>
        </p:nvSpPr>
        <p:spPr>
          <a:xfrm>
            <a:off x="768096" y="4983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</a:t>
            </a:r>
            <a:endParaRPr lang="en-US" sz="1200" dirty="0"/>
          </a:p>
        </p:txBody>
      </p:sp>
      <p:sp>
        <p:nvSpPr>
          <p:cNvPr id="45" name="Text 43"/>
          <p:cNvSpPr/>
          <p:nvPr/>
        </p:nvSpPr>
        <p:spPr>
          <a:xfrm>
            <a:off x="1280160" y="49560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Лабораторна</a:t>
            </a:r>
            <a:endParaRPr lang="en-US" sz="1450" dirty="0"/>
          </a:p>
        </p:txBody>
      </p:sp>
      <p:sp>
        <p:nvSpPr>
          <p:cNvPr id="46" name="Shape 44"/>
          <p:cNvSpPr/>
          <p:nvPr/>
        </p:nvSpPr>
        <p:spPr>
          <a:xfrm>
            <a:off x="4270248" y="480060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4471416" y="4983480"/>
            <a:ext cx="384048" cy="384048"/>
          </a:xfrm>
          <a:prstGeom prst="ellipse">
            <a:avLst/>
          </a:prstGeom>
          <a:solidFill>
            <a:srgbClr val="1B1D23"/>
          </a:solidFill>
          <a:ln/>
        </p:spPr>
      </p:sp>
      <p:sp>
        <p:nvSpPr>
          <p:cNvPr id="48" name="Text 46"/>
          <p:cNvSpPr/>
          <p:nvPr/>
        </p:nvSpPr>
        <p:spPr>
          <a:xfrm>
            <a:off x="4471416" y="4983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</a:t>
            </a:r>
            <a:endParaRPr lang="en-US" sz="1200" dirty="0"/>
          </a:p>
        </p:txBody>
      </p:sp>
      <p:sp>
        <p:nvSpPr>
          <p:cNvPr id="49" name="Text 47"/>
          <p:cNvSpPr/>
          <p:nvPr/>
        </p:nvSpPr>
        <p:spPr>
          <a:xfrm>
            <a:off x="4983480" y="49560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Антипатерни</a:t>
            </a:r>
            <a:endParaRPr lang="en-US" sz="1450" dirty="0"/>
          </a:p>
        </p:txBody>
      </p:sp>
      <p:sp>
        <p:nvSpPr>
          <p:cNvPr id="50" name="Shape 48"/>
          <p:cNvSpPr/>
          <p:nvPr/>
        </p:nvSpPr>
        <p:spPr>
          <a:xfrm>
            <a:off x="566928" y="5852160"/>
            <a:ext cx="11064240" cy="566928"/>
          </a:xfrm>
          <a:prstGeom prst="roundRect">
            <a:avLst>
              <a:gd name="adj" fmla="val 19355"/>
            </a:avLst>
          </a:prstGeom>
          <a:solidFill>
            <a:srgbClr val="FFFFFF"/>
          </a:solidFill>
          <a:ln/>
        </p:spPr>
      </p:sp>
      <p:sp>
        <p:nvSpPr>
          <p:cNvPr id="51" name="Text 49"/>
          <p:cNvSpPr/>
          <p:nvPr/>
        </p:nvSpPr>
        <p:spPr>
          <a:xfrm>
            <a:off x="786384" y="5998464"/>
            <a:ext cx="106253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Від «одна модель на все» — до розведеного трафіку, який видно в базі.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23015" y="6455664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90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6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65760"/>
            <a:ext cx="8881567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Терміни, якими користуватимемось</a:t>
            </a:r>
            <a:endParaRPr lang="en-US" sz="2500" dirty="0"/>
          </a:p>
        </p:txBody>
      </p:sp>
      <p:sp>
        <p:nvSpPr>
          <p:cNvPr id="3" name="Text 1"/>
          <p:cNvSpPr/>
          <p:nvPr/>
        </p:nvSpPr>
        <p:spPr>
          <a:xfrm>
            <a:off x="566928" y="1005840"/>
            <a:ext cx="8881567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Шість слів сьогоднішнього уроку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10481767" y="530352"/>
            <a:ext cx="1143000" cy="274320"/>
          </a:xfrm>
          <a:prstGeom prst="roundRect">
            <a:avLst>
              <a:gd name="adj" fmla="val 50000"/>
            </a:avLst>
          </a:prstGeom>
          <a:solidFill>
            <a:srgbClr val="ECEBFB"/>
          </a:solidFill>
          <a:ln/>
        </p:spPr>
      </p:sp>
      <p:sp>
        <p:nvSpPr>
          <p:cNvPr id="5" name="Text 3"/>
          <p:cNvSpPr/>
          <p:nvPr/>
        </p:nvSpPr>
        <p:spPr>
          <a:xfrm>
            <a:off x="10481767" y="530352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566928" y="645566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0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SupportGW · LLMOps Bootcamp · Урок 3 з 12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566928" y="1783080"/>
            <a:ext cx="3553968" cy="118872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49808" y="1892808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gateway-адаптер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749808" y="2203704"/>
            <a:ext cx="31882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єдиний вихід до провайдерів: виклик, ключі, згладжування API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4322064" y="1783080"/>
            <a:ext cx="3553968" cy="118872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04944" y="1892808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роутер · Route()</a:t>
            </a:r>
            <a:endParaRPr lang="en-US" sz="1250" dirty="0"/>
          </a:p>
        </p:txBody>
      </p:sp>
      <p:sp>
        <p:nvSpPr>
          <p:cNvPr id="12" name="Text 10"/>
          <p:cNvSpPr/>
          <p:nvPr/>
        </p:nvSpPr>
        <p:spPr>
          <a:xfrm>
            <a:off x="4504944" y="2203704"/>
            <a:ext cx="31882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точка рішення в сервісі: повідомлення → ім'я моделі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8077200" y="1783080"/>
            <a:ext cx="3553968" cy="118872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260080" y="1892808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alias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8260080" y="2203704"/>
            <a:ext cx="31882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рухома назва «остання версія сімейства»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566928" y="3172968"/>
            <a:ext cx="3553968" cy="118872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49808" y="3282696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snapshot</a:t>
            </a:r>
            <a:endParaRPr lang="en-US" sz="1250" dirty="0"/>
          </a:p>
        </p:txBody>
      </p:sp>
      <p:sp>
        <p:nvSpPr>
          <p:cNvPr id="18" name="Text 16"/>
          <p:cNvSpPr/>
          <p:nvPr/>
        </p:nvSpPr>
        <p:spPr>
          <a:xfrm>
            <a:off x="749808" y="3593592"/>
            <a:ext cx="31882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зафіксована версія з датою чи ідентифікатором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4322064" y="3172968"/>
            <a:ext cx="3553968" cy="118872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504944" y="3282696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fallback-порядок</a:t>
            </a:r>
            <a:endParaRPr lang="en-US" sz="1250" dirty="0"/>
          </a:p>
        </p:txBody>
      </p:sp>
      <p:sp>
        <p:nvSpPr>
          <p:cNvPr id="21" name="Text 19"/>
          <p:cNvSpPr/>
          <p:nvPr/>
        </p:nvSpPr>
        <p:spPr>
          <a:xfrm>
            <a:off x="4504944" y="3593592"/>
            <a:ext cx="31882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оголошена черга моделей на випадок збою (механізм — W4)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8077200" y="3172968"/>
            <a:ext cx="3553968" cy="118872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8260080" y="3282696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tier</a:t>
            </a:r>
            <a:endParaRPr lang="en-US" sz="1250" dirty="0"/>
          </a:p>
        </p:txBody>
      </p:sp>
      <p:sp>
        <p:nvSpPr>
          <p:cNvPr id="24" name="Text 22"/>
          <p:cNvSpPr/>
          <p:nvPr/>
        </p:nvSpPr>
        <p:spPr>
          <a:xfrm>
            <a:off x="8260080" y="3593592"/>
            <a:ext cx="31882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рівень обслуговування: які питання яку модель отримують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566928" y="4526280"/>
            <a:ext cx="11064240" cy="777240"/>
          </a:xfrm>
          <a:prstGeom prst="roundRect">
            <a:avLst>
              <a:gd name="adj" fmla="val 14118"/>
            </a:avLst>
          </a:prstGeom>
          <a:solidFill>
            <a:srgbClr val="FFFFFF"/>
          </a:solidFill>
          <a:ln/>
        </p:spPr>
      </p:sp>
      <p:sp>
        <p:nvSpPr>
          <p:cNvPr id="26" name="Text 24"/>
          <p:cNvSpPr/>
          <p:nvPr/>
        </p:nvSpPr>
        <p:spPr>
          <a:xfrm>
            <a:off x="786384" y="4672584"/>
            <a:ext cx="10625328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Кожне розберемо на місці — тут вони лише щоб не спотикатися.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23015" y="6455664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90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6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C9C5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25296" y="365760"/>
            <a:ext cx="8223199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Три біди однієї моделі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10481767" y="530352"/>
            <a:ext cx="1143000" cy="274320"/>
          </a:xfrm>
          <a:prstGeom prst="roundRect">
            <a:avLst>
              <a:gd name="adj" fmla="val 50000"/>
            </a:avLst>
          </a:prstGeom>
          <a:solidFill>
            <a:srgbClr val="ECEBFB"/>
          </a:solidFill>
          <a:ln/>
        </p:spPr>
      </p:sp>
      <p:sp>
        <p:nvSpPr>
          <p:cNvPr id="5" name="Text 3"/>
          <p:cNvSpPr/>
          <p:nvPr/>
        </p:nvSpPr>
        <p:spPr>
          <a:xfrm>
            <a:off x="10481767" y="530352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566928" y="645566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0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SupportGW · LLMOps Bootcamp · Урок 3 з 12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566928" y="1737360"/>
            <a:ext cx="3520440" cy="1874520"/>
          </a:xfrm>
          <a:prstGeom prst="roundRect">
            <a:avLst>
              <a:gd name="adj" fmla="val 5854"/>
            </a:avLst>
          </a:prstGeom>
          <a:solidFill>
            <a:srgbClr val="F9E9E8"/>
          </a:solidFill>
          <a:ln/>
        </p:spPr>
      </p:sp>
      <p:sp>
        <p:nvSpPr>
          <p:cNvPr id="8" name="Shape 6"/>
          <p:cNvSpPr/>
          <p:nvPr/>
        </p:nvSpPr>
        <p:spPr>
          <a:xfrm>
            <a:off x="768096" y="1920240"/>
            <a:ext cx="384048" cy="384048"/>
          </a:xfrm>
          <a:prstGeom prst="ellipse">
            <a:avLst/>
          </a:prstGeom>
          <a:solidFill>
            <a:srgbClr val="B3261E"/>
          </a:solidFill>
          <a:ln/>
        </p:spPr>
      </p:sp>
      <p:sp>
        <p:nvSpPr>
          <p:cNvPr id="9" name="Text 7"/>
          <p:cNvSpPr/>
          <p:nvPr/>
        </p:nvSpPr>
        <p:spPr>
          <a:xfrm>
            <a:off x="768096" y="1920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9E9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1280160" y="189280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B326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Гроші</a:t>
            </a:r>
            <a:endParaRPr lang="en-US" sz="1450" dirty="0"/>
          </a:p>
        </p:txBody>
      </p:sp>
      <p:sp>
        <p:nvSpPr>
          <p:cNvPr id="11" name="Text 9"/>
          <p:cNvSpPr/>
          <p:nvPr/>
        </p:nvSpPr>
        <p:spPr>
          <a:xfrm>
            <a:off x="768096" y="2423160"/>
            <a:ext cx="3118104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різниця між дешевою і сильною на масовому трафіку — порядок вартості, не «трохи дорожче»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4270248" y="1737360"/>
            <a:ext cx="3520440" cy="1874520"/>
          </a:xfrm>
          <a:prstGeom prst="roundRect">
            <a:avLst>
              <a:gd name="adj" fmla="val 5854"/>
            </a:avLst>
          </a:prstGeom>
          <a:solidFill>
            <a:srgbClr val="F9E9E8"/>
          </a:solidFill>
          <a:ln/>
        </p:spPr>
      </p:sp>
      <p:sp>
        <p:nvSpPr>
          <p:cNvPr id="13" name="Shape 11"/>
          <p:cNvSpPr/>
          <p:nvPr/>
        </p:nvSpPr>
        <p:spPr>
          <a:xfrm>
            <a:off x="4471416" y="1920240"/>
            <a:ext cx="384048" cy="384048"/>
          </a:xfrm>
          <a:prstGeom prst="ellipse">
            <a:avLst/>
          </a:prstGeom>
          <a:solidFill>
            <a:srgbClr val="B3261E"/>
          </a:solidFill>
          <a:ln/>
        </p:spPr>
      </p:sp>
      <p:sp>
        <p:nvSpPr>
          <p:cNvPr id="14" name="Text 12"/>
          <p:cNvSpPr/>
          <p:nvPr/>
        </p:nvSpPr>
        <p:spPr>
          <a:xfrm>
            <a:off x="4471416" y="1920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9E9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983480" y="189280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B326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Залежність</a:t>
            </a:r>
            <a:endParaRPr lang="en-US" sz="1450" dirty="0"/>
          </a:p>
        </p:txBody>
      </p:sp>
      <p:sp>
        <p:nvSpPr>
          <p:cNvPr id="16" name="Text 14"/>
          <p:cNvSpPr/>
          <p:nvPr/>
        </p:nvSpPr>
        <p:spPr>
          <a:xfrm>
            <a:off x="4471416" y="2423160"/>
            <a:ext cx="3118104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один провайдер — одна точка відмови, яка вам не належить; плану Б не існує теоретично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7973568" y="1737360"/>
            <a:ext cx="3520440" cy="1874520"/>
          </a:xfrm>
          <a:prstGeom prst="roundRect">
            <a:avLst>
              <a:gd name="adj" fmla="val 5854"/>
            </a:avLst>
          </a:prstGeom>
          <a:solidFill>
            <a:srgbClr val="F8F0E2"/>
          </a:solidFill>
          <a:ln/>
        </p:spPr>
      </p:sp>
      <p:sp>
        <p:nvSpPr>
          <p:cNvPr id="18" name="Shape 16"/>
          <p:cNvSpPr/>
          <p:nvPr/>
        </p:nvSpPr>
        <p:spPr>
          <a:xfrm>
            <a:off x="8174736" y="1920240"/>
            <a:ext cx="384048" cy="384048"/>
          </a:xfrm>
          <a:prstGeom prst="ellipse">
            <a:avLst/>
          </a:prstGeom>
          <a:solidFill>
            <a:srgbClr val="9A5B12"/>
          </a:solidFill>
          <a:ln/>
        </p:spPr>
      </p:sp>
      <p:sp>
        <p:nvSpPr>
          <p:cNvPr id="19" name="Text 17"/>
          <p:cNvSpPr/>
          <p:nvPr/>
        </p:nvSpPr>
        <p:spPr>
          <a:xfrm>
            <a:off x="8174736" y="1920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8F0E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8686800" y="189280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9A5B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Несумісність у дрібницях</a:t>
            </a:r>
            <a:endParaRPr lang="en-US" sz="1450" dirty="0"/>
          </a:p>
        </p:txBody>
      </p:sp>
      <p:sp>
        <p:nvSpPr>
          <p:cNvPr id="21" name="Text 19"/>
          <p:cNvSpPr/>
          <p:nvPr/>
        </p:nvSpPr>
        <p:spPr>
          <a:xfrm>
            <a:off x="8174736" y="2423160"/>
            <a:ext cx="3118104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«сумісні за стандартом» провайдери розходяться в деталях полів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566928" y="3977640"/>
            <a:ext cx="11064240" cy="1371600"/>
          </a:xfrm>
          <a:prstGeom prst="roundRect">
            <a:avLst>
              <a:gd name="adj" fmla="val 8000"/>
            </a:avLst>
          </a:prstGeom>
          <a:solidFill>
            <a:srgbClr val="ECEBFB"/>
          </a:solidFill>
          <a:ln/>
        </p:spPr>
      </p:sp>
      <p:sp>
        <p:nvSpPr>
          <p:cNvPr id="23" name="Text 21"/>
          <p:cNvSpPr/>
          <p:nvPr/>
        </p:nvSpPr>
        <p:spPr>
          <a:xfrm>
            <a:off x="786384" y="410565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НАВІЩО ЦЕЙ ШАР</a:t>
            </a:r>
            <a:endParaRPr lang="en-US" sz="950" dirty="0"/>
          </a:p>
        </p:txBody>
      </p:sp>
      <p:sp>
        <p:nvSpPr>
          <p:cNvPr id="24" name="Text 22"/>
          <p:cNvSpPr/>
          <p:nvPr/>
        </p:nvSpPr>
        <p:spPr>
          <a:xfrm>
            <a:off x="786384" y="4361688"/>
            <a:ext cx="10625328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Маршрутизація — перший механізм тижня «гроші»: вона розводить трафік за задачами, і саме на ній тримається все, що рахуватимемо наступного уроку.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23015" y="6455664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90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6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C9C5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25296" y="365760"/>
            <a:ext cx="8223199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Сервіс вирішує. Адаптер виконує.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10481767" y="530352"/>
            <a:ext cx="1143000" cy="274320"/>
          </a:xfrm>
          <a:prstGeom prst="roundRect">
            <a:avLst>
              <a:gd name="adj" fmla="val 50000"/>
            </a:avLst>
          </a:prstGeom>
          <a:solidFill>
            <a:srgbClr val="ECEBFB"/>
          </a:solidFill>
          <a:ln/>
        </p:spPr>
      </p:sp>
      <p:sp>
        <p:nvSpPr>
          <p:cNvPr id="5" name="Text 3"/>
          <p:cNvSpPr/>
          <p:nvPr/>
        </p:nvSpPr>
        <p:spPr>
          <a:xfrm>
            <a:off x="10481767" y="530352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566928" y="645566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0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SupportGW · LLMOps Bootcamp · Урок 3 з 12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566928" y="1645920"/>
            <a:ext cx="5349240" cy="1737360"/>
          </a:xfrm>
          <a:prstGeom prst="roundRect">
            <a:avLst>
              <a:gd name="adj" fmla="val 6316"/>
            </a:avLst>
          </a:prstGeom>
          <a:solidFill>
            <a:srgbClr val="4038C4"/>
          </a:solidFill>
          <a:ln/>
        </p:spPr>
      </p:sp>
      <p:sp>
        <p:nvSpPr>
          <p:cNvPr id="8" name="Text 6"/>
          <p:cNvSpPr/>
          <p:nvPr/>
        </p:nvSpPr>
        <p:spPr>
          <a:xfrm>
            <a:off x="841248" y="1810512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C9C5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ВИРІШУЄ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841248" y="210312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Сервіс</a:t>
            </a:r>
            <a:endParaRPr lang="en-US" sz="2400" dirty="0"/>
          </a:p>
        </p:txBody>
      </p:sp>
      <p:sp>
        <p:nvSpPr>
          <p:cNvPr id="10" name="Text 8"/>
          <p:cNvSpPr/>
          <p:nvPr/>
        </p:nvSpPr>
        <p:spPr>
          <a:xfrm>
            <a:off x="841248" y="2606040"/>
            <a:ext cx="4754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DEDA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яку модель викликати — код, який можна прочитати, протестувати й залогувати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281928" y="1645920"/>
            <a:ext cx="5349240" cy="1737360"/>
          </a:xfrm>
          <a:prstGeom prst="roundRect">
            <a:avLst>
              <a:gd name="adj" fmla="val 6316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556248" y="1810512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8A90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ВИКОНУЄ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6556248" y="210312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Адаптер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556248" y="2606040"/>
            <a:ext cx="4754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формат помилок, автентифікація, ліміти на поля — нормалізує адаптер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66928" y="3611880"/>
            <a:ext cx="5349240" cy="1737360"/>
          </a:xfrm>
          <a:prstGeom prst="roundRect">
            <a:avLst>
              <a:gd name="adj" fmla="val 6316"/>
            </a:avLst>
          </a:prstGeom>
          <a:solidFill>
            <a:srgbClr val="E9F3EE"/>
          </a:solidFill>
          <a:ln/>
        </p:spPr>
      </p:sp>
      <p:sp>
        <p:nvSpPr>
          <p:cNvPr id="16" name="Text 14"/>
          <p:cNvSpPr/>
          <p:nvPr/>
        </p:nvSpPr>
        <p:spPr>
          <a:xfrm>
            <a:off x="786384" y="3739896"/>
            <a:ext cx="4910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17724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ПРИНЦИП</a:t>
            </a:r>
            <a:endParaRPr lang="en-US" sz="950" dirty="0"/>
          </a:p>
        </p:txBody>
      </p:sp>
      <p:sp>
        <p:nvSpPr>
          <p:cNvPr id="17" name="Text 15"/>
          <p:cNvSpPr/>
          <p:nvPr/>
        </p:nvSpPr>
        <p:spPr>
          <a:xfrm>
            <a:off x="786384" y="3995928"/>
            <a:ext cx="4910328" cy="12252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Рішення — це код: його читають, тестують, логують і пояснюють на розборі. Конфіг чужого інструмента — рішення, яке ви орендуєте.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6281928" y="3611880"/>
            <a:ext cx="5349240" cy="1737360"/>
          </a:xfrm>
          <a:prstGeom prst="roundRect">
            <a:avLst>
              <a:gd name="adj" fmla="val 6316"/>
            </a:avLst>
          </a:prstGeom>
          <a:solidFill>
            <a:srgbClr val="F9E9E8"/>
          </a:solidFill>
          <a:ln/>
        </p:spPr>
      </p:sp>
      <p:sp>
        <p:nvSpPr>
          <p:cNvPr id="19" name="Text 17"/>
          <p:cNvSpPr/>
          <p:nvPr/>
        </p:nvSpPr>
        <p:spPr>
          <a:xfrm>
            <a:off x="6501384" y="3739896"/>
            <a:ext cx="4910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B3261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ТИПОВА ПОМИЛКА</a:t>
            </a:r>
            <a:endParaRPr lang="en-US" sz="950" dirty="0"/>
          </a:p>
        </p:txBody>
      </p:sp>
      <p:sp>
        <p:nvSpPr>
          <p:cNvPr id="20" name="Text 18"/>
          <p:cNvSpPr/>
          <p:nvPr/>
        </p:nvSpPr>
        <p:spPr>
          <a:xfrm>
            <a:off x="6501384" y="3995928"/>
            <a:ext cx="4910328" cy="12252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Побачити роутинг у документації адаптера і віддати рішення туди: механізми переносяться, прапорці — ні.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23015" y="6455664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90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6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C9C5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25296" y="365760"/>
            <a:ext cx="8223199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Розтин конфіга: дві «моделі» на одному mock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10481767" y="530352"/>
            <a:ext cx="1143000" cy="274320"/>
          </a:xfrm>
          <a:prstGeom prst="roundRect">
            <a:avLst>
              <a:gd name="adj" fmla="val 50000"/>
            </a:avLst>
          </a:prstGeom>
          <a:solidFill>
            <a:srgbClr val="ECEBFB"/>
          </a:solidFill>
          <a:ln/>
        </p:spPr>
      </p:sp>
      <p:sp>
        <p:nvSpPr>
          <p:cNvPr id="5" name="Text 3"/>
          <p:cNvSpPr/>
          <p:nvPr/>
        </p:nvSpPr>
        <p:spPr>
          <a:xfrm>
            <a:off x="10481767" y="530352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566928" y="645566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0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SupportGW · LLMOps Bootcamp · Урок 3 з 12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566928" y="1691640"/>
            <a:ext cx="6400800" cy="3200400"/>
          </a:xfrm>
          <a:prstGeom prst="roundRect">
            <a:avLst>
              <a:gd name="adj" fmla="val 3429"/>
            </a:avLst>
          </a:prstGeom>
          <a:solidFill>
            <a:srgbClr val="14161C"/>
          </a:solidFill>
          <a:ln/>
        </p:spPr>
      </p:sp>
      <p:sp>
        <p:nvSpPr>
          <p:cNvPr id="8" name="Text 6"/>
          <p:cNvSpPr/>
          <p:nvPr/>
        </p:nvSpPr>
        <p:spPr>
          <a:xfrm>
            <a:off x="786384" y="1837944"/>
            <a:ext cx="5961888" cy="2907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82AA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model_list:</a:t>
            </a:r>
            <a:endParaRPr lang="en-US" sz="11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E8E9E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- model_name: </a:t>
            </a:r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C3E88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mock-mini</a:t>
            </a:r>
            <a:endParaRPr lang="en-US" sz="11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82AA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litellm_params:</a:t>
            </a:r>
            <a:endParaRPr lang="en-US" sz="11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E8E9E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model: openai/mock</a:t>
            </a:r>
            <a:endParaRPr lang="en-US" sz="11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E8E9E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api_base: http://mock-provider:9000/v1</a:t>
            </a:r>
            <a:endParaRPr lang="en-US" sz="11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E8E9E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- model_name: </a:t>
            </a:r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C3E88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mock-strong</a:t>
            </a:r>
            <a:endParaRPr lang="en-US" sz="11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82AA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litellm_params:   </a:t>
            </a:r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6A738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той самий mock</a:t>
            </a:r>
            <a:endParaRPr lang="en-US" sz="11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E8E9E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model: openai/mock</a:t>
            </a:r>
            <a:endParaRPr lang="en-US" sz="11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82AA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litellm_settings:</a:t>
            </a:r>
            <a:endParaRPr lang="en-US" sz="11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E8E9E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drop_params: true</a:t>
            </a:r>
            <a:endParaRPr lang="en-US" sz="11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E8E9E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num_retries: 0    </a:t>
            </a:r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6A738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збої йдуть у сервіс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7223760" y="1691640"/>
            <a:ext cx="4407408" cy="1005840"/>
          </a:xfrm>
          <a:prstGeom prst="roundRect">
            <a:avLst>
              <a:gd name="adj" fmla="val 10909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424928" y="1847088"/>
            <a:ext cx="400507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Той самий mock — навмисно</a:t>
            </a:r>
            <a:endParaRPr lang="en-US" sz="1450" dirty="0"/>
          </a:p>
        </p:txBody>
      </p:sp>
      <p:sp>
        <p:nvSpPr>
          <p:cNvPr id="11" name="Text 9"/>
          <p:cNvSpPr/>
          <p:nvPr/>
        </p:nvSpPr>
        <p:spPr>
          <a:xfrm>
            <a:off x="7424928" y="2377440"/>
            <a:ext cx="40050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механіка роутингу справжня, рахунок нульовий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7223760" y="2788920"/>
            <a:ext cx="4407408" cy="1005840"/>
          </a:xfrm>
          <a:prstGeom prst="roundRect">
            <a:avLst>
              <a:gd name="adj" fmla="val 10909"/>
            </a:avLst>
          </a:prstGeom>
          <a:solidFill>
            <a:srgbClr val="E9F3EE"/>
          </a:solidFill>
          <a:ln/>
        </p:spPr>
      </p:sp>
      <p:sp>
        <p:nvSpPr>
          <p:cNvPr id="13" name="Text 11"/>
          <p:cNvSpPr/>
          <p:nvPr/>
        </p:nvSpPr>
        <p:spPr>
          <a:xfrm>
            <a:off x="7424928" y="2944368"/>
            <a:ext cx="400507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772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drop_params: true</a:t>
            </a:r>
            <a:endParaRPr lang="en-US" sz="1450" dirty="0"/>
          </a:p>
        </p:txBody>
      </p:sp>
      <p:sp>
        <p:nvSpPr>
          <p:cNvPr id="14" name="Text 12"/>
          <p:cNvSpPr/>
          <p:nvPr/>
        </p:nvSpPr>
        <p:spPr>
          <a:xfrm>
            <a:off x="7424928" y="3474720"/>
            <a:ext cx="40050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адаптер відкидає поля, яких провайдер не приймає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7223760" y="3886200"/>
            <a:ext cx="4407408" cy="1005840"/>
          </a:xfrm>
          <a:prstGeom prst="roundRect">
            <a:avLst>
              <a:gd name="adj" fmla="val 10909"/>
            </a:avLst>
          </a:prstGeom>
          <a:solidFill>
            <a:srgbClr val="F8F0E2"/>
          </a:solidFill>
          <a:ln/>
        </p:spPr>
      </p:sp>
      <p:sp>
        <p:nvSpPr>
          <p:cNvPr id="16" name="Text 14"/>
          <p:cNvSpPr/>
          <p:nvPr/>
        </p:nvSpPr>
        <p:spPr>
          <a:xfrm>
            <a:off x="7424928" y="4041648"/>
            <a:ext cx="400507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9A5B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num_retries: 0</a:t>
            </a:r>
            <a:endParaRPr lang="en-US" sz="1450" dirty="0"/>
          </a:p>
        </p:txBody>
      </p:sp>
      <p:sp>
        <p:nvSpPr>
          <p:cNvPr id="17" name="Text 15"/>
          <p:cNvSpPr/>
          <p:nvPr/>
        </p:nvSpPr>
        <p:spPr>
          <a:xfrm>
            <a:off x="7424928" y="4572000"/>
            <a:ext cx="40050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збої долітають до сервісу — він вирішує, що робити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566928" y="5166360"/>
            <a:ext cx="11064240" cy="658368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/>
        </p:spPr>
      </p:sp>
      <p:sp>
        <p:nvSpPr>
          <p:cNvPr id="19" name="Text 17"/>
          <p:cNvSpPr/>
          <p:nvPr/>
        </p:nvSpPr>
        <p:spPr>
          <a:xfrm>
            <a:off x="786384" y="5312664"/>
            <a:ext cx="106253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Реальний ключ змінить лише праві частини YAML — код сервісу не побачить різниці.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23015" y="6455664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90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6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C9C5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25296" y="365760"/>
            <a:ext cx="8223199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«Модель» за назвою — не та сама модель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10481767" y="530352"/>
            <a:ext cx="1143000" cy="274320"/>
          </a:xfrm>
          <a:prstGeom prst="roundRect">
            <a:avLst>
              <a:gd name="adj" fmla="val 50000"/>
            </a:avLst>
          </a:prstGeom>
          <a:solidFill>
            <a:srgbClr val="ECEBFB"/>
          </a:solidFill>
          <a:ln/>
        </p:spPr>
      </p:sp>
      <p:sp>
        <p:nvSpPr>
          <p:cNvPr id="5" name="Text 3"/>
          <p:cNvSpPr/>
          <p:nvPr/>
        </p:nvSpPr>
        <p:spPr>
          <a:xfrm>
            <a:off x="10481767" y="530352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566928" y="645566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0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SupportGW · LLMOps Bootcamp · Урок 3 з 12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566928" y="1737360"/>
            <a:ext cx="5349240" cy="1783080"/>
          </a:xfrm>
          <a:prstGeom prst="roundRect">
            <a:avLst>
              <a:gd name="adj" fmla="val 6154"/>
            </a:avLst>
          </a:prstGeom>
          <a:solidFill>
            <a:srgbClr val="F8F0E2"/>
          </a:solidFill>
          <a:ln/>
        </p:spPr>
      </p:sp>
      <p:sp>
        <p:nvSpPr>
          <p:cNvPr id="8" name="Text 6"/>
          <p:cNvSpPr/>
          <p:nvPr/>
        </p:nvSpPr>
        <p:spPr>
          <a:xfrm>
            <a:off x="768096" y="189280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9A5B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Alias — «остання версія сімейства»</a:t>
            </a:r>
            <a:endParaRPr lang="en-US" sz="1450" dirty="0"/>
          </a:p>
        </p:txBody>
      </p:sp>
      <p:sp>
        <p:nvSpPr>
          <p:cNvPr id="9" name="Text 7"/>
          <p:cNvSpPr/>
          <p:nvPr/>
        </p:nvSpPr>
        <p:spPr>
          <a:xfrm>
            <a:off x="768096" y="2423160"/>
            <a:ext cx="4946904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автоматично отримуєте покращення — і небезпечно тихі зміни поведінки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6281928" y="1737360"/>
            <a:ext cx="5349240" cy="1783080"/>
          </a:xfrm>
          <a:prstGeom prst="roundRect">
            <a:avLst>
              <a:gd name="adj" fmla="val 6154"/>
            </a:avLst>
          </a:prstGeom>
          <a:solidFill>
            <a:srgbClr val="E9F3EE"/>
          </a:solidFill>
          <a:ln/>
        </p:spPr>
      </p:sp>
      <p:sp>
        <p:nvSpPr>
          <p:cNvPr id="11" name="Text 9"/>
          <p:cNvSpPr/>
          <p:nvPr/>
        </p:nvSpPr>
        <p:spPr>
          <a:xfrm>
            <a:off x="6483096" y="189280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772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Snapshot — зафіксована версія</a:t>
            </a:r>
            <a:endParaRPr lang="en-US" sz="1450" dirty="0"/>
          </a:p>
        </p:txBody>
      </p:sp>
      <p:sp>
        <p:nvSpPr>
          <p:cNvPr id="12" name="Text 10"/>
          <p:cNvSpPr/>
          <p:nvPr/>
        </p:nvSpPr>
        <p:spPr>
          <a:xfrm>
            <a:off x="6483096" y="2423160"/>
            <a:ext cx="4946904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не змінюється під вами, але й не оновлюється сама — і колись її виведуть з обігу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566928" y="3749040"/>
            <a:ext cx="11064240" cy="1325880"/>
          </a:xfrm>
          <a:prstGeom prst="roundRect">
            <a:avLst>
              <a:gd name="adj" fmla="val 8276"/>
            </a:avLst>
          </a:prstGeom>
          <a:solidFill>
            <a:srgbClr val="F8F0E2"/>
          </a:solidFill>
          <a:ln/>
        </p:spPr>
      </p:sp>
      <p:sp>
        <p:nvSpPr>
          <p:cNvPr id="14" name="Text 12"/>
          <p:cNvSpPr/>
          <p:nvPr/>
        </p:nvSpPr>
        <p:spPr>
          <a:xfrm>
            <a:off x="786384" y="387705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9A5B1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ЛАЙФХАК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786384" y="4133088"/>
            <a:ext cx="10625328" cy="8138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Той самий принцип, що з образами контейнерів: у прод не котять latest. Ми і gateway пінимо за digest'ом, а не за рухомим тегом.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566928" y="5257800"/>
            <a:ext cx="11064240" cy="621792"/>
          </a:xfrm>
          <a:prstGeom prst="roundRect">
            <a:avLst>
              <a:gd name="adj" fmla="val 17647"/>
            </a:avLst>
          </a:prstGeom>
          <a:solidFill>
            <a:srgbClr val="ECEBFB"/>
          </a:solidFill>
          <a:ln/>
        </p:spPr>
      </p:sp>
      <p:sp>
        <p:nvSpPr>
          <p:cNvPr id="17" name="Text 15"/>
          <p:cNvSpPr/>
          <p:nvPr/>
        </p:nvSpPr>
        <p:spPr>
          <a:xfrm>
            <a:off x="786384" y="5404104"/>
            <a:ext cx="1062532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Правило production: у конфізі — snapshot; оновлення версії — окрема свідома зміна.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23015" y="6455664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90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6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C9C5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25296" y="365760"/>
            <a:ext cx="8223199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Route(): роутер на десять рядків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10481767" y="530352"/>
            <a:ext cx="1143000" cy="274320"/>
          </a:xfrm>
          <a:prstGeom prst="roundRect">
            <a:avLst>
              <a:gd name="adj" fmla="val 50000"/>
            </a:avLst>
          </a:prstGeom>
          <a:solidFill>
            <a:srgbClr val="ECEBFB"/>
          </a:solidFill>
          <a:ln/>
        </p:spPr>
      </p:sp>
      <p:sp>
        <p:nvSpPr>
          <p:cNvPr id="5" name="Text 3"/>
          <p:cNvSpPr/>
          <p:nvPr/>
        </p:nvSpPr>
        <p:spPr>
          <a:xfrm>
            <a:off x="10481767" y="530352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566928" y="645566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0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SupportGW · LLMOps Bootcamp · Урок 3 з 12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566928" y="1691640"/>
            <a:ext cx="11064240" cy="2148840"/>
          </a:xfrm>
          <a:prstGeom prst="roundRect">
            <a:avLst>
              <a:gd name="adj" fmla="val 5106"/>
            </a:avLst>
          </a:prstGeom>
          <a:solidFill>
            <a:srgbClr val="14161C"/>
          </a:solidFill>
          <a:ln/>
        </p:spPr>
      </p:sp>
      <p:sp>
        <p:nvSpPr>
          <p:cNvPr id="8" name="Text 6"/>
          <p:cNvSpPr/>
          <p:nvPr/>
        </p:nvSpPr>
        <p:spPr>
          <a:xfrm>
            <a:off x="786384" y="1837944"/>
            <a:ext cx="10625328" cy="1856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A738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[W2] routing: ескалація → сильна, решта → дешева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82AA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static string Route(string message, string def) {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E8E9E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if (def != "mock") return def;   </a:t>
            </a:r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A738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реальний ключ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E8E9E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var u = message.ToLowerInvariant();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E8E9E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bool escalation = u.Contains("поверн") || u.Contains("терміново")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E8E9E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|| u.Contains("refund")  || u.Contains("скарг");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C3E88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return escalation ? "mock-strong" : "mock-mini";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82AA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566928" y="4160520"/>
            <a:ext cx="338328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21792" y="4160520"/>
            <a:ext cx="327355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B1D2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повідомлення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4041648" y="4526280"/>
            <a:ext cx="164592" cy="0"/>
          </a:xfrm>
          <a:prstGeom prst="line">
            <a:avLst/>
          </a:prstGeom>
          <a:noFill/>
          <a:ln w="15875">
            <a:solidFill>
              <a:srgbClr val="8A90A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 rot="5400000">
            <a:off x="4169664" y="4457700"/>
            <a:ext cx="146304" cy="137160"/>
          </a:xfrm>
          <a:prstGeom prst="triangle">
            <a:avLst/>
          </a:prstGeom>
          <a:solidFill>
            <a:srgbClr val="8A90A0"/>
          </a:solidFill>
          <a:ln/>
        </p:spPr>
      </p:sp>
      <p:sp>
        <p:nvSpPr>
          <p:cNvPr id="13" name="Shape 11"/>
          <p:cNvSpPr/>
          <p:nvPr/>
        </p:nvSpPr>
        <p:spPr>
          <a:xfrm>
            <a:off x="4407408" y="4160520"/>
            <a:ext cx="3383280" cy="731520"/>
          </a:xfrm>
          <a:prstGeom prst="roundRect">
            <a:avLst>
              <a:gd name="adj" fmla="val 12500"/>
            </a:avLst>
          </a:prstGeom>
          <a:solidFill>
            <a:srgbClr val="ECEBFB"/>
          </a:solidFill>
          <a:ln/>
        </p:spPr>
      </p:sp>
      <p:sp>
        <p:nvSpPr>
          <p:cNvPr id="14" name="Text 12"/>
          <p:cNvSpPr/>
          <p:nvPr/>
        </p:nvSpPr>
        <p:spPr>
          <a:xfrm>
            <a:off x="4462272" y="4160520"/>
            <a:ext cx="327355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маркери ескалації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7882128" y="4526280"/>
            <a:ext cx="164592" cy="0"/>
          </a:xfrm>
          <a:prstGeom prst="line">
            <a:avLst/>
          </a:prstGeom>
          <a:noFill/>
          <a:ln w="15875">
            <a:solidFill>
              <a:srgbClr val="8A90A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 rot="5400000">
            <a:off x="8010144" y="4457700"/>
            <a:ext cx="146304" cy="137160"/>
          </a:xfrm>
          <a:prstGeom prst="triangle">
            <a:avLst/>
          </a:prstGeom>
          <a:solidFill>
            <a:srgbClr val="8A90A0"/>
          </a:solidFill>
          <a:ln/>
        </p:spPr>
      </p:sp>
      <p:sp>
        <p:nvSpPr>
          <p:cNvPr id="17" name="Shape 15"/>
          <p:cNvSpPr/>
          <p:nvPr/>
        </p:nvSpPr>
        <p:spPr>
          <a:xfrm>
            <a:off x="8247888" y="4160520"/>
            <a:ext cx="3383280" cy="731520"/>
          </a:xfrm>
          <a:prstGeom prst="roundRect">
            <a:avLst>
              <a:gd name="adj" fmla="val 12500"/>
            </a:avLst>
          </a:prstGeom>
          <a:solidFill>
            <a:srgbClr val="F9E9E8"/>
          </a:solidFill>
          <a:ln/>
        </p:spPr>
      </p:sp>
      <p:sp>
        <p:nvSpPr>
          <p:cNvPr id="18" name="Text 16"/>
          <p:cNvSpPr/>
          <p:nvPr/>
        </p:nvSpPr>
        <p:spPr>
          <a:xfrm>
            <a:off x="8302752" y="4160520"/>
            <a:ext cx="327355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B3261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mock-strong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566928" y="5120640"/>
            <a:ext cx="11064240" cy="731520"/>
          </a:xfrm>
          <a:prstGeom prst="roundRect">
            <a:avLst>
              <a:gd name="adj" fmla="val 15000"/>
            </a:avLst>
          </a:prstGeom>
          <a:solidFill>
            <a:srgbClr val="E9F3EE"/>
          </a:solidFill>
          <a:ln/>
        </p:spPr>
      </p:sp>
      <p:sp>
        <p:nvSpPr>
          <p:cNvPr id="20" name="Text 18"/>
          <p:cNvSpPr/>
          <p:nvPr/>
        </p:nvSpPr>
        <p:spPr>
          <a:xfrm>
            <a:off x="786384" y="5266944"/>
            <a:ext cx="1062532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— лише дефолт: жорстке ім'я моделі зникло зі шляху рішення й лишилося в одному місці.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23015" y="6455664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90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6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C9C5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25296" y="365760"/>
            <a:ext cx="8223199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Що ще каже цей код — до того, як вкусить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10481767" y="530352"/>
            <a:ext cx="1143000" cy="274320"/>
          </a:xfrm>
          <a:prstGeom prst="roundRect">
            <a:avLst>
              <a:gd name="adj" fmla="val 50000"/>
            </a:avLst>
          </a:prstGeom>
          <a:solidFill>
            <a:srgbClr val="ECEBFB"/>
          </a:solidFill>
          <a:ln/>
        </p:spPr>
      </p:sp>
      <p:sp>
        <p:nvSpPr>
          <p:cNvPr id="5" name="Text 3"/>
          <p:cNvSpPr/>
          <p:nvPr/>
        </p:nvSpPr>
        <p:spPr>
          <a:xfrm>
            <a:off x="10481767" y="530352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566928" y="645566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0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SupportGW · LLMOps Bootcamp · Урок 3 з 12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566928" y="1737360"/>
            <a:ext cx="3520440" cy="1828800"/>
          </a:xfrm>
          <a:prstGeom prst="roundRect">
            <a:avLst>
              <a:gd name="adj" fmla="val 6000"/>
            </a:avLst>
          </a:prstGeom>
          <a:solidFill>
            <a:srgbClr val="E9F3EE"/>
          </a:solidFill>
          <a:ln/>
        </p:spPr>
      </p:sp>
      <p:sp>
        <p:nvSpPr>
          <p:cNvPr id="8" name="Shape 6"/>
          <p:cNvSpPr/>
          <p:nvPr/>
        </p:nvSpPr>
        <p:spPr>
          <a:xfrm>
            <a:off x="768096" y="1920240"/>
            <a:ext cx="384048" cy="384048"/>
          </a:xfrm>
          <a:prstGeom prst="ellipse">
            <a:avLst/>
          </a:prstGeom>
          <a:solidFill>
            <a:srgbClr val="177245"/>
          </a:solidFill>
          <a:ln/>
        </p:spPr>
      </p:sp>
      <p:sp>
        <p:nvSpPr>
          <p:cNvPr id="9" name="Text 7"/>
          <p:cNvSpPr/>
          <p:nvPr/>
        </p:nvSpPr>
        <p:spPr>
          <a:xfrm>
            <a:off x="768096" y="1920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9F3E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1280160" y="189280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772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Чиста функція = дешеві тести</a:t>
            </a:r>
            <a:endParaRPr lang="en-US" sz="1450" dirty="0"/>
          </a:p>
        </p:txBody>
      </p:sp>
      <p:sp>
        <p:nvSpPr>
          <p:cNvPr id="11" name="Text 9"/>
          <p:cNvSpPr/>
          <p:nvPr/>
        </p:nvSpPr>
        <p:spPr>
          <a:xfrm>
            <a:off x="768096" y="2423160"/>
            <a:ext cx="3118104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рядок на вході, ім'я моделі на виході: десяток assert'ів без стека й бази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4270248" y="1737360"/>
            <a:ext cx="3520440" cy="18288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471416" y="1920240"/>
            <a:ext cx="384048" cy="384048"/>
          </a:xfrm>
          <a:prstGeom prst="ellipse">
            <a:avLst/>
          </a:prstGeom>
          <a:solidFill>
            <a:srgbClr val="1B1D23"/>
          </a:solidFill>
          <a:ln/>
        </p:spPr>
      </p:sp>
      <p:sp>
        <p:nvSpPr>
          <p:cNvPr id="14" name="Text 12"/>
          <p:cNvSpPr/>
          <p:nvPr/>
        </p:nvSpPr>
        <p:spPr>
          <a:xfrm>
            <a:off x="4471416" y="1920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983480" y="189280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Конфлікти маркерів</a:t>
            </a:r>
            <a:endParaRPr lang="en-US" sz="1450" dirty="0"/>
          </a:p>
        </p:txBody>
      </p:sp>
      <p:sp>
        <p:nvSpPr>
          <p:cNvPr id="16" name="Text 14"/>
          <p:cNvSpPr/>
          <p:nvPr/>
        </p:nvSpPr>
        <p:spPr>
          <a:xfrm>
            <a:off x="4471416" y="2423160"/>
            <a:ext cx="3118104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сумнів — на користь дорожчого: «дякую, але хочу повернути гроші» їде на strong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7973568" y="1737360"/>
            <a:ext cx="3520440" cy="1828800"/>
          </a:xfrm>
          <a:prstGeom prst="roundRect">
            <a:avLst>
              <a:gd name="adj" fmla="val 6000"/>
            </a:avLst>
          </a:prstGeom>
          <a:solidFill>
            <a:srgbClr val="F8F0E2"/>
          </a:solidFill>
          <a:ln/>
        </p:spPr>
      </p:sp>
      <p:sp>
        <p:nvSpPr>
          <p:cNvPr id="18" name="Shape 16"/>
          <p:cNvSpPr/>
          <p:nvPr/>
        </p:nvSpPr>
        <p:spPr>
          <a:xfrm>
            <a:off x="8174736" y="1920240"/>
            <a:ext cx="384048" cy="384048"/>
          </a:xfrm>
          <a:prstGeom prst="ellipse">
            <a:avLst/>
          </a:prstGeom>
          <a:solidFill>
            <a:srgbClr val="9A5B12"/>
          </a:solidFill>
          <a:ln/>
        </p:spPr>
      </p:sp>
      <p:sp>
        <p:nvSpPr>
          <p:cNvPr id="19" name="Text 17"/>
          <p:cNvSpPr/>
          <p:nvPr/>
        </p:nvSpPr>
        <p:spPr>
          <a:xfrm>
            <a:off x="8174736" y="1920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8F0E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8686800" y="189280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9A5B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Маркери двомовні</a:t>
            </a:r>
            <a:endParaRPr lang="en-US" sz="1450" dirty="0"/>
          </a:p>
        </p:txBody>
      </p:sp>
      <p:sp>
        <p:nvSpPr>
          <p:cNvPr id="21" name="Text 19"/>
          <p:cNvSpPr/>
          <p:nvPr/>
        </p:nvSpPr>
        <p:spPr>
          <a:xfrm>
            <a:off x="8174736" y="2423160"/>
            <a:ext cx="3118104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«поверн» і «refund» навмисно: у проді словники розповзаються по мовах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566928" y="3977640"/>
            <a:ext cx="11064240" cy="1371600"/>
          </a:xfrm>
          <a:prstGeom prst="roundRect">
            <a:avLst>
              <a:gd name="adj" fmla="val 8000"/>
            </a:avLst>
          </a:prstGeom>
          <a:solidFill>
            <a:srgbClr val="ECEBFB"/>
          </a:solidFill>
          <a:ln/>
        </p:spPr>
      </p:sp>
      <p:sp>
        <p:nvSpPr>
          <p:cNvPr id="23" name="Text 21"/>
          <p:cNvSpPr/>
          <p:nvPr/>
        </p:nvSpPr>
        <p:spPr>
          <a:xfrm>
            <a:off x="786384" y="410565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З ОДНИМ РЕАЛЬНИМ КЛЮЧЕМ РОУТЕР ВИРОДЖУЄТЬСЯ</a:t>
            </a:r>
            <a:endParaRPr lang="en-US" sz="950" dirty="0"/>
          </a:p>
        </p:txBody>
      </p:sp>
      <p:sp>
        <p:nvSpPr>
          <p:cNvPr id="24" name="Text 22"/>
          <p:cNvSpPr/>
          <p:nvPr/>
        </p:nvSpPr>
        <p:spPr>
          <a:xfrm>
            <a:off x="786384" y="4361688"/>
            <a:ext cx="10625328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Щойно MODEL не «mock», Route() повертає задану модель — другої в конфізі немає. Це чесний стан контуру з одним провайдером, а не «роутинг вимкнули».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23015" y="6455664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90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6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C9C5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05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25296" y="365760"/>
            <a:ext cx="8223199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Маршрут — за задачею, не за текстом-в-лоб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10481767" y="530352"/>
            <a:ext cx="1143000" cy="274320"/>
          </a:xfrm>
          <a:prstGeom prst="roundRect">
            <a:avLst>
              <a:gd name="adj" fmla="val 50000"/>
            </a:avLst>
          </a:prstGeom>
          <a:solidFill>
            <a:srgbClr val="ECEBFB"/>
          </a:solidFill>
          <a:ln/>
        </p:spPr>
      </p:sp>
      <p:sp>
        <p:nvSpPr>
          <p:cNvPr id="5" name="Text 3"/>
          <p:cNvSpPr/>
          <p:nvPr/>
        </p:nvSpPr>
        <p:spPr>
          <a:xfrm>
            <a:off x="10481767" y="530352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566928" y="645566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0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SupportGW · LLMOps Bootcamp · Урок 3 з 12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566928" y="1783080"/>
            <a:ext cx="11064240" cy="822960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86384" y="1783080"/>
            <a:ext cx="376184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Наш рівень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4548226" y="1783080"/>
            <a:ext cx="6640373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маркери в тексті: дешево, прозоро, зрозуміло на розборі; ламається на перефразуванні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566928" y="2752344"/>
            <a:ext cx="11064240" cy="822960"/>
          </a:xfrm>
          <a:prstGeom prst="roundRect">
            <a:avLst>
              <a:gd name="adj" fmla="val 11111"/>
            </a:avLst>
          </a:prstGeom>
          <a:solidFill>
            <a:srgbClr val="ECEBFB"/>
          </a:solidFill>
          <a:ln/>
        </p:spPr>
      </p:sp>
      <p:sp>
        <p:nvSpPr>
          <p:cNvPr id="11" name="Text 9"/>
          <p:cNvSpPr/>
          <p:nvPr/>
        </p:nvSpPr>
        <p:spPr>
          <a:xfrm>
            <a:off x="786384" y="2752344"/>
            <a:ext cx="376184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4038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Доросліше</a:t>
            </a:r>
            <a:endParaRPr lang="en-US" sz="1350" dirty="0"/>
          </a:p>
        </p:txBody>
      </p:sp>
      <p:sp>
        <p:nvSpPr>
          <p:cNvPr id="12" name="Text 10"/>
          <p:cNvSpPr/>
          <p:nvPr/>
        </p:nvSpPr>
        <p:spPr>
          <a:xfrm>
            <a:off x="4548226" y="2752344"/>
            <a:ext cx="6640373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тенант, фіча, пріоритет клієнта, ліміт бюджету — текст лише один із сигналів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566928" y="3721608"/>
            <a:ext cx="11064240" cy="822960"/>
          </a:xfrm>
          <a:prstGeom prst="roundRect">
            <a:avLst>
              <a:gd name="adj" fmla="val 11111"/>
            </a:avLst>
          </a:prstGeom>
          <a:solidFill>
            <a:srgbClr val="F8F0E2"/>
          </a:solidFill>
          <a:ln/>
        </p:spPr>
      </p:sp>
      <p:sp>
        <p:nvSpPr>
          <p:cNvPr id="14" name="Text 12"/>
          <p:cNvSpPr/>
          <p:nvPr/>
        </p:nvSpPr>
        <p:spPr>
          <a:xfrm>
            <a:off x="786384" y="3721608"/>
            <a:ext cx="376184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A5B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Режим мислення</a:t>
            </a:r>
            <a:endParaRPr lang="en-US" sz="1350" dirty="0"/>
          </a:p>
        </p:txBody>
      </p:sp>
      <p:sp>
        <p:nvSpPr>
          <p:cNvPr id="15" name="Text 13"/>
          <p:cNvSpPr/>
          <p:nvPr/>
        </p:nvSpPr>
        <p:spPr>
          <a:xfrm>
            <a:off x="4548226" y="3721608"/>
            <a:ext cx="6640373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та сама модель у глибокому режимі коштує в рази більше — вмикати за явним критерієм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566928" y="4754880"/>
            <a:ext cx="11064240" cy="1097280"/>
          </a:xfrm>
          <a:prstGeom prst="roundRect">
            <a:avLst>
              <a:gd name="adj" fmla="val 10000"/>
            </a:avLst>
          </a:prstGeom>
          <a:solidFill>
            <a:srgbClr val="E9F3EE"/>
          </a:solidFill>
          <a:ln/>
        </p:spPr>
      </p:sp>
      <p:sp>
        <p:nvSpPr>
          <p:cNvPr id="17" name="Text 15"/>
          <p:cNvSpPr/>
          <p:nvPr/>
        </p:nvSpPr>
        <p:spPr>
          <a:xfrm>
            <a:off x="786384" y="488289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17724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ПРИНЦИП</a:t>
            </a:r>
            <a:endParaRPr lang="en-US" sz="950" dirty="0"/>
          </a:p>
        </p:txBody>
      </p:sp>
      <p:sp>
        <p:nvSpPr>
          <p:cNvPr id="18" name="Text 16"/>
          <p:cNvSpPr/>
          <p:nvPr/>
        </p:nvSpPr>
        <p:spPr>
          <a:xfrm>
            <a:off x="786384" y="5138928"/>
            <a:ext cx="1062532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Дешеве — дешевій моделі, складне — сильній, рішення — задокументоване. Якщо не можете пояснити маршрут словами, у вас не політика, а випадковість.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23015" y="6455664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90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6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C9C5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06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25296" y="365760"/>
            <a:ext cx="8223199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Скільки коштує саме рішення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10481767" y="530352"/>
            <a:ext cx="1143000" cy="274320"/>
          </a:xfrm>
          <a:prstGeom prst="roundRect">
            <a:avLst>
              <a:gd name="adj" fmla="val 50000"/>
            </a:avLst>
          </a:prstGeom>
          <a:solidFill>
            <a:srgbClr val="ECEBFB"/>
          </a:solidFill>
          <a:ln/>
        </p:spPr>
      </p:sp>
      <p:sp>
        <p:nvSpPr>
          <p:cNvPr id="5" name="Text 3"/>
          <p:cNvSpPr/>
          <p:nvPr/>
        </p:nvSpPr>
        <p:spPr>
          <a:xfrm>
            <a:off x="10481767" y="530352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566928" y="645566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0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SupportGW · LLMOps Bootcamp · Урок 3 з 12</a:t>
            </a:r>
            <a:endParaRPr lang="en-US" sz="85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737360"/>
          <a:ext cx="11064240" cy="914400"/>
        </p:xfrm>
        <a:graphic>
          <a:graphicData uri="http://schemas.openxmlformats.org/drawingml/2006/table">
            <a:tbl>
              <a:tblPr/>
              <a:tblGrid>
                <a:gridCol w="3291840"/>
                <a:gridCol w="3657600"/>
                <a:gridCol w="4114800"/>
              </a:tblGrid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8A90A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спосіб вирішити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8A90A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що додає до кожного запиту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8A90A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коли доречний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C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7724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Правила / маркери в тексті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F3E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B1D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частки мілісекунди, нуль токенів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F3E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B1D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класів мало, описуються словником — наш випадок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F3EE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B1D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Дешева модель-класифікатор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B1D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додатковий виклик: латентність і токени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B1D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словники розповзлися по мовах, класів більше трьох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B1D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Класифікація за схожістю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B1D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виклик за векторами + сховище й індекс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B1D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класів десятки і вони змінюються без релізу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Shape 5"/>
          <p:cNvSpPr/>
          <p:nvPr/>
        </p:nvSpPr>
        <p:spPr>
          <a:xfrm>
            <a:off x="566928" y="4206240"/>
            <a:ext cx="11064240" cy="1188720"/>
          </a:xfrm>
          <a:prstGeom prst="roundRect">
            <a:avLst>
              <a:gd name="adj" fmla="val 9231"/>
            </a:avLst>
          </a:prstGeom>
          <a:solidFill>
            <a:srgbClr val="ECEBFB"/>
          </a:solidFill>
          <a:ln/>
        </p:spPr>
      </p:sp>
      <p:sp>
        <p:nvSpPr>
          <p:cNvPr id="9" name="Text 6"/>
          <p:cNvSpPr/>
          <p:nvPr/>
        </p:nvSpPr>
        <p:spPr>
          <a:xfrm>
            <a:off x="786384" y="4352544"/>
            <a:ext cx="10625328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Арифметика проста: якщо рішення коштує дорожче за різницю між моделями — воно не окупається. Починайте з найдешевшого способу і ускладнюйте за сигналом.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23015" y="6455664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90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6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C9C5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06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25296" y="365760"/>
            <a:ext cx="8223199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Один користувач — один маршрут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10481767" y="530352"/>
            <a:ext cx="1143000" cy="274320"/>
          </a:xfrm>
          <a:prstGeom prst="roundRect">
            <a:avLst>
              <a:gd name="adj" fmla="val 50000"/>
            </a:avLst>
          </a:prstGeom>
          <a:solidFill>
            <a:srgbClr val="ECEBFB"/>
          </a:solidFill>
          <a:ln/>
        </p:spPr>
      </p:sp>
      <p:sp>
        <p:nvSpPr>
          <p:cNvPr id="5" name="Text 3"/>
          <p:cNvSpPr/>
          <p:nvPr/>
        </p:nvSpPr>
        <p:spPr>
          <a:xfrm>
            <a:off x="10481767" y="530352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566928" y="645566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0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SupportGW · LLMOps Bootcamp · Урок 3 з 12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566928" y="1920240"/>
            <a:ext cx="3383280" cy="731520"/>
          </a:xfrm>
          <a:prstGeom prst="roundRect">
            <a:avLst>
              <a:gd name="adj" fmla="val 12500"/>
            </a:avLst>
          </a:prstGeom>
          <a:solidFill>
            <a:srgbClr val="F9E9E8"/>
          </a:solidFill>
          <a:ln/>
        </p:spPr>
      </p:sp>
      <p:sp>
        <p:nvSpPr>
          <p:cNvPr id="8" name="Text 6"/>
          <p:cNvSpPr/>
          <p:nvPr/>
        </p:nvSpPr>
        <p:spPr>
          <a:xfrm>
            <a:off x="621792" y="1920240"/>
            <a:ext cx="327355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B3261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питання 1 → сильна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4041648" y="2286000"/>
            <a:ext cx="164592" cy="0"/>
          </a:xfrm>
          <a:prstGeom prst="line">
            <a:avLst/>
          </a:prstGeom>
          <a:noFill/>
          <a:ln w="15875">
            <a:solidFill>
              <a:srgbClr val="8A90A0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 rot="5400000">
            <a:off x="4169664" y="2217420"/>
            <a:ext cx="146304" cy="137160"/>
          </a:xfrm>
          <a:prstGeom prst="triangle">
            <a:avLst/>
          </a:prstGeom>
          <a:solidFill>
            <a:srgbClr val="8A90A0"/>
          </a:solidFill>
          <a:ln/>
        </p:spPr>
      </p:sp>
      <p:sp>
        <p:nvSpPr>
          <p:cNvPr id="11" name="Shape 9"/>
          <p:cNvSpPr/>
          <p:nvPr/>
        </p:nvSpPr>
        <p:spPr>
          <a:xfrm>
            <a:off x="4407408" y="1920240"/>
            <a:ext cx="3383280" cy="731520"/>
          </a:xfrm>
          <a:prstGeom prst="roundRect">
            <a:avLst>
              <a:gd name="adj" fmla="val 12500"/>
            </a:avLst>
          </a:prstGeom>
          <a:solidFill>
            <a:srgbClr val="F8F0E2"/>
          </a:solidFill>
          <a:ln/>
        </p:spPr>
      </p:sp>
      <p:sp>
        <p:nvSpPr>
          <p:cNvPr id="12" name="Text 10"/>
          <p:cNvSpPr/>
          <p:nvPr/>
        </p:nvSpPr>
        <p:spPr>
          <a:xfrm>
            <a:off x="4462272" y="1920240"/>
            <a:ext cx="327355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9A5B1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питання 2 → дешева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7882128" y="2286000"/>
            <a:ext cx="164592" cy="0"/>
          </a:xfrm>
          <a:prstGeom prst="line">
            <a:avLst/>
          </a:prstGeom>
          <a:noFill/>
          <a:ln w="15875">
            <a:solidFill>
              <a:srgbClr val="8A90A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 rot="5400000">
            <a:off x="8010144" y="2217420"/>
            <a:ext cx="146304" cy="137160"/>
          </a:xfrm>
          <a:prstGeom prst="triangle">
            <a:avLst/>
          </a:prstGeom>
          <a:solidFill>
            <a:srgbClr val="8A90A0"/>
          </a:solidFill>
          <a:ln/>
        </p:spPr>
      </p:sp>
      <p:sp>
        <p:nvSpPr>
          <p:cNvPr id="15" name="Shape 13"/>
          <p:cNvSpPr/>
          <p:nvPr/>
        </p:nvSpPr>
        <p:spPr>
          <a:xfrm>
            <a:off x="8247888" y="1920240"/>
            <a:ext cx="3383280" cy="731520"/>
          </a:xfrm>
          <a:prstGeom prst="roundRect">
            <a:avLst>
              <a:gd name="adj" fmla="val 12500"/>
            </a:avLst>
          </a:prstGeom>
          <a:solidFill>
            <a:srgbClr val="F9E9E8"/>
          </a:solidFill>
          <a:ln/>
        </p:spPr>
      </p:sp>
      <p:sp>
        <p:nvSpPr>
          <p:cNvPr id="16" name="Text 14"/>
          <p:cNvSpPr/>
          <p:nvPr/>
        </p:nvSpPr>
        <p:spPr>
          <a:xfrm>
            <a:off x="8302752" y="1920240"/>
            <a:ext cx="327355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B3261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питання 3 → сильна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566928" y="278892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співрозмовник у користувача змінюється посеред розмови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566928" y="3291840"/>
            <a:ext cx="11064240" cy="1234440"/>
          </a:xfrm>
          <a:prstGeom prst="roundRect">
            <a:avLst>
              <a:gd name="adj" fmla="val 8889"/>
            </a:avLst>
          </a:prstGeom>
          <a:solidFill>
            <a:srgbClr val="E9F3EE"/>
          </a:solidFill>
          <a:ln/>
        </p:spPr>
      </p:sp>
      <p:sp>
        <p:nvSpPr>
          <p:cNvPr id="19" name="Text 17"/>
          <p:cNvSpPr/>
          <p:nvPr/>
        </p:nvSpPr>
        <p:spPr>
          <a:xfrm>
            <a:off x="786384" y="341985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17724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ЛІКУВАННЯ</a:t>
            </a:r>
            <a:endParaRPr lang="en-US" sz="950" dirty="0"/>
          </a:p>
        </p:txBody>
      </p:sp>
      <p:sp>
        <p:nvSpPr>
          <p:cNvPr id="20" name="Text 18"/>
          <p:cNvSpPr/>
          <p:nvPr/>
        </p:nvSpPr>
        <p:spPr>
          <a:xfrm>
            <a:off x="786384" y="3675888"/>
            <a:ext cx="10625328" cy="7223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Маршрут, який не диктується задачею, тримайте стабільним у межах сесії: вибір за хешем ідентифікатора розмови, а не заново на кожну репліку. Ескалація — виняток.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66928" y="4709160"/>
            <a:ext cx="11064240" cy="1143000"/>
          </a:xfrm>
          <a:prstGeom prst="roundRect">
            <a:avLst>
              <a:gd name="adj" fmla="val 9600"/>
            </a:avLst>
          </a:prstGeom>
          <a:solidFill>
            <a:srgbClr val="F9E9E8"/>
          </a:solidFill>
          <a:ln/>
        </p:spPr>
      </p:sp>
      <p:sp>
        <p:nvSpPr>
          <p:cNvPr id="22" name="Text 20"/>
          <p:cNvSpPr/>
          <p:nvPr/>
        </p:nvSpPr>
        <p:spPr>
          <a:xfrm>
            <a:off x="786384" y="483717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B3261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ТИПОВА ПОМИЛКА</a:t>
            </a:r>
            <a:endParaRPr lang="en-US" sz="950" dirty="0"/>
          </a:p>
        </p:txBody>
      </p:sp>
      <p:sp>
        <p:nvSpPr>
          <p:cNvPr id="23" name="Text 21"/>
          <p:cNvSpPr/>
          <p:nvPr/>
        </p:nvSpPr>
        <p:spPr>
          <a:xfrm>
            <a:off x="786384" y="5093208"/>
            <a:ext cx="10625328" cy="6309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Роутинг за випадковим числом «щоб рівномірно розподілити»: непередбачувано для користувача і невідтворювано для вас.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23015" y="6455664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90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6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C9C5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06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25296" y="365760"/>
            <a:ext cx="8223199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«У нас одна модель» — усе одно є що маршрутизувати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10481767" y="530352"/>
            <a:ext cx="1143000" cy="274320"/>
          </a:xfrm>
          <a:prstGeom prst="roundRect">
            <a:avLst>
              <a:gd name="adj" fmla="val 50000"/>
            </a:avLst>
          </a:prstGeom>
          <a:solidFill>
            <a:srgbClr val="ECEBFB"/>
          </a:solidFill>
          <a:ln/>
        </p:spPr>
      </p:sp>
      <p:sp>
        <p:nvSpPr>
          <p:cNvPr id="5" name="Text 3"/>
          <p:cNvSpPr/>
          <p:nvPr/>
        </p:nvSpPr>
        <p:spPr>
          <a:xfrm>
            <a:off x="10481767" y="530352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566928" y="645566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0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SupportGW · LLMOps Bootcamp · Урок 3 з 12</a:t>
            </a:r>
            <a:endParaRPr lang="en-US" sz="850" dirty="0"/>
          </a:p>
        </p:txBody>
      </p:sp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737360"/>
          <a:ext cx="11064240" cy="914400"/>
        </p:xfrm>
        <a:graphic>
          <a:graphicData uri="http://schemas.openxmlformats.org/drawingml/2006/table">
            <a:tbl>
              <a:tblPr/>
              <a:tblGrid>
                <a:gridCol w="2560320"/>
                <a:gridCol w="4206240"/>
                <a:gridCol w="4297680"/>
              </a:tblGrid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8A90A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що маршрутизуємо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8A90A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приклад рішення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8A90A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що дає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C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B1D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max_tokens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B1D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коротка відповідь на FAQ, довга на скаргу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B1D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стеля вартості на клас запиту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B1D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temperature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B1D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мінімальна для довідкових, вища для формулювань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B1D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передбачуваність там, де потрібна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B1D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Версія промпта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B1D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ескалації — свій промпт, FAQ — свій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B1D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той самий реєстр з уроку 2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B1D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Набір інструментів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B1D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read-only для загальних, повний для авторизованих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B1D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менша поверхня для injection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Shape 5"/>
          <p:cNvSpPr/>
          <p:nvPr/>
        </p:nvSpPr>
        <p:spPr>
          <a:xfrm>
            <a:off x="566928" y="4434840"/>
            <a:ext cx="11064240" cy="9144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/>
        </p:spPr>
      </p:sp>
      <p:sp>
        <p:nvSpPr>
          <p:cNvPr id="9" name="Text 6"/>
          <p:cNvSpPr/>
          <p:nvPr/>
        </p:nvSpPr>
        <p:spPr>
          <a:xfrm>
            <a:off x="786384" y="4581144"/>
            <a:ext cx="1062532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Маршрутизація — не про кількість провайдерів, а про те, що рішення про виклик ухвалюється свідомо.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23015" y="6455664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90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6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C9C5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07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25296" y="365760"/>
            <a:ext cx="8223199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Fallback-порядок: політика, яку сьогодні оголосимо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10481767" y="530352"/>
            <a:ext cx="1143000" cy="274320"/>
          </a:xfrm>
          <a:prstGeom prst="roundRect">
            <a:avLst>
              <a:gd name="adj" fmla="val 50000"/>
            </a:avLst>
          </a:prstGeom>
          <a:solidFill>
            <a:srgbClr val="ECEBFB"/>
          </a:solidFill>
          <a:ln/>
        </p:spPr>
      </p:sp>
      <p:sp>
        <p:nvSpPr>
          <p:cNvPr id="5" name="Text 3"/>
          <p:cNvSpPr/>
          <p:nvPr/>
        </p:nvSpPr>
        <p:spPr>
          <a:xfrm>
            <a:off x="10481767" y="530352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566928" y="645566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0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SupportGW · LLMOps Bootcamp · Урок 3 з 12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1938528" y="2011680"/>
            <a:ext cx="4023360" cy="822960"/>
          </a:xfrm>
          <a:prstGeom prst="roundRect">
            <a:avLst>
              <a:gd name="adj" fmla="val 11111"/>
            </a:avLst>
          </a:prstGeom>
          <a:solidFill>
            <a:srgbClr val="ECEBFB"/>
          </a:solidFill>
          <a:ln/>
        </p:spPr>
      </p:sp>
      <p:sp>
        <p:nvSpPr>
          <p:cNvPr id="8" name="Text 6"/>
          <p:cNvSpPr/>
          <p:nvPr/>
        </p:nvSpPr>
        <p:spPr>
          <a:xfrm>
            <a:off x="1993392" y="2011680"/>
            <a:ext cx="391363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mock-strong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6053328" y="2423160"/>
            <a:ext cx="164592" cy="0"/>
          </a:xfrm>
          <a:prstGeom prst="line">
            <a:avLst/>
          </a:prstGeom>
          <a:noFill/>
          <a:ln w="15875">
            <a:solidFill>
              <a:srgbClr val="8A90A0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 rot="5400000">
            <a:off x="6181344" y="2354580"/>
            <a:ext cx="146304" cy="137160"/>
          </a:xfrm>
          <a:prstGeom prst="triangle">
            <a:avLst/>
          </a:prstGeom>
          <a:solidFill>
            <a:srgbClr val="8A90A0"/>
          </a:solidFill>
          <a:ln/>
        </p:spPr>
      </p:sp>
      <p:sp>
        <p:nvSpPr>
          <p:cNvPr id="11" name="Shape 9"/>
          <p:cNvSpPr/>
          <p:nvPr/>
        </p:nvSpPr>
        <p:spPr>
          <a:xfrm>
            <a:off x="6419088" y="2011680"/>
            <a:ext cx="4023360" cy="822960"/>
          </a:xfrm>
          <a:prstGeom prst="roundRect">
            <a:avLst>
              <a:gd name="adj" fmla="val 11111"/>
            </a:avLst>
          </a:prstGeom>
          <a:solidFill>
            <a:srgbClr val="E9F3EE"/>
          </a:solidFill>
          <a:ln/>
        </p:spPr>
      </p:sp>
      <p:sp>
        <p:nvSpPr>
          <p:cNvPr id="12" name="Text 10"/>
          <p:cNvSpPr/>
          <p:nvPr/>
        </p:nvSpPr>
        <p:spPr>
          <a:xfrm>
            <a:off x="6473952" y="2011680"/>
            <a:ext cx="391363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7724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mock-mini</a:t>
            </a:r>
            <a:endParaRPr lang="en-US" sz="1250" dirty="0"/>
          </a:p>
        </p:txBody>
      </p:sp>
      <p:sp>
        <p:nvSpPr>
          <p:cNvPr id="13" name="Text 11"/>
          <p:cNvSpPr/>
          <p:nvPr/>
        </p:nvSpPr>
        <p:spPr>
          <a:xfrm>
            <a:off x="566928" y="3017520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i="1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у разі збою сильної — краще відповісти дешевшою, ніж не відповісти взагалі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566928" y="3611880"/>
            <a:ext cx="5349240" cy="1691640"/>
          </a:xfrm>
          <a:prstGeom prst="roundRect">
            <a:avLst>
              <a:gd name="adj" fmla="val 6486"/>
            </a:avLst>
          </a:prstGeom>
          <a:solidFill>
            <a:srgbClr val="ECEBFB"/>
          </a:solidFill>
          <a:ln/>
        </p:spPr>
      </p:sp>
      <p:sp>
        <p:nvSpPr>
          <p:cNvPr id="15" name="Text 13"/>
          <p:cNvSpPr/>
          <p:nvPr/>
        </p:nvSpPr>
        <p:spPr>
          <a:xfrm>
            <a:off x="768096" y="376732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4038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Сьогодні рішення, на W4 механізм</a:t>
            </a:r>
            <a:endParaRPr lang="en-US" sz="1450" dirty="0"/>
          </a:p>
        </p:txBody>
      </p:sp>
      <p:sp>
        <p:nvSpPr>
          <p:cNvPr id="16" name="Text 14"/>
          <p:cNvSpPr/>
          <p:nvPr/>
        </p:nvSpPr>
        <p:spPr>
          <a:xfrm>
            <a:off x="768096" y="4297680"/>
            <a:ext cx="4946904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чергу фіксуємо поруч із роутером і обговорюємо з командою: політика без механізму — текст, механізм без політики — імпровізація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281928" y="3611880"/>
            <a:ext cx="5349240" cy="1691640"/>
          </a:xfrm>
          <a:prstGeom prst="roundRect">
            <a:avLst>
              <a:gd name="adj" fmla="val 6486"/>
            </a:avLst>
          </a:prstGeom>
          <a:solidFill>
            <a:srgbClr val="E9F3EE"/>
          </a:solidFill>
          <a:ln/>
        </p:spPr>
      </p:sp>
      <p:sp>
        <p:nvSpPr>
          <p:cNvPr id="18" name="Text 16"/>
          <p:cNvSpPr/>
          <p:nvPr/>
        </p:nvSpPr>
        <p:spPr>
          <a:xfrm>
            <a:off x="6483096" y="376732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772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Один словник імен</a:t>
            </a:r>
            <a:endParaRPr lang="en-US" sz="1450" dirty="0"/>
          </a:p>
        </p:txBody>
      </p:sp>
      <p:sp>
        <p:nvSpPr>
          <p:cNvPr id="19" name="Text 17"/>
          <p:cNvSpPr/>
          <p:nvPr/>
        </p:nvSpPr>
        <p:spPr>
          <a:xfrm>
            <a:off x="6483096" y="4297680"/>
            <a:ext cx="4946904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routing і fallback читають той самий конфіг: ім'я поза конфігом — джерело нічних сюрпризів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23015" y="6455664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90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6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C9C5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08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25296" y="365760"/>
            <a:ext cx="8223199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Додати провайдера — без зміни коду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10481767" y="530352"/>
            <a:ext cx="1143000" cy="274320"/>
          </a:xfrm>
          <a:prstGeom prst="roundRect">
            <a:avLst>
              <a:gd name="adj" fmla="val 50000"/>
            </a:avLst>
          </a:prstGeom>
          <a:solidFill>
            <a:srgbClr val="ECEBFB"/>
          </a:solidFill>
          <a:ln/>
        </p:spPr>
      </p:sp>
      <p:sp>
        <p:nvSpPr>
          <p:cNvPr id="5" name="Text 3"/>
          <p:cNvSpPr/>
          <p:nvPr/>
        </p:nvSpPr>
        <p:spPr>
          <a:xfrm>
            <a:off x="10481767" y="530352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566928" y="645566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0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SupportGW · LLMOps Bootcamp · Урок 3 з 12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566928" y="1737360"/>
            <a:ext cx="11064240" cy="1737360"/>
          </a:xfrm>
          <a:prstGeom prst="roundRect">
            <a:avLst>
              <a:gd name="adj" fmla="val 6316"/>
            </a:avLst>
          </a:prstGeom>
          <a:solidFill>
            <a:srgbClr val="14161C"/>
          </a:solidFill>
          <a:ln/>
        </p:spPr>
      </p:sp>
      <p:sp>
        <p:nvSpPr>
          <p:cNvPr id="8" name="Text 6"/>
          <p:cNvSpPr/>
          <p:nvPr/>
        </p:nvSpPr>
        <p:spPr>
          <a:xfrm>
            <a:off x="786384" y="1883664"/>
            <a:ext cx="10625328" cy="1444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E8E9E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- model_name: </a:t>
            </a:r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C3E88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azure-gpt-4o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82AA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litellm_params: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E8E9E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model: azure/gpt-4o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E8E9E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api_base: os.environ/AZURE_API_BASE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E8E9E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api_key:  os.environ/AZURE_API_KEY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566928" y="3794760"/>
            <a:ext cx="3383280" cy="713232"/>
          </a:xfrm>
          <a:prstGeom prst="roundRect">
            <a:avLst>
              <a:gd name="adj" fmla="val 12821"/>
            </a:avLst>
          </a:prstGeom>
          <a:solidFill>
            <a:srgbClr val="E9F3EE"/>
          </a:solidFill>
          <a:ln/>
        </p:spPr>
      </p:sp>
      <p:sp>
        <p:nvSpPr>
          <p:cNvPr id="10" name="Text 8"/>
          <p:cNvSpPr/>
          <p:nvPr/>
        </p:nvSpPr>
        <p:spPr>
          <a:xfrm>
            <a:off x="621792" y="3794760"/>
            <a:ext cx="327355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7724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+ блок у YAML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4041648" y="4151376"/>
            <a:ext cx="164592" cy="0"/>
          </a:xfrm>
          <a:prstGeom prst="line">
            <a:avLst/>
          </a:prstGeom>
          <a:noFill/>
          <a:ln w="15875">
            <a:solidFill>
              <a:srgbClr val="8A90A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 rot="5400000">
            <a:off x="4169664" y="4082796"/>
            <a:ext cx="146304" cy="137160"/>
          </a:xfrm>
          <a:prstGeom prst="triangle">
            <a:avLst/>
          </a:prstGeom>
          <a:solidFill>
            <a:srgbClr val="8A90A0"/>
          </a:solidFill>
          <a:ln/>
        </p:spPr>
      </p:sp>
      <p:sp>
        <p:nvSpPr>
          <p:cNvPr id="13" name="Shape 11"/>
          <p:cNvSpPr/>
          <p:nvPr/>
        </p:nvSpPr>
        <p:spPr>
          <a:xfrm>
            <a:off x="4407408" y="3794760"/>
            <a:ext cx="3383280" cy="713232"/>
          </a:xfrm>
          <a:prstGeom prst="roundRect">
            <a:avLst>
              <a:gd name="adj" fmla="val 12821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462272" y="3794760"/>
            <a:ext cx="327355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B1D2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+ рядок у Route()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7882128" y="4151376"/>
            <a:ext cx="164592" cy="0"/>
          </a:xfrm>
          <a:prstGeom prst="line">
            <a:avLst/>
          </a:prstGeom>
          <a:noFill/>
          <a:ln w="15875">
            <a:solidFill>
              <a:srgbClr val="8A90A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 rot="5400000">
            <a:off x="8010144" y="4082796"/>
            <a:ext cx="146304" cy="137160"/>
          </a:xfrm>
          <a:prstGeom prst="triangle">
            <a:avLst/>
          </a:prstGeom>
          <a:solidFill>
            <a:srgbClr val="8A90A0"/>
          </a:solidFill>
          <a:ln/>
        </p:spPr>
      </p:sp>
      <p:sp>
        <p:nvSpPr>
          <p:cNvPr id="17" name="Shape 15"/>
          <p:cNvSpPr/>
          <p:nvPr/>
        </p:nvSpPr>
        <p:spPr>
          <a:xfrm>
            <a:off x="8247888" y="3794760"/>
            <a:ext cx="3383280" cy="713232"/>
          </a:xfrm>
          <a:prstGeom prst="roundRect">
            <a:avLst>
              <a:gd name="adj" fmla="val 12821"/>
            </a:avLst>
          </a:prstGeom>
          <a:solidFill>
            <a:srgbClr val="ECEBFB"/>
          </a:solidFill>
          <a:ln/>
        </p:spPr>
      </p:sp>
      <p:sp>
        <p:nvSpPr>
          <p:cNvPr id="18" name="Text 16"/>
          <p:cNvSpPr/>
          <p:nvPr/>
        </p:nvSpPr>
        <p:spPr>
          <a:xfrm>
            <a:off x="8302752" y="3794760"/>
            <a:ext cx="327355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код виклику не змінився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566928" y="4754880"/>
            <a:ext cx="11064240" cy="1097280"/>
          </a:xfrm>
          <a:prstGeom prst="roundRect">
            <a:avLst>
              <a:gd name="adj" fmla="val 10000"/>
            </a:avLst>
          </a:prstGeom>
          <a:solidFill>
            <a:srgbClr val="F8F0E2"/>
          </a:solidFill>
          <a:ln/>
        </p:spPr>
      </p:sp>
      <p:sp>
        <p:nvSpPr>
          <p:cNvPr id="20" name="Text 18"/>
          <p:cNvSpPr/>
          <p:nvPr/>
        </p:nvSpPr>
        <p:spPr>
          <a:xfrm>
            <a:off x="786384" y="488289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9A5B1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ЛАЙФХАК</a:t>
            </a:r>
            <a:endParaRPr lang="en-US" sz="950" dirty="0"/>
          </a:p>
        </p:txBody>
      </p:sp>
      <p:sp>
        <p:nvSpPr>
          <p:cNvPr id="21" name="Text 19"/>
          <p:cNvSpPr/>
          <p:nvPr/>
        </p:nvSpPr>
        <p:spPr>
          <a:xfrm>
            <a:off x="786384" y="5138928"/>
            <a:ext cx="1062532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Називайте моделі за роллю, а не за брендом: mock-mini, mock-strong. Тоді заміна провайдера — правка конфіга, а не пошук імені по всьому коду.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23015" y="6455664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90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6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C9C5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09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25296" y="365760"/>
            <a:ext cx="8223199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Третій маршрут: tier-система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10481767" y="530352"/>
            <a:ext cx="1143000" cy="274320"/>
          </a:xfrm>
          <a:prstGeom prst="roundRect">
            <a:avLst>
              <a:gd name="adj" fmla="val 50000"/>
            </a:avLst>
          </a:prstGeom>
          <a:solidFill>
            <a:srgbClr val="ECEBFB"/>
          </a:solidFill>
          <a:ln/>
        </p:spPr>
      </p:sp>
      <p:sp>
        <p:nvSpPr>
          <p:cNvPr id="5" name="Text 3"/>
          <p:cNvSpPr/>
          <p:nvPr/>
        </p:nvSpPr>
        <p:spPr>
          <a:xfrm>
            <a:off x="10481767" y="530352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9411919" y="530352"/>
            <a:ext cx="960120" cy="274320"/>
          </a:xfrm>
          <a:prstGeom prst="roundRect">
            <a:avLst>
              <a:gd name="adj" fmla="val 50000"/>
            </a:avLst>
          </a:prstGeom>
          <a:solidFill>
            <a:srgbClr val="F8F0E2"/>
          </a:solidFill>
          <a:ln/>
        </p:spPr>
      </p:sp>
      <p:sp>
        <p:nvSpPr>
          <p:cNvPr id="7" name="Text 5"/>
          <p:cNvSpPr/>
          <p:nvPr/>
        </p:nvSpPr>
        <p:spPr>
          <a:xfrm>
            <a:off x="9411919" y="530352"/>
            <a:ext cx="960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9A5B1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ОПЦІЙНО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566928" y="645566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0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SupportGW · LLMOps Bootcamp · Урок 3 з 12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566928" y="1828800"/>
            <a:ext cx="3520440" cy="1600200"/>
          </a:xfrm>
          <a:prstGeom prst="roundRect">
            <a:avLst>
              <a:gd name="adj" fmla="val 6857"/>
            </a:avLst>
          </a:prstGeom>
          <a:solidFill>
            <a:srgbClr val="ECEBFB"/>
          </a:solidFill>
          <a:ln/>
        </p:spPr>
      </p:sp>
      <p:sp>
        <p:nvSpPr>
          <p:cNvPr id="10" name="Shape 8"/>
          <p:cNvSpPr/>
          <p:nvPr/>
        </p:nvSpPr>
        <p:spPr>
          <a:xfrm>
            <a:off x="768096" y="2011680"/>
            <a:ext cx="384048" cy="384048"/>
          </a:xfrm>
          <a:prstGeom prst="ellipse">
            <a:avLst/>
          </a:prstGeom>
          <a:solidFill>
            <a:srgbClr val="4038C4"/>
          </a:solidFill>
          <a:ln/>
        </p:spPr>
      </p:sp>
      <p:sp>
        <p:nvSpPr>
          <p:cNvPr id="11" name="Text 9"/>
          <p:cNvSpPr/>
          <p:nvPr/>
        </p:nvSpPr>
        <p:spPr>
          <a:xfrm>
            <a:off x="768096" y="20116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CEB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1280160" y="19842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4038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FAQ-tier</a:t>
            </a:r>
            <a:endParaRPr lang="en-US" sz="1450" dirty="0"/>
          </a:p>
        </p:txBody>
      </p:sp>
      <p:sp>
        <p:nvSpPr>
          <p:cNvPr id="13" name="Text 11"/>
          <p:cNvSpPr/>
          <p:nvPr/>
        </p:nvSpPr>
        <p:spPr>
          <a:xfrm>
            <a:off x="768096" y="2514600"/>
            <a:ext cx="3118104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типові питання: найдешевша модель або заготовлені відповіді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4270248" y="1828800"/>
            <a:ext cx="3520440" cy="1600200"/>
          </a:xfrm>
          <a:prstGeom prst="roundRect">
            <a:avLst>
              <a:gd name="adj" fmla="val 6857"/>
            </a:avLst>
          </a:prstGeom>
          <a:solidFill>
            <a:srgbClr val="ECEBFB"/>
          </a:solidFill>
          <a:ln/>
        </p:spPr>
      </p:sp>
      <p:sp>
        <p:nvSpPr>
          <p:cNvPr id="15" name="Shape 13"/>
          <p:cNvSpPr/>
          <p:nvPr/>
        </p:nvSpPr>
        <p:spPr>
          <a:xfrm>
            <a:off x="4471416" y="2011680"/>
            <a:ext cx="384048" cy="384048"/>
          </a:xfrm>
          <a:prstGeom prst="ellipse">
            <a:avLst/>
          </a:prstGeom>
          <a:solidFill>
            <a:srgbClr val="4038C4"/>
          </a:solidFill>
          <a:ln/>
        </p:spPr>
      </p:sp>
      <p:sp>
        <p:nvSpPr>
          <p:cNvPr id="16" name="Text 14"/>
          <p:cNvSpPr/>
          <p:nvPr/>
        </p:nvSpPr>
        <p:spPr>
          <a:xfrm>
            <a:off x="4471416" y="20116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CEB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4983480" y="19842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4038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Standard-tier</a:t>
            </a:r>
            <a:endParaRPr lang="en-US" sz="1450" dirty="0"/>
          </a:p>
        </p:txBody>
      </p:sp>
      <p:sp>
        <p:nvSpPr>
          <p:cNvPr id="18" name="Text 16"/>
          <p:cNvSpPr/>
          <p:nvPr/>
        </p:nvSpPr>
        <p:spPr>
          <a:xfrm>
            <a:off x="4471416" y="2514600"/>
            <a:ext cx="3118104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звичайний діалог: робоча модель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7973568" y="1828800"/>
            <a:ext cx="3520440" cy="1600200"/>
          </a:xfrm>
          <a:prstGeom prst="roundRect">
            <a:avLst>
              <a:gd name="adj" fmla="val 6857"/>
            </a:avLst>
          </a:prstGeom>
          <a:solidFill>
            <a:srgbClr val="ECEBFB"/>
          </a:solidFill>
          <a:ln/>
        </p:spPr>
      </p:sp>
      <p:sp>
        <p:nvSpPr>
          <p:cNvPr id="20" name="Shape 18"/>
          <p:cNvSpPr/>
          <p:nvPr/>
        </p:nvSpPr>
        <p:spPr>
          <a:xfrm>
            <a:off x="8174736" y="2011680"/>
            <a:ext cx="384048" cy="384048"/>
          </a:xfrm>
          <a:prstGeom prst="ellipse">
            <a:avLst/>
          </a:prstGeom>
          <a:solidFill>
            <a:srgbClr val="4038C4"/>
          </a:solidFill>
          <a:ln/>
        </p:spPr>
      </p:sp>
      <p:sp>
        <p:nvSpPr>
          <p:cNvPr id="21" name="Text 19"/>
          <p:cNvSpPr/>
          <p:nvPr/>
        </p:nvSpPr>
        <p:spPr>
          <a:xfrm>
            <a:off x="8174736" y="20116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CEB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8686800" y="19842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4038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Escalation-tier</a:t>
            </a:r>
            <a:endParaRPr lang="en-US" sz="1450" dirty="0"/>
          </a:p>
        </p:txBody>
      </p:sp>
      <p:sp>
        <p:nvSpPr>
          <p:cNvPr id="23" name="Text 21"/>
          <p:cNvSpPr/>
          <p:nvPr/>
        </p:nvSpPr>
        <p:spPr>
          <a:xfrm>
            <a:off x="8174736" y="2514600"/>
            <a:ext cx="3118104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скарги, повернення, юридично чутливе: найсильніша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566928" y="3749040"/>
            <a:ext cx="5349240" cy="1371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768096" y="390448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Механічно — дешево</a:t>
            </a:r>
            <a:endParaRPr lang="en-US" sz="1450" dirty="0"/>
          </a:p>
        </p:txBody>
      </p:sp>
      <p:sp>
        <p:nvSpPr>
          <p:cNvPr id="26" name="Text 24"/>
          <p:cNvSpPr/>
          <p:nvPr/>
        </p:nvSpPr>
        <p:spPr>
          <a:xfrm>
            <a:off x="768096" y="4434840"/>
            <a:ext cx="4946904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ще одна гілка в Route() і ще одне ім'я в конфізі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6281928" y="3749040"/>
            <a:ext cx="5349240" cy="1371600"/>
          </a:xfrm>
          <a:prstGeom prst="roundRect">
            <a:avLst>
              <a:gd name="adj" fmla="val 8000"/>
            </a:avLst>
          </a:prstGeom>
          <a:solidFill>
            <a:srgbClr val="F8F0E2"/>
          </a:solidFill>
          <a:ln/>
        </p:spPr>
      </p:sp>
      <p:sp>
        <p:nvSpPr>
          <p:cNvPr id="28" name="Text 26"/>
          <p:cNvSpPr/>
          <p:nvPr/>
        </p:nvSpPr>
        <p:spPr>
          <a:xfrm>
            <a:off x="6483096" y="390448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9A5B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Змістовно — вправа на політику</a:t>
            </a:r>
            <a:endParaRPr lang="en-US" sz="1450" dirty="0"/>
          </a:p>
        </p:txBody>
      </p:sp>
      <p:sp>
        <p:nvSpPr>
          <p:cNvPr id="29" name="Text 27"/>
          <p:cNvSpPr/>
          <p:nvPr/>
        </p:nvSpPr>
        <p:spPr>
          <a:xfrm>
            <a:off x="6483096" y="4434840"/>
            <a:ext cx="4946904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де межі між рівнями і як захистити рішення цифрами з лога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23015" y="6455664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90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6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65760"/>
            <a:ext cx="8881567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Зараз ви побачите — і навіщо</a:t>
            </a:r>
            <a:endParaRPr lang="en-US" sz="2500" dirty="0"/>
          </a:p>
        </p:txBody>
      </p:sp>
      <p:sp>
        <p:nvSpPr>
          <p:cNvPr id="3" name="Shape 1"/>
          <p:cNvSpPr/>
          <p:nvPr/>
        </p:nvSpPr>
        <p:spPr>
          <a:xfrm>
            <a:off x="10481767" y="530352"/>
            <a:ext cx="1143000" cy="274320"/>
          </a:xfrm>
          <a:prstGeom prst="roundRect">
            <a:avLst>
              <a:gd name="adj" fmla="val 50000"/>
            </a:avLst>
          </a:prstGeom>
          <a:solidFill>
            <a:srgbClr val="E9F3EE"/>
          </a:solidFill>
          <a:ln/>
        </p:spPr>
      </p:sp>
      <p:sp>
        <p:nvSpPr>
          <p:cNvPr id="4" name="Text 2"/>
          <p:cNvSpPr/>
          <p:nvPr/>
        </p:nvSpPr>
        <p:spPr>
          <a:xfrm>
            <a:off x="10481767" y="530352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7724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ПРАКТИКА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566928" y="645566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0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SupportGW · LLMOps Bootcamp · Урок 3 з 12</a:t>
            </a:r>
            <a:endParaRPr lang="en-US" sz="850" dirty="0"/>
          </a:p>
        </p:txBody>
      </p:sp>
      <p:sp>
        <p:nvSpPr>
          <p:cNvPr id="6" name="Shape 4"/>
          <p:cNvSpPr/>
          <p:nvPr/>
        </p:nvSpPr>
        <p:spPr>
          <a:xfrm>
            <a:off x="566928" y="1737360"/>
            <a:ext cx="5532120" cy="1463040"/>
          </a:xfrm>
          <a:prstGeom prst="roundRect">
            <a:avLst>
              <a:gd name="adj" fmla="val 7500"/>
            </a:avLst>
          </a:prstGeom>
          <a:solidFill>
            <a:srgbClr val="E9F3EE"/>
          </a:solidFill>
          <a:ln/>
        </p:spPr>
      </p:sp>
      <p:sp>
        <p:nvSpPr>
          <p:cNvPr id="7" name="Shape 5"/>
          <p:cNvSpPr/>
          <p:nvPr/>
        </p:nvSpPr>
        <p:spPr>
          <a:xfrm>
            <a:off x="768096" y="1920240"/>
            <a:ext cx="384048" cy="384048"/>
          </a:xfrm>
          <a:prstGeom prst="ellipse">
            <a:avLst/>
          </a:prstGeom>
          <a:solidFill>
            <a:srgbClr val="177245"/>
          </a:solidFill>
          <a:ln/>
        </p:spPr>
      </p:sp>
      <p:sp>
        <p:nvSpPr>
          <p:cNvPr id="8" name="Text 6"/>
          <p:cNvSpPr/>
          <p:nvPr/>
        </p:nvSpPr>
        <p:spPr>
          <a:xfrm>
            <a:off x="768096" y="1920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9F3E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1280160" y="1892808"/>
            <a:ext cx="46177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772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конфіг gateway</a:t>
            </a:r>
            <a:endParaRPr lang="en-US" sz="1450" dirty="0"/>
          </a:p>
        </p:txBody>
      </p:sp>
      <p:sp>
        <p:nvSpPr>
          <p:cNvPr id="10" name="Text 8"/>
          <p:cNvSpPr/>
          <p:nvPr/>
        </p:nvSpPr>
        <p:spPr>
          <a:xfrm>
            <a:off x="768096" y="2423160"/>
            <a:ext cx="512978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mock-mini і mock-strong — дві «моделі» на одному mock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281928" y="1737360"/>
            <a:ext cx="5532120" cy="1463040"/>
          </a:xfrm>
          <a:prstGeom prst="roundRect">
            <a:avLst>
              <a:gd name="adj" fmla="val 7500"/>
            </a:avLst>
          </a:prstGeom>
          <a:solidFill>
            <a:srgbClr val="E9F3EE"/>
          </a:solidFill>
          <a:ln/>
        </p:spPr>
      </p:sp>
      <p:sp>
        <p:nvSpPr>
          <p:cNvPr id="12" name="Shape 10"/>
          <p:cNvSpPr/>
          <p:nvPr/>
        </p:nvSpPr>
        <p:spPr>
          <a:xfrm>
            <a:off x="6483096" y="1920240"/>
            <a:ext cx="384048" cy="384048"/>
          </a:xfrm>
          <a:prstGeom prst="ellipse">
            <a:avLst/>
          </a:prstGeom>
          <a:solidFill>
            <a:srgbClr val="177245"/>
          </a:solidFill>
          <a:ln/>
        </p:spPr>
      </p:sp>
      <p:sp>
        <p:nvSpPr>
          <p:cNvPr id="13" name="Text 11"/>
          <p:cNvSpPr/>
          <p:nvPr/>
        </p:nvSpPr>
        <p:spPr>
          <a:xfrm>
            <a:off x="6483096" y="1920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9F3E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6995160" y="1892808"/>
            <a:ext cx="46177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772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Route() у сервісі</a:t>
            </a:r>
            <a:endParaRPr lang="en-US" sz="1450" dirty="0"/>
          </a:p>
        </p:txBody>
      </p:sp>
      <p:sp>
        <p:nvSpPr>
          <p:cNvPr id="15" name="Text 13"/>
          <p:cNvSpPr/>
          <p:nvPr/>
        </p:nvSpPr>
        <p:spPr>
          <a:xfrm>
            <a:off x="6483096" y="2423160"/>
            <a:ext cx="512978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точка рішення на десять рядків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566928" y="3383280"/>
            <a:ext cx="5532120" cy="1463040"/>
          </a:xfrm>
          <a:prstGeom prst="roundRect">
            <a:avLst>
              <a:gd name="adj" fmla="val 7500"/>
            </a:avLst>
          </a:prstGeom>
          <a:solidFill>
            <a:srgbClr val="E9F3EE"/>
          </a:solidFill>
          <a:ln/>
        </p:spPr>
      </p:sp>
      <p:sp>
        <p:nvSpPr>
          <p:cNvPr id="17" name="Shape 15"/>
          <p:cNvSpPr/>
          <p:nvPr/>
        </p:nvSpPr>
        <p:spPr>
          <a:xfrm>
            <a:off x="768096" y="3566160"/>
            <a:ext cx="384048" cy="384048"/>
          </a:xfrm>
          <a:prstGeom prst="ellipse">
            <a:avLst/>
          </a:prstGeom>
          <a:solidFill>
            <a:srgbClr val="177245"/>
          </a:solidFill>
          <a:ln/>
        </p:spPr>
      </p:sp>
      <p:sp>
        <p:nvSpPr>
          <p:cNvPr id="18" name="Text 16"/>
          <p:cNvSpPr/>
          <p:nvPr/>
        </p:nvSpPr>
        <p:spPr>
          <a:xfrm>
            <a:off x="768096" y="35661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9F3E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1280160" y="3538728"/>
            <a:ext cx="46177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772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питання обох типів</a:t>
            </a:r>
            <a:endParaRPr lang="en-US" sz="1450" dirty="0"/>
          </a:p>
        </p:txBody>
      </p:sp>
      <p:sp>
        <p:nvSpPr>
          <p:cNvPr id="20" name="Text 18"/>
          <p:cNvSpPr/>
          <p:nvPr/>
        </p:nvSpPr>
        <p:spPr>
          <a:xfrm>
            <a:off x="768096" y="4069080"/>
            <a:ext cx="512978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звичайні + ескалації («поверніть гроші, терміново»)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6281928" y="3383280"/>
            <a:ext cx="5532120" cy="1463040"/>
          </a:xfrm>
          <a:prstGeom prst="roundRect">
            <a:avLst>
              <a:gd name="adj" fmla="val 7500"/>
            </a:avLst>
          </a:prstGeom>
          <a:solidFill>
            <a:srgbClr val="E9F3EE"/>
          </a:solidFill>
          <a:ln/>
        </p:spPr>
      </p:sp>
      <p:sp>
        <p:nvSpPr>
          <p:cNvPr id="22" name="Shape 20"/>
          <p:cNvSpPr/>
          <p:nvPr/>
        </p:nvSpPr>
        <p:spPr>
          <a:xfrm>
            <a:off x="6483096" y="3566160"/>
            <a:ext cx="384048" cy="384048"/>
          </a:xfrm>
          <a:prstGeom prst="ellipse">
            <a:avLst/>
          </a:prstGeom>
          <a:solidFill>
            <a:srgbClr val="177245"/>
          </a:solidFill>
          <a:ln/>
        </p:spPr>
      </p:sp>
      <p:sp>
        <p:nvSpPr>
          <p:cNvPr id="23" name="Text 21"/>
          <p:cNvSpPr/>
          <p:nvPr/>
        </p:nvSpPr>
        <p:spPr>
          <a:xfrm>
            <a:off x="6483096" y="35661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9F3E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6995160" y="3538728"/>
            <a:ext cx="46177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772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розподіл у БД</a:t>
            </a:r>
            <a:endParaRPr lang="en-US" sz="1450" dirty="0"/>
          </a:p>
        </p:txBody>
      </p:sp>
      <p:sp>
        <p:nvSpPr>
          <p:cNvPr id="25" name="Text 23"/>
          <p:cNvSpPr/>
          <p:nvPr/>
        </p:nvSpPr>
        <p:spPr>
          <a:xfrm>
            <a:off x="6483096" y="4069080"/>
            <a:ext cx="512978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SELECT model, count(*) FROM requests GROUP BY model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566928" y="5074920"/>
            <a:ext cx="11064240" cy="1051560"/>
          </a:xfrm>
          <a:prstGeom prst="roundRect">
            <a:avLst>
              <a:gd name="adj" fmla="val 10435"/>
            </a:avLst>
          </a:prstGeom>
          <a:solidFill>
            <a:srgbClr val="ECEBFB"/>
          </a:solidFill>
          <a:ln/>
        </p:spPr>
      </p:sp>
      <p:sp>
        <p:nvSpPr>
          <p:cNvPr id="27" name="Text 25"/>
          <p:cNvSpPr/>
          <p:nvPr/>
        </p:nvSpPr>
        <p:spPr>
          <a:xfrm>
            <a:off x="786384" y="520293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НАВІЩО</a:t>
            </a:r>
            <a:endParaRPr lang="en-US" sz="950" dirty="0"/>
          </a:p>
        </p:txBody>
      </p:sp>
      <p:sp>
        <p:nvSpPr>
          <p:cNvPr id="28" name="Text 26"/>
          <p:cNvSpPr/>
          <p:nvPr/>
        </p:nvSpPr>
        <p:spPr>
          <a:xfrm>
            <a:off x="786384" y="5458968"/>
            <a:ext cx="10625328" cy="5394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Побачити перший операційний доказ, що routing працює: не «код написаний», а «трафік розведений». Різниця між цими формулюваннями і є темою уроку.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23015" y="6455664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90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6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65760"/>
            <a:ext cx="8881567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Лабораторна: чотири частини + опційна</a:t>
            </a:r>
            <a:endParaRPr lang="en-US" sz="2500" dirty="0"/>
          </a:p>
        </p:txBody>
      </p:sp>
      <p:sp>
        <p:nvSpPr>
          <p:cNvPr id="3" name="Shape 1"/>
          <p:cNvSpPr/>
          <p:nvPr/>
        </p:nvSpPr>
        <p:spPr>
          <a:xfrm>
            <a:off x="10481767" y="530352"/>
            <a:ext cx="1143000" cy="274320"/>
          </a:xfrm>
          <a:prstGeom prst="roundRect">
            <a:avLst>
              <a:gd name="adj" fmla="val 50000"/>
            </a:avLst>
          </a:prstGeom>
          <a:solidFill>
            <a:srgbClr val="E9F3EE"/>
          </a:solidFill>
          <a:ln/>
        </p:spPr>
      </p:sp>
      <p:sp>
        <p:nvSpPr>
          <p:cNvPr id="4" name="Text 2"/>
          <p:cNvSpPr/>
          <p:nvPr/>
        </p:nvSpPr>
        <p:spPr>
          <a:xfrm>
            <a:off x="10481767" y="530352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7724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ПРАКТИКА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566928" y="645566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0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SupportGW · LLMOps Bootcamp · Урок 3 з 12</a:t>
            </a:r>
            <a:endParaRPr lang="en-US" sz="850" dirty="0"/>
          </a:p>
        </p:txBody>
      </p:sp>
      <p:sp>
        <p:nvSpPr>
          <p:cNvPr id="6" name="Shape 4"/>
          <p:cNvSpPr/>
          <p:nvPr/>
        </p:nvSpPr>
        <p:spPr>
          <a:xfrm>
            <a:off x="566928" y="1828800"/>
            <a:ext cx="457200" cy="457200"/>
          </a:xfrm>
          <a:prstGeom prst="ellipse">
            <a:avLst/>
          </a:prstGeom>
          <a:solidFill>
            <a:srgbClr val="4038C4"/>
          </a:solidFill>
          <a:ln/>
        </p:spPr>
      </p:sp>
      <p:sp>
        <p:nvSpPr>
          <p:cNvPr id="7" name="Text 5"/>
          <p:cNvSpPr/>
          <p:nvPr/>
        </p:nvSpPr>
        <p:spPr>
          <a:xfrm>
            <a:off x="566928" y="18288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1188720" y="1828800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Прочитати конфіг  </a:t>
            </a:r>
            <a:pPr indent="0" marL="0">
              <a:buNone/>
            </a:pPr>
            <a:r>
              <a:rPr lang="en-US" sz="120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gateway/litellm-config.yaml: mock-mini і mock-strong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566928" y="2670048"/>
            <a:ext cx="457200" cy="457200"/>
          </a:xfrm>
          <a:prstGeom prst="ellipse">
            <a:avLst/>
          </a:prstGeom>
          <a:solidFill>
            <a:srgbClr val="4038C4"/>
          </a:solidFill>
          <a:ln/>
        </p:spPr>
      </p:sp>
      <p:sp>
        <p:nvSpPr>
          <p:cNvPr id="10" name="Text 8"/>
          <p:cNvSpPr/>
          <p:nvPr/>
        </p:nvSpPr>
        <p:spPr>
          <a:xfrm>
            <a:off x="566928" y="267004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1188720" y="2670048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Написати роутер  </a:t>
            </a:r>
            <a:pPr indent="0" marL="0">
              <a:buNone/>
            </a:pPr>
            <a:r>
              <a:rPr lang="en-US" sz="120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маркери → mock-strong, решта → mock-mini; MODEL лише дефолт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566928" y="3511296"/>
            <a:ext cx="457200" cy="457200"/>
          </a:xfrm>
          <a:prstGeom prst="ellipse">
            <a:avLst/>
          </a:prstGeom>
          <a:solidFill>
            <a:srgbClr val="4038C4"/>
          </a:solidFill>
          <a:ln/>
        </p:spPr>
      </p:sp>
      <p:sp>
        <p:nvSpPr>
          <p:cNvPr id="13" name="Text 11"/>
          <p:cNvSpPr/>
          <p:nvPr/>
        </p:nvSpPr>
        <p:spPr>
          <a:xfrm>
            <a:off x="566928" y="351129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1188720" y="3511296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Побачити розподіл  </a:t>
            </a:r>
            <a:pPr indent="0" marL="0">
              <a:buNone/>
            </a:pPr>
            <a:r>
              <a:rPr lang="en-US" sz="120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питання обох типів → SELECT model, count(*) GROUP BY model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566928" y="4352544"/>
            <a:ext cx="457200" cy="457200"/>
          </a:xfrm>
          <a:prstGeom prst="ellipse">
            <a:avLst/>
          </a:prstGeom>
          <a:solidFill>
            <a:srgbClr val="4038C4"/>
          </a:solidFill>
          <a:ln/>
        </p:spPr>
      </p:sp>
      <p:sp>
        <p:nvSpPr>
          <p:cNvPr id="16" name="Text 14"/>
          <p:cNvSpPr/>
          <p:nvPr/>
        </p:nvSpPr>
        <p:spPr>
          <a:xfrm>
            <a:off x="566928" y="435254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1188720" y="4352544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Додати «третього» на папері  </a:t>
            </a:r>
            <a:pPr indent="0" marL="0">
              <a:buNone/>
            </a:pPr>
            <a:r>
              <a:rPr lang="en-US" sz="120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YAML-блок + місце у fallback-порядку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566928" y="5193792"/>
            <a:ext cx="457200" cy="457200"/>
          </a:xfrm>
          <a:prstGeom prst="ellipse">
            <a:avLst/>
          </a:prstGeom>
          <a:solidFill>
            <a:srgbClr val="9A5B12"/>
          </a:solidFill>
          <a:ln/>
        </p:spPr>
      </p:sp>
      <p:sp>
        <p:nvSpPr>
          <p:cNvPr id="19" name="Text 17"/>
          <p:cNvSpPr/>
          <p:nvPr/>
        </p:nvSpPr>
        <p:spPr>
          <a:xfrm>
            <a:off x="566928" y="519379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1188720" y="5193792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9A5B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Tier-політика · опційно  </a:t>
            </a:r>
            <a:pPr indent="0" marL="0">
              <a:buNone/>
            </a:pPr>
            <a:r>
              <a:rPr lang="en-US" sz="120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межі рівнів + частка трафіку кожного з лога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23015" y="6455664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90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6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65760"/>
            <a:ext cx="8881567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Що це довело</a:t>
            </a:r>
            <a:endParaRPr lang="en-US" sz="2500" dirty="0"/>
          </a:p>
        </p:txBody>
      </p:sp>
      <p:sp>
        <p:nvSpPr>
          <p:cNvPr id="3" name="Shape 1"/>
          <p:cNvSpPr/>
          <p:nvPr/>
        </p:nvSpPr>
        <p:spPr>
          <a:xfrm>
            <a:off x="10481767" y="530352"/>
            <a:ext cx="1143000" cy="274320"/>
          </a:xfrm>
          <a:prstGeom prst="roundRect">
            <a:avLst>
              <a:gd name="adj" fmla="val 50000"/>
            </a:avLst>
          </a:prstGeom>
          <a:solidFill>
            <a:srgbClr val="F8F0E2"/>
          </a:solidFill>
          <a:ln/>
        </p:spPr>
      </p:sp>
      <p:sp>
        <p:nvSpPr>
          <p:cNvPr id="4" name="Text 2"/>
          <p:cNvSpPr/>
          <p:nvPr/>
        </p:nvSpPr>
        <p:spPr>
          <a:xfrm>
            <a:off x="10481767" y="530352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9A5B1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РЕФЛЕКСІЯ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566928" y="645566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0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SupportGW · LLMOps Bootcamp · Урок 3 з 12</a:t>
            </a:r>
            <a:endParaRPr lang="en-US" sz="850" dirty="0"/>
          </a:p>
        </p:txBody>
      </p:sp>
      <p:sp>
        <p:nvSpPr>
          <p:cNvPr id="6" name="Shape 4"/>
          <p:cNvSpPr/>
          <p:nvPr/>
        </p:nvSpPr>
        <p:spPr>
          <a:xfrm>
            <a:off x="566928" y="1737360"/>
            <a:ext cx="3566160" cy="1828800"/>
          </a:xfrm>
          <a:prstGeom prst="roundRect">
            <a:avLst>
              <a:gd name="adj" fmla="val 6000"/>
            </a:avLst>
          </a:prstGeom>
          <a:solidFill>
            <a:srgbClr val="E9F3EE"/>
          </a:solidFill>
          <a:ln/>
        </p:spPr>
      </p:sp>
      <p:sp>
        <p:nvSpPr>
          <p:cNvPr id="7" name="Text 5"/>
          <p:cNvSpPr/>
          <p:nvPr/>
        </p:nvSpPr>
        <p:spPr>
          <a:xfrm>
            <a:off x="768096" y="1892808"/>
            <a:ext cx="31638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772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Трафік розведений</a:t>
            </a:r>
            <a:endParaRPr lang="en-US" sz="1450" dirty="0"/>
          </a:p>
        </p:txBody>
      </p:sp>
      <p:sp>
        <p:nvSpPr>
          <p:cNvPr id="8" name="Text 6"/>
          <p:cNvSpPr/>
          <p:nvPr/>
        </p:nvSpPr>
        <p:spPr>
          <a:xfrm>
            <a:off x="768096" y="2423160"/>
            <a:ext cx="3163824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дві моделі, різні лічильники — доказ, а не «код написаний»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4315968" y="1737360"/>
            <a:ext cx="3566160" cy="1828800"/>
          </a:xfrm>
          <a:prstGeom prst="roundRect">
            <a:avLst>
              <a:gd name="adj" fmla="val 6000"/>
            </a:avLst>
          </a:prstGeom>
          <a:solidFill>
            <a:srgbClr val="ECEBFB"/>
          </a:solidFill>
          <a:ln/>
        </p:spPr>
      </p:sp>
      <p:sp>
        <p:nvSpPr>
          <p:cNvPr id="10" name="Text 8"/>
          <p:cNvSpPr/>
          <p:nvPr/>
        </p:nvSpPr>
        <p:spPr>
          <a:xfrm>
            <a:off x="4517136" y="1892808"/>
            <a:ext cx="31638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4038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Рішення читається</a:t>
            </a:r>
            <a:endParaRPr lang="en-US" sz="1450" dirty="0"/>
          </a:p>
        </p:txBody>
      </p:sp>
      <p:sp>
        <p:nvSpPr>
          <p:cNvPr id="11" name="Text 9"/>
          <p:cNvSpPr/>
          <p:nvPr/>
        </p:nvSpPr>
        <p:spPr>
          <a:xfrm>
            <a:off x="4517136" y="2423160"/>
            <a:ext cx="3163824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уся політика в одній функції; кожен вибір — подія в лозі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8065008" y="1737360"/>
            <a:ext cx="3566160" cy="18288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266176" y="1892808"/>
            <a:ext cx="31638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Розширення дешеве</a:t>
            </a:r>
            <a:endParaRPr lang="en-US" sz="1450" dirty="0"/>
          </a:p>
        </p:txBody>
      </p:sp>
      <p:sp>
        <p:nvSpPr>
          <p:cNvPr id="14" name="Text 12"/>
          <p:cNvSpPr/>
          <p:nvPr/>
        </p:nvSpPr>
        <p:spPr>
          <a:xfrm>
            <a:off x="8266176" y="2423160"/>
            <a:ext cx="3163824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«третій провайдер» = один YAML-блок і нуль рядків коду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66928" y="3977640"/>
            <a:ext cx="11064240" cy="123444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/>
        </p:spPr>
      </p:sp>
      <p:sp>
        <p:nvSpPr>
          <p:cNvPr id="16" name="Text 14"/>
          <p:cNvSpPr/>
          <p:nvPr/>
        </p:nvSpPr>
        <p:spPr>
          <a:xfrm>
            <a:off x="786384" y="4123944"/>
            <a:ext cx="10625328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Це фундамент тижня «Routing + cost»: наступного уроку на те саме поле model ляже вартість кожного запиту — і розподіл трафіку стане розподілом грошей.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23015" y="6455664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90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6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65760"/>
            <a:ext cx="8881567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Перевір себе</a:t>
            </a:r>
            <a:endParaRPr lang="en-US" sz="2500" dirty="0"/>
          </a:p>
        </p:txBody>
      </p:sp>
      <p:sp>
        <p:nvSpPr>
          <p:cNvPr id="3" name="Shape 1"/>
          <p:cNvSpPr/>
          <p:nvPr/>
        </p:nvSpPr>
        <p:spPr>
          <a:xfrm>
            <a:off x="10481767" y="530352"/>
            <a:ext cx="1143000" cy="274320"/>
          </a:xfrm>
          <a:prstGeom prst="roundRect">
            <a:avLst>
              <a:gd name="adj" fmla="val 50000"/>
            </a:avLst>
          </a:prstGeom>
          <a:solidFill>
            <a:srgbClr val="F8F0E2"/>
          </a:solidFill>
          <a:ln/>
        </p:spPr>
      </p:sp>
      <p:sp>
        <p:nvSpPr>
          <p:cNvPr id="4" name="Text 2"/>
          <p:cNvSpPr/>
          <p:nvPr/>
        </p:nvSpPr>
        <p:spPr>
          <a:xfrm>
            <a:off x="10481767" y="530352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9A5B1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РЕФЛЕКСІЯ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566928" y="645566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0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SupportGW · LLMOps Bootcamp · Урок 3 з 12</a:t>
            </a:r>
            <a:endParaRPr lang="en-US" sz="850" dirty="0"/>
          </a:p>
        </p:txBody>
      </p:sp>
      <p:sp>
        <p:nvSpPr>
          <p:cNvPr id="6" name="Shape 4"/>
          <p:cNvSpPr/>
          <p:nvPr/>
        </p:nvSpPr>
        <p:spPr>
          <a:xfrm>
            <a:off x="566928" y="1783080"/>
            <a:ext cx="11064240" cy="1874520"/>
          </a:xfrm>
          <a:prstGeom prst="roundRect">
            <a:avLst>
              <a:gd name="adj" fmla="val 5854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978408" y="2157984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E9F3EE"/>
          </a:solidFill>
          <a:ln w="12700">
            <a:solidFill>
              <a:srgbClr val="177245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78408" y="2157984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772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1362456" y="2103120"/>
            <a:ext cx="4617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звичайне питання і ескалація дають різні моделі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978408" y="2724912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E9F3EE"/>
          </a:solidFill>
          <a:ln w="12700">
            <a:solidFill>
              <a:srgbClr val="177245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78408" y="2724912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772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1362456" y="2670048"/>
            <a:ext cx="4617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поясню, чому рішення в сервісі, а не в адаптері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6144768" y="2157984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E9F3EE"/>
          </a:solidFill>
          <a:ln w="12700">
            <a:solidFill>
              <a:srgbClr val="177245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144768" y="2157984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772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6528816" y="2103120"/>
            <a:ext cx="4617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додам провайдера, не чіпаючи код сервісу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6144768" y="2724912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E9F3EE"/>
          </a:solidFill>
          <a:ln w="12700">
            <a:solidFill>
              <a:srgbClr val="177245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144768" y="2724912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772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6528816" y="2670048"/>
            <a:ext cx="4617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мій fallback-порядок записаний</a:t>
            </a:r>
            <a:endParaRPr lang="en-US" sz="1250" dirty="0"/>
          </a:p>
        </p:txBody>
      </p:sp>
      <p:sp>
        <p:nvSpPr>
          <p:cNvPr id="19" name="Text 17"/>
          <p:cNvSpPr/>
          <p:nvPr/>
        </p:nvSpPr>
        <p:spPr>
          <a:xfrm>
            <a:off x="566928" y="388620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8A90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Де завагалися — туди і повертайтеся. Питання — у канал потоку або на Q&amp;A.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23015" y="6455664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90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6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65760"/>
            <a:ext cx="8881567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Антипатерни тижня</a:t>
            </a:r>
            <a:endParaRPr lang="en-US" sz="2500" dirty="0"/>
          </a:p>
        </p:txBody>
      </p:sp>
      <p:sp>
        <p:nvSpPr>
          <p:cNvPr id="3" name="Shape 1"/>
          <p:cNvSpPr/>
          <p:nvPr/>
        </p:nvSpPr>
        <p:spPr>
          <a:xfrm>
            <a:off x="10481767" y="530352"/>
            <a:ext cx="1143000" cy="274320"/>
          </a:xfrm>
          <a:prstGeom prst="roundRect">
            <a:avLst>
              <a:gd name="adj" fmla="val 50000"/>
            </a:avLst>
          </a:prstGeom>
          <a:solidFill>
            <a:srgbClr val="F8F0E2"/>
          </a:solidFill>
          <a:ln/>
        </p:spPr>
      </p:sp>
      <p:sp>
        <p:nvSpPr>
          <p:cNvPr id="4" name="Text 2"/>
          <p:cNvSpPr/>
          <p:nvPr/>
        </p:nvSpPr>
        <p:spPr>
          <a:xfrm>
            <a:off x="10481767" y="530352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9A5B1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РЕФЛЕКСІЯ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566928" y="645566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0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SupportGW · LLMOps Bootcamp · Урок 3 з 12</a:t>
            </a:r>
            <a:endParaRPr lang="en-US" sz="850" dirty="0"/>
          </a:p>
        </p:txBody>
      </p:sp>
      <p:sp>
        <p:nvSpPr>
          <p:cNvPr id="6" name="Shape 4"/>
          <p:cNvSpPr/>
          <p:nvPr/>
        </p:nvSpPr>
        <p:spPr>
          <a:xfrm>
            <a:off x="566928" y="1828800"/>
            <a:ext cx="1106424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68096" y="2020824"/>
            <a:ext cx="384048" cy="384048"/>
          </a:xfrm>
          <a:prstGeom prst="ellipse">
            <a:avLst/>
          </a:prstGeom>
          <a:solidFill>
            <a:srgbClr val="F9E9E8"/>
          </a:solidFill>
          <a:ln/>
        </p:spPr>
      </p:sp>
      <p:sp>
        <p:nvSpPr>
          <p:cNvPr id="8" name="Text 6"/>
          <p:cNvSpPr/>
          <p:nvPr/>
        </p:nvSpPr>
        <p:spPr>
          <a:xfrm>
            <a:off x="768096" y="202082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B326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✕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298448" y="1828800"/>
            <a:ext cx="10149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Рішення про модель — у конфізі адаптера   </a:t>
            </a:r>
            <a:pPr indent="0" marL="0">
              <a:buNone/>
            </a:pPr>
            <a:r>
              <a:rPr lang="en-US" sz="120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прапорці не переносяться між інструментами, механізми — так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566928" y="2743200"/>
            <a:ext cx="1106424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768096" y="2935224"/>
            <a:ext cx="384048" cy="384048"/>
          </a:xfrm>
          <a:prstGeom prst="ellipse">
            <a:avLst/>
          </a:prstGeom>
          <a:solidFill>
            <a:srgbClr val="F9E9E8"/>
          </a:solidFill>
          <a:ln/>
        </p:spPr>
      </p:sp>
      <p:sp>
        <p:nvSpPr>
          <p:cNvPr id="12" name="Text 10"/>
          <p:cNvSpPr/>
          <p:nvPr/>
        </p:nvSpPr>
        <p:spPr>
          <a:xfrm>
            <a:off x="768096" y="293522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B326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✕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1298448" y="2743200"/>
            <a:ext cx="10149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Жорстке ім'я моделі по всьому коду   </a:t>
            </a:r>
            <a:pPr indent="0" marL="0">
              <a:buNone/>
            </a:pPr>
            <a:r>
              <a:rPr lang="en-US" sz="120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заміна провайдера перетворюється на пошук рядків</a:t>
            </a:r>
            <a:endParaRPr lang="en-US" sz="1350" dirty="0"/>
          </a:p>
        </p:txBody>
      </p:sp>
      <p:sp>
        <p:nvSpPr>
          <p:cNvPr id="14" name="Shape 12"/>
          <p:cNvSpPr/>
          <p:nvPr/>
        </p:nvSpPr>
        <p:spPr>
          <a:xfrm>
            <a:off x="566928" y="3657600"/>
            <a:ext cx="1106424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68096" y="3849624"/>
            <a:ext cx="384048" cy="384048"/>
          </a:xfrm>
          <a:prstGeom prst="ellipse">
            <a:avLst/>
          </a:prstGeom>
          <a:solidFill>
            <a:srgbClr val="F9E9E8"/>
          </a:solidFill>
          <a:ln/>
        </p:spPr>
      </p:sp>
      <p:sp>
        <p:nvSpPr>
          <p:cNvPr id="16" name="Text 14"/>
          <p:cNvSpPr/>
          <p:nvPr/>
        </p:nvSpPr>
        <p:spPr>
          <a:xfrm>
            <a:off x="768096" y="384962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B326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✕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1298448" y="3657600"/>
            <a:ext cx="10149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Роутинг за випадковим числом   </a:t>
            </a:r>
            <a:pPr indent="0" marL="0">
              <a:buNone/>
            </a:pPr>
            <a:r>
              <a:rPr lang="en-US" sz="120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непередбачувано для користувача, невідтворювано для вас</a:t>
            </a:r>
            <a:endParaRPr lang="en-US" sz="1350" dirty="0"/>
          </a:p>
        </p:txBody>
      </p:sp>
      <p:sp>
        <p:nvSpPr>
          <p:cNvPr id="18" name="Shape 16"/>
          <p:cNvSpPr/>
          <p:nvPr/>
        </p:nvSpPr>
        <p:spPr>
          <a:xfrm>
            <a:off x="566928" y="4572000"/>
            <a:ext cx="1106424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768096" y="4764024"/>
            <a:ext cx="384048" cy="384048"/>
          </a:xfrm>
          <a:prstGeom prst="ellipse">
            <a:avLst/>
          </a:prstGeom>
          <a:solidFill>
            <a:srgbClr val="F9E9E8"/>
          </a:solidFill>
          <a:ln/>
        </p:spPr>
      </p:sp>
      <p:sp>
        <p:nvSpPr>
          <p:cNvPr id="20" name="Text 18"/>
          <p:cNvSpPr/>
          <p:nvPr/>
        </p:nvSpPr>
        <p:spPr>
          <a:xfrm>
            <a:off x="768096" y="476402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B326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✕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1298448" y="4572000"/>
            <a:ext cx="10149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Alias у проді   </a:t>
            </a:r>
            <a:pPr indent="0" marL="0">
              <a:buNone/>
            </a:pPr>
            <a:r>
              <a:rPr lang="en-US" sz="120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модель оновлюється під вами без жодної вашої дії</a:t>
            </a:r>
            <a:endParaRPr lang="en-US" sz="13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23015" y="6455664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90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6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65760"/>
            <a:ext cx="8881567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Домашнє завдання</a:t>
            </a:r>
            <a:endParaRPr lang="en-US" sz="2500" dirty="0"/>
          </a:p>
        </p:txBody>
      </p:sp>
      <p:sp>
        <p:nvSpPr>
          <p:cNvPr id="3" name="Shape 1"/>
          <p:cNvSpPr/>
          <p:nvPr/>
        </p:nvSpPr>
        <p:spPr>
          <a:xfrm>
            <a:off x="10481767" y="530352"/>
            <a:ext cx="1143000" cy="274320"/>
          </a:xfrm>
          <a:prstGeom prst="roundRect">
            <a:avLst>
              <a:gd name="adj" fmla="val 50000"/>
            </a:avLst>
          </a:prstGeom>
          <a:solidFill>
            <a:srgbClr val="E9F3EE"/>
          </a:solidFill>
          <a:ln/>
        </p:spPr>
      </p:sp>
      <p:sp>
        <p:nvSpPr>
          <p:cNvPr id="4" name="Text 2"/>
          <p:cNvSpPr/>
          <p:nvPr/>
        </p:nvSpPr>
        <p:spPr>
          <a:xfrm>
            <a:off x="10481767" y="530352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7724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ПРАКТИКА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566928" y="645566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0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SupportGW · LLMOps Bootcamp · Урок 3 з 12</a:t>
            </a:r>
            <a:endParaRPr lang="en-US" sz="850" dirty="0"/>
          </a:p>
        </p:txBody>
      </p:sp>
      <p:sp>
        <p:nvSpPr>
          <p:cNvPr id="6" name="Shape 4"/>
          <p:cNvSpPr/>
          <p:nvPr/>
        </p:nvSpPr>
        <p:spPr>
          <a:xfrm>
            <a:off x="566928" y="1737360"/>
            <a:ext cx="5349240" cy="21945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68096" y="189280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Обов'язково — без здачі</a:t>
            </a:r>
            <a:endParaRPr lang="en-US" sz="1450" dirty="0"/>
          </a:p>
        </p:txBody>
      </p:sp>
      <p:sp>
        <p:nvSpPr>
          <p:cNvPr id="8" name="Text 6"/>
          <p:cNvSpPr/>
          <p:nvPr/>
        </p:nvSpPr>
        <p:spPr>
          <a:xfrm>
            <a:off x="768096" y="2423160"/>
            <a:ext cx="4946904" cy="1353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роутер працює: GROUP BY model показує дві моделі</a:t>
            </a:r>
            <a:endParaRPr lang="en-US" sz="1200" dirty="0"/>
          </a:p>
          <a:p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жорстке ім'я моделі лишилося тільки в точці рішення</a:t>
            </a:r>
            <a:endParaRPr lang="en-US" sz="1200" dirty="0"/>
          </a:p>
          <a:p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записати свій fallback-порядок — знадобиться на тижні 4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6281928" y="1737360"/>
            <a:ext cx="5349240" cy="2194560"/>
          </a:xfrm>
          <a:prstGeom prst="roundRect">
            <a:avLst>
              <a:gd name="adj" fmla="val 5000"/>
            </a:avLst>
          </a:prstGeom>
          <a:solidFill>
            <a:srgbClr val="F8F0E2"/>
          </a:solidFill>
          <a:ln/>
        </p:spPr>
      </p:sp>
      <p:sp>
        <p:nvSpPr>
          <p:cNvPr id="10" name="Text 8"/>
          <p:cNvSpPr/>
          <p:nvPr/>
        </p:nvSpPr>
        <p:spPr>
          <a:xfrm>
            <a:off x="6483096" y="189280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9A5B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Опційно</a:t>
            </a:r>
            <a:endParaRPr lang="en-US" sz="1450" dirty="0"/>
          </a:p>
        </p:txBody>
      </p:sp>
      <p:sp>
        <p:nvSpPr>
          <p:cNvPr id="11" name="Text 9"/>
          <p:cNvSpPr/>
          <p:nvPr/>
        </p:nvSpPr>
        <p:spPr>
          <a:xfrm>
            <a:off x="6483096" y="2423160"/>
            <a:ext cx="4946904" cy="1353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сформулювати tier-політику на три рівні і оцінити по лозі частку трафіку кожного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566928" y="4206240"/>
            <a:ext cx="11064240" cy="1463040"/>
          </a:xfrm>
          <a:prstGeom prst="roundRect">
            <a:avLst>
              <a:gd name="adj" fmla="val 8750"/>
            </a:avLst>
          </a:prstGeom>
          <a:solidFill>
            <a:srgbClr val="FFFFFF"/>
          </a:solidFill>
          <a:ln w="19050">
            <a:solidFill>
              <a:srgbClr val="4038C4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41248" y="438912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4038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ДЗ тижня 2 — після наступного уроку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841248" y="4800600"/>
            <a:ext cx="10515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Воно об'єднує routing і cost: сьогоднішня частина вже у вас в руках, після уроку 4 додасться облік вартості — і тиждень здається одним PR. Критерії — у файлі ДЗ після наступного уроку.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23015" y="6455664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90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4038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41248" y="7772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C9C5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ПІДСУМОК УРОКУ 3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841248" y="1371600"/>
            <a:ext cx="146304" cy="146304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4" name="Text 2"/>
          <p:cNvSpPr/>
          <p:nvPr/>
        </p:nvSpPr>
        <p:spPr>
          <a:xfrm>
            <a:off x="1133856" y="1280160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одна модель на все — найдорожчий і найкрихкіший спосіб жити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841248" y="2029968"/>
            <a:ext cx="146304" cy="146304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/>
          <p:nvPr/>
        </p:nvSpPr>
        <p:spPr>
          <a:xfrm>
            <a:off x="1133856" y="1938528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сервіс вирішує, адаптер виконує: рішення — код, а не прапорець у чужому конфізі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841248" y="2688336"/>
            <a:ext cx="146304" cy="146304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8" name="Text 6"/>
          <p:cNvSpPr/>
          <p:nvPr/>
        </p:nvSpPr>
        <p:spPr>
          <a:xfrm>
            <a:off x="1133856" y="2596896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Route() — одна точка рішення; MODEL лишається тільки дефолтом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841248" y="3346704"/>
            <a:ext cx="146304" cy="146304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10" name="Text 8"/>
          <p:cNvSpPr/>
          <p:nvPr/>
        </p:nvSpPr>
        <p:spPr>
          <a:xfrm>
            <a:off x="1133856" y="3255264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маршрутизувати можна навіть з однією моделлю: max_tokens, temperature, промпт, інструменти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841248" y="4005072"/>
            <a:ext cx="146304" cy="146304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12" name="Text 10"/>
          <p:cNvSpPr/>
          <p:nvPr/>
        </p:nvSpPr>
        <p:spPr>
          <a:xfrm>
            <a:off x="1133856" y="3913632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fallback-порядок оголошуємо сьогодні — механізм з'явиться на тижні 4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841248" y="4892040"/>
            <a:ext cx="10698480" cy="1188720"/>
          </a:xfrm>
          <a:prstGeom prst="roundRect">
            <a:avLst>
              <a:gd name="adj" fmla="val 10769"/>
            </a:avLst>
          </a:prstGeom>
          <a:solidFill>
            <a:srgbClr val="FFFFFF"/>
          </a:solidFill>
          <a:ln/>
        </p:spPr>
      </p:sp>
      <p:sp>
        <p:nvSpPr>
          <p:cNvPr id="14" name="Text 12"/>
          <p:cNvSpPr/>
          <p:nvPr/>
        </p:nvSpPr>
        <p:spPr>
          <a:xfrm>
            <a:off x="1069848" y="5093208"/>
            <a:ext cx="10241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4038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Наступний крок → Урок 4 · Токеноміка і cost attribution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1069848" y="5458968"/>
            <a:ext cx="102412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Трафік розведений — тепер порахуємо, скільки він коштує. Наступного уроку на поле model ляже вартість кожного запиту: звідки беруться цифри, чому «звернення» дорожче за «виклик» і як за три GROUP BY знайти, куди пішов бюджет.</a:t>
            </a:r>
            <a:endParaRPr lang="en-US" sz="1250" dirty="0"/>
          </a:p>
        </p:txBody>
      </p:sp>
      <p:sp>
        <p:nvSpPr>
          <p:cNvPr id="16" name="Text 14"/>
          <p:cNvSpPr/>
          <p:nvPr/>
        </p:nvSpPr>
        <p:spPr>
          <a:xfrm>
            <a:off x="841248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B4AEE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SupportGW · LLMOps Bootcamp · Урок 3 з 12</a:t>
            </a:r>
            <a:endParaRPr lang="en-US" sz="8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24</Slides>
  <Notes>24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24</vt:i4>
      </vt:variant>
    </vt:vector>
  </HeadingPairs>
  <TitlesOfParts>
    <vt:vector size="2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Урок 3 · Мультипровайдерний gateway і маршрутизація моделей</dc:title>
  <dc:subject>PptxGenJS Presentation</dc:subject>
  <dc:creator>LLMOps Bootcamp</dc:creator>
  <cp:lastModifiedBy>LLMOps Bootcamp</cp:lastModifiedBy>
  <cp:revision>1</cp:revision>
  <dcterms:created xsi:type="dcterms:W3CDTF">2026-08-10T19:13:46Z</dcterms:created>
  <dcterms:modified xsi:type="dcterms:W3CDTF">2026-08-10T19:13:46Z</dcterms:modified>
</cp:coreProperties>
</file>