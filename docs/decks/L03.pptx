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Вітаю на третьому уроці — і на першому уроці тижня «Routing + cost». Одна модель на все — найдорожчий і найкрихкіший спосіб жити: «як скинути пароль» і розбір скарги на повернення коштів — різні задачі, а платите ви за них однією топовою моделлю. Сьогодні сервіс навчиться обирати модель під задачу. Розберемо конфіг адаптера — побачимо, як дві «моделі» живуть на одному mock і навіщо там drop_params та num_retries: 0. Напишемо роутер — функцію на десять рядків, яка стане єдиною точкою рішення про модель. Побачимо розподіл трафіку в базі — перший операційний доказ, що routing працює. І зрозуміємо, чому додати нового провайдера має коштувати рядків у YAML, а не рефакторингу. А заодно закладемо фундамент тижня 4: система, яка вміє обирати між моделями, — за один крок від системи, яка вміє переживати падіння однієї з них.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результат уроку — конкретними діями, а не «зрозуміти» чи «ознайомитись». Після сьогоднішнього заняття ви зможете: написати Route() — роутер на десять рядків, який розводить ескалації і звичайні питання по двох моделях; довести в базі, що routing працює, — одним SQL-запитом побачити дві моделі з різними лічильниками; пояснити, чому рішення про модель живе в сервісі, а виконання виклику — в адаптері, і чим це відрізняється від галочки в конфізі інструмента; додати нового провайдера одним блоком у YAML — без жодної зміни коду сервісу; розрізнити alias і snapshot у назві моделі та пояснити, чому в production модель пінять; і сформулювати fallback-порядок — політику, яка оживе механізмом на тижні 4. Кожен пункт ви перевірите руками ще сьогодні — у лабораторній.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 такий. Спершу проблема: три біди однієї моделі — гроші, залежність від одного провайдера і несумісність у дрібницях. Далі межа відповідальності з уроку 1, яка сьогодні вперше працює по-справжньому: сервіс вирішує, адаптер виконує. Потім розтин конфіга адаптера — дві «моделі» на одному mock і чому назва моделі — не константа: alias проти snapshot. Центральний блок — Route(): роутер на десять рядків, одна точка рішення. Після нього — куди ця функція росте: маршрут за задачею, ціна самого рішення, стабільність маршруту для користувача. Далі fallback-порядок — політика, яку ми сьогодні лише оголосимо, і перевірка архітектури: додати провайдера без зміни коду. Опційний блок — tier-система на три рівні. І класика: лабораторна, антипатерни тижня, домашнє завдання. [Ведучому: демо цього уроку йде на бранчі еталона тижня 2; перед показом — свіжий стан стека.]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Домовимось про шість слів. Gateway-адаптер — єдиний вихід із нашої системи до провайдерів: він виконує виклик, згладжує розбіжності їхніх API і тримає ключі. Роутер, у нас це функція Route, — точка рішення в сервісі: приймає повідомлення і повертає ім'я моделі. Alias — рухома назва моделі на кшталт «остання версія сімейства»: зручно, але змінюється під вами. Snapshot — зафіксована версія з датою чи ідентифікатором: не змінюється, але й не оновлюється сама. Fallback-порядок — оголошена черга «якщо ця модель недоступна, пробуємо наступну»; сьогодні ми її лише запишемо, механізм з'явиться на тижні 4. І tier — рівень обслуговування: набір правил «які питання яку модель отримують», опційна частина уроку. Ці слова звучатимуть постійно — далі розберемо кожне на місці.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Чому «одна модель на все» — погана ідея? Три біди. Перша — гроші. «Як скинути пароль?» і розбір скарги на повернення коштів — різні задачі, але платите ви за них однією топовою моделлю. На масовому трафіку підтримки різниця між дешевою і сильною моделлю — це порядок вартості: не «трохи дорожче», а вдесятеро. Ганяти FAQ через флагманську модель — все одно що викликати таксі бізнес-класу, щоб винести сміття. Друга — залежність. Один провайдер — це одна точка відмови, яка вам не належить. Ліміти запитів, деградації, зміни API трапляються регулярно і, за законом жанру, у ваш найгірший момент. Поки модель одна, будь-яка її проблема — проблема всієї системи, і плану Б не існує навіть теоретично. Третя, про яку рідко попереджають, — несумісність у дрібницях. Провайдери «сумісні за стандартом», але розходяться в деталях: одне й те саме поле конфігурації один приймає, інший відкидає з помилкою. З практики: я бачив, як цілий канал ліг просто тому, що апстрім відхиляв поле, яке «мало бути валідним», — а клієнтський код слав його всім однаково. Хтось у ланцюгу має згладжувати ці розбіжності — і це точно не ваш прикладний код.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 уроку 1 у нас є головна межа архітектури: вирішує сервіс, виконує адаптер. Сьогодні ця межа вперше працює по-справжньому. LiteLLM-адаптер дає єдиний виклик до десятків провайдерів: ваш код каже «виклич модель X» — і не знає, що в X інший формат помилок, інша автентифікація чи інший ліміт на поля. Нормалізація цих розбіжностей — робота адаптера, і саме тому третя біда з попереднього блоку лікується конфігом, а не патчами по всьому коду. А от рішення, яку модель викликати, живе в сервісі — свідомо. LiteLLM уміє і роутити, і фейлитись сам, через свій конфіг. Ми це не вмикаємо, і це принципова позиція курсу, а не обмеження інструмента. Рішення — це код: його можна прочитати, протестувати, залогувати і пояснити на розборі інциденту. Конфіг стороннього інструмента — це рішення, яке ви орендуєте: воно працює, поки ви користуєтесь цим інструментом, і зникає з переходом на інший. Механізми переносяться, прапорці — ні. І типова помилка: побачити в документації адаптера розділ про routing і fallback — і перенести туди все. Через півроку ніхто в команді не може відповісти, чому запит пішов саме на цю модель: логіка розмазана між YAML, дефолтами інструмента і його версією.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Відкриймо конфіг gateway — gateway/litellm-config.yaml. Перший рядок коментаря задає тон: «тут лише список моделей і ключі». Ось робочий фрагмент тижня. mock-mini і mock-strong — обидві вказують на той самий mock-провайдер. Це не халтура, а навчальний прийом: механіка маршрутизації справжня — сервіс реально обирає між двома іменами, база реально показує розподіл, — а рахунок нульовий. Коли з'явиться реальний ключ, зміняться лише праві частини цього YAML. Дві дрібниці в litellm_settings варті окремого погляду. Перша: drop_params: true — адаптер мовчки відкидає поля, які конкретний провайдер не приймає. Це і є та сама страховка від «валідного поля, що кладе канал» з блоку 01. Друга: num_retries: 0 — адаптер не ретраїть збої сам: помилка долітає до сервісу, який вирішує, що з нею робити. Приховані ретраї — це рішення, які хтось ухвалює за вас і без сліду в лозі. Зверніть увагу, як обидва налаштування працюють на ту саму межу: нормалізацію робить адаптер, а рішення лишаються сервісу.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конфізі ви пишете назву моделі — і виглядає це як стабільна константа. Насправді назви бувають двох різних сортів, і різницю варто знати до першого сюрпризу. Alias — умовно «остання версія сімейства». Зручний тим, що ви автоматично отримуєте покращення, — і небезпечний тим самим: постачальник оновлює модель за цією назвою, і поведінка вашої системи змінюється без жодного вашого коміта. Snapshot — конкретна зафіксована версія з датою чи ідентифікатором. Вона не змінюється під вами, але й не оновлюється сама, і колись її виведуть з обігу. Для production-контуру правило однозначне: у конфізі стоїть snapshot, а оновлення до нового — окрема свідома зміна, яка проходить через ті самі перевірки якості, що й зміна промпта — уроки 10 і 11. Інакше ви отримуєте «регресію без коміта» з уроку 2, тільки цього разу винуватець узагалі поза вашою організацією: git чистий, промпт не змінювався, а відповіді інші. У нашому конфізі ви побачите саме alias'и — і це свідомо: реальний ключ у курсі опційний, механіку ми перевіряємо на mock, а поруч стоїть коментар із прикладом запіненого снапшота. Коли ваша система піде на справжнього провайдера, це перше, що варто змінити. І практичний наслідок для лога: у полі model має стояти те, що реально обслужило запит, включно з версією снапшота. «Gpt-подібна модель» у звіті через три місяці не скаже нічого, а «модель X, снапшот від дати Y» дозволяє порівняти два періоди.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Уся сьогоднішня «магія» в сервісі — одна функція і один рядок у /chat. Прочитаймо її як операційне рішення, а не як код. Перше: жорстка змінна MODEL зникла зі шляху рішення — вона лишилася тільки дефолтом для сценарію з реальним ключем. Друге: політика явна і вміщається в одне речення — «повернення, скарги і термінове йдуть на сильну модель, решта — на дешеву». Третє: обрана модель уже їде в лог — поле model пишеться з першого дня, тобто кожне рішення роутера — задокументована подія, яку можна порахувати. Так, це правила по ключових словах, і на проді ви швидко впретеся в їхні межі. Але зверніть увагу, що саме тут важливо: не спосіб класифікації, а те, що в системі з'явилася одна точка, де ухвалюється рішення про модель. Помінявши нутрощі Route(), ви не чіпаєте більше нічого.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Кілька наслідків цієї форми, які варто проговорити наперед. Перший рядок — if (def != "mock") return def. З одним реальним ключем роутер вироджується: щойно MODEL не «mock», функція одразу повертає задану модель, бо другої реальної моделі в конфізі просто немає. Це не «роутинг вимкнули» — це чесний стан контуру з одним провайдером. Повернути маршрутизацію на реальних моделях — це другий блок у YAML gateway і друга гілка в профіль. Тримайте це в голові до фінального уроку: там буде порада «поживіть тиждень на реальному ключі», і без другої моделі головний важіль вартості з уроку 4 на реальному ключі не працює. Далі: Route() — чиста функція, рядок на вході, ім'я моделі на виході. Її можна протестувати без стека, бази і навіть без mock: таблиця «повідомлення → очікувана модель» і десяток assert'ів. Це найдешевші тести курсу — і саме вони рятують, коли хтось «трохи поправить» маркери: зміна політики маршрутизації стає видимою в діфі тестів, а не в рахунку наприкінці місяця. Конфлікти: «дякую, але хочу повернути гроші» містить і подяку, і ескалацію — правило чесно відправить його на strong, бо ескалаційний маркер сильніший. І це правильний дефолт: помилка «переплатили за просте» дешевша за «зекономили на скарзі». І мова: маркери навмисно двомовні — «поверн», «refund». У проді словники розповзаються по мовах і синонімах — саме тоді класифікація інтенту з наступного щабля починає окупатися.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Куди Route() росте в дорослих системах? Три типові щаблі. Правила за ключовими словами — наш сьогоднішній рівень: дешево, прозоро, зрозуміло на розборі; ламається на перефразуваннях. Класифікація інтенту — маленька дешева модель першим кроком визначає тип задачі, і вже тип вирішує маршрут. Парадокс тільки на перший погляд: витратити копійку на класифікацію, щоб зекономити гривню на генерації. Маршрут за контекстом — тенант, фіча, пріоритет клієнта, ліміт бюджету: текст повідомлення — лише один із сигналів. З практики, щоб щаблі не здавалися теорією. В агентній системі, яку я супроводжую, всередині кожного запуску є допоміжна LLM-задача — спланувати пошук по пам'яті розмови. Довго вона їхала на тій самій моделі, що й основна відповідь, — поки окремим свідомим рішенням її не перевели на дешеву: якість планування не змінилася, а це був множник на кожен запуск. Мораль: маршрутизуйте не лише запити користувачів — службові виклики теж трафік, і часто найжирніший. Другий приклад: повідомлення з вкладеним зображенням має їхати на модель, яка вміє бачити, — маршрут за можливістю такий самий законний критерій, як за складністю. І новий вимір: сучасні моделі мають режим мислення — «думай довше за більші гроші». Вибір більше не бінарний: та сама модель у глибокому режимі коштує і триває в рази більше. Правило те саме: дешевий режим — дефолт, дорогий — за явним критерієм, і це рішення теж має лежати в одній точці й потрапляти в лог. Окрема порада: політика маршрутизації має існувати і в одному людському реченні поруч із кодом — код каже «як», речення каже «чому»; губиться зазвичай саме друге.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Маршрутизація виглядає як безкоштовна оптимізація: обрали дешевшу модель — заплатили менше. Але саме рішення теж має ціну, і на певному рівні складності воно починає з'їдати ту економію, за якою ви йшли. Правила і маркери в тексті — частки мілісекунди, нуль токенів: доречні, поки класів мало і вони описуються словником. Це наш випадок. Дешева модель-класифікатор — це додатковий виклик: своя латентність і свої токени. Доречна, коли словники розповзлися по мовах і синонімах, а класів більше трьох. Класифікація за схожістю, embeddings, — виклик за векторами плюс сховище й індекс: коли класів десятки і вони змінюються без релізу. Арифметика, яку варто зробити до впровадження другого рядка: якщо класифікатор додає, скажімо, 300 мс до кожного запиту, ви щойно погіршили latency всім користувачам — включно з тими, чиї запити й так ішли на дешеву модель. І якщо він коштує токенів, економія від правильного маршруту мусить перевищити вартість самого рішення — інакше ви побудували складність, яка платить сама собі. Звідси принцип: рішення про модель — теж виклик, теж латентність, теж гроші. Починайте з найдешевшого способу, який закриває поточні класи, і рухайтеся вгору лише тоді, коли зміряли, що дешевший більше не працює.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властивість, про яку згадують після першої скарги: маршрут має бути стабільним для користувача, а не для окремого запиту. Уявіть розмову, де перше питання пішло на сильну модель, друге — на дешеву, третє знову на сильну: людина бачить, як співрозмовник то розумніє, то тупіє, то міняє тон і довжину відповідей. Формально кожен окремий вибір був правильний. Сумарно — досвід зламаний. Лікування нехитре: якщо маршрут не диктується самою задачею — ескалація завжди їде на сильну модель, — тримайте його стабільним у межах сесії. Наприклад, обирайте за хешем ідентифікатора розмови, а не заново на кожну репліку. І зверніть увагу: це той самий механізм, який знадобиться для A/B промптів з уроку 2 і для canary з уроку 11. Стабільний вибір за ключем користувача — базова операція, яку варто написати один раз. Типова помилка тут — роутинг за випадковим числом, «щоб рівномірно розподілити». Рівномірність ви отримаєте, а разом із нею — систему, поведінка якої не відтворюється: та сама людина з тим самим питанням двічі отримує різні відповіді, і жодна скарга не діагностується. Випадковість у виборі моделі допустима лише там, де ви свідомо міряєте — експеримент, — і навіть там ключем має бути користувач, а не запит.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Найчастіше заперечення до цього уроку: «у нас один провайдер і одна модель, роутинг не про нас». Насправді роутинг — це не про вибір моделі, а про одну точку, де ухвалюється рішення про виклик. Модель — лише один із параметрів цього рішення, і навіть із однією моделлю обирати є що. Max_tokens: коротка відповідь на FAQ, довга на скаргу — стеля вартості на клас запиту, а не на всю систему. Temperature: мінімальна для довідкових відповідей, вища для формулювань — передбачуваність там, де вона потрібна. Версія промпта: ескалації — свій промпт, FAQ — свій; той самий реєстр з уроку 2, без нових механізмів. Набір інструментів: read-only для загальних питань, повний для авторизованих — менша поверхня для injection, урок 8. Бюджет часу: жорсткий таймаут для інтерактивних, вільніший для фонових — latency під очікування користувача, урок 7. І режим мислення: увімкнений лише для складних класів — найдорожчий параметр у сучасних API не для FAQ. Тобто Route() віддає не «назву моделі», а профіль виклику. Коли з'явиться друга модель, до профілю додасться ще одне поле — і жоден інший шар системи цього не помітить. Саме тому одна точка рішення важливіша за сам вибір: вона перетворює десяток розкиданих if-ів у структуру, в якій видно всі рішення разом. Мінімальний корисний роутер існує навіть при одній моделі: він розводить FAQ і скарги за довжиною відповіді й версією промпта — і вже цим економить гроші і прибирає «чому бот раптом розписався на три абзаци».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Поруч із питанням «куди йде запит» живе питання «хто підхопить, якщо основна модель впала». Це теж політика, і задається вона тим самим набором імен з конфіга. Для нашого стека природний порядок — mock-strong, потім mock-mini: у разі збою сильної моделі краще відповісти дешевшою, ніж не відповісти взагалі. Маленьке чесне попередження наперед: на mock резервного провайдера фізично немає, тож у коді тижня 4 роль резерву зіграє той самий mock — політика лишиться вашою, зміниться лише те, хто її втілює. Сьогодні ми цю чергу лише фіксуємо як рішення — записуємо поруч із роутером, обговорюємо з командою. Оживе вона на тижні 4, коли з'явиться механізм fallback і керовані збої. Порядок не випадковий: політика без механізму — це просто текст, але механізм без заздалегідь продуманої політики — це імпровізація під час інциденту, тобто найгірший момент для ухвалення рішень. І практична зв'язка: routing і fallback користуються одним словником імен з конфіга адаптера. Кожна зміна в наборі моделей — додали tier, перейменували, вивели з експлуатації — має пройти по обох списках одночасно. Ім'я, яке живе в роутері, але зникло з конфіга, — помилка на першому ж запиті; ім'я у fallback-черзі, якого ніхто не тестував, — помилка рівно в момент інциденту, коли вона найдорожча.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Перевірка, що архітектура зібрана правильно: скільки коштує підключити реального провайдера — наприклад, хмарний деплой тієї ж моделі? Відповідь — один блок у YAML. І, якщо хочемо пустити на нього трафік, — рядок у Route() або у fallback-порядку. Код виклику, парсинг відповіді, логування — не змінюються взагалі: для сервісу це просто ще одне ім'я моделі. Ключ, зверніть увагу, живе у змінних середовища gateway — рівно за принципом з уроку 1: секрети не перетинають межу адаптера. І лайфхак, який окупається при першому ж переїзді: називайте моделі в конфізі за роллю — mini, strong, — а не за вендором. Тоді «переїхати з провайдера А на провайдера Б» — це заміна правої частини YAML при незмінних іменах, і жоден рядок сервісу, лога чи дашборда не дізнається про переїзд.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 опційний блок — і він же опційна частина ДЗ тижня 2. Два маршрути — мінімум, з якого все починається; наступний природний крок — три рівні замість двох. FAQ-tier — типові питання: найдешевша модель або взагалі заготовлені відповіді. Standard-tier — звичайний діалог: робоча модель. Escalation-tier — скарги, повернення, юридично чутливе: найсильніша модель. Механічно це ще одна гілка в Route() і ще одне ім'я в конфізі — після сьогоднішнього уроку ви вмієте і те, і те. Змістовно — вправа на політику: де провести межі між рівнями і як сформулювати їх так, щоб рішення можна було захистити цифрами. Частка трафіку і вартість кожного tier — усе вже є в лозі. Почніть із розподілу SELECT model, count(*) за кілька днів: якщо 80% трафіку — три однакові питання, FAQ-tier окупається одразу.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перейти до екрана — що саме ви зараз побачите і навіщо. Послідовність така: спершу конфіг gateway — дві «моделі», mock-mini і mock-strong, на одному mock. Потім Route() у сервісі — та сама функція на десять рядків, точка рішення. Далі кілька питань обох типів: звичайні — «як скинути пароль» — і ескалації — «поверніть гроші, терміново». І нарешті розподіл у базі: SELECT model, count(*) FROM requests GROUP BY model — дві моделі, різні лічильники. Навіщо це все: побачити перший операційний доказ, що routing працює. Не «код написаний», а «трафік розведений» — різниця між цими двома формулюваннями і є темою сьогоднішнього уроку. [Ведучому: демо йде на бранчі еталона тижня 2; перед записом — down -v і свіжий up. Українські ескалації на Windows/Git Bash не вводити інлайном у curl — кирилиця манглиться навіть після chcp 65001, інтент не матчиться і роутер виглядає зламаним при здоровій системі: тіло з файлу (--data-binary @body.json) або чат в UI. Після up дочекатися готовності gateway (health-ендпоінт або ~30 с): до готовності запити падають тихо — status=0, нульові токени. Перший запит після up — повільний: зробити прогрівний запит службовим повідомленням поза демо. Порти 4200/8080/4000/5432 мають бути вільні; якщо ні — файл зсунутих портів у стартері.]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Крок перший: прочитати конфіг. Відкрити gateway/litellm-config.yaml, знайти mock-mini і mock-strong, переконатися, що обидві дивляться на той самий mock. Звернути увагу на drop_params і num_retries: 0 — і пояснити собі, навіщо вони. Крок другий: написати роутер. Додати Route(message) у сервіс: ескалаційні маркери — «поверн», «терміново», «скарг», «refund» — ідуть на mock-strong, решта — на mock-mini. Жорсткий MODEL лишити тільки як дефолт для реального ключа. Крок третій: побачити розподіл. Надіслати кілька звичайних питань і кілька ескалацій. Увага: українські ескалації на Windows/Git Bash шліть тілом із файлу — --data @body.json — або через чат в UI: інлайнова кирилиця в curl псується, маркери не спрацюють, і роутер виглядатиме зламаним, хоч він здоровий. Потім SELECT model, count(*) FROM requests GROUP BY model — дві моделі, різні лічильники. Це перший операційний доказ, що routing працює: не «код написаний», а «трафік розведений». Крок четвертий: додати «третього провайдера» на папері. Виписати YAML-блок для хмарного провайдера і місце, де він став би у fallback-порядку. Переконатися, що код сервісу не змінився б узагалі — у цьому й сенс адаптера. І опційний п'ятий: накидати tier-політику — сформулювати межі трьох рівнів для свого трафіку і прикинути по лозі, яка частка запитів впаде в кожен.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Зафіксуємо, що ми щойно побачили — і що це доводить. Перше: трафік реально розведений. SELECT model, count(*) показує дві моделі з різними лічильниками — це операційний доказ, а не «код написаний». Механіка маршрутизації справжня, навіть якщо обидва імені поки дивляться на той самий mock. Друге: рішення читається. Уся політика — в одній функції на десять рядків, і кожен її вибір — задокументована подія в лозі. Ви можете за хвилину пояснити, чому конкретний запит пішов на конкретну модель, — а це і був критерій з принципу уроку: інакше не маршрутизація, а лотерея з логами. Третє: розширення дешеве. «Третій провайдер» на папері зайняв один YAML-блок і жодного рядка коду сервісу — межа «сервіс вирішує, адаптер виконує» тримається не на словах, а на архітектурі. Разом ці три картинки — фундамент тижня: наступного уроку на це саме поле model ляже вартість кожного запиту, і розподіл трафіку перетвориться на розподіл грошей.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Перш ніж розійтися — чесна перевірка, без оцінок. Чотири пункти обов'язкової доріжки. Перший: routing розводить запити по двох моделях, і це видно в БД — не «я написав функцію», а «SELECT показує дві моделі з різними лічильниками». Другий: можу пояснити, чому рішення живе в сервісі, а виконання — в адаптері. Це головна межа архітектури, і сьогодні вона вперше запрацювала по-справжньому. Третій: можу пояснити, як додати реального провайдера без зміни коду сервісу — один блок у YAML, рядок у роутері, ключ у змінних середовища gateway. Четвертий: fallback-порядок сформульований і записаний — одним рядком, поруч із роутером. Він чекає на тиждень 4, коли з'явиться механізм. Якщо всі чотири пункти — «так», ви готові до наступного уроку. Де завагалися — туди і повертайтеся в матеріалі. Питання, які лишилися, — несіть у канал потоку або на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способи зіпсувати собі тиждень маршрутизації — всі перевірені чужими граблями. Топова модель на весь трафік «щоб напевно»: «напевно» коштує порядок грошей і не дає жодної гарантії якості на простих задачах — ми бачили це в першому блоці. Routing і fallback у конфізі gateway'я: воно працює — але ви збудували не механізм, а залежність від прапорців конкретного інструмента. Через півроку ніхто не пояснить, чому запит пішов саме туди. Слати всім провайдерам однаковий запит і дивуватися різним помилкам: провайдери «сумісні за стандартом», але розходяться в дрібницях. Нормалізація — робота адаптера; переконайтеся, що вона увімкнена, а не понадіялися на стандарт. І хардкод назв моделей по всьому коду: ім'я моделі має зустрічатися в сервісі один раз — у точці рішення. Все інше — розповзання політики по кодовій базі, і кожна зміна набору моделей перетворюється на пошук по всіх файлах.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Обов'язково — до наступного уроку, без здачі. Перше: закріпити лабу — роутер працює, SELECT model, count(*) FROM requests GROUP BY model показує дві моделі. Друге: переконатися, що жорстке ім'я моделі лишилося тільки в одному місці — у точці рішення. Третє: записати свій fallback-порядок одним рядком — він знадобиться на тижні 4. Опційно: сформулювати tier-політику на три рівні і оцінити по лозі частку трафіку кожного — це та сама вправа з опційного блоку уроку. І про ДЗ тижня: воно здається після наступного уроку. ДЗ тижня 2 об'єднує routing і cost: сьогоднішня частина вже у вас в руках, після уроку 4 додасться облік вартості — і тиждень здається одним PR. Критерії приймання будуть у файлі ДЗ після наступного уроку.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Дешеве — дешевій моделі, складне — сильній, і кожне рішення задокументоване: якщо ви не можете за хвилину пояснити, чому запит пішов на цю модель, у вас не маршрутизація, а лотерея з логами. Сервіс вирішує, адаптер виконує: політика маршрутизації — це код у Route(), який можна прочитати і протестувати, а нормалізація розбіжностей провайдерів — конфіг адаптера. Назва моделі — не константа: alias оновлюється під вами без вашого коміта, тому в production-конфізі стоїть snapshot, а оновлення — окрема свідома зміна. Route() віддає не назву моделі, а профіль виклику — і тому одна точка рішення важливіша за сам вибір: вона працює навіть тоді, коли модель одна. І fallback-порядок ви сьогодні оголосили й записали — механізм для нього з'явиться на тижні 4. Наступний урок — токеноміка і cost attribution. Routing розвів трафік по моделях — а скільки це коштує? Поки що поле cost_usd у лозі порожнє, і на питання «скільки коштує наш AI» система відповідає мовчанням. Розберемо, як рахувати вартість кожного запиту в момент запиту, оживимо плитку «Вартість сьогодні» і повісимо бюджет — щоб про перевитрату ви дізнавалися з консолі, а не з рахунку наприкінці місяця. До зустрічі.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9098280" y="1234440"/>
            <a:ext cx="2743200" cy="2743200"/>
          </a:xfrm>
          <a:prstGeom prst="roundRect">
            <a:avLst>
              <a:gd name="adj" fmla="val 5333"/>
            </a:avLst>
          </a:prstGeom>
          <a:ln w="12700">
            <a:solidFill>
              <a:srgbClr val="C9B8FB">
                <a:alpha val="24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482328" y="1618488"/>
            <a:ext cx="1975104" cy="1975104"/>
          </a:xfrm>
          <a:prstGeom prst="roundRect">
            <a:avLst>
              <a:gd name="adj" fmla="val 7407"/>
            </a:avLst>
          </a:prstGeom>
          <a:ln w="12700">
            <a:solidFill>
              <a:srgbClr val="C9B8FB">
                <a:alpha val="4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66376" y="2002536"/>
            <a:ext cx="1207008" cy="1207008"/>
          </a:xfrm>
          <a:prstGeom prst="roundRect">
            <a:avLst>
              <a:gd name="adj" fmla="val 12121"/>
            </a:avLst>
          </a:prstGeom>
          <a:ln w="12700">
            <a:solidFill>
              <a:srgbClr val="C9B8FB">
                <a:alpha val="6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3 З 12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Мультипровайдерний gateway</a:t>
            </a:r>
            <a:endParaRPr lang="en-US" sz="40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маршрутизація моделей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9B8F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жити. Сьогодні сервіс навчиться обирати модель під задачу, а додати провайдера коштуватиме рядків у YAML, а не рефакторингу.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12" name="Text 10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C9B8FB">
                <a:alpha val="6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Route()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роутер на десять рядків: ескалації — окремо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Пояснити межу ролей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 сервісі, виконання в адаптері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одним YAML-блоком, без зміни коду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Розрізнити alias і snapshot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 пояснити, чому модель пінять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6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Записати fallback-порядок</a:t>
            </a:r>
            <a:endParaRPr lang="en-US" sz="1450" dirty="0"/>
          </a:p>
        </p:txBody>
      </p:sp>
      <p:sp>
        <p:nvSpPr>
          <p:cNvPr id="32" name="Text 28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політика, що оживе на тижні 4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9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конфіга; alias vs snapshot</a:t>
            </a:r>
            <a:endParaRPr lang="en-US" sz="1450" dirty="0"/>
          </a:p>
        </p:txBody>
      </p:sp>
      <p:sp>
        <p:nvSpPr>
          <p:cNvPr id="19" name="Shape 15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7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одна точка рішення</a:t>
            </a:r>
            <a:endParaRPr lang="en-US" sz="1450" dirty="0"/>
          </a:p>
        </p:txBody>
      </p:sp>
      <p:sp>
        <p:nvSpPr>
          <p:cNvPr id="23" name="Shape 19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1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за задачею</a:t>
            </a:r>
            <a:endParaRPr lang="en-US" sz="1450" dirty="0"/>
          </a:p>
        </p:txBody>
      </p:sp>
      <p:sp>
        <p:nvSpPr>
          <p:cNvPr id="27" name="Shape 23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5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самого рішення</a:t>
            </a:r>
            <a:endParaRPr lang="en-US" sz="1450" dirty="0"/>
          </a:p>
        </p:txBody>
      </p:sp>
      <p:sp>
        <p:nvSpPr>
          <p:cNvPr id="31" name="Shape 27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29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як політика</a:t>
            </a:r>
            <a:endParaRPr lang="en-US" sz="1450" dirty="0"/>
          </a:p>
        </p:txBody>
      </p:sp>
      <p:sp>
        <p:nvSpPr>
          <p:cNvPr id="35" name="Shape 31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3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4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без коду</a:t>
            </a:r>
            <a:endParaRPr lang="en-US" sz="1450" dirty="0"/>
          </a:p>
        </p:txBody>
      </p:sp>
      <p:sp>
        <p:nvSpPr>
          <p:cNvPr id="39" name="Shape 35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8F0E2"/>
          </a:solidFill>
          <a:ln/>
        </p:spPr>
      </p:sp>
      <p:sp>
        <p:nvSpPr>
          <p:cNvPr id="40" name="Shape 36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41" name="Text 37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8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Tier-система · опційно</a:t>
            </a:r>
            <a:endParaRPr lang="en-US" sz="1450" dirty="0"/>
          </a:p>
        </p:txBody>
      </p:sp>
      <p:sp>
        <p:nvSpPr>
          <p:cNvPr id="43" name="Shape 39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1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2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3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5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6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7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«одна модель на все» — до розведеного трафіку, який видно в базі.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gateway-адаптер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єдиний вихід до провайдерів: виклик, ключі, згладжування API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роутер · Route()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в сервісі: повідомлення → ім'я моделі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alias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рухома назва «остання версія сімейства»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snapshot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зафіксована версія з датою чи ідентифікатором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fallback-порядок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оголошена черга моделей на випадок збою (механізм — W4)</a:t>
            </a:r>
            <a:endParaRPr lang="en-US" sz="1150" dirty="0"/>
          </a:p>
        </p:txBody>
      </p:sp>
      <p:sp>
        <p:nvSpPr>
          <p:cNvPr id="23" name="Shape 19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tier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рівень обслуговування: які питання яку модель отримують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розберемо на місці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біди однієї моделі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між дешевою і сильною на масовому трафіку — порядок вартості, не «трохи дорожче»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C62A2A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BE9E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62A2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Залежність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провайдер — одна точка відмови, яка вам не належить; плану Б не існує теоретично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37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8F0E2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Несумісність у дрібницях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2316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«сумісні за стандартом» провайдери розходяться в деталях полів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 ЦЕЙ ШАР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перший механізм тижня «гроші»: вона розводить трафік за задачами, і саме на ній тримається все, що рахуватимемо наступного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вирішує. Адаптер виконує.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5A05F4"/>
          </a:solidFill>
          <a:ln/>
        </p:spPr>
      </p:sp>
      <p:sp>
        <p:nvSpPr>
          <p:cNvPr id="9" name="Text 5"/>
          <p:cNvSpPr/>
          <p:nvPr/>
        </p:nvSpPr>
        <p:spPr>
          <a:xfrm>
            <a:off x="841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9C5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ВИРІШУЄ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41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41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ED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яку модель викликати — код, який можна прочитати, протестувати й залогувати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64592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556248" y="18105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1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ВИКОНУЄ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56248" y="2103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6556248" y="26060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формат помилок, автентифікація, ліміти на поля — нормалізує адаптер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E9F4EF"/>
          </a:solidFill>
          <a:ln/>
        </p:spPr>
      </p:sp>
      <p:sp>
        <p:nvSpPr>
          <p:cNvPr id="17" name="Text 13"/>
          <p:cNvSpPr/>
          <p:nvPr/>
        </p:nvSpPr>
        <p:spPr>
          <a:xfrm>
            <a:off x="786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786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— це код. Конфіг чужого інструмента — орендоване рішення.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281928" y="3611880"/>
            <a:ext cx="5349240" cy="1737360"/>
          </a:xfrm>
          <a:prstGeom prst="roundRect">
            <a:avLst>
              <a:gd name="adj" fmla="val 6316"/>
            </a:avLst>
          </a:prstGeom>
          <a:solidFill>
            <a:srgbClr val="FBE9E9"/>
          </a:solidFill>
          <a:ln/>
        </p:spPr>
      </p:sp>
      <p:sp>
        <p:nvSpPr>
          <p:cNvPr id="20" name="Text 16"/>
          <p:cNvSpPr/>
          <p:nvPr/>
        </p:nvSpPr>
        <p:spPr>
          <a:xfrm>
            <a:off x="6501384" y="3739896"/>
            <a:ext cx="4910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6501384" y="3995928"/>
            <a:ext cx="4910328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Віддати роутинг адаптеру: механізми переносяться, прапорці — ні.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Розтин конфіга: дві «моделі» на одному mock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6400800" cy="3200400"/>
          </a:xfrm>
          <a:prstGeom prst="roundRect">
            <a:avLst>
              <a:gd name="adj" fmla="val 3429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5961888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model_list: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http://mock-provider:9000/v1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той самий 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openai/mock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litellm_settings: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drop_params: true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num_retries: 0    </a:t>
            </a:r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збої йдуть у сервіс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7223760" y="169164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424928" y="184708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mock — навмисно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24928" y="237744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механіка роутингу справжня, рахунок нульовий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7223760" y="278892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E9F4EF"/>
          </a:solidFill>
          <a:ln/>
        </p:spPr>
      </p:sp>
      <p:sp>
        <p:nvSpPr>
          <p:cNvPr id="14" name="Text 10"/>
          <p:cNvSpPr/>
          <p:nvPr/>
        </p:nvSpPr>
        <p:spPr>
          <a:xfrm>
            <a:off x="7424928" y="294436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drop_params: true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7424928" y="347472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адаптер відкидає поля, яких провайдер не приймає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7223760" y="3886200"/>
            <a:ext cx="4407408" cy="1005840"/>
          </a:xfrm>
          <a:prstGeom prst="roundRect">
            <a:avLst>
              <a:gd name="adj" fmla="val 10909"/>
            </a:avLst>
          </a:prstGeom>
          <a:solidFill>
            <a:srgbClr val="F8F0E2"/>
          </a:solidFill>
          <a:ln/>
        </p:spPr>
      </p:sp>
      <p:sp>
        <p:nvSpPr>
          <p:cNvPr id="17" name="Text 13"/>
          <p:cNvSpPr/>
          <p:nvPr/>
        </p:nvSpPr>
        <p:spPr>
          <a:xfrm>
            <a:off x="7424928" y="4041648"/>
            <a:ext cx="4005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num_retries: 0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7424928" y="4572000"/>
            <a:ext cx="40050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збої долітають до сервісу — він вирішує, що робити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66928" y="51663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86384" y="5312664"/>
            <a:ext cx="10625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Реальний ключ змінить лише праві частини YAML — код сервісу не побачить різниці.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«Модель» за назвою — не та сама модель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F8F0E2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— «остання версія сімейства»</a:t>
            </a:r>
            <a:endParaRPr lang="en-US" sz="1450" dirty="0"/>
          </a:p>
        </p:txBody>
      </p:sp>
      <p:sp>
        <p:nvSpPr>
          <p:cNvPr id="10" name="Text 6"/>
          <p:cNvSpPr/>
          <p:nvPr/>
        </p:nvSpPr>
        <p:spPr>
          <a:xfrm>
            <a:off x="768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автоматично отримуєте покращення — і небезпечно тихі зміни поведінки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6281928" y="1737360"/>
            <a:ext cx="5349240" cy="1783080"/>
          </a:xfrm>
          <a:prstGeom prst="roundRect">
            <a:avLst>
              <a:gd name="adj" fmla="val 6154"/>
            </a:avLst>
          </a:prstGeom>
          <a:solidFill>
            <a:srgbClr val="E9F4EF"/>
          </a:solidFill>
          <a:ln/>
        </p:spPr>
      </p:sp>
      <p:sp>
        <p:nvSpPr>
          <p:cNvPr id="12" name="Text 8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Snapshot — зафіксована версія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6483096" y="2423160"/>
            <a:ext cx="4946904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змінюється під вами, але й не оновлюється сама — і колись її виведуть з обігу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66928" y="3749040"/>
            <a:ext cx="11064240" cy="1325880"/>
          </a:xfrm>
          <a:prstGeom prst="roundRect">
            <a:avLst>
              <a:gd name="adj" fmla="val 8276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877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786384" y="4133088"/>
            <a:ext cx="10625328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Той самий принцип, що з образами контейнерів: у прод не котять latest. Ми і gateway пінимо за digest'ом, а не за рухомим тегом.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66928" y="5257800"/>
            <a:ext cx="11064240" cy="621792"/>
          </a:xfrm>
          <a:prstGeom prst="roundRect">
            <a:avLst>
              <a:gd name="adj" fmla="val 17647"/>
            </a:avLst>
          </a:prstGeom>
          <a:solidFill>
            <a:srgbClr val="5A05F4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5404104"/>
            <a:ext cx="106253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Правило production: у конфізі — snapshot; оновлення версії — окрема свідома зміна.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Route(): роутер на десять рядків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691640"/>
            <a:ext cx="11064240" cy="2148840"/>
          </a:xfrm>
          <a:prstGeom prst="roundRect">
            <a:avLst>
              <a:gd name="adj" fmla="val 510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37944"/>
            <a:ext cx="10625328" cy="1856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routing: ескалація → сильна, решта → дешева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string Route(string message, string def)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(def != "mock") return def;   </a:t>
            </a:r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8A7FA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реальний ключ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var u = message.ToLowerInvariant();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bool escalation = u.Contains("поверн") || u.Contains("терміново")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|| u.Contains("refund")  || u.Contains("скарг");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escalation ? "mock-strong" : "mock-mini";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56692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2179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повідомлення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EFEAFE"/>
          </a:solidFill>
          <a:ln/>
        </p:spPr>
      </p:sp>
      <p:sp>
        <p:nvSpPr>
          <p:cNvPr id="15" name="Text 11"/>
          <p:cNvSpPr/>
          <p:nvPr/>
        </p:nvSpPr>
        <p:spPr>
          <a:xfrm>
            <a:off x="446227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маркери ескалації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452628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445770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416052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416052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512064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9F4EF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526694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 — лише дефолт: жорстке ім'я моделі зникло зі шляху рішення й лишилося в одному місці.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ще каже цей код — до того, як вкусить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9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0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128016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Чиста функція = дешеві тести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6809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рядок на вході, ім'я моделі на виході: десяток assert'ів без стека й бази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27024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47141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447141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98348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Конфлікти маркерів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447141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сумнів — на користь дорожчого: «дякую, але хочу повернути гроші» їде на strong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973568" y="173736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8F0E2"/>
          </a:solidFill>
          <a:ln/>
        </p:spPr>
      </p:sp>
      <p:sp>
        <p:nvSpPr>
          <p:cNvPr id="19" name="Shape 15"/>
          <p:cNvSpPr/>
          <p:nvPr/>
        </p:nvSpPr>
        <p:spPr>
          <a:xfrm>
            <a:off x="8174736" y="1920240"/>
            <a:ext cx="384048" cy="384048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817473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8F0E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686800" y="189280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двомовні</a:t>
            </a:r>
            <a:endParaRPr lang="en-US" sz="1450" dirty="0"/>
          </a:p>
        </p:txBody>
      </p:sp>
      <p:sp>
        <p:nvSpPr>
          <p:cNvPr id="22" name="Text 18"/>
          <p:cNvSpPr/>
          <p:nvPr/>
        </p:nvSpPr>
        <p:spPr>
          <a:xfrm>
            <a:off x="8174736" y="2423160"/>
            <a:ext cx="311810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«поверн» і «refund» навмисно: у проді словники розповзаються по мовах</a:t>
            </a:r>
            <a:endParaRPr lang="en-US" sz="1200" dirty="0"/>
          </a:p>
        </p:txBody>
      </p:sp>
      <p:sp>
        <p:nvSpPr>
          <p:cNvPr id="23" name="Shape 19"/>
          <p:cNvSpPr/>
          <p:nvPr/>
        </p:nvSpPr>
        <p:spPr>
          <a:xfrm>
            <a:off x="566928" y="397764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5A05F4"/>
          </a:solidFill>
          <a:ln/>
        </p:spPr>
      </p:sp>
      <p:sp>
        <p:nvSpPr>
          <p:cNvPr id="24" name="Text 20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 ОДНИМ РЕАЛЬНИМ КЛЮЧЕМ РОУТЕР ВИРОДЖУЄТЬСЯ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786384" y="4361688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Щойно MODEL не «mock», Route() повертає задану модель — другої в конфізі немає. Це чесний стан контуру з одним провайдером, а не «роутинг вимкнули».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— за задачею, не за текстом-в-лоб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83080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783080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Наш рівень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4548226" y="1783080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в тексті: дешево, прозоро, зрозуміло на розборі; ламається на перефразуванні</a:t>
            </a:r>
            <a:endParaRPr lang="en-US" sz="1150" dirty="0"/>
          </a:p>
        </p:txBody>
      </p:sp>
      <p:sp>
        <p:nvSpPr>
          <p:cNvPr id="11" name="Shape 7"/>
          <p:cNvSpPr/>
          <p:nvPr/>
        </p:nvSpPr>
        <p:spPr>
          <a:xfrm>
            <a:off x="566928" y="2752344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12" name="Text 8"/>
          <p:cNvSpPr/>
          <p:nvPr/>
        </p:nvSpPr>
        <p:spPr>
          <a:xfrm>
            <a:off x="786384" y="2752344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Доросліше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4548226" y="2752344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тенант, фіча, пріоритет клієнта, ліміт бюджету — текст лише один із сигналів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566928" y="3721608"/>
            <a:ext cx="11064240" cy="822960"/>
          </a:xfrm>
          <a:prstGeom prst="roundRect">
            <a:avLst>
              <a:gd name="adj" fmla="val 11111"/>
            </a:avLst>
          </a:prstGeom>
          <a:solidFill>
            <a:srgbClr val="F8F0E2"/>
          </a:solidFill>
          <a:ln/>
        </p:spPr>
      </p:sp>
      <p:sp>
        <p:nvSpPr>
          <p:cNvPr id="15" name="Text 11"/>
          <p:cNvSpPr/>
          <p:nvPr/>
        </p:nvSpPr>
        <p:spPr>
          <a:xfrm>
            <a:off x="786384" y="3721608"/>
            <a:ext cx="376184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Режим мислення</a:t>
            </a:r>
            <a:endParaRPr lang="en-US" sz="1350" dirty="0"/>
          </a:p>
        </p:txBody>
      </p:sp>
      <p:sp>
        <p:nvSpPr>
          <p:cNvPr id="16" name="Text 12"/>
          <p:cNvSpPr/>
          <p:nvPr/>
        </p:nvSpPr>
        <p:spPr>
          <a:xfrm>
            <a:off x="4548226" y="3721608"/>
            <a:ext cx="664037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та сама модель у глибокому режимі коштує в рази більше — вмикати за явним критерієм</a:t>
            </a:r>
            <a:endParaRPr lang="en-US" sz="1150" dirty="0"/>
          </a:p>
        </p:txBody>
      </p:sp>
      <p:sp>
        <p:nvSpPr>
          <p:cNvPr id="17" name="Shape 13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E9F4EF"/>
          </a:solidFill>
          <a:ln/>
        </p:spPr>
      </p:sp>
      <p:sp>
        <p:nvSpPr>
          <p:cNvPr id="18" name="Text 14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Дешеве — дешевій моделі, складне — сильній, рішення — задокументоване. Якщо не можете пояснити маршрут словами, у вас не політика, а випадковість.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коштує саме рішення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1148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спосіб вирішити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додає до кожного запиту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коли доречний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B8A5A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Правила / маркери в тексті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частки мілісекунди, нуль токенів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мало, описуються словником — наш випадок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F4E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Дешева модель-класифікатор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додатковий виклик: латентність і токени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словники розповзлися по мовах, класів більше трьох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Класифікація за схожістю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виклик за векторами + сховище й індекс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класів десятки і вони змінюються без релізу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206240"/>
            <a:ext cx="11064240" cy="1188720"/>
          </a:xfrm>
          <a:prstGeom prst="roundRect">
            <a:avLst>
              <a:gd name="adj" fmla="val 9231"/>
            </a:avLst>
          </a:prstGeom>
          <a:solidFill>
            <a:srgbClr val="5A05F4"/>
          </a:solidFill>
          <a:ln/>
        </p:spPr>
      </p:sp>
      <p:sp>
        <p:nvSpPr>
          <p:cNvPr id="10" name="Text 5"/>
          <p:cNvSpPr/>
          <p:nvPr/>
        </p:nvSpPr>
        <p:spPr>
          <a:xfrm>
            <a:off x="786384" y="4352544"/>
            <a:ext cx="106253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Арифметика проста: якщо рішення коштує дорожче за різницю між моделями — воно не окупається. Починайте з найдешевшого способу і ускладнюйте за сигналом.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користувач — один маршрут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9" name="Text 5"/>
          <p:cNvSpPr/>
          <p:nvPr/>
        </p:nvSpPr>
        <p:spPr>
          <a:xfrm>
            <a:off x="62179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1 → сильна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04164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416966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440740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8F0E2"/>
          </a:solidFill>
          <a:ln/>
        </p:spPr>
      </p:sp>
      <p:sp>
        <p:nvSpPr>
          <p:cNvPr id="13" name="Text 9"/>
          <p:cNvSpPr/>
          <p:nvPr/>
        </p:nvSpPr>
        <p:spPr>
          <a:xfrm>
            <a:off x="446227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2 → дешева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882128" y="228600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rot="5400000">
            <a:off x="8010144" y="221742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6" name="Shape 12"/>
          <p:cNvSpPr/>
          <p:nvPr/>
        </p:nvSpPr>
        <p:spPr>
          <a:xfrm>
            <a:off x="8247888" y="1920240"/>
            <a:ext cx="3383280" cy="731520"/>
          </a:xfrm>
          <a:prstGeom prst="roundRect">
            <a:avLst>
              <a:gd name="adj" fmla="val 12500"/>
            </a:avLst>
          </a:prstGeom>
          <a:solidFill>
            <a:srgbClr val="FBE9E9"/>
          </a:solidFill>
          <a:ln/>
        </p:spPr>
      </p:sp>
      <p:sp>
        <p:nvSpPr>
          <p:cNvPr id="17" name="Text 13"/>
          <p:cNvSpPr/>
          <p:nvPr/>
        </p:nvSpPr>
        <p:spPr>
          <a:xfrm>
            <a:off x="8302752" y="1920240"/>
            <a:ext cx="32735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питання 3 → сильна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66928" y="27889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співрозмовник у користувача змінюється посеред розмови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566928" y="3291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E9F4EF"/>
          </a:solidFill>
          <a:ln/>
        </p:spPr>
      </p:sp>
      <p:sp>
        <p:nvSpPr>
          <p:cNvPr id="20" name="Text 16"/>
          <p:cNvSpPr/>
          <p:nvPr/>
        </p:nvSpPr>
        <p:spPr>
          <a:xfrm>
            <a:off x="786384" y="3419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ЛІКУВАННЯ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786384" y="3675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 стабільний у межах сесії: вибір за хешем розмови, не на кожну репліку.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66928" y="4709160"/>
            <a:ext cx="11064240" cy="1143000"/>
          </a:xfrm>
          <a:prstGeom prst="roundRect">
            <a:avLst>
              <a:gd name="adj" fmla="val 9600"/>
            </a:avLst>
          </a:prstGeom>
          <a:solidFill>
            <a:srgbClr val="FBE9E9"/>
          </a:solidFill>
          <a:ln/>
        </p:spPr>
      </p:sp>
      <p:sp>
        <p:nvSpPr>
          <p:cNvPr id="23" name="Text 19"/>
          <p:cNvSpPr/>
          <p:nvPr/>
        </p:nvSpPr>
        <p:spPr>
          <a:xfrm>
            <a:off x="786384" y="483717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C62A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86384" y="5093208"/>
            <a:ext cx="1062532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числом: непередбачувано і невідтворювано.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«У нас одна модель» — усе одно є що маршрутизувати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110642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206240"/>
                <a:gridCol w="4297680"/>
              </a:tblGrid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маршрутизуємо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приклад рішення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rgbClr val="9AA1AD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що дає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5F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max_tokens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коротка відповідь на FAQ, довга на скаргу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стеля вартості на клас запиту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temperature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мінімальна для довідкових, вища для формулювань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передбачуваність там, де потрібна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Версія промпта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ескалації — свій промпт, FAQ — свій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той самий реєстр з уроку 2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Набір інструментів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read-only для загальних, повний для авторизованих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11318"/>
                          </a:solidFill>
                          <a:latin typeface="Montserrat" pitchFamily="34" charset="0"/>
                          <a:ea typeface="Montserrat" pitchFamily="34" charset="-122"/>
                          <a:cs typeface="Montserrat" pitchFamily="34" charset="-120"/>
                        </a:rPr>
                        <a:t>менша поверхня для injection</a:t>
                      </a:r>
                      <a:endParaRPr lang="en-US" sz="1150" dirty="0">
                        <a:latin typeface="Montserrat" charset="0"/>
                        <a:ea typeface="Montserrat" charset="0"/>
                        <a:cs typeface="Montserrat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7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566928" y="4937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86384" y="5084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про кількість провайдерів, а про те, що рішення про виклик ухвалюється свідомо.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Fallback-порядок: політика, яку сьогодні оголосимо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93852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FEAFE"/>
          </a:solidFill>
          <a:ln/>
        </p:spPr>
      </p:sp>
      <p:sp>
        <p:nvSpPr>
          <p:cNvPr id="9" name="Text 5"/>
          <p:cNvSpPr/>
          <p:nvPr/>
        </p:nvSpPr>
        <p:spPr>
          <a:xfrm>
            <a:off x="199339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mock-strong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6053328" y="2423160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rot="5400000">
            <a:off x="6181344" y="2354580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2" name="Shape 8"/>
          <p:cNvSpPr/>
          <p:nvPr/>
        </p:nvSpPr>
        <p:spPr>
          <a:xfrm>
            <a:off x="6419088" y="2011680"/>
            <a:ext cx="4023360" cy="822960"/>
          </a:xfrm>
          <a:prstGeom prst="roundRect">
            <a:avLst>
              <a:gd name="adj" fmla="val 11111"/>
            </a:avLst>
          </a:prstGeom>
          <a:solidFill>
            <a:srgbClr val="E9F4EF"/>
          </a:solidFill>
          <a:ln/>
        </p:spPr>
      </p:sp>
      <p:sp>
        <p:nvSpPr>
          <p:cNvPr id="13" name="Text 9"/>
          <p:cNvSpPr/>
          <p:nvPr/>
        </p:nvSpPr>
        <p:spPr>
          <a:xfrm>
            <a:off x="6473952" y="2011680"/>
            <a:ext cx="39136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mock-mini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566928" y="301752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разі збою сильної — краще відповісти дешевшою, ніж не відповісти взагалі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566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FEAFE"/>
          </a:solidFill>
          <a:ln/>
        </p:spPr>
      </p:sp>
      <p:sp>
        <p:nvSpPr>
          <p:cNvPr id="16" name="Text 12"/>
          <p:cNvSpPr/>
          <p:nvPr/>
        </p:nvSpPr>
        <p:spPr>
          <a:xfrm>
            <a:off x="768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Сьогодні рішення, на W4 механізм</a:t>
            </a:r>
            <a:endParaRPr lang="en-US" sz="1450" dirty="0"/>
          </a:p>
        </p:txBody>
      </p:sp>
      <p:sp>
        <p:nvSpPr>
          <p:cNvPr id="17" name="Text 13"/>
          <p:cNvSpPr/>
          <p:nvPr/>
        </p:nvSpPr>
        <p:spPr>
          <a:xfrm>
            <a:off x="768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чергу фіксуємо поруч із роутером і обговорюємо з командою: політика без механізму — текст, механізм без політики — імпровізація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281928" y="3611880"/>
            <a:ext cx="5349240" cy="1691640"/>
          </a:xfrm>
          <a:prstGeom prst="roundRect">
            <a:avLst>
              <a:gd name="adj" fmla="val 6486"/>
            </a:avLst>
          </a:prstGeom>
          <a:solidFill>
            <a:srgbClr val="E9F4EF"/>
          </a:solidFill>
          <a:ln/>
        </p:spPr>
      </p:sp>
      <p:sp>
        <p:nvSpPr>
          <p:cNvPr id="19" name="Text 15"/>
          <p:cNvSpPr/>
          <p:nvPr/>
        </p:nvSpPr>
        <p:spPr>
          <a:xfrm>
            <a:off x="6483096" y="37673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Один словник імен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6483096" y="4297680"/>
            <a:ext cx="4946904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і fallback читають той самий конфіг: ім'я поза конфігом — джерело нічних сюрпризів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провайдера — без зміни коду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193140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193140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F5F4FA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model_name: </a:t>
            </a:r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7724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azure-gpt-4o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litellm_params: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model: azure/gpt-4o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api_base: os.environ/AZURE_API_BASE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3262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api_key:  os.environ/AZURE_API_KEY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6692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9F4EF"/>
          </a:solidFill>
          <a:ln/>
        </p:spPr>
      </p:sp>
      <p:sp>
        <p:nvSpPr>
          <p:cNvPr id="11" name="Text 7"/>
          <p:cNvSpPr/>
          <p:nvPr/>
        </p:nvSpPr>
        <p:spPr>
          <a:xfrm>
            <a:off x="62179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B8A5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блок у YAML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04164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5400000">
            <a:off x="416966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4" name="Shape 10"/>
          <p:cNvSpPr/>
          <p:nvPr/>
        </p:nvSpPr>
        <p:spPr>
          <a:xfrm>
            <a:off x="440740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46227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113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рядок у Route()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7882128" y="4151376"/>
            <a:ext cx="164592" cy="0"/>
          </a:xfrm>
          <a:prstGeom prst="line">
            <a:avLst/>
          </a:prstGeom>
          <a:noFill/>
          <a:ln w="15875">
            <a:solidFill>
              <a:srgbClr val="C9B8FB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5400000">
            <a:off x="8010144" y="4082796"/>
            <a:ext cx="146304" cy="137160"/>
          </a:xfrm>
          <a:prstGeom prst="triangle">
            <a:avLst/>
          </a:prstGeom>
          <a:solidFill>
            <a:srgbClr val="C9B8FB"/>
          </a:solidFill>
          <a:ln/>
        </p:spPr>
      </p:sp>
      <p:sp>
        <p:nvSpPr>
          <p:cNvPr id="18" name="Shape 14"/>
          <p:cNvSpPr/>
          <p:nvPr/>
        </p:nvSpPr>
        <p:spPr>
          <a:xfrm>
            <a:off x="8247888" y="3794760"/>
            <a:ext cx="3383280" cy="713232"/>
          </a:xfrm>
          <a:prstGeom prst="roundRect">
            <a:avLst>
              <a:gd name="adj" fmla="val 12821"/>
            </a:avLst>
          </a:prstGeom>
          <a:solidFill>
            <a:srgbClr val="EFEAFE"/>
          </a:solidFill>
          <a:ln/>
        </p:spPr>
      </p:sp>
      <p:sp>
        <p:nvSpPr>
          <p:cNvPr id="19" name="Text 15"/>
          <p:cNvSpPr/>
          <p:nvPr/>
        </p:nvSpPr>
        <p:spPr>
          <a:xfrm>
            <a:off x="8302752" y="3794760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код виклику не змінився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566928" y="475488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8F0E2"/>
          </a:solidFill>
          <a:ln/>
        </p:spPr>
      </p:sp>
      <p:sp>
        <p:nvSpPr>
          <p:cNvPr id="21" name="Text 17"/>
          <p:cNvSpPr/>
          <p:nvPr/>
        </p:nvSpPr>
        <p:spPr>
          <a:xfrm>
            <a:off x="786384" y="488289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ЛАЙФХАК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786384" y="513892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Називайте моделі за роллю, а не за брендом: mock-mini, mock-strong. Тоді заміна провайдера — правка конфіга, а не пошук імені по всьому коду.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Третій маршрут: tier-система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167128" y="1024128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8F0E2"/>
          </a:solidFill>
          <a:ln/>
        </p:spPr>
      </p:sp>
      <p:sp>
        <p:nvSpPr>
          <p:cNvPr id="7" name="Text 5"/>
          <p:cNvSpPr/>
          <p:nvPr/>
        </p:nvSpPr>
        <p:spPr>
          <a:xfrm>
            <a:off x="2167128" y="1024128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9A5B1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76809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2" name="Text 8"/>
          <p:cNvSpPr/>
          <p:nvPr/>
        </p:nvSpPr>
        <p:spPr>
          <a:xfrm>
            <a:off x="76809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128016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FAQ-tier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76809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типові питання: найдешевша модель або заготовлені відповіді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427024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16" name="Shape 12"/>
          <p:cNvSpPr/>
          <p:nvPr/>
        </p:nvSpPr>
        <p:spPr>
          <a:xfrm>
            <a:off x="447141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447141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98348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Standard-tier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447141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звичайний діалог: робоча модель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7973568" y="1828800"/>
            <a:ext cx="3520440" cy="1600200"/>
          </a:xfrm>
          <a:prstGeom prst="roundRect">
            <a:avLst>
              <a:gd name="adj" fmla="val 6857"/>
            </a:avLst>
          </a:prstGeom>
          <a:solidFill>
            <a:srgbClr val="EFEAFE"/>
          </a:solidFill>
          <a:ln/>
        </p:spPr>
      </p:sp>
      <p:sp>
        <p:nvSpPr>
          <p:cNvPr id="21" name="Shape 17"/>
          <p:cNvSpPr/>
          <p:nvPr/>
        </p:nvSpPr>
        <p:spPr>
          <a:xfrm>
            <a:off x="8174736" y="20116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2" name="Text 18"/>
          <p:cNvSpPr/>
          <p:nvPr/>
        </p:nvSpPr>
        <p:spPr>
          <a:xfrm>
            <a:off x="8174736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FEAF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686800" y="19842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Escalation-tier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8174736" y="2514600"/>
            <a:ext cx="31181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скарги, повернення, юридично чутливе: найсильніша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66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768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Механічно — дешево</a:t>
            </a:r>
            <a:endParaRPr lang="en-US" sz="1450" dirty="0"/>
          </a:p>
        </p:txBody>
      </p:sp>
      <p:sp>
        <p:nvSpPr>
          <p:cNvPr id="27" name="Text 23"/>
          <p:cNvSpPr/>
          <p:nvPr/>
        </p:nvSpPr>
        <p:spPr>
          <a:xfrm>
            <a:off x="768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ще одна гілка в Route() і ще одне ім'я в конфізі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281928" y="37490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8F0E2"/>
          </a:solidFill>
          <a:ln/>
        </p:spPr>
      </p:sp>
      <p:sp>
        <p:nvSpPr>
          <p:cNvPr id="29" name="Text 25"/>
          <p:cNvSpPr/>
          <p:nvPr/>
        </p:nvSpPr>
        <p:spPr>
          <a:xfrm>
            <a:off x="6483096" y="39044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Змістовно — вправа на політику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6483096" y="4434840"/>
            <a:ext cx="4946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межі між рівнями і як захистити рішення цифрами з лога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8" name="Shape 4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9" name="Text 5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конфіг gateway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 — дві «моделі» на одному mock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3" name="Shape 9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4" name="Text 10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у сервісі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точка рішення на десять рядків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18" name="Shape 14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19" name="Text 15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21" name="Text 17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звичайні + ескалації («поверніть гроші, терміново»)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E9F4EF"/>
          </a:solidFill>
          <a:ln/>
        </p:spPr>
      </p:sp>
      <p:sp>
        <p:nvSpPr>
          <p:cNvPr id="23" name="Shape 19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1B8A5A"/>
          </a:solidFill>
          <a:ln/>
        </p:spPr>
      </p:sp>
      <p:sp>
        <p:nvSpPr>
          <p:cNvPr id="24" name="Text 20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E9F4E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розподіл у БД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count(*) FROM requests GROUP BY model</a:t>
            </a:r>
            <a:endParaRPr lang="en-US" sz="1200" dirty="0"/>
          </a:p>
        </p:txBody>
      </p:sp>
      <p:sp>
        <p:nvSpPr>
          <p:cNvPr id="27" name="Shape 23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4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перший операційний доказ, що routing працює: не «код написаний», а «трафік розведений». Різниця між цими формулюваннями і є темою уроку.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4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Прочитати конфіг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gateway/litellm-config.yaml: mock-mini і mock-strong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Написати роутер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маркери → mock-strong, решта → mock-mini; MODEL лише дефолт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0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розподіл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 → SELECT model, count(*) GROUP BY model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3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Додати «третього» на папері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YAML-блок + місце у fallback-порядку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9A5B12"/>
          </a:solidFill>
          <a:ln/>
        </p:spPr>
      </p:sp>
      <p:sp>
        <p:nvSpPr>
          <p:cNvPr id="20" name="Text 16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Tier-політика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межі рівнів + частка трафіку кожного з лога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9F4EF"/>
          </a:solidFill>
          <a:ln/>
        </p:spPr>
      </p:sp>
      <p:sp>
        <p:nvSpPr>
          <p:cNvPr id="8" name="Text 4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8A5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дві моделі, різні лічильники — доказ, а не «код написаний»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EFEAFE"/>
          </a:solidFill>
          <a:ln/>
        </p:spPr>
      </p:sp>
      <p:sp>
        <p:nvSpPr>
          <p:cNvPr id="11" name="Text 7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читається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уся політика в одній функції; кожен вибір — подія в лозі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Розширення дешеве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«третій провайдер» = один YAML-блок і нуль рядків коду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Це фундамент тижня «Routing + cost»: наступного уроку на те саме поле model ляже вартість кожного запиту — і розподіл трафіку стане розподілом грошей.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6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7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0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1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рішення в сервісі, а не в адаптері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4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5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додам провайдера, не чіпаючи код сервісу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EFEAFE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8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19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мій fallback-порядок записаний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A1A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9A5B12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9" name="Shape 5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0" name="Shape 6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1" name="Text 7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про модель — у конфізі адаптера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прапорці не переносяться між інструментами, механізми — так</a:t>
            </a:r>
            <a:endParaRPr lang="en-US" sz="1350" dirty="0"/>
          </a:p>
        </p:txBody>
      </p:sp>
      <p:sp>
        <p:nvSpPr>
          <p:cNvPr id="12" name="Shape 8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4" name="Shape 10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5" name="Shape 11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16" name="Text 12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Жорстке ім'я моделі по всьому коду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заміна провайдера перетворюється на пошук рядків</a:t>
            </a:r>
            <a:endParaRPr lang="en-US" sz="1350" dirty="0"/>
          </a:p>
        </p:txBody>
      </p:sp>
      <p:sp>
        <p:nvSpPr>
          <p:cNvPr id="17" name="Shape 13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19" name="Shape 15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0" name="Shape 16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1" name="Text 17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Роутинг за випадковим числом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непередбачувано для користувача, невідтворювано для вас</a:t>
            </a:r>
            <a:endParaRPr lang="en-US" sz="1350" dirty="0"/>
          </a:p>
        </p:txBody>
      </p:sp>
      <p:sp>
        <p:nvSpPr>
          <p:cNvPr id="22" name="Shape 18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BE9E9"/>
          </a:solidFill>
          <a:ln/>
        </p:spPr>
      </p:sp>
      <p:sp>
        <p:nvSpPr>
          <p:cNvPr id="24" name="Shape 20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5" name="Shape 21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C62A2A"/>
          </a:solidFill>
          <a:ln/>
        </p:spPr>
      </p:sp>
      <p:sp>
        <p:nvSpPr>
          <p:cNvPr id="26" name="Text 22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Alias у проді   </a:t>
            </a:r>
            <a:pPr indent="0" marL="0"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модель оновлюється під вами без жодної вашої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1B8A5A"/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254496"/>
            <a:ext cx="1481328" cy="4572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566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6E7EC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— без здачі</a:t>
            </a:r>
            <a:endParaRPr lang="en-US" sz="1450" dirty="0"/>
          </a:p>
        </p:txBody>
      </p:sp>
      <p:sp>
        <p:nvSpPr>
          <p:cNvPr id="9" name="Text 5"/>
          <p:cNvSpPr/>
          <p:nvPr/>
        </p:nvSpPr>
        <p:spPr>
          <a:xfrm>
            <a:off x="768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роутер працює: GROUP BY model показує дві моделі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жорстке ім'я моделі лишилося тільки в точці рішення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55B66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записати свій fallback-порядок — знадобиться на тижні 4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281928" y="1737360"/>
            <a:ext cx="5349240" cy="2194560"/>
          </a:xfrm>
          <a:prstGeom prst="roundRect">
            <a:avLst>
              <a:gd name="adj" fmla="val 5000"/>
            </a:avLst>
          </a:prstGeom>
          <a:solidFill>
            <a:srgbClr val="F8F0E2"/>
          </a:solidFill>
          <a:ln/>
        </p:spPr>
      </p:sp>
      <p:sp>
        <p:nvSpPr>
          <p:cNvPr id="11" name="Text 7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9A5B1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6483096" y="2423160"/>
            <a:ext cx="494690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сформулювати tier-політику на три рівні і оцінити по лозі частку трафіку кожного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66928" y="4206240"/>
            <a:ext cx="11064240" cy="1463040"/>
          </a:xfrm>
          <a:prstGeom prst="roundRect">
            <a:avLst>
              <a:gd name="adj" fmla="val 875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41248" y="4389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ДЗ тижня 2 — після наступного уроку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841248" y="4800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Воно об'єднує routing і cost: сьогоднішня частина вже у вас в руках, після уроку 4 додасться облік вартості — і тиждень здається одним PR. Критерії — у файлі ДЗ після наступного уроку.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3737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9AA1AD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0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B8F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3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одна модель на все — найдорожчий і найкрихкіший спосіб жити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сервіс вирішує, адаптер виконує: рішення — код, а не прапорець у чужому конфізі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Route() — одна точка рішення; MODEL лишається тільки дефолтом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маршрутизувати можна навіть з однією моделлю: max_tokens, temperature, промпт, інструменти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fallback-порядок оголошуємо сьогодні — механізм з'явиться на тижні 4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4 · Токеноміка і cost attribution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1131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Трафік розведений — тепер порахуємо, скільки він коштує. Наступного уроку на поле model ляже вартість кожного запиту: звідки беруться цифри, чому «звернення» дорожче за «виклик» і як за три GROUP BY знайти, куди пішов бюджет.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3 · Мультипровайдерний gateway і маршрутизація моделей</dc:title>
  <dc:subject>PptxGenJS Presentation</dc:subject>
  <dc:creator>LLMOps Bootcamp</dc:creator>
  <cp:lastModifiedBy>LLMOps Bootcamp</cp:lastModifiedBy>
  <cp:revision>1</cp:revision>
  <dcterms:created xsi:type="dcterms:W3CDTF">2026-08-15T07:48:34Z</dcterms:created>
  <dcterms:modified xsi:type="dcterms:W3CDTF">2026-08-15T07:48:34Z</dcterms:modified>
</cp:coreProperties>
</file>