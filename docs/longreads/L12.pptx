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Вітаю на дванадцятому, фінальному уроці курсу. Шість тижнів тому у вас було три рядки коду і чотири питання без відповідей — гроші, надійність, якість, видимість. Сьогодні у вас production-контур: routing, cost-облік, кеш, інструменти з HITL, fallback із деградацією, guardrail на межі, повна спостережуваність і eval-гейт у CI. Цей урок не додає жодної нової фічі — і це свідомо. Системами не користуються, ними володіють, і різниця проявляється у два моменти: коли щось ламається — руки знають ранбук чи гуглять? — і коли треба захистити бюджет — є KPI-мова чи тільки терміни? Обидва моменти настануть, тому сьогодні готуємось саме до них. Три вміння на сьогодні: прогнати все наскрізь із чистого клону, відпрацювати інцидент за ранбуком і розповісти про систему через наслідки, а не технології. Починаємо фінал.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Домовимось про результат фінального уроку — діями, як завжди. Після сьогоднішнього заняття ви зможете: прогнати свою систему наскрізь із чистого клону — docker compose up --build і повний сценарій без підглядань у нотатки; відпрацювати інцидент за ранбуком — виявити, підтвердити по плитках, дати автоматиці спрацювати і переконатися, що відпустило; зафіксувати таймлайн інциденту у форматі постмортема — механізмами, а не прізвищами; перекласти кожну плитку консолі KPI-мовою — що це число означає для грошей, користувачів і ризику; скласти 30-day rollout для своєї команди — лог, реєстр, evals, гейт, по шару на тиждень; і обрати наступний шар складності за виміряним сигналом із власних метрик, а не за модою. Кожен пункт сьогодні перевіряється руками у фінальній лабі — а перші чотири ще й лягають у ДЗ тижня, яке і є вашим зібраним капстоуном.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Маршрут фіналу такий. Спершу — де ми опинилися: від трьох рядків коду до контуру, і три вміння, які відрізняють «зробив курсовий» від «володію системою». Далі точка Б — наскрізний сценарій, де кожна ланка відсилає до конкретного уроку: зручна самодіагностика перед фінальним ДЗ. Потім найбільший блок — incident runbook: формат із чотирьох тактів, правило контрольного питання і живий інцидент із таймлайном — ваш перший постмортем із нульовими ставками. Друга половина — про життя після курсу: KPI-мова, за яку дають бюджет; 30-day rollout для вашої команди; опційно — зовнішні дашборди; сигнали, за якими додається наступний шар; що станеться з системою через рік і що свідомо лишилося за дужками. Завершуємо фінальною лабою — прогін, інцидент, KPI-огляд, свій план — і антипатернами фіналу.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Шість тижнів тому у вас було три рядки коду, які викликають модель, — і чотири питання без відповідей: гроші, надійність, якість, видимість. Сьогодні у вас production-контур: routing, cost-облік, кеш, інструменти з HITL, fallback із деградацією — і circuit breaker для тих, хто пішов у опційну доріжку, — мінімальний guardrail на межі з маскуванням PII, повна спостережуваність, eval-гейт у CI. Це і був план — точка Б з першого уроку, до якої ми йшли по шару на урок. Фінальний урок — про три вміння, які відрізняють «зробив курсовий проєкт» від «володію системою». Перше: прогнати все наскрізь — упевнено, відтворювано, з чистого клону, без «зараз, тут треба ще одну змінну». Друге: відпрацювати інцидент за ранбуком — виявити, деградувати, відновити, зафіксувати. Третє: розповісти про систему через наслідки для грошей, користувачів і ризику, а не через список технологій. Чому це не «зайвий» урок: системами не користуються — ними володіють. Різниця проявляється, коли щось ламається і коли треба захистити бюджет. Обидва моменти настануть — готуємось сьогодні.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Ось повний шлях, який має проходити ваша система — без зупинок і підглядань у нотатки. Питання приходить у чат, routing обирає модель, кеш або віддає готове, або пропускає далі; відповідь повертається разом із версією промпта, все лягає в лог, а консоль показує долари, p95 і cache-hit. Друга гілка — складніші сценарії: «поверніть гроші» створює заявку в /approvals, approve перетворює її на тікет; __fail_503 запускає fallback, заглушку і відновлення; PR з промптом проходить гейт. Кожна ланка цього ланцюга — конкретний урок курсу: registry — урок 2, routing — 3, вартість — 4, кеш — 5, інструменти — 6, fallback — 7, HITL — 8, консоль — 9, evals — 10, гейт — 11. Це зручна самодіагностика перед фінальним ДЗ: пройдіть сценарій і відмітьте, де спіткнулися, — номер уроку обчислюється автоматично. Ще є час підтягнути. І згадайте картинку з першої лаби: той самий екран, але консоль показує «—», а __fail_503 кладе розмову без плану Б. Точка А і точка Б — буквально два скріншоти одного інтерфейсу. Різниця — не в UI і не в моделі: різниця — це контур керування, який ви написали власноруч. Потримайте обидва скріншоти поруч — це найчесніший підсумок шести тижнів.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Артефакт цього блоку — INCIDENT_RUNBOOK.md у корені вашого проєкту; в еталоні тижня він уже лежить як приклад. Головна його якість не в змісті, а у форматі. Runbook — це не опис архітектури і не роздуми про надійність. Це сценарій із чотирьох тактів на кожен симптом. Симптом: що видно? Скарги «бот вибачається», error rate росте. Підтвердити: яка плитка, який лог? На /observability fallback_events росте, у лозі — статуси 503. Дія: що робити? І тут найцікавіше — нічого руками: fallback і деградація вже працюють, треба стежити. Переконатися: як зрозуміти, що відпустило? Нове питання, якого не може бути в кеші, відповідає; fallback перестав рости. Зверніть увагу на третій такт: у добре збудованій системі найчастіша «дія» під час інциденту — переконатися, що автоматика відпрацювала, і не заважати. Руки потрібні там, де автоматики немає: rollback поганого промпта однією командою з уроку 2, вимкнення фічі, комунікація. І принцип, який вартий окремого запам'ятовування: runbook, який жодного разу не проганяли руками, — це література, а не інструмент. Цінність створюється не написанням, а прогоном: саме там з'ясовується, що плитка називається інакше, команда вимагає інших прав, а «очевидний» крок неочевидний о третій ночі.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Кілька правил, без яких runbook перетворюється на самообман. Перше — про такт «Переконатися»: контрольне питання має бути новим, якого в кеші бути не може, — або перед перевіркою скиньте кеш. Питання, з якого починався сценарій, уже лежить у кеші — і «відновлення» зеленіє посеред інциденту: відповідь приходить із latency_ms нуль при усе ще відкритому breaker'і. Відрізнити «провайдер піднявся» від «кеш віддав старе» найпростіше по лозі: у кеш-хіта latency_ms і токени — нуль-нуль. Друге — формат має масштабуватися. Пропишіть тими самими чотирма тактами другий клас інциденту: «якість просіла». Симптом — скарги «бот верзе дурниці» при зелених HTTP-метриках. Підтвердити — prompt_version у свіжих рядках лога і локальний прогін evals. Дія — rollback на попередню версію однією командою. Переконатися — прогін зелений, скарги стихають. Той самий скелет, інші плитки. Третій клас — «вартість тече» — ви вже вмієте розслідувати трьома запитами з уроку 4; допишіть його тактами самостійно, це п'ять хвилин. Третє — патерн для автоматики, яка робить незворотне: перший реліз виходить у режимі dry-run — проходить повний цикл, але замість дій пише звіт «що я б зробила». Кілька днів читаєте звіти — і лише тоді знімаєте запобіжник. Це та сама драбина довіри, що й HITL з уроку 8. Скрипт зачистки, запущений одразу «по-бойовому», відрізняється від інциденту лише везінням. І дві дрібниці про сам документ: він живе в репозиторії — змінюється система, у тому ж PR змінюється runbook, і гейт гарантує, що команди досі працюють; і він написаний для того, хто нічого не пам'ятає, — команди повністю, назви плиток точні. Читач ранбука — ви самі під адреналіном, найгірший читач із можливих.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Наш навчальний інцидент повністю відтворюваний — mock падає на замовлення, і це остання суперсила, якою ми користуємось. Дивіться на таймлайн. 10:00 — норма: «Як скинути пароль?» дає нормальну відповідь. 10:02 — інцидент: __fail_503, спроби провайдера падають, користувач бачить ввічливу заглушку, а не 500; на /observability ростуть fallback_events і error rate. 10:05, для опційної доріжки: circuit відкрився, запити не чекають таймаутів, half-open пробує провайдера кожні приблизно п'ять секунд. 10:08 — відновлення: нове питання, якого немає в кеші, дає нормальну відповідь — питання з 10:00 уже в кеші і «зеленіє» навіть під час збою; fallback перестав рости, інцидент закритий. 10:09 — гігієна: скинути кеш, якщо в період збою могли записатися заглушки, — обіцянка з уроку 5, виконуємо. Фіксуйте таймлайн так, як робили б у постмортемі: коли почалося, як виявили, що бачив користувач, коли відпустило. На нашому «інциденті» це виглядає грою — але саме ця гра ставить руки; формат реального постмортема нічим не відрізняється, лише цифри більші і нервів більше. І два питання, які перетворюють хроніку на постмортем. «Що ми зробимо, щоб це не повторилося?» — відповіддю має бути механізм або кейс у датасеті, а не «будемо уважнішими». І «як ми дізналися про інцидент?» — якщо відповідь «зі скарг», у спостережуваності діра: інцидент такого класу має спершу з'являтися на консолі.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«Ми використовуємо circuit breaker з half-open probe» — нікому поза командою не цікаво. Це чесна, точна і абсолютно марна фраза для розмови з тими, хто вирішує про бюджет. Перекладаємо кожну плитку консолі бізнес-мовою. Fallback з деградацією — падіння провайдера користувач не помічає. Cache-hit тридцять відсотків — третина запитів безкоштовні й миттєві. Routing mini/strong — дорога модель дістається тільки складним задачам, вартість запиту керована. Eval-гейт у CI — регресія якості фізично не потрапляє в прод. HITL-черга — жодна незворотна дія не виконується без людини. Вартість і бюджет на консолі — витрати видно сьогодні, а не в рахунку через місяць. Сила цих формулювань у тому, що кожне підкріплене артефактом: плиткою консолі, історією CI, чергою approvals. Розповідаючи — показуйте: «падіння не помічає — ось графік інциденту без єдиної 500-ки». Твердження з доказом коштує вдесятеро дорожче за твердження з ентузіазмом. З практики скажу: рішення, які найлегше захищати, — ті, у яких є артефакт-доказ. «Ми зробили HITL-гейт» звучить як витрата; «жодна незворотна дія не виконується без людини, ось черга підтверджень і журнал відхилених» — як керований ризик. Найшвидше «так» отримували другі формулювання — вони перевіряються на екрані за десять секунд. Для «трьох хвилин людині без інженерного бекграунду» структура проста: одне речення проблеми, три-чотири наслідки з таблиці, один живий доказ на екрані. Технічні деталі — тільки у відповідь на питання: хто спитав про circuit breaker, той готовий його почути.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Найчастіше питання після курсу: з чого почати у своєму проєкті, де вже є LLM-виклики і немає нічого навколо них? Реалістичний план на місяць. Тиждень перший: unified logging плюс вартість — один лог-рядок на запит, cost із usage. Найшвидший видимий ефект: уже за тиждень ви вперше знаєте, скільки що коштує. Критерій «зроблено»: будь-яке операційне питання про гроші закривається SQL-запитом. Тиждень другий: реєстр промптів — промпти з коду в реєстр, версія в лог; rollback за секунди замість археології. Критерій: відкат займає секунди і лишає слід. Тиждень третій: evals на критичні сценарії — десять-п'ятнадцять кейсів на те, що страшно зламати. Критерій: зламаний промпт робить прогін червоним відтворювано. Тиждень четвертий: гейт у CI — exit code вже є, лишилося повісити на PR і ввімкнути required check. Критерій: червоний прогін блокує merge, і в історії CI є доказ. Помітьте: це той самий порядок, яким ішов курс, — і він не випадковий: без лога нема вартості, без реєстру нема чистого відкату, без evals нема гейта. Спокуса «впровадимо все одразу» закінчується тим, що не впроваджено нічого. З практики: на реальній агентній платформі шари з'являлися рівно в цій послідовності — ніхто не планував її як методику, вона просто єдина, що працює. На заперечення «немає часу» — арифметика: перший тиждень самоокупний. Лог і вартість — один-два дні роботи, після яких з'являється цифра «скільки коштує наша LLM-фіча», а вона майже завжди знаходить економію, що покриває решту плану.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Опційна надбудова фінального тижня — індустріальна вітрина. Ідея: сервіс віддає свої лічильники у стандартному текстовому форматі на GET /metrics, а стек Prometheus плюс Grafana — його ви піднімаєте поруч самі, advanced-профіль compose дає Redis, дашборди в нього свідомо не зашиті — збирає їх за розкладом і малює графіки з історією, алертами і всім звичним арсеналом. Коли це варте зусиль: коли сервісів стає більше одного, коли потрібні алерти з маршрутизацією на чергового, коли тренди хочеться зберігати місяцями. Зверніть увагу: самі дані не змінюються — ті самі лічильники, той самий лог; міняється лише вітрина. Це пряме продовження принципу з уроку 9: налагодьте джерело, а вітрин може бути скільки завгодно. Якщо беретеся — почніть з експорту трьох цифр: requests, fallback, cache-hit — і одного графіка. Повний дашборд виростає ітераціями, а не проєктом на квартал.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Курс дав вісім механізмів і показав приблизно стільки ж опційних. Найчастіше питання після фіналу — що з цього ставити першим у себе. Відповідь «усе» не працює: кожен механізм має ціну в складності, і додавати його варто за сигналом із ваших же метрик. Semantic cache — коли точний кеш дає низький hit ratio, а в лозі багато різних формулювань того самого питання; не ставте його «бо звучить розумно» — він дорожчий і ризикує віддати відповідь на схоже, але інше питання. Circuit breaker — коли збої провайдера тривають хвилинами і кожен запит чекає таймаут; при поодиноких 5xx ретраїв із паузою достатньо. LLM-as-judge — коли rule-based кейси вже не ловлять «формально правильно, а по суті погано»; не починайте з judge — він дорогий, недетермінований і сам потребує перевірки. Модель-класифікатор у роутері — коли словник маркерів розповзся по мовах і правки стали регулярними; на двох класах правила дешевші й прозоріші. Індустріальний стек метрик — коли питання пішли за межі однієї системи. А черга approvals у базі — навпаки: не чекайте сигналу, це робиться відразу, урок 8. Принцип: механізм додається під виміряну проблему. Перевірка проста: якщо не можете назвати метрику, яка після впровадження мусить змінитися, — ви не знаєте, чого хочете від механізму. А коли метрика названа — маєте критерій «спрацювало / ні» і право відкотити складність, яка не окупилася. Єдиний виняток — речі, чия відсутність коштує незворотно: durability черги підтверджень, відсутність секретів у коді, ліміт витрат у кабінеті провайдера. Тут сигналом буде вже наслідок.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Курс закінчується на працюючому контурі, але системи не стоять на місці — і всі три напрямки, куди вона поїде, передбачувані. Перше: модель під вами зміниться. Провайдер оновить снапшот, виведе старий з обігу, змінить прайс або ліміти — це не гіпотеза, це графік. Що робить контур: снапшот запінений з уроку 3, тож зміна не приїде сама; перехід на новий — це PR через eval-гейт з уроку 11, тобто деградацію ви побачите до користувачів. Без цих двох речей оновлення провайдера виглядає як «бот раптом почав дурити», і зв'язок із причиною не встановлюється ніколи. Друге: промптів стане більше — під різні маршрути, мови, типи звернень, разом зі схемами інструментів і кейсами. Правило вже у вас є: усе, що впливає на поведінку, лежить у реєстрі з версіями, а не в коді, і зміна пари «промпт + механізм» їде одним релізом. Системи, де промпти розповзлися по коду і документах, потім збирають назад окремим проєктом — він нікому не подобається. Третє: трафік виросте, і вартість виросте нелінійно — не тому, що запитів більше, а тому, що контексти довшають, а довший контекст оплачується в кожному виклику. Захист: облік по зверненню з уроку 4, бюджет із алертом і кеш із метрикою з уроку 5. Найчастіший сюрприз у рахунку — тихе зростання середньої довжини промпта, якого ніхто не міряв. І принцип передачі: система, яку не можна передати іншій людині, не готова. Мінімальний комплект — рівно те, що ви зробили за курс: README, runbook, реєстр, golden dataset, CI-гейт. Якщо новий інженер за пів дня піднімає систему, ламає її навмисно і бачить червоний гейт — контур переданий. Якщо для цього потрібні ви — передана залежність від вас.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Чесний список того, що ми свідомо лишили за дужками — і що тепер, з контуром у руках, береться як надбудова, а не з нуля. Multi-turn діалог і streaming: історія розмови і її вартість, потік токенів, time-to-first-token. RAG — пошук по базі знань як джерело фактів; окремий капстоун сам по собі. Semantic cache — опційна доріжка уроку 5 є, за межами лишився продакшн-рівень: eviction, метрики схожості, окреме сховище. Canary в коді — план з уроку 11, доведений до механізму. Реальний хмарний деплой, autoscaling, мультитенантність — свідомо поза курсом: у нас локальний runtime і план rollout. Secrets і ротація ключів: у курсі ключ живе тільки в gateway, і для одного контуру цього достатньо; далі — сховище секретів, ротація без рестарту, окремі ключі на середовище і тенанта; сигнал — другий провайдер або другий контур. Quota і rate limiting: курс розбирає 429 від провайдера — наступний крок власні ліміти для клієнтів, будується на тому самому unified log; сигнал — перший зовнішній споживач. Fine-tuning: 80 відсотків операційних проблем вирішуються контуром керування, а не вагами; коли варто — стабільний домен, великий трафік, доведена межа промпта; і тоді fine-tuning стає ще одним версіонованим артефактом у тому самому реєстрі і гейті. Спільна риса всіх пунктів: жоден не вимагає переробляти контур. Лог прийме нові поля, роутер — нові критерії, evals — нові кейси, гейт не зміниться взагалі. Саме це і було метою: не набір фіч, а операційна модель, яка витримує ріст. Порада на перший крок: перш ніж додавати нове, підключіть реальний ключ до того, що є, і поживіть тиждень на живій моделі — зрозумієте, який пункт списку вам насправді потрібен першим.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Перш ніж перейти до екрана — що саме ви зараз побачите і навіщо. Послідовність із чотирьох кадрів. Перший: чистий клон репозиторію і docker compose up --build — єдиний чесний тест збірки. Другий: повний наскрізний сценарій з блоку 02 — від питання в чаті до гейта, без зупинок і підглядань. Третій: інцидент за ранбуком — серія __fail_503, консоль показує зростання fallback і error rate, користувач бачить заглушку, потім відновлення; таймлайн фіксується, як у постмортемі. Четвертий: KPI-проходка по плитках консолі — кожне число перекладається бізнес-мовою: гроші, користувачі, ризик. Навіщо це все: довести володіння, а не наявність фіч. Збірка відтворювана, інцидент відпрацьовується руками за сценарієм, кожна плитка пояснюється наслідками — це і є різниця між «зробив курсовий» і «володію системою». [Ведучому: сценарій рунбука (rb1/rb2/rb3) не містить ескалації — на KPI-проходці плитка /cost покаже $0.0000 (уся вартість mock сидить у mock-strong), тому перед кадром KPI зробити один ескалаційний запит: «поверніть гроші, терміново». Docker-образи мають бути в кеші, build прогнати ДО запису — інакше пів-хронометражу підуть на прогрес-бари; монтажні точки — на очікуваннях. Контрольне питання кадру «відновлення» НЕ має бути тим, що вже ставилося: воно в кеші і зеленіє навіть при відкритому breaker'і — брати нове питання або скинути кеш перед кадром. Прогін evals лишає pending-заявку в /approvals — перед кадром черги чистий стан через docker compose down -v. Тримати поруч скріншот «точки А» з уроку 1 — фінальне порівняння двох скріншотів.]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Фінальна лабораторна — чотири обов'язкові кроки і один опційний. Крок перший: повний прогін. Чистий клон свого репозиторію, docker compose up --build, наскрізний сценарій з блоку 02. Без підглядань: де спіткнулися — там і доопрацювання. Крок другий: інцидент за ранбуком. Серія __fail_503, на консолі fallback і error rate ростуть, користувач бачить заглушку; потім відновлення і підтвердження нормальної роботи. Зафіксуйте таймлайн, як у постмортемі: коли почалося, як виявили, що бачив користувач, коли відпустило. Крок третій: KPI-огляд. Кожну плитку консолі перекладіть бізнес-мовою — що це число означає для грошей, користувачів, ризику. П'ять хвилин, які варті більше за годину технічних деталей. Крок четвертий: свій 30-day план. Начерк для власної команди: що переносите першим і чому. Це не формальність — це найкорисніший артефакт для вашого наступного робочого тижня, і він же ляже в README-розділ ДЗ. І опційний п'ятий: /metrics — експортувати лічильники у Prometheus-форматі і підняти дашборд поверх advanced-профілю. [Ведучому: контрольне питання відновлення на кроці 2 — нове або зі скинутим кешем; для живої плитки вартості перед KPI-оглядом — один ескалаційний запит.]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Зафіксуємо, що ми щойно побачили — і що це доводить. Перше: збірка відтворювана. Система піднялася з чистого клону і пройшла наскрізний сценарій — а «чистий клон» це єдиний чесний тест збірки: ментор побачить рівно те, що побачить чистий клон, і демо працює не лише на машині автора. Друге: інцидент — керована процедура, а не паніка. Автоматика відпрацювала сама — fallback, деградація, відновлення; руки за ранбуком лише підтвердили симптом по плитках, переконалися новим питанням і зафіксували таймлайн. Це і є формат постмортема — сьогодні він відпрацьований там, де ставки нульові. Третє: система пояснюється наслідками. Кожна плитка консолі перекладається на гроші, користувачів і ризик, і кожне твердження підкріплене артефактом на екрані — а твердження з доказом коштує вдесятеро дорожче за твердження з ентузіазмом. Разом ці три картинки — і є те «володіння системою», про яке ми говорили на початку: точка Б досягнута, і ви вмієте нею користуватися, лагодити її і захищати її бюджет.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Перш ніж перейти до останнього ДЗ — чесна перевірка обов'язкової доріжки, без оцінок. Чотири пункти. Система піднімається з чистого клону і проходить наскрізний сценарій — не «на моїй машині працює», а саме з чистого клону. Інцидент відпрацьований за ранбуком, з таймлайном — не прочитаний, а програний руками. Можу за три хвилини пояснити систему людині без інженерного бекграунду — одне речення проблеми, три-чотири наслідки, один живий доказ. І є начерк 30-day rollout для своєї команди — що переносите першим і чому. Ці чотири пункти — це не просто чек-лист уроку: це рівно те, що перевіряє фінальне ДЗ, ваш зібраний капстоун. Де завагалися — туди і повертайтеся: блок 02 підкаже номер уроку для повторення. Питання — у канал потоку або на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Чотири способи змазати фінал — усі спостерігалися в реальних капстоунах. Перший: демо, яке працює лише на машині автора. «Чистий клон» — єдиний чесний тест збірки; ментор побачить рівно те, що побачить чистий клон, — жодна локальна змінна, жоден незакомічений файл вас не врятує. Другий: runbook написаний, але не програний. Це література, а не інструмент — прогін дає половину цінності, бо саме на прогоні з'ясовується, що плитка називається інакше і команда вимагає інших прав. Третій: розповідь списком технологій замість списку наслідків. Технології — ваша кухня; наслідки для грошей, користувачів і ризику — спільна мова з тими, хто вирішує про бюджет. Четвертий: «впровадимо все одразу» у своїй команді. Місяць по шару на тиждень б'є квартал грандіозного плану — кожен шар спирається на попередній, і спокуса зробити все одразу закінчується тим, що не зроблено нічого.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Останнє ДЗ, і воно ж ваш зібраний капстоун — ДЗ тижня 6: CI-гейт плюс інцидент. Критерії приймання коротко. CI-гейт увімкнений, і в історії Actions видно червоний прогін — регресію — і зелений — фікс. Інцидент-демо з командами відтворення лежить в INCIDENT_RUNBOOK.md, з посиланням із README. README-розділ «30-day rollout» — чотири конкретні кроки перенесення практик у свою команду: це головний transfer-артефакт курсу, і начерк у вас уже є з сьогоднішньої лаби. І система збирається docker compose up --build з чистого клону, всі плитки консолі живі. Повні критерії — у файлі ДЗ тижня. Опційно, без оцінювання: canary-план — розподіл трафіку 90 на 10 між версіями промпта і метрики для promote або rollback; і /metrics із зовнішнім дашбордом поверх advanced-профілю. Це фінальна здача: після неї ваш капстоун — повний production-контур із доказами в CI, ранбуком і планом перенесення в реальну команду.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Підсумуємо курс. Точка Б досягнута: той самий екран, той самий mock — різниця між «—» у плитках і живою консоллю лише в контурі керування, який ви написали власноруч. Runbook — це сценарій з чотирьох тактів, і його цінність створюється прогоном, а не написанням. Постмортем розбирає механізми, а не людей: відповідь на «щоб не повторилося» — кейс у датасеті або механізм. Бюджет дають за наслідки з артефактом-доказом, а не за список технологій. І нові шари додаються за виміряним сигналом, а перенесення практик у команду йде по шару на тиждень: лог, реєстр, evals, гейт. Наступний крок — завершити капстоун: ДЗ тижня 6 і є фінальна здача. А далі система у ваших руках: додавайте реальний ключ, підключайте справжніх провайдерів, тягніть практики в робочі проєкти. Контур, який ви збудували, — не навчальний макет, а зменшена копія того, як LLM-системи експлуатують у проді; різниця тільки в масштабі. Механізми переживуть інструменти: рішення — код, кожен виклик лишає слід, якість — число з порогом, незворотне проходить через людину. Дякую за курс — і хай ваші фолбеки ніколи не знадобляться. Але будуть готові.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038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C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ТИЖДЕНЬ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14400" y="178308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Фінал: LLMOps operating model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70332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зібрана. Останній крок — переконатися, що ви вмієте нею володіти: прогнати все наскрізь із чистого клону, відпрацювати інцидент за ранбуком і розповісти про систему мовою, за яку дають бюджет. Це урок не про нову фічу — про володіння.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5166360"/>
            <a:ext cx="1717243" cy="329184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 w="12700">
            <a:solidFill>
              <a:srgbClr val="8A83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5166360"/>
            <a:ext cx="171724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CB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 Основа + промпти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59659" y="5166360"/>
            <a:ext cx="1567282" cy="329184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 w="12700">
            <a:solidFill>
              <a:srgbClr val="8A83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59659" y="5166360"/>
            <a:ext cx="15672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CB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W2 Routing + cost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454957" y="5166360"/>
            <a:ext cx="1342339" cy="329184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 w="12700">
            <a:solidFill>
              <a:srgbClr val="8A83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54957" y="5166360"/>
            <a:ext cx="13423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CB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W3 Кеш + tools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25312" y="5166360"/>
            <a:ext cx="2017166" cy="329184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 w="12700">
            <a:solidFill>
              <a:srgbClr val="8A83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25312" y="5166360"/>
            <a:ext cx="20171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CB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W4 Надійність + безпека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070494" y="5166360"/>
            <a:ext cx="2092147" cy="329184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 w="12700">
            <a:solidFill>
              <a:srgbClr val="8A83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70494" y="5166360"/>
            <a:ext cx="2092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CB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W5 Observability + evals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0290658" y="5166360"/>
            <a:ext cx="126735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0290658" y="5166360"/>
            <a:ext cx="12673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W6 CI + фінал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A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Урок 12 з 12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8991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ви зможете після цього уроку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12 з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463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15568" y="14173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прогнати систему наскрізь із чистого клону — без «зараз, тут треба ще одну змінну»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2212848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15568" y="21671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відпрацювати інцидент за ранбуком: виявити → підтвердити → дати автоматиці спрацювати → переконатися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2962656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2962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15568" y="291693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зафіксувати таймлайн інциденту у форматі постмортема — механізмами, а не прізвищами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48640" y="3712464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3712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15568" y="366674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перекласти кожну плитку консолі KPI-мовою: гроші, користувачі, ризик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48640" y="4462272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4462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115568" y="441655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скласти 30-day rollout для своєї команди: лог → реєстр → evals → гейт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48640" y="521208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5212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115568" y="516636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обрати наступний шар за виміряним сигналом із власних метрик, а не за модою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548640" y="6035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Жодного «зрозуміти» — лише те, що можна зробити руками і перевірити.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8991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 на сьогодні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12 з 12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5156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 трьох рядків до контуру; три вміння володіння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066544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548640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21671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Б: наскрізний сценарій, кожна ланка — урок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2724912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548640" y="2825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282549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Runbook: симптом → підтвердити → дія → переконатися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3383280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16" name="Text 13"/>
          <p:cNvSpPr/>
          <p:nvPr/>
        </p:nvSpPr>
        <p:spPr>
          <a:xfrm>
            <a:off x="548640" y="3483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348386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Інцидент наживо з таймлайном — перший постмортем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48640" y="4041648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19" name="Text 16"/>
          <p:cNvSpPr/>
          <p:nvPr/>
        </p:nvSpPr>
        <p:spPr>
          <a:xfrm>
            <a:off x="548640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414223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KPI-мова: кожне твердження підкріплене артефактом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48640" y="4700016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22" name="Text 19"/>
          <p:cNvSpPr/>
          <p:nvPr/>
        </p:nvSpPr>
        <p:spPr>
          <a:xfrm>
            <a:off x="54864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51560" y="4800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rollout: лог → реєстр → evals → гейт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548640" y="5358384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25" name="Text 22"/>
          <p:cNvSpPr/>
          <p:nvPr/>
        </p:nvSpPr>
        <p:spPr>
          <a:xfrm>
            <a:off x="62179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72084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Опційно: /metrics + Prometheus/Grafana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217920" y="2066544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28" name="Text 25"/>
          <p:cNvSpPr/>
          <p:nvPr/>
        </p:nvSpPr>
        <p:spPr>
          <a:xfrm>
            <a:off x="6217920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720840" y="21671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Який шар додавати наступним — і за яким сигналом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6217920" y="2724912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31" name="Text 28"/>
          <p:cNvSpPr/>
          <p:nvPr/>
        </p:nvSpPr>
        <p:spPr>
          <a:xfrm>
            <a:off x="6217920" y="2825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6720840" y="282549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Куди поїде система через рік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6217920" y="3383280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34" name="Text 31"/>
          <p:cNvSpPr/>
          <p:nvPr/>
        </p:nvSpPr>
        <p:spPr>
          <a:xfrm>
            <a:off x="6217920" y="3483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6720840" y="348386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межами курсу: надбудови, які не ламають контур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6217920" y="4041648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37" name="Text 34"/>
          <p:cNvSpPr/>
          <p:nvPr/>
        </p:nvSpPr>
        <p:spPr>
          <a:xfrm>
            <a:off x="6217920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6720840" y="414223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Лаба: прогін → інцидент → KPI → свій план</a:t>
            </a:r>
            <a:endParaRPr lang="en-US" sz="1250" dirty="0"/>
          </a:p>
        </p:txBody>
      </p:sp>
      <p:sp>
        <p:nvSpPr>
          <p:cNvPr id="39" name="Shape 36"/>
          <p:cNvSpPr/>
          <p:nvPr/>
        </p:nvSpPr>
        <p:spPr>
          <a:xfrm>
            <a:off x="6217920" y="4700016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40" name="Text 37"/>
          <p:cNvSpPr/>
          <p:nvPr/>
        </p:nvSpPr>
        <p:spPr>
          <a:xfrm>
            <a:off x="621792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6720840" y="4800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Антипатерни фіналу</a:t>
            </a:r>
            <a:endParaRPr lang="en-US" sz="1250" dirty="0"/>
          </a:p>
        </p:txBody>
      </p:sp>
      <p:sp>
        <p:nvSpPr>
          <p:cNvPr id="42" name="Shape 39"/>
          <p:cNvSpPr/>
          <p:nvPr/>
        </p:nvSpPr>
        <p:spPr>
          <a:xfrm>
            <a:off x="6217920" y="5358384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43" name="Text 40"/>
          <p:cNvSpPr/>
          <p:nvPr/>
        </p:nvSpPr>
        <p:spPr>
          <a:xfrm>
            <a:off x="6217920" y="5687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Маркери активності на слайдах: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6720840" y="6016752"/>
            <a:ext cx="144018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45" name="Text 42"/>
          <p:cNvSpPr/>
          <p:nvPr/>
        </p:nvSpPr>
        <p:spPr>
          <a:xfrm>
            <a:off x="6720840" y="6016752"/>
            <a:ext cx="1440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8298180" y="6016752"/>
            <a:ext cx="1284732" cy="274320"/>
          </a:xfrm>
          <a:prstGeom prst="roundRect">
            <a:avLst>
              <a:gd name="adj" fmla="val 50000"/>
            </a:avLst>
          </a:prstGeom>
          <a:solidFill>
            <a:srgbClr val="E9F3EE"/>
          </a:solidFill>
          <a:ln/>
        </p:spPr>
      </p:sp>
      <p:sp>
        <p:nvSpPr>
          <p:cNvPr id="47" name="Text 44"/>
          <p:cNvSpPr/>
          <p:nvPr/>
        </p:nvSpPr>
        <p:spPr>
          <a:xfrm>
            <a:off x="8298180" y="6016752"/>
            <a:ext cx="12847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72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· ПРАКТИКА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9720072" y="6016752"/>
            <a:ext cx="1751076" cy="274320"/>
          </a:xfrm>
          <a:prstGeom prst="roundRect">
            <a:avLst>
              <a:gd name="adj" fmla="val 50000"/>
            </a:avLst>
          </a:prstGeom>
          <a:solidFill>
            <a:srgbClr val="F8F0E2"/>
          </a:solidFill>
          <a:ln/>
        </p:spPr>
      </p:sp>
      <p:sp>
        <p:nvSpPr>
          <p:cNvPr id="49" name="Text 46"/>
          <p:cNvSpPr/>
          <p:nvPr/>
        </p:nvSpPr>
        <p:spPr>
          <a:xfrm>
            <a:off x="9720072" y="6016752"/>
            <a:ext cx="17510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5B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 · РЕФЛЕКСІЯ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 трьох рядків до контуру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12 з 12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1463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Тоді: </a:t>
            </a:r>
            <a:pPr indent="0" marL="0">
              <a:buNone/>
            </a:pPr>
            <a:r>
              <a:rPr lang="en-US" sz="13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рядки коду + чотири питання без відповідей (гроші · надійність · якість · видимість).   </a:t>
            </a:r>
            <a:pPr indent="0" marL="0">
              <a:buNone/>
            </a:pPr>
            <a:r>
              <a:rPr lang="en-US" sz="1300" b="1" dirty="0">
                <a:solidFill>
                  <a:srgbClr val="177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Тепер: </a:t>
            </a:r>
            <a:pPr indent="0" marL="0">
              <a:buNone/>
            </a:pPr>
            <a:r>
              <a:rPr lang="en-US" sz="13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· cost-облік · кеш · tools + HITL · fallback із деградацією · guardrail · спостережуваність · eval-гейт у CI.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23774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вміння, які відрізняють «зробив курсовий» від «володію системою»: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2788920"/>
            <a:ext cx="36576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3232" y="289864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Прогнати все наскрізь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13232" y="3209544"/>
            <a:ext cx="332841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упевнено, відтворювано, з чистого клону — без «зараз, тут треба ще одну змінну»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343400" y="2788920"/>
            <a:ext cx="36576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07992" y="289864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Відпрацювати інцидент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507992" y="3209544"/>
            <a:ext cx="332841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ранбуком: виявити → деградувати → відновити → зафіксувати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138160" y="2788920"/>
            <a:ext cx="36576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02752" y="289864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Розповісти про систему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302752" y="3209544"/>
            <a:ext cx="332841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наслідки для грошей, користувачів і ризику — а не через список технологій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4617720"/>
            <a:ext cx="11091672" cy="1417320"/>
          </a:xfrm>
          <a:prstGeom prst="roundRect">
            <a:avLst>
              <a:gd name="adj" fmla="val 6452"/>
            </a:avLst>
          </a:prstGeom>
          <a:solidFill>
            <a:srgbClr val="ECEBFB"/>
          </a:solidFill>
          <a:ln/>
        </p:spPr>
      </p:sp>
      <p:sp>
        <p:nvSpPr>
          <p:cNvPr id="21" name="Text 18"/>
          <p:cNvSpPr/>
          <p:nvPr/>
        </p:nvSpPr>
        <p:spPr>
          <a:xfrm>
            <a:off x="713232" y="4709160"/>
            <a:ext cx="1076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ЧОМУ ЦЕ НЕ «ЗАЙВИЙ» УРОК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13232" y="4946904"/>
            <a:ext cx="1076248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Системами не користуються — ними володіють. Різниця проявляється у два моменти: коли щось ламається (руки знають ранбук чи гуглять?) і коли треба захистити бюджет (є KPI-мова чи тільки терміни?). Обидва моменти настануть — готуємось сьогодні.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Б: один сценарій наскрізь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12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527048"/>
            <a:ext cx="118323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527048"/>
            <a:ext cx="118323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D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питання в чат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805026" y="1508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079346" y="1527048"/>
            <a:ext cx="1397203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079346" y="1527048"/>
            <a:ext cx="13972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D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routing → модель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549701" y="1508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824021" y="1527048"/>
            <a:ext cx="541325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824021" y="1527048"/>
            <a:ext cx="54132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D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кеш?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438498" y="1508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712818" y="1527048"/>
            <a:ext cx="2110435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12818" y="1527048"/>
            <a:ext cx="21104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D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відповідь + версія промпта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896405" y="1508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170725" y="1527048"/>
            <a:ext cx="470002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170725" y="1527048"/>
            <a:ext cx="47000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D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лог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713878" y="1508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988198" y="1527048"/>
            <a:ext cx="2253082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9050">
            <a:solidFill>
              <a:srgbClr val="4038C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988198" y="1527048"/>
            <a:ext cx="225308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консоль: $ · p95 · cache-hit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48640" y="2167128"/>
            <a:ext cx="1468526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48640" y="2167128"/>
            <a:ext cx="146852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D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«поверніть гроші»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2090318" y="21488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2364638" y="2167128"/>
            <a:ext cx="1611173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9050">
            <a:solidFill>
              <a:srgbClr val="4038C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364638" y="2167128"/>
            <a:ext cx="161117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заявка в /approvals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048963" y="21488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4323283" y="2167128"/>
            <a:ext cx="132588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323283" y="2167128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D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approve → тікет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722315" y="21488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5996635" y="2167128"/>
            <a:ext cx="96926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996635" y="2167128"/>
            <a:ext cx="969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D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__fail_503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7039051" y="21488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7313371" y="2167128"/>
            <a:ext cx="2609698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9050">
            <a:solidFill>
              <a:srgbClr val="4038C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313371" y="2167128"/>
            <a:ext cx="26096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fallback → заглушка → відновлення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9996221" y="21488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10270541" y="2167128"/>
            <a:ext cx="398678" cy="420624"/>
          </a:xfrm>
          <a:prstGeom prst="roundRect">
            <a:avLst>
              <a:gd name="adj" fmla="val 18349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0270541" y="2167128"/>
            <a:ext cx="3986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D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10742371" y="21488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11016691" y="2167128"/>
            <a:ext cx="541325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9050">
            <a:solidFill>
              <a:srgbClr val="4038C4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1016691" y="2167128"/>
            <a:ext cx="54132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гейт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548640" y="29718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Кожна ланка — конкретний урок. Де спіткнулися — номер уроку для повторення обчислюється автоматично:</a:t>
            </a:r>
            <a:endParaRPr lang="en-US" sz="1300" dirty="0"/>
          </a:p>
        </p:txBody>
      </p:sp>
      <p:sp>
        <p:nvSpPr>
          <p:cNvPr id="47" name="Shape 44"/>
          <p:cNvSpPr/>
          <p:nvPr/>
        </p:nvSpPr>
        <p:spPr>
          <a:xfrm>
            <a:off x="548640" y="3383280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76656" y="33832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 </a:t>
            </a:r>
            <a:pPr indent="0" marL="0">
              <a:buNone/>
            </a:pPr>
            <a:r>
              <a:rPr lang="en-US" sz="11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У2</a:t>
            </a:r>
            <a:endParaRPr lang="en-US" sz="1150" dirty="0"/>
          </a:p>
        </p:txBody>
      </p:sp>
      <p:sp>
        <p:nvSpPr>
          <p:cNvPr id="49" name="Shape 46"/>
          <p:cNvSpPr/>
          <p:nvPr/>
        </p:nvSpPr>
        <p:spPr>
          <a:xfrm>
            <a:off x="2779776" y="3383280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2907792" y="33832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 </a:t>
            </a:r>
            <a:pPr indent="0" marL="0">
              <a:buNone/>
            </a:pPr>
            <a:r>
              <a:rPr lang="en-US" sz="11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У3</a:t>
            </a:r>
            <a:endParaRPr lang="en-US" sz="1150" dirty="0"/>
          </a:p>
        </p:txBody>
      </p:sp>
      <p:sp>
        <p:nvSpPr>
          <p:cNvPr id="51" name="Shape 48"/>
          <p:cNvSpPr/>
          <p:nvPr/>
        </p:nvSpPr>
        <p:spPr>
          <a:xfrm>
            <a:off x="5010912" y="3383280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138928" y="33832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вартість  </a:t>
            </a:r>
            <a:pPr indent="0" marL="0">
              <a:buNone/>
            </a:pPr>
            <a:r>
              <a:rPr lang="en-US" sz="11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У4</a:t>
            </a:r>
            <a:endParaRPr lang="en-US" sz="1150" dirty="0"/>
          </a:p>
        </p:txBody>
      </p:sp>
      <p:sp>
        <p:nvSpPr>
          <p:cNvPr id="53" name="Shape 50"/>
          <p:cNvSpPr/>
          <p:nvPr/>
        </p:nvSpPr>
        <p:spPr>
          <a:xfrm>
            <a:off x="7242048" y="3383280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370064" y="33832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кеш  </a:t>
            </a:r>
            <a:pPr indent="0" marL="0">
              <a:buNone/>
            </a:pPr>
            <a:r>
              <a:rPr lang="en-US" sz="11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У5</a:t>
            </a:r>
            <a:endParaRPr lang="en-US" sz="1150" dirty="0"/>
          </a:p>
        </p:txBody>
      </p:sp>
      <p:sp>
        <p:nvSpPr>
          <p:cNvPr id="55" name="Shape 52"/>
          <p:cNvSpPr/>
          <p:nvPr/>
        </p:nvSpPr>
        <p:spPr>
          <a:xfrm>
            <a:off x="9473184" y="3383280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9601200" y="33832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інструменти  </a:t>
            </a:r>
            <a:pPr indent="0" marL="0">
              <a:buNone/>
            </a:pPr>
            <a:r>
              <a:rPr lang="en-US" sz="11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У6</a:t>
            </a:r>
            <a:endParaRPr lang="en-US" sz="1150" dirty="0"/>
          </a:p>
        </p:txBody>
      </p:sp>
      <p:sp>
        <p:nvSpPr>
          <p:cNvPr id="57" name="Shape 54"/>
          <p:cNvSpPr/>
          <p:nvPr/>
        </p:nvSpPr>
        <p:spPr>
          <a:xfrm>
            <a:off x="548640" y="3950208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76656" y="395020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 </a:t>
            </a:r>
            <a:pPr indent="0" marL="0">
              <a:buNone/>
            </a:pPr>
            <a:r>
              <a:rPr lang="en-US" sz="11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У7</a:t>
            </a:r>
            <a:endParaRPr lang="en-US" sz="1150" dirty="0"/>
          </a:p>
        </p:txBody>
      </p:sp>
      <p:sp>
        <p:nvSpPr>
          <p:cNvPr id="59" name="Shape 56"/>
          <p:cNvSpPr/>
          <p:nvPr/>
        </p:nvSpPr>
        <p:spPr>
          <a:xfrm>
            <a:off x="2779776" y="3950208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2907792" y="395020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 </a:t>
            </a:r>
            <a:pPr indent="0" marL="0">
              <a:buNone/>
            </a:pPr>
            <a:r>
              <a:rPr lang="en-US" sz="11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У8</a:t>
            </a:r>
            <a:endParaRPr lang="en-US" sz="1150" dirty="0"/>
          </a:p>
        </p:txBody>
      </p:sp>
      <p:sp>
        <p:nvSpPr>
          <p:cNvPr id="61" name="Shape 58"/>
          <p:cNvSpPr/>
          <p:nvPr/>
        </p:nvSpPr>
        <p:spPr>
          <a:xfrm>
            <a:off x="5010912" y="3950208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138928" y="395020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консоль  </a:t>
            </a:r>
            <a:pPr indent="0" marL="0">
              <a:buNone/>
            </a:pPr>
            <a:r>
              <a:rPr lang="en-US" sz="11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У9</a:t>
            </a:r>
            <a:endParaRPr lang="en-US" sz="1150" dirty="0"/>
          </a:p>
        </p:txBody>
      </p:sp>
      <p:sp>
        <p:nvSpPr>
          <p:cNvPr id="63" name="Shape 60"/>
          <p:cNvSpPr/>
          <p:nvPr/>
        </p:nvSpPr>
        <p:spPr>
          <a:xfrm>
            <a:off x="7242048" y="3950208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7370064" y="395020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  </a:t>
            </a:r>
            <a:pPr indent="0" marL="0">
              <a:buNone/>
            </a:pPr>
            <a:r>
              <a:rPr lang="en-US" sz="11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У10</a:t>
            </a:r>
            <a:endParaRPr lang="en-US" sz="1150" dirty="0"/>
          </a:p>
        </p:txBody>
      </p:sp>
      <p:sp>
        <p:nvSpPr>
          <p:cNvPr id="65" name="Shape 62"/>
          <p:cNvSpPr/>
          <p:nvPr/>
        </p:nvSpPr>
        <p:spPr>
          <a:xfrm>
            <a:off x="9473184" y="3950208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9601200" y="395020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гейт  </a:t>
            </a:r>
            <a:pPr indent="0" marL="0">
              <a:buNone/>
            </a:pPr>
            <a:r>
              <a:rPr lang="en-US" sz="11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У11</a:t>
            </a:r>
            <a:endParaRPr lang="en-US" sz="1150" dirty="0"/>
          </a:p>
        </p:txBody>
      </p:sp>
      <p:sp>
        <p:nvSpPr>
          <p:cNvPr id="67" name="Shape 64"/>
          <p:cNvSpPr/>
          <p:nvPr/>
        </p:nvSpPr>
        <p:spPr>
          <a:xfrm>
            <a:off x="548640" y="4709160"/>
            <a:ext cx="11091672" cy="1325880"/>
          </a:xfrm>
          <a:prstGeom prst="roundRect">
            <a:avLst>
              <a:gd name="adj" fmla="val 6897"/>
            </a:avLst>
          </a:prstGeom>
          <a:solidFill>
            <a:srgbClr val="ECEBFB"/>
          </a:solidFill>
          <a:ln/>
        </p:spPr>
      </p:sp>
      <p:sp>
        <p:nvSpPr>
          <p:cNvPr id="68" name="Text 65"/>
          <p:cNvSpPr/>
          <p:nvPr/>
        </p:nvSpPr>
        <p:spPr>
          <a:xfrm>
            <a:off x="713232" y="4800600"/>
            <a:ext cx="1076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ТОЧКА А І ТОЧКА Б — ДВА СКРІНШОТИ ОДНОГО ІНТЕРФЕЙСУ</a:t>
            </a:r>
            <a:endParaRPr lang="en-US" sz="950" dirty="0"/>
          </a:p>
        </p:txBody>
      </p:sp>
      <p:sp>
        <p:nvSpPr>
          <p:cNvPr id="69" name="Text 66"/>
          <p:cNvSpPr/>
          <p:nvPr/>
        </p:nvSpPr>
        <p:spPr>
          <a:xfrm>
            <a:off x="713232" y="5038344"/>
            <a:ext cx="1076248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Той самий UI (його ви не чіпали взагалі), та сама модель (mock). Різниця між «—» у плитках і живою консоллю — контур керування, який ви написали власноруч. Потримайте обидва скріншоти поруч — найчесніший підсумок шести тижнів.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 — сценарій, а не есе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12 з 12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834640"/>
                <a:gridCol w="624535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8A90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Такт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8A90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Питання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8A90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У нашому інциденті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Симптом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що видно?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скарги «бот вибачається», error rate росте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Підтвердити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яка плитка / який лог?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/observability: fallback_events росте; статуси 503 у лозі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03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Дія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B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що робити?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B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нічого руками: fallback і деградація вже працюють; стежити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BF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Переконатися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як зрозуміти, що відпустило?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нове питання, якого не може бути в кеші, відповідає; fallback перестав рости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48640" y="4343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Найчастіша «дія» в добре збудованій системі — не заважати автоматиці. </a:t>
            </a:r>
            <a:pPr indent="0" marL="0">
              <a:buNone/>
            </a:pPr>
            <a:r>
              <a:rPr lang="en-US" sz="12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Руки — там, де автоматики немає: rollback промпта (одна команда, урок 2), вимкнення фічі, комунікація.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4983480"/>
            <a:ext cx="11091672" cy="1143000"/>
          </a:xfrm>
          <a:prstGeom prst="roundRect">
            <a:avLst>
              <a:gd name="adj" fmla="val 8000"/>
            </a:avLst>
          </a:prstGeom>
          <a:solidFill>
            <a:srgbClr val="E9F3EE"/>
          </a:solidFill>
          <a:ln/>
        </p:spPr>
      </p:sp>
      <p:sp>
        <p:nvSpPr>
          <p:cNvPr id="12" name="Text 8"/>
          <p:cNvSpPr/>
          <p:nvPr/>
        </p:nvSpPr>
        <p:spPr>
          <a:xfrm>
            <a:off x="713232" y="5074920"/>
            <a:ext cx="1076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772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ПРИНЦИП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713232" y="5312664"/>
            <a:ext cx="1076248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Runbook, який жодного разу не проганяли руками, — це література, а не інструмент. Цінність створюється прогоном: саме там з'ясовується, що плитка називається інакше, команда вимагає інших прав, а «очевидний» крок неочевидний о третій ночі.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Runbook, який не бреше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12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481328"/>
            <a:ext cx="54406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1591056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Такт «Переконатися»: питання — нове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13232" y="1901952"/>
            <a:ext cx="511149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Питання з початку сценарію вже в кеші — «відновлення» зеленіє при відкритому breaker'і. Кеш-хіт у лозі: latency_ms і токени — 0/0. Нове питання або скинути кеш.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99632" y="1481328"/>
            <a:ext cx="54406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64224" y="1591056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 масштабується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364224" y="1901952"/>
            <a:ext cx="511149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«Якість просіла»: скарги при зелених HTTP → prompt_version у лозі + прогін evals → rollback однією командою → прогін зелений. Той самий скелет. Третій клас — «вартість тече» — допишіть тактами самі (~5 хв).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3310128"/>
            <a:ext cx="54406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3232" y="3419856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для незворотної автоматики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13232" y="3730752"/>
            <a:ext cx="511149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Перший реліз проходить повний цикл, але замість дій пише звіт «що я б зробила». Кілька днів читаєте звіти — потім знімаєте запобіжник. Та сама драбина довіри, що HITL (урок 8).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199632" y="3310128"/>
            <a:ext cx="54406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64224" y="3419856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 живе в репозиторії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364224" y="3730752"/>
            <a:ext cx="511149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Змінюється система — у тому ж PR змінюється runbook; гейт гарантує, що команди досі працюють. Написаний для того, хто нічого не пам'ятає: команди повністю, плитки точні, жодного «як зазвичай».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Читач ранбука — ви самі під адреналіном. Це найгірший читач із можливих.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Інцидент наживо: таймлайн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12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481328"/>
            <a:ext cx="6720840" cy="3246120"/>
          </a:xfrm>
          <a:prstGeom prst="roundRect">
            <a:avLst>
              <a:gd name="adj" fmla="val 3380"/>
            </a:avLst>
          </a:prstGeom>
          <a:solidFill>
            <a:srgbClr val="14161C"/>
          </a:solidFill>
          <a:ln/>
        </p:spPr>
      </p:sp>
      <p:sp>
        <p:nvSpPr>
          <p:cNvPr id="10" name="Text 7"/>
          <p:cNvSpPr/>
          <p:nvPr/>
        </p:nvSpPr>
        <p:spPr>
          <a:xfrm>
            <a:off x="749808" y="1609344"/>
            <a:ext cx="6318504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10:00  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норма: «Як скинути пароль?» → відповідь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10:02  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07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ІНЦИДЕНТ: __fail_503 → спроби падають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→ користувач бачить ввічливу заглушку (не 500)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→ /observability: fallback_events↑, error rate↑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10:05  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A73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(опційно: circuit відкрився, запити не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A73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чекають таймаутів; half-open — кожні ~5 с)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10:08  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ВІДНОВЛЕННЯ: нове питання, якого немає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в кеші, → нормальна відповідь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A73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(питання з 10:00 уже в кеші — «зеленіє»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A73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навіть під час збою)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→ fallback перестав рости; закрито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10:09  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ГІГІЄНА: скинути кеш, якщо могли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записатися заглушки (обіцянка уроку 5)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498080" y="1481328"/>
            <a:ext cx="4142232" cy="2286000"/>
          </a:xfrm>
          <a:prstGeom prst="roundRect">
            <a:avLst>
              <a:gd name="adj" fmla="val 4000"/>
            </a:avLst>
          </a:prstGeom>
          <a:solidFill>
            <a:srgbClr val="F9E9E8"/>
          </a:solidFill>
          <a:ln/>
        </p:spPr>
      </p:sp>
      <p:sp>
        <p:nvSpPr>
          <p:cNvPr id="12" name="Text 9"/>
          <p:cNvSpPr/>
          <p:nvPr/>
        </p:nvSpPr>
        <p:spPr>
          <a:xfrm>
            <a:off x="7662672" y="1572768"/>
            <a:ext cx="3813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ТИПОВА ПОМИЛКА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662672" y="1810512"/>
            <a:ext cx="3813048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Постмортем, який шукає винного. Щойно розбір закінчується прізвищем — ви програли наступний інцидент: люди ховають симптоми і тягнуть з ескалацією. Розбирайте механізми: не «хто активував», а «чому гейт пропустив і якого кейса бракувало».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498080" y="3931920"/>
            <a:ext cx="4142232" cy="1709928"/>
          </a:xfrm>
          <a:prstGeom prst="roundRect">
            <a:avLst>
              <a:gd name="adj" fmla="val 5348"/>
            </a:avLst>
          </a:prstGeom>
          <a:solidFill>
            <a:srgbClr val="ECEBFB"/>
          </a:solidFill>
          <a:ln/>
        </p:spPr>
      </p:sp>
      <p:sp>
        <p:nvSpPr>
          <p:cNvPr id="15" name="Text 12"/>
          <p:cNvSpPr/>
          <p:nvPr/>
        </p:nvSpPr>
        <p:spPr>
          <a:xfrm>
            <a:off x="7662672" y="4041648"/>
            <a:ext cx="3813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питання постмортема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662672" y="4352544"/>
            <a:ext cx="381304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«Що зробимо, щоб не повторилося?» — механізм або кейс у датасеті, не «будемо уважнішими». «Як дізналися?» — якщо «зі скарг», у спостережуваності діра.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Фіксуйте: коли почалося · як виявили · що бачив користувач · коли відпустило. Хай перший постмортем буде тут, де ставки нульові.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KPI-мова: за що дають бюджет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12 з 12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6858000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42519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8A90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Інженерне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8A90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KPI-мовою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38C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fallback + degradation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падіння провайдера користувач не помічає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38C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cache-hit 30%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третина запитів — безкоштовні й миттєві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38C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routing mini/strong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дорога модель — тільки складним задачам; вартість запиту керована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38C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eval-гейт у CI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регресія якості фізично не потрапляє в прод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38C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HITL-черга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жодна незворотна дія не виконується без людини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38C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вартість / бюджет на консолі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витрати видно сьогодні, а не в рахунку через місяць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7635240" y="1481328"/>
            <a:ext cx="4005072" cy="2240280"/>
          </a:xfrm>
          <a:prstGeom prst="roundRect">
            <a:avLst>
              <a:gd name="adj" fmla="val 4082"/>
            </a:avLst>
          </a:prstGeom>
          <a:solidFill>
            <a:srgbClr val="F8F0E2"/>
          </a:solidFill>
          <a:ln/>
        </p:spPr>
      </p:sp>
      <p:sp>
        <p:nvSpPr>
          <p:cNvPr id="11" name="Text 7"/>
          <p:cNvSpPr/>
          <p:nvPr/>
        </p:nvSpPr>
        <p:spPr>
          <a:xfrm>
            <a:off x="7799832" y="1572768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9A5B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ЛАЙФХАК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7799832" y="1810512"/>
            <a:ext cx="3675888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Кожне формулювання підкріплене артефактом: плиткою консолі, історією CI, чергою approvals. Розповідаючи — показуйте: «падіння не помічає — ось графік без єдиної 500-ки». Твердження з доказом коштує вдесятеро дорожче за твердження з ентузіазмом.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635240" y="3886200"/>
            <a:ext cx="4005072" cy="1783080"/>
          </a:xfrm>
          <a:prstGeom prst="roundRect">
            <a:avLst>
              <a:gd name="adj" fmla="val 5128"/>
            </a:avLst>
          </a:prstGeom>
          <a:solidFill>
            <a:srgbClr val="ECEBFB"/>
          </a:solidFill>
          <a:ln/>
        </p:spPr>
      </p:sp>
      <p:sp>
        <p:nvSpPr>
          <p:cNvPr id="14" name="Text 10"/>
          <p:cNvSpPr/>
          <p:nvPr/>
        </p:nvSpPr>
        <p:spPr>
          <a:xfrm>
            <a:off x="7799832" y="3995928"/>
            <a:ext cx="3675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хвилини без інженерного бекграунду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799832" y="4306824"/>
            <a:ext cx="367588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Одне речення проблеми («LLM-фіча без контуру — некерована вартість, крихкість і сліпота») → 3–4 наслідки з таблиці → один живий доказ на екрані. Деталі — тільки у відповідь на питання.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548640" y="5806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«Ми використовуємо circuit breaker з half-open probe» — чесно, точно і марно для тих, хто вирішує про бюджет.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rollout: як принести це в команду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12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481328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481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15568" y="1408176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Тиждень 1: unified logging + вартість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лог-рядок на запит, cost із usage · зроблено = питання про гроші закривається SQL-запитом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48640" y="2322576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23225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15568" y="2249424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Тиждень 2: реєстр промптів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промпти з коду — в реєстр, версія — в лог · зроблено = відкат за секунди, і він лишає слід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48640" y="3163824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" y="3163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115568" y="309067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Тиждень 3: evals на критичні сценарії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 кейсів на те, що страшно зламати · зроблено = зламаний промпт робить прогін червоним відтворювано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48640" y="4005072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19" name="Text 16"/>
          <p:cNvSpPr/>
          <p:nvPr/>
        </p:nvSpPr>
        <p:spPr>
          <a:xfrm>
            <a:off x="548640" y="4005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115568" y="3931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Тиждень 4: гейт у CI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code вже є — повісити на PR + required check · зроблено = червоний прогін блокує merge, в історії CI є доказ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548640" y="4983480"/>
            <a:ext cx="11091672" cy="1325880"/>
          </a:xfrm>
          <a:prstGeom prst="roundRect">
            <a:avLst>
              <a:gd name="adj" fmla="val 6897"/>
            </a:avLst>
          </a:prstGeom>
          <a:solidFill>
            <a:srgbClr val="ECEBFB"/>
          </a:solidFill>
          <a:ln/>
        </p:spPr>
      </p:sp>
      <p:sp>
        <p:nvSpPr>
          <p:cNvPr id="22" name="Text 19"/>
          <p:cNvSpPr/>
          <p:nvPr/>
        </p:nvSpPr>
        <p:spPr>
          <a:xfrm>
            <a:off x="713232" y="5074920"/>
            <a:ext cx="1076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ЧОМУ САМЕ ЦЕЙ ПОРЯДОК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713232" y="5312664"/>
            <a:ext cx="1076248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Кожен шар спирається на попередній: без лога нема вартості, без реєстру нема чистого відкату, без evals нема гейта. «Впровадимо все одразу» закінчується нічим. А перший тиждень самоокупний: цифра «скільки коштує фіча» майже завжди знаходить економію, що покриває решту плану.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115568" y="557784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F8F0E2"/>
          </a:solidFill>
          <a:ln/>
        </p:spPr>
      </p:sp>
      <p:sp>
        <p:nvSpPr>
          <p:cNvPr id="5" name="Text 3"/>
          <p:cNvSpPr/>
          <p:nvPr/>
        </p:nvSpPr>
        <p:spPr>
          <a:xfrm>
            <a:off x="1115568" y="55778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9A5B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ОПЦІЙНО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7" name="Text 5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12848" y="329184"/>
            <a:ext cx="732708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/metrics і зовнішні дашборди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12 з 12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55448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3232" y="1664208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Ідея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13232" y="1975104"/>
            <a:ext cx="511149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Сервіс віддає лічильники текстом на GET /metrics; Prometheus + Grafana (піднімаєте поруч самі) збирають за розкладом і малюють графіки з історією та алертами.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199632" y="155448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64224" y="1664208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 це варте зусиль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364224" y="1975104"/>
            <a:ext cx="511149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Сервісів більше одного; потрібні алерти з маршрутизацією на чергового; тренди хочеться зберігати місяцями.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361188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CEBFB"/>
          </a:solidFill>
          <a:ln/>
        </p:spPr>
      </p:sp>
      <p:sp>
        <p:nvSpPr>
          <p:cNvPr id="18" name="Text 15"/>
          <p:cNvSpPr/>
          <p:nvPr/>
        </p:nvSpPr>
        <p:spPr>
          <a:xfrm>
            <a:off x="713232" y="3703320"/>
            <a:ext cx="1076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ДАНІ НЕ ЗМІНЮЮТЬСЯ — МІНЯЄТЬСЯ ВІТРИНА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13232" y="3941064"/>
            <a:ext cx="1076248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Ті самі лічильники, той самий лог. Принцип з уроку 9: налагодьте джерело — а вітрин може бути скільки завгодно.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48640" y="5074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Якщо беретеся: </a:t>
            </a:r>
            <a:pPr indent="0" marL="0">
              <a:buNone/>
            </a:pPr>
            <a:r>
              <a:rPr lang="en-US" sz="13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почніть з трьох цифр (requests, fallback, cache-hit) і одного графіка. Повний дашборд виростає ітераціями, а не проєктом на квартал.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Наступний шар — за сигналом, а не за модою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12 з 12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44752"/>
          <a:ext cx="11091672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4526280"/>
                <a:gridCol w="441655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8A90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Наступний шар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8A90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Сигнал, що час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8A90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Чого не робити раніше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cache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низький hit ratio точного кешу; у лозі — різні формулювання того самого питання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ставити «бо звучить розумно»: ризик віддати відповідь на схоже, але інше питання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Circuit breaker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збої провайдера тривають хвилинами, кожен запит чекає таймаут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вводити при поодиноких 5xx — ретраїв із паузою достатньо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LLM-as-judge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rule-based кейси не ловлять «формально правильно, а по суті погано»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починати з judge: дорогий, недетермінований, сам потребує перевірки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Класифікатор у роутері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словник маркерів розповзся по мовах; правки стали регулярними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заводити на двох класах — правила дешевші й прозоріші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Індустріальний стек метрик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питання вийшли за межі системи: алерти, історія за місяці, кореляція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піднімати Prometheus раніше, ніж є що в нього класти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72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Черга approvals у базі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чекайте сигналу — робиться відразу (урок 8)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сигналом буде другий інстанс або перезапуск, що з'їв заявку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EE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5120640"/>
            <a:ext cx="6903720" cy="1234440"/>
          </a:xfrm>
          <a:prstGeom prst="roundRect">
            <a:avLst>
              <a:gd name="adj" fmla="val 7407"/>
            </a:avLst>
          </a:prstGeom>
          <a:solidFill>
            <a:srgbClr val="E9F3EE"/>
          </a:solidFill>
          <a:ln/>
        </p:spPr>
      </p:sp>
      <p:sp>
        <p:nvSpPr>
          <p:cNvPr id="11" name="Text 7"/>
          <p:cNvSpPr/>
          <p:nvPr/>
        </p:nvSpPr>
        <p:spPr>
          <a:xfrm>
            <a:off x="713232" y="5212080"/>
            <a:ext cx="6574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772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ПРИНЦИП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713232" y="5449824"/>
            <a:ext cx="657453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Механізм додається під виміряну проблему. Не можете назвати метрику, яка мусить змінитися, — не знаєте, чого хочете. Названа метрика = критерій «спрацювало / ні» + право відкотити складність.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635240" y="5120640"/>
            <a:ext cx="4005072" cy="1234440"/>
          </a:xfrm>
          <a:prstGeom prst="roundRect">
            <a:avLst>
              <a:gd name="adj" fmla="val 7407"/>
            </a:avLst>
          </a:prstGeom>
          <a:solidFill>
            <a:srgbClr val="F9E9E8"/>
          </a:solidFill>
          <a:ln/>
        </p:spPr>
      </p:sp>
      <p:sp>
        <p:nvSpPr>
          <p:cNvPr id="14" name="Text 10"/>
          <p:cNvSpPr/>
          <p:nvPr/>
        </p:nvSpPr>
        <p:spPr>
          <a:xfrm>
            <a:off x="7799832" y="5230368"/>
            <a:ext cx="3675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Єдиний виняток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799832" y="5541264"/>
            <a:ext cx="367588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Те, чия відсутність коштує незворотно: durability черги, секрети поза кодом, ліміт витрат у провайдера. Тут сигналом буде вже наслідок.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станеться з цією системою через рік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12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481328"/>
            <a:ext cx="365760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1591056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під вами зміниться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13232" y="1901952"/>
            <a:ext cx="3328416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снапшот, прайс, ліміти — за графіком. Контур: снапшот запінений (У3), перехід = PR через eval-гейт (У11) — деградацію видно до користувачів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43400" y="1481328"/>
            <a:ext cx="365760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07992" y="1591056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Промптів стане більше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07992" y="1901952"/>
            <a:ext cx="3328416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маршрути, мови, типи звернень. Правило вже є: все, що впливає на поведінку, — у реєстрі з версіями (У2); «промпт + механізм» їде одним релізом (У11)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138160" y="1481328"/>
            <a:ext cx="365760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02752" y="1591056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Вартість виросте нелінійно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302752" y="1901952"/>
            <a:ext cx="3328416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контексти довшають — і оплачуються в кожному виклику. Захист: облік по зверненню (У4), бюджет з алертом і кеш із метрикою (У5)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3794760"/>
            <a:ext cx="11091672" cy="1463040"/>
          </a:xfrm>
          <a:prstGeom prst="roundRect">
            <a:avLst>
              <a:gd name="adj" fmla="val 6250"/>
            </a:avLst>
          </a:prstGeom>
          <a:solidFill>
            <a:srgbClr val="E9F3EE"/>
          </a:solidFill>
          <a:ln/>
        </p:spPr>
      </p:sp>
      <p:sp>
        <p:nvSpPr>
          <p:cNvPr id="19" name="Text 16"/>
          <p:cNvSpPr/>
          <p:nvPr/>
        </p:nvSpPr>
        <p:spPr>
          <a:xfrm>
            <a:off x="713232" y="3886200"/>
            <a:ext cx="1076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772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ПРИНЦИП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713232" y="4123944"/>
            <a:ext cx="1076248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Система, яку не можна передати іншій людині, не готова. Мінімальний комплект передачі: README з підняттям і інцидент-демо, runbook на 2–3 сценарії, реєстр промптів із версіями, golden dataset із порогом, CI-гейт. Новий інженер за пів дня піднімає, ламає навмисно і бачить червоний гейт — контур переданий. Потрібні ви — передана залежність від вас.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48640" y="55321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Механізми переживуть інструменти: рішення — код; кожен виклик лишає слід; якість — число з порогом; незворотне — через людину.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далі — за межами курсу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12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481328"/>
            <a:ext cx="544068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1554480"/>
            <a:ext cx="5120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+ streaming</a:t>
            </a:r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історія розмови і її вартість (У4), time-to-first-token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2377440"/>
            <a:ext cx="544068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3232" y="2450592"/>
            <a:ext cx="5120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пошук по базі знань; окремий капстоун сам по собі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3273552"/>
            <a:ext cx="544068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3232" y="3346704"/>
            <a:ext cx="5120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cache: прод-рівень</a:t>
            </a:r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eviction, метрики схожості, окреме сховище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4169664"/>
            <a:ext cx="544068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3232" y="4242816"/>
            <a:ext cx="5120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в коді</a:t>
            </a:r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з уроку 11 — доведений до механізму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199632" y="1481328"/>
            <a:ext cx="544068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64224" y="1554480"/>
            <a:ext cx="5120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Хмарний деплой, autoscaling</a:t>
            </a:r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свідомо поза курсом: локальний runtime + план rollout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199632" y="2377440"/>
            <a:ext cx="544068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64224" y="2450592"/>
            <a:ext cx="5120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і ротація ключів</a:t>
            </a:r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Vault/KMS; сигнал — другий провайдер або staging/prod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199632" y="3273552"/>
            <a:ext cx="544068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64224" y="3346704"/>
            <a:ext cx="5120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 / rate limiting клієнтам</a:t>
            </a:r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власні ліміти per user/tenant на тому ж unified log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199632" y="4169664"/>
            <a:ext cx="544068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64224" y="4242816"/>
            <a:ext cx="5120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проблем вирішує контур, не ваги; потім — той самий реєстр і гейт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48640" y="5230368"/>
            <a:ext cx="11091672" cy="1143000"/>
          </a:xfrm>
          <a:prstGeom prst="roundRect">
            <a:avLst>
              <a:gd name="adj" fmla="val 8000"/>
            </a:avLst>
          </a:prstGeom>
          <a:solidFill>
            <a:srgbClr val="ECEBFB"/>
          </a:solidFill>
          <a:ln/>
        </p:spPr>
      </p:sp>
      <p:sp>
        <p:nvSpPr>
          <p:cNvPr id="26" name="Text 23"/>
          <p:cNvSpPr/>
          <p:nvPr/>
        </p:nvSpPr>
        <p:spPr>
          <a:xfrm>
            <a:off x="713232" y="5321808"/>
            <a:ext cx="1076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ЖОДЕН ПУНКТ НЕ ВИМАГАЄ ПЕРЕРОБЛЯТИ КОНТУР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713232" y="5559552"/>
            <a:ext cx="1076248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 прийме нові поля, роутер — нові критерії, evals — нові кейси, гейт не зміниться взагалі. Перший крок після курсу: підключіть реальний ключ (перемикач з уроку 1) і поживіть тиждень на живій моделі — побачите, що потрібно насправді першим.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9F3EE"/>
          </a:solidFill>
          <a:ln/>
        </p:spPr>
      </p:sp>
      <p:sp>
        <p:nvSpPr>
          <p:cNvPr id="3" name="Text 1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772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· ПРАКТИКА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8991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Зараз ви побачите — і навіщо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12 з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4592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177245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15568" y="1600200"/>
            <a:ext cx="6583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чистий клон → docker compose up --build — єдиний чесний тест збірки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246888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177245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468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15568" y="2423160"/>
            <a:ext cx="6583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повний наскрізний сценарій з блоку 02 — від питання в чаті до гейта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329184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177245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3291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15568" y="3246120"/>
            <a:ext cx="6583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інцидент за INCIDENT_RUNBOOK.md — з таймлайном, як у постмортемі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48640" y="411480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177245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4114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15568" y="4069080"/>
            <a:ext cx="6583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KPI-проходка по плитках консолі — кожне число бізнес-мовою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7818120" y="1645920"/>
            <a:ext cx="3822192" cy="2651760"/>
          </a:xfrm>
          <a:prstGeom prst="roundRect">
            <a:avLst>
              <a:gd name="adj" fmla="val 3448"/>
            </a:avLst>
          </a:prstGeom>
          <a:solidFill>
            <a:srgbClr val="ECEBFB"/>
          </a:solidFill>
          <a:ln/>
        </p:spPr>
      </p:sp>
      <p:sp>
        <p:nvSpPr>
          <p:cNvPr id="20" name="Text 17"/>
          <p:cNvSpPr/>
          <p:nvPr/>
        </p:nvSpPr>
        <p:spPr>
          <a:xfrm>
            <a:off x="7982712" y="1737360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НАВІЩО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982712" y="1975104"/>
            <a:ext cx="34930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Довести володіння, а не наявність фіч: збірка відтворювана, інцидент відпрацьовується руками за сценарієм, кожна плитка пояснюється наслідками. Це і є різниця між «зробив курсовий» і «володію системою».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818120" y="4526280"/>
            <a:ext cx="38221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Поруч — скріншот «точки А» з першого уроку: два скріншоти одного інтерфейсу і шість тижнів між ними.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9F3EE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772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· ПРАКТИКА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Лабораторна: фінальний прогін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12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55448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554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15568" y="148132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Повний прогін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чистий клон → docker compose up --build → наскрізний сценарій з блоку 02; без підглядань — де спіткнулися, там і доопрацювання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48640" y="2450592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2450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15568" y="23774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Інцидент за ранбуком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серія __fail_503 → консоль (fallback↑, error rate↑, користувачу — заглушка) → відновлення → зафіксувати таймлайн, як у постмортемі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48640" y="3346704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" y="3346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115568" y="327355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KPI-огляд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кожну плитку консолі — бізнес-мовою: що це число означає для грошей, користувачів, ризику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48640" y="4242816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19" name="Text 16"/>
          <p:cNvSpPr/>
          <p:nvPr/>
        </p:nvSpPr>
        <p:spPr>
          <a:xfrm>
            <a:off x="548640" y="4242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115568" y="4169664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Свій 30-day план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начерк для власної команди: що переносите першим і чому — найкорисніший артефакт для наступного робочого тижня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548640" y="5138928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9A5B12"/>
          </a:solidFill>
          <a:ln/>
        </p:spPr>
      </p:sp>
      <p:sp>
        <p:nvSpPr>
          <p:cNvPr id="22" name="Text 19"/>
          <p:cNvSpPr/>
          <p:nvPr/>
        </p:nvSpPr>
        <p:spPr>
          <a:xfrm>
            <a:off x="548640" y="5138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115568" y="5065776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9A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/metrics  · опційно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експортувати лічильники у Prometheus-форматі і підняти дашборд поверх advanced-профілю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8991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це довело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12 з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45920"/>
            <a:ext cx="3657600" cy="2011680"/>
          </a:xfrm>
          <a:prstGeom prst="roundRect">
            <a:avLst>
              <a:gd name="adj" fmla="val 4545"/>
            </a:avLst>
          </a:prstGeom>
          <a:solidFill>
            <a:srgbClr val="E9F3EE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" y="175564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7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Збірка відтворювана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13232" y="2066544"/>
            <a:ext cx="332841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чистий клон піднявся і пройшов сценарій: демо працює не лише на машині автора — ментор побачить те саме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43400" y="1645920"/>
            <a:ext cx="3657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07992" y="175564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Інцидент — процедура, не паніка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07992" y="2066544"/>
            <a:ext cx="332841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автоматика відпрацювала; руки за ранбуком підтвердили, переконалися новим питанням, зафіксували таймлайн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138160" y="1645920"/>
            <a:ext cx="3657600" cy="2011680"/>
          </a:xfrm>
          <a:prstGeom prst="roundRect">
            <a:avLst>
              <a:gd name="adj" fmla="val 4545"/>
            </a:avLst>
          </a:prstGeom>
          <a:solidFill>
            <a:srgbClr val="ECEBFB"/>
          </a:solidFill>
          <a:ln/>
        </p:spPr>
      </p:sp>
      <p:sp>
        <p:nvSpPr>
          <p:cNvPr id="14" name="Text 11"/>
          <p:cNvSpPr/>
          <p:nvPr/>
        </p:nvSpPr>
        <p:spPr>
          <a:xfrm>
            <a:off x="8302752" y="175564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пояснюється наслідками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302752" y="2066544"/>
            <a:ext cx="332841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кожна плитка — це гроші, користувачі або ризик; кожне твердження підкріплене артефактом на екрані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4114800"/>
            <a:ext cx="11091672" cy="1463040"/>
          </a:xfrm>
          <a:prstGeom prst="roundRect">
            <a:avLst>
              <a:gd name="adj" fmla="val 6250"/>
            </a:avLst>
          </a:prstGeom>
          <a:solidFill>
            <a:srgbClr val="ECEBFB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429768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 і є володіння системою.
</a:t>
            </a:r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Б досягнута: ви вмієте нею користуватися, лагодити її за ранбуком і захищати її бюджет KPI-мовою.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68535" y="557784"/>
            <a:ext cx="1874520" cy="274320"/>
          </a:xfrm>
          <a:prstGeom prst="roundRect">
            <a:avLst>
              <a:gd name="adj" fmla="val 50000"/>
            </a:avLst>
          </a:prstGeom>
          <a:solidFill>
            <a:srgbClr val="F8F0E2"/>
          </a:solidFill>
          <a:ln/>
        </p:spPr>
      </p:sp>
      <p:sp>
        <p:nvSpPr>
          <p:cNvPr id="3" name="Text 1"/>
          <p:cNvSpPr/>
          <p:nvPr/>
        </p:nvSpPr>
        <p:spPr>
          <a:xfrm>
            <a:off x="9768535" y="55778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9A5B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 · РЕФЛЕКСІЯ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8991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 себе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12 з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11091672" cy="3090672"/>
          </a:xfrm>
          <a:prstGeom prst="roundRect">
            <a:avLst>
              <a:gd name="adj" fmla="val 3550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183794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9F3EE"/>
          </a:solidFill>
          <a:ln w="12700">
            <a:solidFill>
              <a:srgbClr val="17724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1837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280160" y="1783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піднімається з чистого клону і проходить наскрізний сценарій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22960" y="24963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9F3EE"/>
          </a:solidFill>
          <a:ln w="12700">
            <a:solidFill>
              <a:srgbClr val="17724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96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280160" y="244144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інцидент відпрацьований за ранбуком, з таймлайном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22960" y="31546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9F3EE"/>
          </a:solidFill>
          <a:ln w="12700">
            <a:solidFill>
              <a:srgbClr val="17724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154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280160" y="309981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можу за 3 хвилини пояснити систему людині без інженерного бекграунду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22960" y="381304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9F3EE"/>
          </a:solidFill>
          <a:ln w="12700">
            <a:solidFill>
              <a:srgbClr val="17724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13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280160" y="375818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є начерк 30-day rollout для своєї команди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48640" y="48280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 завагалися — туди і повертайтеся. Питання — у канал потоку або на Q&amp;A.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Антипатерни фіналу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12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60020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17830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88720" y="160020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Демо, яке працює лише на машині автора</a:t>
            </a:r>
            <a:pPr indent="0" marL="0">
              <a:buNone/>
            </a:pPr>
            <a:r>
              <a:rPr lang="en-US" sz="12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«чистий клон» — єдиний чесний тест збірки; ментор побачить рівно те, що побачить чистий клон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256032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2743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88720" y="256032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 написаний, але не програний</a:t>
            </a:r>
            <a:pPr indent="0" marL="0">
              <a:buNone/>
            </a:pPr>
            <a:r>
              <a:rPr lang="en-US" sz="12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література. Прогін — половина цінності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352044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37033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88720" y="35204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Розповідь списком технологій замість наслідків</a:t>
            </a:r>
            <a:pPr indent="0" marL="0">
              <a:buNone/>
            </a:pPr>
            <a:r>
              <a:rPr lang="en-US" sz="12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технології — ваша кухня; наслідки — спільна мова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" y="448056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46634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188720" y="44805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«Впровадимо все одразу»</a:t>
            </a:r>
            <a:pPr indent="0" marL="0">
              <a:buNone/>
            </a:pPr>
            <a:r>
              <a:rPr lang="en-US" sz="12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місяць по шару на тиждень б'є квартал грандіозного плану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9F3EE"/>
          </a:solidFill>
          <a:ln/>
        </p:spPr>
      </p:sp>
      <p:sp>
        <p:nvSpPr>
          <p:cNvPr id="3" name="Text 1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772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· ПРАКТИКА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8991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Домашнє завдання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12 з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11091672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4038C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66420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ДЗ тижня 6: CI-гейт + інцидент</a:t>
            </a:r>
            <a:pPr indent="0" marL="0">
              <a:buNone/>
            </a:pPr>
            <a:r>
              <a:rPr lang="en-US" sz="1200" i="1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останнє ДЗ — і воно ж ваш зібраний капстоун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2148840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CI-гейт увімкнений; в історії Actions — червоний прогін (регресія) і зелений (фікс)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2606040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інцидент-демо з командами відтворення — в INCIDENT_RUNBOOK.md, з посиланням із README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77240" y="3063240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README-розділ «30-day rollout» — чотири конкретні кроки перенесення практик у свою команду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77240" y="3520440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збирається docker compose up --build з чистого клону, всі плитки консолі живі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77240" y="391363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Повні критерії — у файлі ДЗ тижня.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4526280"/>
            <a:ext cx="1109167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3232" y="4636008"/>
            <a:ext cx="10762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Опційно (не оцінюється)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77240" y="502920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9A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canary-план: розподіл трафіку 90/10 між версіями промпта і метрики для promote/rollback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77240" y="544068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9A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/metrics + зовнішній дашборд поверх advanced-профілю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4038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C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ПІДСУМОК УРОКУ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9C9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Б: той самий екран і mock — уся різниця в контурі керування, який ви написали власноруч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914400" y="189280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9C9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 — сценарій з чотирьох тактів; його цінність створюється прогоном, а не написанням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914400" y="2459736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9C9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постмортем розбирає механізми, а не людей: відповідь — кейс у датасеті або механізм, не «будемо уважнішими»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14400" y="3026664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9C9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 дають за наслідки з артефактом-доказом, а не за список технологій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14400" y="3593592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9C9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нові шари — за виміряним сигналом; перенесення в команду — по шару на тиждень: лог → реєстр → evals → гейт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914400" y="4526280"/>
            <a:ext cx="105156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4681728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Наступний крок → завершити капстоун — і далі система у ваших руках
</a:t>
            </a:r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Здайте ДЗ тижня 6 — ваш зібраний капстоун. Далі: додавайте реальний ключ, підключайте справжніх провайдерів, тягніть практики в робочі проєкти — по шару на тиждень, як у rollout-плані. Контур, який ви збудували, — не навчальний макет, а зменшена копія того, як LLM-системи експлуатують у проді; різниця тільки в масштабі.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A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12 з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Урок 12 · Фінал: LLMOps operating model</dc:title>
  <dc:subject>PptxGenJS Presentation</dc:subject>
  <dc:creator>LLMOps Bootcamp</dc:creator>
  <cp:lastModifiedBy>LLMOps Bootcamp</cp:lastModifiedBy>
  <cp:revision>1</cp:revision>
  <dcterms:created xsi:type="dcterms:W3CDTF">2026-08-08T17:09:35Z</dcterms:created>
  <dcterms:modified xsi:type="dcterms:W3CDTF">2026-08-08T17:09:35Z</dcterms:modified>
</cp:coreProperties>
</file>